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4" r:id="rId20"/>
    <p:sldId id="273" r:id="rId21"/>
    <p:sldId id="278" r:id="rId22"/>
    <p:sldId id="275" r:id="rId23"/>
    <p:sldId id="280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 autoAdjust="0"/>
  </p:normalViewPr>
  <p:slideViewPr>
    <p:cSldViewPr snapToGrid="0" snapToObjects="1">
      <p:cViewPr varScale="1">
        <p:scale>
          <a:sx n="94" d="100"/>
          <a:sy n="94" d="100"/>
        </p:scale>
        <p:origin x="4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934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27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371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08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23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7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21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41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5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46.png"/><Relationship Id="rId9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7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54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46.png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4.png"/><Relationship Id="rId5" Type="http://schemas.openxmlformats.org/officeDocument/2006/relationships/image" Target="../media/image69.png"/><Relationship Id="rId10" Type="http://schemas.openxmlformats.org/officeDocument/2006/relationships/image" Target="../media/image16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7.png"/><Relationship Id="rId7" Type="http://schemas.openxmlformats.org/officeDocument/2006/relationships/image" Target="../media/image49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90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4" Type="http://schemas.openxmlformats.org/officeDocument/2006/relationships/image" Target="../media/image85.png"/><Relationship Id="rId9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3" Type="http://schemas.openxmlformats.org/officeDocument/2006/relationships/image" Target="../media/image116.png"/><Relationship Id="rId7" Type="http://schemas.openxmlformats.org/officeDocument/2006/relationships/image" Target="../media/image107.png"/><Relationship Id="rId12" Type="http://schemas.openxmlformats.org/officeDocument/2006/relationships/image" Target="../media/image1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2.png"/><Relationship Id="rId5" Type="http://schemas.openxmlformats.org/officeDocument/2006/relationships/image" Target="../media/image95.png"/><Relationship Id="rId10" Type="http://schemas.openxmlformats.org/officeDocument/2006/relationships/image" Target="../media/image121.png"/><Relationship Id="rId4" Type="http://schemas.openxmlformats.org/officeDocument/2006/relationships/image" Target="../media/image117.png"/><Relationship Id="rId9" Type="http://schemas.openxmlformats.org/officeDocument/2006/relationships/image" Target="../media/image1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6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11" Type="http://schemas.openxmlformats.org/officeDocument/2006/relationships/image" Target="../media/image131.png"/><Relationship Id="rId5" Type="http://schemas.openxmlformats.org/officeDocument/2006/relationships/image" Target="../media/image126.png"/><Relationship Id="rId10" Type="http://schemas.openxmlformats.org/officeDocument/2006/relationships/image" Target="../media/image130.png"/><Relationship Id="rId4" Type="http://schemas.openxmlformats.org/officeDocument/2006/relationships/image" Target="../media/image125.png"/><Relationship Id="rId9" Type="http://schemas.openxmlformats.org/officeDocument/2006/relationships/image" Target="../media/image1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18" Type="http://schemas.openxmlformats.org/officeDocument/2006/relationships/image" Target="../media/image150.png"/><Relationship Id="rId26" Type="http://schemas.openxmlformats.org/officeDocument/2006/relationships/image" Target="../media/image158.png"/><Relationship Id="rId3" Type="http://schemas.openxmlformats.org/officeDocument/2006/relationships/image" Target="../media/image135.png"/><Relationship Id="rId21" Type="http://schemas.openxmlformats.org/officeDocument/2006/relationships/image" Target="../media/image153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5" Type="http://schemas.openxmlformats.org/officeDocument/2006/relationships/image" Target="../media/image157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48.png"/><Relationship Id="rId20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24" Type="http://schemas.openxmlformats.org/officeDocument/2006/relationships/image" Target="../media/image156.png"/><Relationship Id="rId5" Type="http://schemas.openxmlformats.org/officeDocument/2006/relationships/image" Target="../media/image137.png"/><Relationship Id="rId15" Type="http://schemas.openxmlformats.org/officeDocument/2006/relationships/image" Target="../media/image147.png"/><Relationship Id="rId23" Type="http://schemas.openxmlformats.org/officeDocument/2006/relationships/image" Target="../media/image155.png"/><Relationship Id="rId28" Type="http://schemas.openxmlformats.org/officeDocument/2006/relationships/image" Target="../media/image160.png"/><Relationship Id="rId10" Type="http://schemas.openxmlformats.org/officeDocument/2006/relationships/image" Target="../media/image142.png"/><Relationship Id="rId19" Type="http://schemas.openxmlformats.org/officeDocument/2006/relationships/image" Target="../media/image151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Relationship Id="rId22" Type="http://schemas.openxmlformats.org/officeDocument/2006/relationships/image" Target="../media/image154.png"/><Relationship Id="rId27" Type="http://schemas.openxmlformats.org/officeDocument/2006/relationships/image" Target="../media/image15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-1904695"/>
            <a:ext cx="3810305" cy="3810305"/>
          </a:xfrm>
          <a:prstGeom prst="ellips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29207" y="5429707"/>
            <a:ext cx="2857500" cy="2857500"/>
          </a:xfrm>
          <a:prstGeom prst="ellips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8" b="-8"/>
          <a:stretch/>
        </p:blipFill>
        <p:spPr>
          <a:xfrm rot="20700000">
            <a:off x="-952805" y="1143000"/>
            <a:ext cx="5522976" cy="148864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 l="-6" r="-6"/>
          <a:stretch/>
        </p:blipFill>
        <p:spPr>
          <a:xfrm rot="1200000">
            <a:off x="7905902" y="5419649"/>
            <a:ext cx="4478731" cy="163769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alphaModFix amt="6000"/>
          </a:blip>
          <a:srcRect l="-164" r="-164"/>
          <a:stretch/>
        </p:blipFill>
        <p:spPr>
          <a:xfrm>
            <a:off x="761695" y="1004926"/>
            <a:ext cx="1505102" cy="17145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alphaModFix amt="6000"/>
          </a:blip>
          <a:srcRect/>
          <a:stretch/>
        </p:blipFill>
        <p:spPr>
          <a:xfrm>
            <a:off x="9525305" y="4243730"/>
            <a:ext cx="1714500" cy="17145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325867" y="1271930"/>
            <a:ext cx="11539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54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en-US" altLang="ko-KR" sz="5400" b="1" kern="0" spc="-37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</a:t>
            </a:r>
            <a:r>
              <a:rPr lang="en-US" altLang="ko-KR" sz="54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5400" b="1" kern="0" spc="-37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결핵균</a:t>
            </a:r>
            <a:r>
              <a:rPr lang="en-US" altLang="ko-KR" sz="54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5400" b="1" kern="0" spc="-37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저해제</a:t>
            </a:r>
            <a:r>
              <a:rPr lang="en-US" altLang="ko-KR" sz="54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5400" b="1" kern="0" spc="-37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스크리닝</a:t>
            </a:r>
            <a:r>
              <a:rPr lang="ko-KR" altLang="en-US" sz="5400" b="1" kern="0" spc="-37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시스템</a:t>
            </a:r>
            <a:endParaRPr lang="en-US" sz="5400" dirty="0">
              <a:solidFill>
                <a:schemeClr val="bg1"/>
              </a:solidFill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>
            <a:alphaModFix amt="60000"/>
          </a:blip>
          <a:srcRect l="-404" r="-404"/>
          <a:stretch/>
        </p:blipFill>
        <p:spPr>
          <a:xfrm>
            <a:off x="5524805" y="2719426"/>
            <a:ext cx="1143000" cy="2834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64413" y="2928048"/>
            <a:ext cx="10062868" cy="85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24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</a:t>
            </a:r>
            <a:r>
              <a:rPr lang="en-US" altLang="ko-KR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화학-유전적</a:t>
            </a:r>
            <a:r>
              <a:rPr lang="en-US" altLang="ko-KR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상호작용</a:t>
            </a:r>
            <a:r>
              <a:rPr lang="en-US" altLang="ko-KR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(CGIP) </a:t>
            </a:r>
            <a:r>
              <a:rPr lang="en-US" altLang="ko-KR" sz="24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</a:t>
            </a:r>
            <a:r>
              <a:rPr lang="en-US" altLang="ko-KR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약물 작용기전</a:t>
            </a:r>
            <a:r>
              <a:rPr lang="en-US" altLang="ko-KR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</a:t>
            </a:r>
            <a:r>
              <a:rPr lang="en-US" altLang="ko-KR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altLang="ko-KR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</a:t>
            </a:r>
            <a:r>
              <a:rPr lang="en-US" altLang="ko-KR" sz="24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r>
              <a:rPr lang="en-US" altLang="ko-KR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</a:t>
            </a:r>
            <a:endParaRPr lang="en-US" altLang="ko-KR" sz="2400" dirty="0">
              <a:solidFill>
                <a:schemeClr val="bg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altLang="ko-KR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en-US" altLang="ko-KR" sz="2400" dirty="0" err="1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Mtb</a:t>
            </a:r>
            <a:r>
              <a:rPr lang="en-US" altLang="ko-KR" sz="24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-Inhibitor Finder AI)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1BB93A1-EB0D-4272-9D12-DAF6D6ADB12F}"/>
              </a:ext>
            </a:extLst>
          </p:cNvPr>
          <p:cNvSpPr txBox="1"/>
          <p:nvPr/>
        </p:nvSpPr>
        <p:spPr>
          <a:xfrm>
            <a:off x="1523390" y="5762549"/>
            <a:ext cx="31537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논문:</a:t>
            </a:r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170ECB3A-BBB7-4B69-AB68-267BB8BFC5B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1333195" y="5798210"/>
            <a:ext cx="114300" cy="133502"/>
          </a:xfrm>
          <a:prstGeom prst="rect">
            <a:avLst/>
          </a:prstGeom>
        </p:spPr>
      </p:pic>
      <p:sp>
        <p:nvSpPr>
          <p:cNvPr id="22" name="Text 8">
            <a:extLst>
              <a:ext uri="{FF2B5EF4-FFF2-40B4-BE49-F238E27FC236}">
                <a16:creationId xmlns:a16="http://schemas.microsoft.com/office/drawing/2014/main" id="{AAF436B7-5B5F-4868-AFAB-D314097A0E5E}"/>
              </a:ext>
            </a:extLst>
          </p:cNvPr>
          <p:cNvSpPr txBox="1"/>
          <p:nvPr/>
        </p:nvSpPr>
        <p:spPr>
          <a:xfrm>
            <a:off x="1333194" y="6010350"/>
            <a:ext cx="4888497" cy="267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Liu et al., Journal of Cheminformatics (2022) 14:12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1FE021B-6275-429B-9C6B-62CCEDA2A159}"/>
              </a:ext>
            </a:extLst>
          </p:cNvPr>
          <p:cNvSpPr txBox="1"/>
          <p:nvPr/>
        </p:nvSpPr>
        <p:spPr>
          <a:xfrm>
            <a:off x="9795967" y="5762549"/>
            <a:ext cx="1069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2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박관철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5D28FD9-B250-4B3D-AB98-D4CF42134C65}"/>
              </a:ext>
            </a:extLst>
          </p:cNvPr>
          <p:cNvSpPr txBox="1"/>
          <p:nvPr/>
        </p:nvSpPr>
        <p:spPr>
          <a:xfrm>
            <a:off x="9687154" y="6024982"/>
            <a:ext cx="11795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2026-02-20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6615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구성도: 논문 연구 → 솔루션 구현 매핑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47395"/>
            <a:ext cx="5563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8단계 프로세스 통합 아키텍처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11373307" y="400507"/>
            <a:ext cx="342900" cy="304495"/>
          </a:xfrm>
          <a:prstGeom prst="rect">
            <a:avLst/>
          </a:prstGeom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B6B0C1AE-B615-49C8-92F0-21347D9E7F24}"/>
              </a:ext>
            </a:extLst>
          </p:cNvPr>
          <p:cNvGrpSpPr/>
          <p:nvPr/>
        </p:nvGrpSpPr>
        <p:grpSpPr>
          <a:xfrm>
            <a:off x="476402" y="1352398"/>
            <a:ext cx="11239805" cy="4572000"/>
            <a:chOff x="476402" y="1352398"/>
            <a:chExt cx="11239805" cy="4572000"/>
          </a:xfrm>
        </p:grpSpPr>
        <p:sp>
          <p:nvSpPr>
            <p:cNvPr id="7" name="Shape 4"/>
            <p:cNvSpPr/>
            <p:nvPr/>
          </p:nvSpPr>
          <p:spPr>
            <a:xfrm>
              <a:off x="476402" y="1352398"/>
              <a:ext cx="11239805" cy="4572000"/>
            </a:xfrm>
            <a:prstGeom prst="roundRect">
              <a:avLst>
                <a:gd name="adj" fmla="val 94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76200" dist="25400" dir="162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8" name="Shape 5"/>
            <p:cNvSpPr/>
            <p:nvPr/>
          </p:nvSpPr>
          <p:spPr>
            <a:xfrm>
              <a:off x="476402" y="1352398"/>
              <a:ext cx="11239805" cy="533095"/>
            </a:xfrm>
            <a:prstGeom prst="roundRect">
              <a:avLst>
                <a:gd name="adj" fmla="val 24504"/>
              </a:avLst>
            </a:prstGeom>
            <a:solidFill>
              <a:srgbClr val="1A355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9" name="Shape 6"/>
          <p:cNvSpPr/>
          <p:nvPr/>
        </p:nvSpPr>
        <p:spPr>
          <a:xfrm>
            <a:off x="1228954" y="1352398"/>
            <a:ext cx="9144" cy="533095"/>
          </a:xfrm>
          <a:prstGeom prst="roundRect">
            <a:avLst>
              <a:gd name="adj" fmla="val 142857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9107" y="1505102"/>
            <a:ext cx="448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467551" y="1352398"/>
            <a:ext cx="9144" cy="533095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71600" y="1505102"/>
            <a:ext cx="4963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연구 (Research Paper)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610198" y="1505102"/>
            <a:ext cx="4972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구현 (Solution Implementation)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76402" y="2933896"/>
            <a:ext cx="11239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6402" y="1933542"/>
            <a:ext cx="761695" cy="1000354"/>
          </a:xfrm>
          <a:prstGeom prst="rect">
            <a:avLst/>
          </a:prstGeom>
          <a:solidFill>
            <a:srgbClr val="1A355B"/>
          </a:solidFill>
          <a:ln/>
        </p:spPr>
      </p:sp>
      <p:sp>
        <p:nvSpPr>
          <p:cNvPr id="16" name="Shape 13"/>
          <p:cNvSpPr/>
          <p:nvPr/>
        </p:nvSpPr>
        <p:spPr>
          <a:xfrm>
            <a:off x="1228954" y="1933542"/>
            <a:ext cx="9144" cy="1000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1929" y="2304789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67551" y="1933542"/>
            <a:ext cx="9144" cy="1000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29207" y="2125566"/>
            <a:ext cx="5039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종간 유전자 상동성 분석</a:t>
            </a:r>
            <a:endParaRPr lang="en-US" dirty="0"/>
          </a:p>
        </p:txBody>
      </p:sp>
      <p:sp>
        <p:nvSpPr>
          <p:cNvPr id="20" name="Text 17"/>
          <p:cNvSpPr txBox="1"/>
          <p:nvPr/>
        </p:nvSpPr>
        <p:spPr>
          <a:xfrm>
            <a:off x="1429207" y="2397143"/>
            <a:ext cx="4691786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Mtb와 E.coli 간의 진화적 상동성(Homology) 분석을 통해 유전적 민감도 데이터의 교차 활용 기반 마련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610198" y="2131673"/>
            <a:ext cx="5048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생물학적 데이터 매핑</a:t>
            </a:r>
            <a:endParaRPr lang="en-US" dirty="0"/>
          </a:p>
        </p:txBody>
      </p:sp>
      <p:sp>
        <p:nvSpPr>
          <p:cNvPr id="22" name="Text 19"/>
          <p:cNvSpPr txBox="1"/>
          <p:nvPr/>
        </p:nvSpPr>
        <p:spPr>
          <a:xfrm>
            <a:off x="6639001" y="2348570"/>
            <a:ext cx="5125127" cy="39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 기반 분석 파일을 활용하여 두 균주 간 유전자 상동성 매핑 및 비교 데이터셋 구축</a:t>
            </a:r>
            <a:endParaRPr lang="en-US" sz="1200" dirty="0"/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E49BB269-8CCE-4140-BD41-42148E8290A3}"/>
              </a:ext>
            </a:extLst>
          </p:cNvPr>
          <p:cNvGrpSpPr/>
          <p:nvPr/>
        </p:nvGrpSpPr>
        <p:grpSpPr>
          <a:xfrm>
            <a:off x="10518618" y="2093019"/>
            <a:ext cx="1051341" cy="304124"/>
            <a:chOff x="8952195" y="2619174"/>
            <a:chExt cx="2847236" cy="264262"/>
          </a:xfrm>
        </p:grpSpPr>
        <p:pic>
          <p:nvPicPr>
            <p:cNvPr id="2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52195" y="2642725"/>
              <a:ext cx="2847236" cy="204456"/>
            </a:xfrm>
            <a:prstGeom prst="rect">
              <a:avLst/>
            </a:prstGeom>
          </p:spPr>
        </p:pic>
        <p:sp>
          <p:nvSpPr>
            <p:cNvPr id="24" name="Text 20"/>
            <p:cNvSpPr/>
            <p:nvPr/>
          </p:nvSpPr>
          <p:spPr>
            <a:xfrm>
              <a:off x="9214159" y="2619174"/>
              <a:ext cx="2333871" cy="26426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구현</a:t>
              </a:r>
              <a:endParaRPr lang="en-US" sz="1200" dirty="0"/>
            </a:p>
          </p:txBody>
        </p:sp>
      </p:grpSp>
      <p:sp>
        <p:nvSpPr>
          <p:cNvPr id="26" name="Shape 22"/>
          <p:cNvSpPr/>
          <p:nvPr/>
        </p:nvSpPr>
        <p:spPr>
          <a:xfrm>
            <a:off x="476402" y="3943393"/>
            <a:ext cx="11239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76402" y="2943040"/>
            <a:ext cx="761695" cy="1000354"/>
          </a:xfrm>
          <a:prstGeom prst="rect">
            <a:avLst/>
          </a:prstGeom>
          <a:solidFill>
            <a:srgbClr val="1A355B"/>
          </a:solidFill>
          <a:ln/>
        </p:spPr>
      </p:sp>
      <p:sp>
        <p:nvSpPr>
          <p:cNvPr id="28" name="Shape 24"/>
          <p:cNvSpPr/>
          <p:nvPr/>
        </p:nvSpPr>
        <p:spPr>
          <a:xfrm>
            <a:off x="1228954" y="2943040"/>
            <a:ext cx="9144" cy="1000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01929" y="3314286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6467551" y="2943040"/>
            <a:ext cx="9144" cy="1000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429207" y="3135978"/>
            <a:ext cx="5039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유전자 군집화 및 기전 정의</a:t>
            </a:r>
            <a:endParaRPr lang="en-US" dirty="0"/>
          </a:p>
        </p:txBody>
      </p:sp>
      <p:sp>
        <p:nvSpPr>
          <p:cNvPr id="32" name="Text 28"/>
          <p:cNvSpPr txBox="1"/>
          <p:nvPr/>
        </p:nvSpPr>
        <p:spPr>
          <a:xfrm>
            <a:off x="1429207" y="3406640"/>
            <a:ext cx="4562856" cy="46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계층적 군집화(Hierarchical Clustering)를 수행하여 유전자를 13개의 기능적 클러스터(COG) 및 기전으로 분류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6610199" y="3135499"/>
            <a:ext cx="5048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라벨링 최적화</a:t>
            </a:r>
            <a:endParaRPr lang="en-US" dirty="0"/>
          </a:p>
        </p:txBody>
      </p:sp>
      <p:sp>
        <p:nvSpPr>
          <p:cNvPr id="34" name="Text 30"/>
          <p:cNvSpPr txBox="1"/>
          <p:nvPr/>
        </p:nvSpPr>
        <p:spPr>
          <a:xfrm>
            <a:off x="6610198" y="3415284"/>
            <a:ext cx="504840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계층적 </a:t>
            </a:r>
            <a:r>
              <a:rPr lang="ko-KR" altLang="en-US" sz="12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군집화를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통한 클러스터링 및 13가지 작용 기전(MoA) 라벨링 수행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476402" y="4952891"/>
            <a:ext cx="11239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76402" y="3952537"/>
            <a:ext cx="761695" cy="1000354"/>
          </a:xfrm>
          <a:prstGeom prst="rect">
            <a:avLst/>
          </a:prstGeom>
          <a:solidFill>
            <a:srgbClr val="1A355B"/>
          </a:solidFill>
          <a:ln/>
        </p:spPr>
      </p:sp>
      <p:sp>
        <p:nvSpPr>
          <p:cNvPr id="40" name="Shape 35"/>
          <p:cNvSpPr/>
          <p:nvPr/>
        </p:nvSpPr>
        <p:spPr>
          <a:xfrm>
            <a:off x="1228954" y="3952537"/>
            <a:ext cx="9144" cy="1000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01929" y="4323784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000" dirty="0"/>
          </a:p>
        </p:txBody>
      </p:sp>
      <p:sp>
        <p:nvSpPr>
          <p:cNvPr id="42" name="Shape 37"/>
          <p:cNvSpPr/>
          <p:nvPr/>
        </p:nvSpPr>
        <p:spPr>
          <a:xfrm>
            <a:off x="6467551" y="3952537"/>
            <a:ext cx="9144" cy="1000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1429207" y="4145476"/>
            <a:ext cx="5039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CGIP 기반 피처 엔지니어링</a:t>
            </a:r>
            <a:endParaRPr lang="en-US" dirty="0"/>
          </a:p>
        </p:txBody>
      </p:sp>
      <p:sp>
        <p:nvSpPr>
          <p:cNvPr id="44" name="Text 39"/>
          <p:cNvSpPr txBox="1"/>
          <p:nvPr/>
        </p:nvSpPr>
        <p:spPr>
          <a:xfrm>
            <a:off x="1429207" y="4417052"/>
            <a:ext cx="4924958" cy="45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결핵균 변이 균주의 성장 억제 프로파일(CGIP)로부터 클러스터별 대표값(Median Z-score) 산출 및 데이터 정규화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6610199" y="4148245"/>
            <a:ext cx="5048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시스템</a:t>
            </a:r>
            <a:endParaRPr lang="en-US" dirty="0"/>
          </a:p>
        </p:txBody>
      </p:sp>
      <p:sp>
        <p:nvSpPr>
          <p:cNvPr id="46" name="Text 41"/>
          <p:cNvSpPr txBox="1"/>
          <p:nvPr/>
        </p:nvSpPr>
        <p:spPr>
          <a:xfrm>
            <a:off x="6610199" y="4413745"/>
            <a:ext cx="4914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결핵균</a:t>
            </a:r>
            <a:r>
              <a:rPr lang="en-US" altLang="ko-KR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변이</a:t>
            </a:r>
            <a:r>
              <a:rPr lang="en-US" altLang="ko-KR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균주의</a:t>
            </a:r>
            <a:r>
              <a:rPr lang="en-US" altLang="ko-KR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r>
              <a:rPr lang="en-US" altLang="ko-KR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억제</a:t>
            </a:r>
            <a:r>
              <a:rPr lang="en-US" altLang="ko-KR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프로파일</a:t>
            </a:r>
            <a:r>
              <a:rPr lang="en-US" altLang="ko-KR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(CGIP)</a:t>
            </a:r>
            <a:r>
              <a:rPr lang="en-US" altLang="ko-KR" sz="12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로부터</a:t>
            </a:r>
            <a:r>
              <a:rPr lang="en-US" altLang="ko-KR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클러스터별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중앙값 기반 학습 데이터셋 완성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476402" y="5962389"/>
            <a:ext cx="11239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476402" y="4962035"/>
            <a:ext cx="761695" cy="1000354"/>
          </a:xfrm>
          <a:prstGeom prst="rect">
            <a:avLst/>
          </a:prstGeom>
          <a:solidFill>
            <a:srgbClr val="1A355B"/>
          </a:solidFill>
          <a:ln/>
        </p:spPr>
      </p:sp>
      <p:sp>
        <p:nvSpPr>
          <p:cNvPr id="52" name="Shape 46"/>
          <p:cNvSpPr/>
          <p:nvPr/>
        </p:nvSpPr>
        <p:spPr>
          <a:xfrm>
            <a:off x="1228954" y="4962035"/>
            <a:ext cx="9144" cy="1000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801929" y="5333281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000" dirty="0"/>
          </a:p>
        </p:txBody>
      </p:sp>
      <p:sp>
        <p:nvSpPr>
          <p:cNvPr id="54" name="Shape 48"/>
          <p:cNvSpPr/>
          <p:nvPr/>
        </p:nvSpPr>
        <p:spPr>
          <a:xfrm>
            <a:off x="6467551" y="4962035"/>
            <a:ext cx="9144" cy="1000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1429207" y="5154973"/>
            <a:ext cx="4963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D-MPNN 기반 딥러닝 모델링</a:t>
            </a:r>
            <a:endParaRPr lang="en-US" dirty="0"/>
          </a:p>
        </p:txBody>
      </p:sp>
      <p:sp>
        <p:nvSpPr>
          <p:cNvPr id="56" name="Text 50"/>
          <p:cNvSpPr txBox="1"/>
          <p:nvPr/>
        </p:nvSpPr>
        <p:spPr>
          <a:xfrm>
            <a:off x="1429207" y="5426549"/>
            <a:ext cx="4924958" cy="44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 그래프 정보를 직접 학습하는 Directed Message Passing Neural Network 아키텍처 설계 및 구축</a:t>
            </a:r>
            <a:endParaRPr lang="en-US" sz="1200" dirty="0"/>
          </a:p>
        </p:txBody>
      </p:sp>
      <p:sp>
        <p:nvSpPr>
          <p:cNvPr id="57" name="Text 51"/>
          <p:cNvSpPr txBox="1"/>
          <p:nvPr/>
        </p:nvSpPr>
        <p:spPr>
          <a:xfrm>
            <a:off x="6610199" y="5142021"/>
            <a:ext cx="5048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및 최적화 엔진</a:t>
            </a:r>
            <a:endParaRPr lang="en-US" dirty="0"/>
          </a:p>
        </p:txBody>
      </p:sp>
      <p:sp>
        <p:nvSpPr>
          <p:cNvPr id="58" name="Text 52"/>
          <p:cNvSpPr txBox="1"/>
          <p:nvPr/>
        </p:nvSpPr>
        <p:spPr>
          <a:xfrm>
            <a:off x="6639000" y="5394395"/>
            <a:ext cx="5019599" cy="393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D-MPNN 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구축 및 Bayesian Optimization을 통한 하이퍼파라미터 최적화</a:t>
            </a:r>
            <a:endParaRPr lang="en-US" sz="1200" dirty="0"/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5C8FB6FC-F69A-4C6C-8BE0-00B28ABD0198}"/>
              </a:ext>
            </a:extLst>
          </p:cNvPr>
          <p:cNvGrpSpPr/>
          <p:nvPr/>
        </p:nvGrpSpPr>
        <p:grpSpPr>
          <a:xfrm>
            <a:off x="10518617" y="3033820"/>
            <a:ext cx="1051341" cy="304124"/>
            <a:chOff x="8952195" y="2619174"/>
            <a:chExt cx="2847236" cy="264262"/>
          </a:xfrm>
        </p:grpSpPr>
        <p:pic>
          <p:nvPicPr>
            <p:cNvPr id="113" name="Image 1" descr="preencoded.png">
              <a:extLst>
                <a:ext uri="{FF2B5EF4-FFF2-40B4-BE49-F238E27FC236}">
                  <a16:creationId xmlns:a16="http://schemas.microsoft.com/office/drawing/2014/main" id="{DB55C03B-F23C-4CFF-AC5D-B069EDD3B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52195" y="2642725"/>
              <a:ext cx="2847236" cy="204456"/>
            </a:xfrm>
            <a:prstGeom prst="rect">
              <a:avLst/>
            </a:prstGeom>
          </p:spPr>
        </p:pic>
        <p:sp>
          <p:nvSpPr>
            <p:cNvPr id="114" name="Text 20">
              <a:extLst>
                <a:ext uri="{FF2B5EF4-FFF2-40B4-BE49-F238E27FC236}">
                  <a16:creationId xmlns:a16="http://schemas.microsoft.com/office/drawing/2014/main" id="{2442855C-7311-4F7D-8F05-2C16DE0EDAC2}"/>
                </a:ext>
              </a:extLst>
            </p:cNvPr>
            <p:cNvSpPr/>
            <p:nvPr/>
          </p:nvSpPr>
          <p:spPr>
            <a:xfrm>
              <a:off x="9214159" y="2619174"/>
              <a:ext cx="2333871" cy="26426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구현</a:t>
              </a:r>
              <a:endParaRPr lang="en-US" sz="1200" dirty="0"/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A69A342E-7854-43E7-BC95-DAE265BB4459}"/>
              </a:ext>
            </a:extLst>
          </p:cNvPr>
          <p:cNvGrpSpPr/>
          <p:nvPr/>
        </p:nvGrpSpPr>
        <p:grpSpPr>
          <a:xfrm>
            <a:off x="10518616" y="4053862"/>
            <a:ext cx="1051341" cy="304124"/>
            <a:chOff x="8952195" y="2619174"/>
            <a:chExt cx="2847236" cy="264262"/>
          </a:xfrm>
        </p:grpSpPr>
        <p:pic>
          <p:nvPicPr>
            <p:cNvPr id="116" name="Image 1" descr="preencoded.png">
              <a:extLst>
                <a:ext uri="{FF2B5EF4-FFF2-40B4-BE49-F238E27FC236}">
                  <a16:creationId xmlns:a16="http://schemas.microsoft.com/office/drawing/2014/main" id="{91EA7BDD-5035-4F16-A8AA-55C66336F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52195" y="2642725"/>
              <a:ext cx="2847236" cy="204456"/>
            </a:xfrm>
            <a:prstGeom prst="rect">
              <a:avLst/>
            </a:prstGeom>
          </p:spPr>
        </p:pic>
        <p:sp>
          <p:nvSpPr>
            <p:cNvPr id="117" name="Text 20">
              <a:extLst>
                <a:ext uri="{FF2B5EF4-FFF2-40B4-BE49-F238E27FC236}">
                  <a16:creationId xmlns:a16="http://schemas.microsoft.com/office/drawing/2014/main" id="{2A1931BB-9BA0-4A2A-8A70-CA923D871801}"/>
                </a:ext>
              </a:extLst>
            </p:cNvPr>
            <p:cNvSpPr/>
            <p:nvPr/>
          </p:nvSpPr>
          <p:spPr>
            <a:xfrm>
              <a:off x="9214159" y="2619174"/>
              <a:ext cx="2333871" cy="26426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구현</a:t>
              </a:r>
              <a:endParaRPr lang="en-US" sz="1200" dirty="0"/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2A272CCD-7774-4899-B85A-6BB0E6DA7E79}"/>
              </a:ext>
            </a:extLst>
          </p:cNvPr>
          <p:cNvGrpSpPr/>
          <p:nvPr/>
        </p:nvGrpSpPr>
        <p:grpSpPr>
          <a:xfrm>
            <a:off x="10489814" y="5090271"/>
            <a:ext cx="1051341" cy="304124"/>
            <a:chOff x="8952195" y="2619174"/>
            <a:chExt cx="2847236" cy="264262"/>
          </a:xfrm>
        </p:grpSpPr>
        <p:pic>
          <p:nvPicPr>
            <p:cNvPr id="119" name="Image 1" descr="preencoded.png">
              <a:extLst>
                <a:ext uri="{FF2B5EF4-FFF2-40B4-BE49-F238E27FC236}">
                  <a16:creationId xmlns:a16="http://schemas.microsoft.com/office/drawing/2014/main" id="{EB0202FD-5C09-4C75-859E-E3B4B0625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52195" y="2642725"/>
              <a:ext cx="2847236" cy="204456"/>
            </a:xfrm>
            <a:prstGeom prst="rect">
              <a:avLst/>
            </a:prstGeom>
          </p:spPr>
        </p:pic>
        <p:sp>
          <p:nvSpPr>
            <p:cNvPr id="120" name="Text 20">
              <a:extLst>
                <a:ext uri="{FF2B5EF4-FFF2-40B4-BE49-F238E27FC236}">
                  <a16:creationId xmlns:a16="http://schemas.microsoft.com/office/drawing/2014/main" id="{BAFA5DFF-49E9-4E45-AABD-4ED85371EF8C}"/>
                </a:ext>
              </a:extLst>
            </p:cNvPr>
            <p:cNvSpPr/>
            <p:nvPr/>
          </p:nvSpPr>
          <p:spPr>
            <a:xfrm>
              <a:off x="9214159" y="2619174"/>
              <a:ext cx="2333871" cy="26426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구현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6615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구성도: 논문 연구 → 솔루션 구현 매핑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47395"/>
            <a:ext cx="5563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8단계 프로세스 통합 아키텍처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11373307" y="400507"/>
            <a:ext cx="342900" cy="304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6402" y="1352398"/>
            <a:ext cx="11239805" cy="4604795"/>
          </a:xfrm>
          <a:prstGeom prst="roundRect">
            <a:avLst>
              <a:gd name="adj" fmla="val 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6402" y="1352398"/>
            <a:ext cx="11239805" cy="533095"/>
          </a:xfrm>
          <a:prstGeom prst="roundRect">
            <a:avLst>
              <a:gd name="adj" fmla="val 24504"/>
            </a:avLst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28954" y="1352398"/>
            <a:ext cx="9144" cy="533095"/>
          </a:xfrm>
          <a:prstGeom prst="roundRect">
            <a:avLst>
              <a:gd name="adj" fmla="val 142857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9107" y="1505102"/>
            <a:ext cx="448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467551" y="1352398"/>
            <a:ext cx="9144" cy="533095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71600" y="1505102"/>
            <a:ext cx="4963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연구 (Research Paper)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610198" y="1505102"/>
            <a:ext cx="4972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구현 (Solution Implementation)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228954" y="1886407"/>
            <a:ext cx="9144" cy="1000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67551" y="1886407"/>
            <a:ext cx="9144" cy="1000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FEEDEF1E-6B8B-42FD-8419-5BBC565FFB8F}"/>
              </a:ext>
            </a:extLst>
          </p:cNvPr>
          <p:cNvGrpSpPr/>
          <p:nvPr/>
        </p:nvGrpSpPr>
        <p:grpSpPr>
          <a:xfrm>
            <a:off x="476402" y="1927715"/>
            <a:ext cx="11251692" cy="4029478"/>
            <a:chOff x="476402" y="2021985"/>
            <a:chExt cx="11251692" cy="4029478"/>
          </a:xfrm>
        </p:grpSpPr>
        <p:sp>
          <p:nvSpPr>
            <p:cNvPr id="98" name="Shape 88"/>
            <p:cNvSpPr/>
            <p:nvPr/>
          </p:nvSpPr>
          <p:spPr>
            <a:xfrm>
              <a:off x="476402" y="5051109"/>
              <a:ext cx="761695" cy="1000354"/>
            </a:xfrm>
            <a:prstGeom prst="roundRect">
              <a:avLst>
                <a:gd name="adj" fmla="val 12005"/>
              </a:avLst>
            </a:prstGeom>
            <a:solidFill>
              <a:srgbClr val="1A355B"/>
            </a:solidFill>
            <a:ln/>
          </p:spPr>
        </p:sp>
        <p:sp>
          <p:nvSpPr>
            <p:cNvPr id="99" name="Shape 89"/>
            <p:cNvSpPr/>
            <p:nvPr/>
          </p:nvSpPr>
          <p:spPr>
            <a:xfrm>
              <a:off x="1228954" y="5051109"/>
              <a:ext cx="9144" cy="1000354"/>
            </a:xfrm>
            <a:prstGeom prst="roundRect">
              <a:avLst>
                <a:gd name="adj" fmla="val 1000000"/>
              </a:avLst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</p:sp>
        <p:sp>
          <p:nvSpPr>
            <p:cNvPr id="101" name="Shape 91"/>
            <p:cNvSpPr/>
            <p:nvPr/>
          </p:nvSpPr>
          <p:spPr>
            <a:xfrm>
              <a:off x="6467551" y="5051109"/>
              <a:ext cx="9144" cy="1000354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>
                  <a:alpha val="0"/>
                </a:srgbClr>
              </a:solidFill>
              <a:prstDash val="solid"/>
            </a:ln>
          </p:spPr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8A5ACA43-2EA7-4601-BF25-6DE25FDDE54D}"/>
                </a:ext>
              </a:extLst>
            </p:cNvPr>
            <p:cNvGrpSpPr/>
            <p:nvPr/>
          </p:nvGrpSpPr>
          <p:grpSpPr>
            <a:xfrm>
              <a:off x="476402" y="2021985"/>
              <a:ext cx="11251692" cy="3938023"/>
              <a:chOff x="476402" y="2012558"/>
              <a:chExt cx="11251692" cy="3938023"/>
            </a:xfrm>
          </p:grpSpPr>
          <p:sp>
            <p:nvSpPr>
              <p:cNvPr id="17" name="Text 14"/>
              <p:cNvSpPr txBox="1"/>
              <p:nvPr/>
            </p:nvSpPr>
            <p:spPr>
              <a:xfrm>
                <a:off x="801929" y="2257654"/>
                <a:ext cx="181051" cy="2578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1</a:t>
                </a:r>
                <a:endParaRPr lang="en-US" sz="2000" dirty="0"/>
              </a:p>
            </p:txBody>
          </p:sp>
          <p:sp>
            <p:nvSpPr>
              <p:cNvPr id="50" name="Shape 44"/>
              <p:cNvSpPr/>
              <p:nvPr/>
            </p:nvSpPr>
            <p:spPr>
              <a:xfrm>
                <a:off x="476402" y="2012558"/>
                <a:ext cx="11239805" cy="9144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E2E8F0">
                    <a:alpha val="0"/>
                  </a:srgbClr>
                </a:solidFill>
                <a:prstDash val="solid"/>
              </a:ln>
            </p:spPr>
          </p:sp>
          <p:sp>
            <p:nvSpPr>
              <p:cNvPr id="62" name="Shape 55"/>
              <p:cNvSpPr/>
              <p:nvPr/>
            </p:nvSpPr>
            <p:spPr>
              <a:xfrm>
                <a:off x="476402" y="3022055"/>
                <a:ext cx="11239805" cy="9144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E2E8F0">
                    <a:alpha val="0"/>
                  </a:srgbClr>
                </a:solidFill>
                <a:prstDash val="solid"/>
              </a:ln>
            </p:spPr>
          </p:sp>
          <p:sp>
            <p:nvSpPr>
              <p:cNvPr id="63" name="Shape 56"/>
              <p:cNvSpPr/>
              <p:nvPr/>
            </p:nvSpPr>
            <p:spPr>
              <a:xfrm>
                <a:off x="476402" y="2021702"/>
                <a:ext cx="761695" cy="1000354"/>
              </a:xfrm>
              <a:prstGeom prst="rect">
                <a:avLst/>
              </a:prstGeom>
              <a:solidFill>
                <a:srgbClr val="1A355B"/>
              </a:solidFill>
              <a:ln/>
            </p:spPr>
          </p:sp>
          <p:sp>
            <p:nvSpPr>
              <p:cNvPr id="64" name="Shape 57"/>
              <p:cNvSpPr/>
              <p:nvPr/>
            </p:nvSpPr>
            <p:spPr>
              <a:xfrm>
                <a:off x="1228954" y="2021702"/>
                <a:ext cx="9144" cy="1000354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E2E8F0">
                    <a:alpha val="0"/>
                  </a:srgbClr>
                </a:solidFill>
                <a:prstDash val="solid"/>
              </a:ln>
            </p:spPr>
          </p:sp>
          <p:sp>
            <p:nvSpPr>
              <p:cNvPr id="65" name="Text 58"/>
              <p:cNvSpPr txBox="1"/>
              <p:nvPr/>
            </p:nvSpPr>
            <p:spPr>
              <a:xfrm>
                <a:off x="801929" y="2392948"/>
                <a:ext cx="181051" cy="2578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5</a:t>
                </a:r>
                <a:endParaRPr lang="en-US" sz="2000" dirty="0"/>
              </a:p>
            </p:txBody>
          </p:sp>
          <p:sp>
            <p:nvSpPr>
              <p:cNvPr id="66" name="Shape 59"/>
              <p:cNvSpPr/>
              <p:nvPr/>
            </p:nvSpPr>
            <p:spPr>
              <a:xfrm>
                <a:off x="6467551" y="2021702"/>
                <a:ext cx="9144" cy="1000354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E2E8F0">
                    <a:alpha val="0"/>
                  </a:srgbClr>
                </a:solidFill>
                <a:prstDash val="solid"/>
              </a:ln>
            </p:spPr>
          </p:sp>
          <p:sp>
            <p:nvSpPr>
              <p:cNvPr id="67" name="Text 60"/>
              <p:cNvSpPr txBox="1"/>
              <p:nvPr/>
            </p:nvSpPr>
            <p:spPr>
              <a:xfrm>
                <a:off x="1429207" y="2300594"/>
                <a:ext cx="5039258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1A355B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모델 성능 검증 및 평가</a:t>
                </a:r>
                <a:endParaRPr lang="en-US" dirty="0"/>
              </a:p>
            </p:txBody>
          </p:sp>
          <p:sp>
            <p:nvSpPr>
              <p:cNvPr id="68" name="Text 61"/>
              <p:cNvSpPr txBox="1"/>
              <p:nvPr/>
            </p:nvSpPr>
            <p:spPr>
              <a:xfrm>
                <a:off x="1429208" y="2572170"/>
                <a:ext cx="4905756" cy="3758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AUROC 및 PRC-AUC 지표를 통한 기전 예측 성능 검증 및 In-silico 스크리닝의 통계적 유효성 평가</a:t>
                </a:r>
                <a:endParaRPr lang="en-US" sz="1200" dirty="0"/>
              </a:p>
            </p:txBody>
          </p:sp>
          <p:sp>
            <p:nvSpPr>
              <p:cNvPr id="69" name="Text 62"/>
              <p:cNvSpPr txBox="1"/>
              <p:nvPr/>
            </p:nvSpPr>
            <p:spPr>
              <a:xfrm>
                <a:off x="6667805" y="2201698"/>
                <a:ext cx="5048402" cy="3154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1A355B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추론 엔진 고도화</a:t>
                </a:r>
                <a:endParaRPr lang="en-US" dirty="0"/>
              </a:p>
            </p:txBody>
          </p:sp>
          <p:sp>
            <p:nvSpPr>
              <p:cNvPr id="70" name="Text 63"/>
              <p:cNvSpPr txBox="1"/>
              <p:nvPr/>
            </p:nvSpPr>
            <p:spPr>
              <a:xfrm>
                <a:off x="6667804" y="2471585"/>
                <a:ext cx="5030113" cy="47640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 err="1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학습된</a:t>
                </a:r>
                <a:r>
                  <a:rPr lang="en-US" sz="1200" dirty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</a:t>
                </a:r>
                <a:r>
                  <a:rPr lang="en-US" sz="1200" dirty="0" smtClean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D-MPNN </a:t>
                </a:r>
                <a:r>
                  <a:rPr lang="en-US" sz="1200" dirty="0" err="1" smtClean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모델을</a:t>
                </a:r>
                <a:r>
                  <a:rPr lang="en-US" sz="1200" dirty="0" smtClean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</a:t>
                </a:r>
                <a:r>
                  <a:rPr lang="en-US" sz="1200" dirty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활용하여 미지의 화합물에 대한 저해 활성 확률을 실시간으로 도출하는 로직 구현</a:t>
                </a:r>
                <a:endParaRPr lang="en-US" sz="1200" dirty="0"/>
              </a:p>
            </p:txBody>
          </p:sp>
          <p:sp>
            <p:nvSpPr>
              <p:cNvPr id="74" name="Shape 66"/>
              <p:cNvSpPr/>
              <p:nvPr/>
            </p:nvSpPr>
            <p:spPr>
              <a:xfrm>
                <a:off x="476402" y="4031553"/>
                <a:ext cx="11239805" cy="9144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E2E8F0">
                    <a:alpha val="0"/>
                  </a:srgbClr>
                </a:solidFill>
                <a:prstDash val="solid"/>
              </a:ln>
            </p:spPr>
          </p:sp>
          <p:sp>
            <p:nvSpPr>
              <p:cNvPr id="75" name="Shape 67"/>
              <p:cNvSpPr/>
              <p:nvPr/>
            </p:nvSpPr>
            <p:spPr>
              <a:xfrm>
                <a:off x="476402" y="3031199"/>
                <a:ext cx="761695" cy="1000354"/>
              </a:xfrm>
              <a:prstGeom prst="rect">
                <a:avLst/>
              </a:prstGeom>
              <a:solidFill>
                <a:srgbClr val="1A355B"/>
              </a:solidFill>
              <a:ln/>
            </p:spPr>
          </p:sp>
          <p:sp>
            <p:nvSpPr>
              <p:cNvPr id="76" name="Shape 68"/>
              <p:cNvSpPr/>
              <p:nvPr/>
            </p:nvSpPr>
            <p:spPr>
              <a:xfrm>
                <a:off x="1228954" y="3031199"/>
                <a:ext cx="9144" cy="1000354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E2E8F0">
                    <a:alpha val="0"/>
                  </a:srgbClr>
                </a:solidFill>
                <a:prstDash val="solid"/>
              </a:ln>
            </p:spPr>
          </p:sp>
          <p:sp>
            <p:nvSpPr>
              <p:cNvPr id="77" name="Text 69"/>
              <p:cNvSpPr txBox="1"/>
              <p:nvPr/>
            </p:nvSpPr>
            <p:spPr>
              <a:xfrm>
                <a:off x="801929" y="3403360"/>
                <a:ext cx="181051" cy="2578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6</a:t>
                </a:r>
                <a:endParaRPr lang="en-US" sz="2000" dirty="0"/>
              </a:p>
            </p:txBody>
          </p:sp>
          <p:sp>
            <p:nvSpPr>
              <p:cNvPr id="78" name="Shape 70"/>
              <p:cNvSpPr/>
              <p:nvPr/>
            </p:nvSpPr>
            <p:spPr>
              <a:xfrm>
                <a:off x="6467551" y="3031199"/>
                <a:ext cx="9144" cy="1000354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E2E8F0">
                    <a:alpha val="0"/>
                  </a:srgbClr>
                </a:solidFill>
                <a:prstDash val="solid"/>
              </a:ln>
            </p:spPr>
          </p:sp>
          <p:sp>
            <p:nvSpPr>
              <p:cNvPr id="79" name="Text 71"/>
              <p:cNvSpPr txBox="1"/>
              <p:nvPr/>
            </p:nvSpPr>
            <p:spPr>
              <a:xfrm>
                <a:off x="1429207" y="3310091"/>
                <a:ext cx="5039258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1A355B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외부 데이터 검증</a:t>
                </a:r>
                <a:endParaRPr lang="en-US" dirty="0"/>
              </a:p>
            </p:txBody>
          </p:sp>
          <p:sp>
            <p:nvSpPr>
              <p:cNvPr id="80" name="Text 72"/>
              <p:cNvSpPr txBox="1"/>
              <p:nvPr/>
            </p:nvSpPr>
            <p:spPr>
              <a:xfrm>
                <a:off x="1429207" y="3564577"/>
                <a:ext cx="5039258" cy="3572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외부 큐레이션된 화합물 데이터를 통한 모델 일반화 성능 평가</a:t>
                </a:r>
                <a:endParaRPr lang="en-US" sz="1200" dirty="0"/>
              </a:p>
            </p:txBody>
          </p:sp>
          <p:sp>
            <p:nvSpPr>
              <p:cNvPr id="81" name="Text 73"/>
              <p:cNvSpPr txBox="1"/>
              <p:nvPr/>
            </p:nvSpPr>
            <p:spPr>
              <a:xfrm>
                <a:off x="6667805" y="3274430"/>
                <a:ext cx="5048402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1A355B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백엔드 서비스 API</a:t>
                </a:r>
                <a:endParaRPr lang="en-US" dirty="0"/>
              </a:p>
            </p:txBody>
          </p:sp>
          <p:sp>
            <p:nvSpPr>
              <p:cNvPr id="82" name="Text 74"/>
              <p:cNvSpPr txBox="1"/>
              <p:nvPr/>
            </p:nvSpPr>
            <p:spPr>
              <a:xfrm>
                <a:off x="6679692" y="3522889"/>
                <a:ext cx="4903013" cy="4185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 err="1" smtClean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FastAPI</a:t>
                </a:r>
                <a:r>
                  <a:rPr lang="en-US" sz="1200" dirty="0" smtClean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 </a:t>
                </a:r>
                <a:r>
                  <a:rPr lang="en-US" sz="1200" dirty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서버 구축 및 RDKit을 이용한 화합물 물성(Lipinski's Rule) 분석 연동</a:t>
                </a:r>
                <a:endParaRPr lang="en-US" sz="1200" dirty="0"/>
              </a:p>
            </p:txBody>
          </p:sp>
          <p:sp>
            <p:nvSpPr>
              <p:cNvPr id="86" name="Shape 77"/>
              <p:cNvSpPr/>
              <p:nvPr/>
            </p:nvSpPr>
            <p:spPr>
              <a:xfrm>
                <a:off x="476402" y="5041965"/>
                <a:ext cx="11239805" cy="9144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E2E8F0">
                    <a:alpha val="0"/>
                  </a:srgbClr>
                </a:solidFill>
                <a:prstDash val="solid"/>
              </a:ln>
            </p:spPr>
          </p:sp>
          <p:sp>
            <p:nvSpPr>
              <p:cNvPr id="87" name="Shape 78"/>
              <p:cNvSpPr/>
              <p:nvPr/>
            </p:nvSpPr>
            <p:spPr>
              <a:xfrm>
                <a:off x="476402" y="4041611"/>
                <a:ext cx="761695" cy="1000354"/>
              </a:xfrm>
              <a:prstGeom prst="rect">
                <a:avLst/>
              </a:prstGeom>
              <a:solidFill>
                <a:srgbClr val="1A355B"/>
              </a:solidFill>
              <a:ln/>
            </p:spPr>
          </p:sp>
          <p:sp>
            <p:nvSpPr>
              <p:cNvPr id="88" name="Shape 79"/>
              <p:cNvSpPr/>
              <p:nvPr/>
            </p:nvSpPr>
            <p:spPr>
              <a:xfrm>
                <a:off x="1228954" y="4041611"/>
                <a:ext cx="9144" cy="1000354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E2E8F0">
                    <a:alpha val="0"/>
                  </a:srgbClr>
                </a:solidFill>
                <a:prstDash val="solid"/>
              </a:ln>
            </p:spPr>
          </p:sp>
          <p:sp>
            <p:nvSpPr>
              <p:cNvPr id="89" name="Text 80"/>
              <p:cNvSpPr txBox="1"/>
              <p:nvPr/>
            </p:nvSpPr>
            <p:spPr>
              <a:xfrm>
                <a:off x="801929" y="4412858"/>
                <a:ext cx="181051" cy="2578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7</a:t>
                </a:r>
                <a:endParaRPr lang="en-US" sz="2000" dirty="0"/>
              </a:p>
            </p:txBody>
          </p:sp>
          <p:sp>
            <p:nvSpPr>
              <p:cNvPr id="90" name="Shape 81"/>
              <p:cNvSpPr/>
              <p:nvPr/>
            </p:nvSpPr>
            <p:spPr>
              <a:xfrm>
                <a:off x="6467551" y="4041611"/>
                <a:ext cx="9144" cy="1000354"/>
              </a:xfrm>
              <a:prstGeom prst="rect">
                <a:avLst/>
              </a:prstGeom>
              <a:solidFill>
                <a:srgbClr val="E2E8F0"/>
              </a:solidFill>
              <a:ln w="12700">
                <a:solidFill>
                  <a:srgbClr val="E2E8F0">
                    <a:alpha val="0"/>
                  </a:srgbClr>
                </a:solidFill>
                <a:prstDash val="solid"/>
              </a:ln>
            </p:spPr>
          </p:sp>
          <p:sp>
            <p:nvSpPr>
              <p:cNvPr id="91" name="Text 82"/>
              <p:cNvSpPr txBox="1"/>
              <p:nvPr/>
            </p:nvSpPr>
            <p:spPr>
              <a:xfrm>
                <a:off x="1429207" y="4319589"/>
                <a:ext cx="4963363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1A355B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UI/UX 설계</a:t>
                </a:r>
                <a:endParaRPr lang="en-US" dirty="0"/>
              </a:p>
            </p:txBody>
          </p:sp>
          <p:sp>
            <p:nvSpPr>
              <p:cNvPr id="92" name="Text 83"/>
              <p:cNvSpPr txBox="1"/>
              <p:nvPr/>
            </p:nvSpPr>
            <p:spPr>
              <a:xfrm>
                <a:off x="1429207" y="4591166"/>
                <a:ext cx="5039258" cy="3218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사용자 친화적 인터페이스 설계 및 시각화 전략 수립</a:t>
                </a:r>
                <a:endParaRPr lang="en-US" sz="1200" dirty="0"/>
              </a:p>
            </p:txBody>
          </p:sp>
          <p:sp>
            <p:nvSpPr>
              <p:cNvPr id="93" name="Text 84"/>
              <p:cNvSpPr txBox="1"/>
              <p:nvPr/>
            </p:nvSpPr>
            <p:spPr>
              <a:xfrm>
                <a:off x="6679692" y="4209861"/>
                <a:ext cx="5048402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1A355B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인터랙티브 웹 인터페이스</a:t>
                </a:r>
                <a:endParaRPr lang="en-US" dirty="0"/>
              </a:p>
            </p:txBody>
          </p:sp>
          <p:sp>
            <p:nvSpPr>
              <p:cNvPr id="94" name="Text 85"/>
              <p:cNvSpPr txBox="1"/>
              <p:nvPr/>
            </p:nvSpPr>
            <p:spPr>
              <a:xfrm>
                <a:off x="6677997" y="4471379"/>
                <a:ext cx="5019919" cy="4416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 smtClean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SMILES </a:t>
                </a:r>
                <a:r>
                  <a:rPr lang="en-US" sz="1200" dirty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기반의 사용자 입력 처리 및 </a:t>
                </a:r>
                <a:r>
                  <a:rPr lang="ko-KR" altLang="en-US" sz="1200" dirty="0" smtClean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클러스터</a:t>
                </a:r>
                <a:r>
                  <a:rPr lang="en-US" sz="1200" dirty="0" smtClean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별 </a:t>
                </a:r>
                <a:r>
                  <a:rPr lang="en-US" sz="1200" dirty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활성도 레이더 차트 시각화 구현</a:t>
                </a:r>
                <a:endParaRPr lang="en-US" sz="1200" dirty="0"/>
              </a:p>
            </p:txBody>
          </p:sp>
          <p:sp>
            <p:nvSpPr>
              <p:cNvPr id="100" name="Text 90"/>
              <p:cNvSpPr txBox="1"/>
              <p:nvPr/>
            </p:nvSpPr>
            <p:spPr>
              <a:xfrm>
                <a:off x="801929" y="5422355"/>
                <a:ext cx="181051" cy="2578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8</a:t>
                </a:r>
                <a:endParaRPr lang="en-US" sz="2000" dirty="0"/>
              </a:p>
            </p:txBody>
          </p:sp>
          <p:sp>
            <p:nvSpPr>
              <p:cNvPr id="102" name="Text 92"/>
              <p:cNvSpPr txBox="1"/>
              <p:nvPr/>
            </p:nvSpPr>
            <p:spPr>
              <a:xfrm>
                <a:off x="1429207" y="5329086"/>
                <a:ext cx="5039258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1A355B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가상 스크리닝 플랫폼 제안</a:t>
                </a:r>
                <a:endParaRPr lang="en-US" dirty="0"/>
              </a:p>
            </p:txBody>
          </p:sp>
          <p:sp>
            <p:nvSpPr>
              <p:cNvPr id="103" name="Text 93"/>
              <p:cNvSpPr txBox="1"/>
              <p:nvPr/>
            </p:nvSpPr>
            <p:spPr>
              <a:xfrm>
                <a:off x="1429207" y="5600663"/>
                <a:ext cx="4666793" cy="3218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AI 기반의 효율적인 초기 약물 발견 및 결핵균 저해 기전 예측을 위한 전략적 가이드라인 제시</a:t>
                </a:r>
                <a:endParaRPr lang="en-US" sz="1200" dirty="0"/>
              </a:p>
            </p:txBody>
          </p:sp>
          <p:sp>
            <p:nvSpPr>
              <p:cNvPr id="104" name="Text 94"/>
              <p:cNvSpPr txBox="1"/>
              <p:nvPr/>
            </p:nvSpPr>
            <p:spPr>
              <a:xfrm>
                <a:off x="6679692" y="5277734"/>
                <a:ext cx="5048402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b="1" dirty="0">
                    <a:solidFill>
                      <a:srgbClr val="1A355B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종합 스크리닝 서비스</a:t>
                </a:r>
                <a:endParaRPr lang="en-US" dirty="0"/>
              </a:p>
            </p:txBody>
          </p:sp>
          <p:sp>
            <p:nvSpPr>
              <p:cNvPr id="105" name="Text 95"/>
              <p:cNvSpPr txBox="1"/>
              <p:nvPr/>
            </p:nvSpPr>
            <p:spPr>
              <a:xfrm>
                <a:off x="6677997" y="5492467"/>
                <a:ext cx="4886371" cy="45811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dirty="0">
                    <a:solidFill>
                      <a:srgbClr val="475569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예측 모델과 웹 서비스를 통합한 Mtb-Inhibitor Finder AI 플랫폼 최종 배포 및 최적화</a:t>
                </a:r>
                <a:endParaRPr lang="en-US" sz="1200" dirty="0"/>
              </a:p>
            </p:txBody>
          </p:sp>
        </p:grp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E66173CE-E238-4D62-A91D-46AD20914A7B}"/>
              </a:ext>
            </a:extLst>
          </p:cNvPr>
          <p:cNvGrpSpPr/>
          <p:nvPr/>
        </p:nvGrpSpPr>
        <p:grpSpPr>
          <a:xfrm>
            <a:off x="10518618" y="3118218"/>
            <a:ext cx="1051342" cy="284158"/>
            <a:chOff x="2606423" y="6171199"/>
            <a:chExt cx="4858207" cy="274038"/>
          </a:xfrm>
        </p:grpSpPr>
        <p:pic>
          <p:nvPicPr>
            <p:cNvPr id="115" name="Image 6" descr="preencoded.png">
              <a:extLst>
                <a:ext uri="{FF2B5EF4-FFF2-40B4-BE49-F238E27FC236}">
                  <a16:creationId xmlns:a16="http://schemas.microsoft.com/office/drawing/2014/main" id="{A214AD80-03A5-43AA-B4B2-B4E015FB1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6423" y="6190053"/>
              <a:ext cx="4858207" cy="237744"/>
            </a:xfrm>
            <a:prstGeom prst="rect">
              <a:avLst/>
            </a:prstGeom>
          </p:spPr>
        </p:pic>
        <p:sp>
          <p:nvSpPr>
            <p:cNvPr id="116" name="Text 75">
              <a:extLst>
                <a:ext uri="{FF2B5EF4-FFF2-40B4-BE49-F238E27FC236}">
                  <a16:creationId xmlns:a16="http://schemas.microsoft.com/office/drawing/2014/main" id="{618A53A7-262D-490E-B28A-8C6482C5EEC2}"/>
                </a:ext>
              </a:extLst>
            </p:cNvPr>
            <p:cNvSpPr/>
            <p:nvPr/>
          </p:nvSpPr>
          <p:spPr>
            <a:xfrm>
              <a:off x="3380381" y="6171199"/>
              <a:ext cx="3258620" cy="27403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92400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개발</a:t>
              </a:r>
              <a:endParaRPr lang="en-US" sz="1200" dirty="0"/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E751751E-A266-45A8-97C0-8DFA567B3519}"/>
              </a:ext>
            </a:extLst>
          </p:cNvPr>
          <p:cNvGrpSpPr/>
          <p:nvPr/>
        </p:nvGrpSpPr>
        <p:grpSpPr>
          <a:xfrm>
            <a:off x="10518618" y="2093019"/>
            <a:ext cx="1051341" cy="304124"/>
            <a:chOff x="8952195" y="2619174"/>
            <a:chExt cx="2847236" cy="264262"/>
          </a:xfrm>
        </p:grpSpPr>
        <p:pic>
          <p:nvPicPr>
            <p:cNvPr id="119" name="Image 1" descr="preencoded.png">
              <a:extLst>
                <a:ext uri="{FF2B5EF4-FFF2-40B4-BE49-F238E27FC236}">
                  <a16:creationId xmlns:a16="http://schemas.microsoft.com/office/drawing/2014/main" id="{641D759D-1F4A-46DA-B667-93767A150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52195" y="2642725"/>
              <a:ext cx="2847236" cy="204456"/>
            </a:xfrm>
            <a:prstGeom prst="rect">
              <a:avLst/>
            </a:prstGeom>
          </p:spPr>
        </p:pic>
        <p:sp>
          <p:nvSpPr>
            <p:cNvPr id="120" name="Text 20">
              <a:extLst>
                <a:ext uri="{FF2B5EF4-FFF2-40B4-BE49-F238E27FC236}">
                  <a16:creationId xmlns:a16="http://schemas.microsoft.com/office/drawing/2014/main" id="{B52ECB68-64DD-4600-8AC6-22571A6E9A96}"/>
                </a:ext>
              </a:extLst>
            </p:cNvPr>
            <p:cNvSpPr/>
            <p:nvPr/>
          </p:nvSpPr>
          <p:spPr>
            <a:xfrm>
              <a:off x="9214159" y="2619174"/>
              <a:ext cx="2333871" cy="26426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40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구현</a:t>
              </a:r>
              <a:endParaRPr lang="en-US" sz="1200" dirty="0"/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74252D61-E8CC-4FA8-A6B2-3F4090F9C581}"/>
              </a:ext>
            </a:extLst>
          </p:cNvPr>
          <p:cNvGrpSpPr/>
          <p:nvPr/>
        </p:nvGrpSpPr>
        <p:grpSpPr>
          <a:xfrm>
            <a:off x="10513027" y="4081347"/>
            <a:ext cx="1051342" cy="284158"/>
            <a:chOff x="2606423" y="6171199"/>
            <a:chExt cx="4858207" cy="274038"/>
          </a:xfrm>
        </p:grpSpPr>
        <p:pic>
          <p:nvPicPr>
            <p:cNvPr id="122" name="Image 6" descr="preencoded.png">
              <a:extLst>
                <a:ext uri="{FF2B5EF4-FFF2-40B4-BE49-F238E27FC236}">
                  <a16:creationId xmlns:a16="http://schemas.microsoft.com/office/drawing/2014/main" id="{7765EC23-39C7-4F35-9794-23EB29A97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6423" y="6190053"/>
              <a:ext cx="4858207" cy="237744"/>
            </a:xfrm>
            <a:prstGeom prst="rect">
              <a:avLst/>
            </a:prstGeom>
          </p:spPr>
        </p:pic>
        <p:sp>
          <p:nvSpPr>
            <p:cNvPr id="123" name="Text 75">
              <a:extLst>
                <a:ext uri="{FF2B5EF4-FFF2-40B4-BE49-F238E27FC236}">
                  <a16:creationId xmlns:a16="http://schemas.microsoft.com/office/drawing/2014/main" id="{50DE2397-95BF-4148-90F6-88A6F2667968}"/>
                </a:ext>
              </a:extLst>
            </p:cNvPr>
            <p:cNvSpPr/>
            <p:nvPr/>
          </p:nvSpPr>
          <p:spPr>
            <a:xfrm>
              <a:off x="3380381" y="6171199"/>
              <a:ext cx="3258620" cy="27403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92400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개발</a:t>
              </a:r>
              <a:endParaRPr lang="en-US" sz="1200" dirty="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92B6B592-7637-472E-ADE6-919DEEB53C68}"/>
              </a:ext>
            </a:extLst>
          </p:cNvPr>
          <p:cNvGrpSpPr/>
          <p:nvPr/>
        </p:nvGrpSpPr>
        <p:grpSpPr>
          <a:xfrm>
            <a:off x="10487630" y="5134515"/>
            <a:ext cx="1051342" cy="284158"/>
            <a:chOff x="2606423" y="6171199"/>
            <a:chExt cx="4858207" cy="274038"/>
          </a:xfrm>
        </p:grpSpPr>
        <p:pic>
          <p:nvPicPr>
            <p:cNvPr id="125" name="Image 6" descr="preencoded.png">
              <a:extLst>
                <a:ext uri="{FF2B5EF4-FFF2-40B4-BE49-F238E27FC236}">
                  <a16:creationId xmlns:a16="http://schemas.microsoft.com/office/drawing/2014/main" id="{2F327050-8D23-44C9-9388-EB8127D5E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6423" y="6190053"/>
              <a:ext cx="4858207" cy="237744"/>
            </a:xfrm>
            <a:prstGeom prst="rect">
              <a:avLst/>
            </a:prstGeom>
          </p:spPr>
        </p:pic>
        <p:sp>
          <p:nvSpPr>
            <p:cNvPr id="126" name="Text 75">
              <a:extLst>
                <a:ext uri="{FF2B5EF4-FFF2-40B4-BE49-F238E27FC236}">
                  <a16:creationId xmlns:a16="http://schemas.microsoft.com/office/drawing/2014/main" id="{485838A3-A8B8-4D6B-8D71-6B45B0EFC613}"/>
                </a:ext>
              </a:extLst>
            </p:cNvPr>
            <p:cNvSpPr/>
            <p:nvPr/>
          </p:nvSpPr>
          <p:spPr>
            <a:xfrm>
              <a:off x="3380381" y="6171199"/>
              <a:ext cx="3258620" cy="27403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92400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개발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13041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4092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배경: 문제 제기 및 필요성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0798" y="286207"/>
            <a:ext cx="304495" cy="3044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218895"/>
            <a:ext cx="5238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결핵 치료의 현재 과제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1257300"/>
            <a:ext cx="267005" cy="2670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6402" y="1676095"/>
            <a:ext cx="5429707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76402" y="1676095"/>
            <a:ext cx="38405" cy="1485900"/>
          </a:xfrm>
          <a:prstGeom prst="roundRect">
            <a:avLst>
              <a:gd name="adj" fmla="val 122099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3407" y="1895093"/>
            <a:ext cx="5010912" cy="112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결핵균(Mycobacterium tuberculosis)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세계적으로 연간 천만 명 이상의 환자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발생시키며,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다제내성 결핵(MDR-TB)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광범위 약제내성 결핵(XDR-TB)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출현으로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치료 난이도가 급격히 증가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있습니다. WHO Global TB Report 2023에 따르면,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항결핵제 개발의 필요성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그 어느 때보다 절실합니다.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8446" y="3448202"/>
            <a:ext cx="52678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 스크리닝의 한계</a:t>
            </a:r>
            <a:endParaRPr lang="en-US" sz="2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476402" y="3486607"/>
            <a:ext cx="237744" cy="2670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76402" y="3905402"/>
            <a:ext cx="5429707" cy="2000707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76402" y="3905402"/>
            <a:ext cx="38405" cy="2000707"/>
          </a:xfrm>
          <a:prstGeom prst="roundRect">
            <a:avLst>
              <a:gd name="adj" fmla="val 90702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732435" y="4180093"/>
            <a:ext cx="4819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비용과 시간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대규모 화합물 라이브러리 스크리닝은 막대한 자원과 수개월 이상의 기간이 소요됩니다.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734263" y="4626553"/>
            <a:ext cx="4932274" cy="553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처리량 제약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전통적 실험 방법은 동시에 처리할 수 있는 화합물 수가 제한적입니다.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734263" y="5220309"/>
            <a:ext cx="4781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작용기전 불명확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활성 화합물을 발견해도 정확한 작용 메커니즘 규명에 추가 연구가 필요합니다.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6286500" y="1218895"/>
            <a:ext cx="5429707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6505956" y="1466698"/>
            <a:ext cx="342900" cy="30449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067398" y="1374343"/>
            <a:ext cx="4686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스크리닝 대상</a:t>
            </a:r>
            <a:endParaRPr lang="en-US" sz="1050" dirty="0"/>
          </a:p>
        </p:txBody>
      </p:sp>
      <p:sp>
        <p:nvSpPr>
          <p:cNvPr id="24" name="Text 15"/>
          <p:cNvSpPr txBox="1"/>
          <p:nvPr/>
        </p:nvSpPr>
        <p:spPr>
          <a:xfrm>
            <a:off x="7067398" y="1597457"/>
            <a:ext cx="4610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47,272개 화합물 × 152개 변이균주</a:t>
            </a:r>
            <a:endParaRPr lang="en-US" sz="1600" dirty="0"/>
          </a:p>
        </p:txBody>
      </p:sp>
      <p:sp>
        <p:nvSpPr>
          <p:cNvPr id="25" name="Shape 16"/>
          <p:cNvSpPr/>
          <p:nvPr/>
        </p:nvSpPr>
        <p:spPr>
          <a:xfrm>
            <a:off x="6286500" y="2030992"/>
            <a:ext cx="5429707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rcRect l="-107" r="-107"/>
          <a:stretch/>
        </p:blipFill>
        <p:spPr>
          <a:xfrm>
            <a:off x="6543446" y="2278794"/>
            <a:ext cx="267005" cy="30449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067398" y="2185525"/>
            <a:ext cx="4686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데이터 포인트</a:t>
            </a:r>
            <a:endParaRPr lang="en-US" sz="1050" dirty="0"/>
          </a:p>
        </p:txBody>
      </p:sp>
      <p:sp>
        <p:nvSpPr>
          <p:cNvPr id="28" name="Text 18"/>
          <p:cNvSpPr txBox="1"/>
          <p:nvPr/>
        </p:nvSpPr>
        <p:spPr>
          <a:xfrm>
            <a:off x="7067398" y="2409553"/>
            <a:ext cx="4610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700만 개 이상의 CGIP 데이터</a:t>
            </a:r>
            <a:endParaRPr lang="en-US" sz="1600" dirty="0"/>
          </a:p>
        </p:txBody>
      </p:sp>
      <p:sp>
        <p:nvSpPr>
          <p:cNvPr id="29" name="Text 19"/>
          <p:cNvSpPr txBox="1"/>
          <p:nvPr/>
        </p:nvSpPr>
        <p:spPr>
          <a:xfrm>
            <a:off x="6667805" y="2889314"/>
            <a:ext cx="5162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CGIP의 중요성</a:t>
            </a:r>
            <a:endParaRPr lang="en-US" sz="24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86500" y="2927719"/>
            <a:ext cx="267005" cy="267005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286500" y="3346515"/>
            <a:ext cx="5429707" cy="1187996"/>
          </a:xfrm>
          <a:prstGeom prst="roundRect">
            <a:avLst>
              <a:gd name="adj" fmla="val 3325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2" name="Text 21"/>
          <p:cNvSpPr txBox="1"/>
          <p:nvPr/>
        </p:nvSpPr>
        <p:spPr>
          <a:xfrm>
            <a:off x="6553505" y="3507818"/>
            <a:ext cx="4937455" cy="90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화학-유전학적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상호작용 프로파일(CGIP)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특정 유전자가 결핍된 변이균주에서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화합물의 성장 억제 효과를 </a:t>
            </a:r>
            <a:r>
              <a:rPr lang="en-US" sz="1400" b="1" dirty="0" err="1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정량화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이는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화합물의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작용기전(Mechanism of Action)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추론하는 핵심 데이터로, 표적 기반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약물 개발의 초기 단계에서 방향성을 제시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</a:t>
            </a:r>
            <a:endParaRPr lang="en-US" sz="1400" dirty="0"/>
          </a:p>
        </p:txBody>
      </p:sp>
      <p:sp>
        <p:nvSpPr>
          <p:cNvPr id="33" name="Text 22"/>
          <p:cNvSpPr txBox="1"/>
          <p:nvPr/>
        </p:nvSpPr>
        <p:spPr>
          <a:xfrm>
            <a:off x="6667805" y="4664390"/>
            <a:ext cx="5238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솔루션의 필요성</a:t>
            </a:r>
            <a:endParaRPr lang="en-US" sz="24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86500" y="4702795"/>
            <a:ext cx="267005" cy="267005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6286500" y="5121590"/>
            <a:ext cx="5515660" cy="1236044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6286500" y="5121590"/>
            <a:ext cx="38405" cy="1236044"/>
          </a:xfrm>
          <a:prstGeom prst="roundRect">
            <a:avLst>
              <a:gd name="adj" fmla="val 122099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sp>
        <p:nvSpPr>
          <p:cNvPr id="37" name="Text 25"/>
          <p:cNvSpPr txBox="1"/>
          <p:nvPr/>
        </p:nvSpPr>
        <p:spPr>
          <a:xfrm>
            <a:off x="6440119" y="5292125"/>
            <a:ext cx="536204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대규모 CGIP 데이터로부터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화합물-유전자 상호작용 패턴을 학습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하여,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미지의 화합물에 대한 작용기전을 예측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수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있습니다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이를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전 가상 스크리닝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후보 화합물을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선별하고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우선순위를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정하여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비용과 시간을 획기적으로 절감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수 있습니다. 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2305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기술 개요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11334902" y="286207"/>
            <a:ext cx="381305" cy="3044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5198" y="1218895"/>
            <a:ext cx="51252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D-MPNN 아키텍처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476402" y="1257300"/>
            <a:ext cx="304495" cy="2670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6402" y="1676095"/>
            <a:ext cx="5429707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76402" y="1676095"/>
            <a:ext cx="38405" cy="1485900"/>
          </a:xfrm>
          <a:prstGeom prst="roundRect">
            <a:avLst>
              <a:gd name="adj" fmla="val 122099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5401" y="1942643"/>
            <a:ext cx="50676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Directed Message Passing Neural Network (D-MPNN)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분자의 그래프 구조를 직접 학습하는 그래프 신경망입니다. 기존 MPNN과 달리 원자가 아닌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화학 결합(bond)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중심으로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메시지를 전달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하여,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루프를 회피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더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효율적인 분자 표현을 구축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76402" y="3161995"/>
            <a:ext cx="5429707" cy="1152144"/>
          </a:xfrm>
          <a:prstGeom prst="roundRect">
            <a:avLst>
              <a:gd name="adj" fmla="val 3935"/>
            </a:avLst>
          </a:prstGeom>
          <a:solidFill>
            <a:srgbClr val="FFF7ED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5401" y="3400667"/>
            <a:ext cx="512521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장점: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분자 구조를 SMILES 문자열로부터 직접 학습하며, 고정된 분자 지문(fingerprint) 없이도 강력한 예측 성능을 발휘합니다. Chemprop 프레임워크(PyTorch 기반)로 구현되었습니다. 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57707" y="4733849"/>
            <a:ext cx="5162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 분자 기술자</a:t>
            </a:r>
            <a:endParaRPr lang="en-US" sz="2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402" y="4772254"/>
            <a:ext cx="267005" cy="2670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76402" y="5191049"/>
            <a:ext cx="5429707" cy="1228954"/>
          </a:xfrm>
          <a:prstGeom prst="roundRect">
            <a:avLst>
              <a:gd name="adj" fmla="val 461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76402" y="5191049"/>
            <a:ext cx="38405" cy="1228954"/>
          </a:xfrm>
          <a:prstGeom prst="roundRect">
            <a:avLst>
              <a:gd name="adj" fmla="val 147655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95401" y="5358384"/>
            <a:ext cx="4973879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MPNN이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학습한 그래프 표현에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 200개 분자 기술자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결합하여, 전역(global) 수준의 분자 특성을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추가로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제공합니다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이는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분자량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LogP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TPSA, </a:t>
            </a: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회전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 등 </a:t>
            </a:r>
            <a:r>
              <a:rPr lang="en-US" sz="1400" b="1" dirty="0" err="1" smtClean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물리화학적</a:t>
            </a:r>
            <a:r>
              <a:rPr lang="en-US" sz="1400" b="1" dirty="0" smtClean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 smtClean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</a:t>
            </a: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포함합니다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86500" y="1218895"/>
            <a:ext cx="5429707" cy="1059789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15100" y="1457554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72300" y="1371600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멀티라벨 이진 분류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972300" y="1657807"/>
            <a:ext cx="4668012" cy="620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13개 유전자 클러스터(C1-C13)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대한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억제 활성을 독립적으로 예측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각 클러스터는 이진 분류 과제로 처리되며, Sigmoid 활성화 함수와 Binary Cross-Entropy Loss를 사용합니다.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86500" y="2359419"/>
            <a:ext cx="5429707" cy="1238098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15100" y="2598077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72300" y="2512124"/>
            <a:ext cx="4705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Scaffold Split (80/10/10)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972299" y="2797417"/>
            <a:ext cx="4524299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RDKit의 Murcko scaffold 점수로 분자를 분할하여,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훈련/검증/테스트 세트 간 분자 구조 다양성을 </a:t>
            </a:r>
            <a:r>
              <a:rPr lang="en-US" sz="1200" b="1" dirty="0" err="1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2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이는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일반화 성능을 엄격히 평가하는 현실적인 시나리오입니다.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287065" y="3674327"/>
            <a:ext cx="5429707" cy="1238098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15665" y="3912071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972865" y="3827032"/>
            <a:ext cx="4705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임계값 튜닝 (Youden's J)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6972865" y="4112324"/>
            <a:ext cx="46680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세트의 ROC 곡선에서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Youden's J 통계(민감도 + 특이도 - 1 최대화)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클러스터별 최적 임계값을 결정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평균 임계값은 0.05로, 기본 0.5 대비 민감도를 향상시킵니다.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667196" y="4999939"/>
            <a:ext cx="5238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최적화 전략</a:t>
            </a:r>
            <a:endParaRPr lang="en-US" sz="24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85891" y="5038343"/>
            <a:ext cx="267005" cy="2670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285891" y="5457140"/>
            <a:ext cx="5429707" cy="1138712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285891" y="5457140"/>
            <a:ext cx="38405" cy="1138712"/>
          </a:xfrm>
          <a:prstGeom prst="roundRect">
            <a:avLst>
              <a:gd name="adj" fmla="val 110741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6552895" y="5650136"/>
            <a:ext cx="4972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Bayesian Optimization: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드롭아웃 확률, 메시지 전달 반복 횟수, 은닉층 크기, 피드포워드 레이어 수를 30 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</a:t>
            </a:r>
            <a:r>
              <a:rPr lang="ko-KR" alt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포크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20회 반복으로 최적화</a:t>
            </a:r>
            <a:endParaRPr lang="en-US" sz="1200" dirty="0"/>
          </a:p>
        </p:txBody>
      </p:sp>
      <p:sp>
        <p:nvSpPr>
          <p:cNvPr id="37" name="Text 26"/>
          <p:cNvSpPr txBox="1"/>
          <p:nvPr/>
        </p:nvSpPr>
        <p:spPr>
          <a:xfrm>
            <a:off x="6552895" y="6138652"/>
            <a:ext cx="49437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(n=5):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서로 다른 초기 가중치로 5개 모델을 학습하고 예측을 평균하여 강건성 향상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2307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목적/설정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0798" y="286207"/>
            <a:ext cx="304495" cy="3044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030355"/>
            <a:ext cx="5238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목표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1068760"/>
            <a:ext cx="267005" cy="2670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6402" y="1487555"/>
            <a:ext cx="5429707" cy="12573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76402" y="1487555"/>
            <a:ext cx="38405" cy="1257300"/>
          </a:xfrm>
          <a:prstGeom prst="roundRect">
            <a:avLst>
              <a:gd name="adj" fmla="val 122099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3407" y="1716155"/>
            <a:ext cx="510509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연구는 대규모 화학-유전학적 상호작용 프로파일(CGIP)을 활용하여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 수준의 성장 억제 활성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예측하는 딥러닝 모델을 개발하는 것을 목표로 합니다. 각 화합물이 13개의 유전자 클러스터(COG)에 대해 보이는 저해 효과를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활성/비활성 이진 분류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예측합니다. 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8446" y="2844889"/>
            <a:ext cx="52678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개요</a:t>
            </a:r>
            <a:endParaRPr lang="en-US" sz="2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476402" y="2883294"/>
            <a:ext cx="237744" cy="2670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76402" y="3302089"/>
            <a:ext cx="5429707" cy="1616953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76402" y="3302089"/>
            <a:ext cx="38405" cy="1616953"/>
          </a:xfrm>
          <a:prstGeom prst="roundRect">
            <a:avLst>
              <a:gd name="adj" fmla="val 8503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CCC8458-D13B-4DAC-A1B3-7AD905C29335}"/>
              </a:ext>
            </a:extLst>
          </p:cNvPr>
          <p:cNvGrpSpPr/>
          <p:nvPr/>
        </p:nvGrpSpPr>
        <p:grpSpPr>
          <a:xfrm>
            <a:off x="743407" y="3438930"/>
            <a:ext cx="4819802" cy="1375760"/>
            <a:chOff x="933602" y="3448970"/>
            <a:chExt cx="4819802" cy="1375760"/>
          </a:xfrm>
        </p:grpSpPr>
        <p:sp>
          <p:nvSpPr>
            <p:cNvPr id="16" name="Text 10"/>
            <p:cNvSpPr txBox="1"/>
            <p:nvPr/>
          </p:nvSpPr>
          <p:spPr>
            <a:xfrm>
              <a:off x="933602" y="3448970"/>
              <a:ext cx="4819802" cy="296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35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화합물 라이브러리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47,217개의 화학 구조 (SMILES 표현)</a:t>
              </a:r>
              <a:endParaRPr lang="en-US" sz="1400" dirty="0"/>
            </a:p>
          </p:txBody>
        </p:sp>
        <p:sp>
          <p:nvSpPr>
            <p:cNvPr id="18" name="Text 11"/>
            <p:cNvSpPr txBox="1"/>
            <p:nvPr/>
          </p:nvSpPr>
          <p:spPr>
            <a:xfrm>
              <a:off x="933602" y="3779041"/>
              <a:ext cx="480732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35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변이균주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152개 Mycobacterium tuberculosis H37Rv hypomorphs (필수 유전자 부분 결핍)</a:t>
              </a:r>
              <a:endParaRPr lang="en-US" sz="1400" dirty="0"/>
            </a:p>
          </p:txBody>
        </p:sp>
        <p:sp>
          <p:nvSpPr>
            <p:cNvPr id="20" name="Text 12"/>
            <p:cNvSpPr txBox="1"/>
            <p:nvPr/>
          </p:nvSpPr>
          <p:spPr>
            <a:xfrm>
              <a:off x="933602" y="4246848"/>
              <a:ext cx="480732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35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CGIP 측정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Wald test Z-score로 정량화된 성장 억제 효과</a:t>
              </a:r>
              <a:endParaRPr lang="en-US" sz="1400" dirty="0"/>
            </a:p>
          </p:txBody>
        </p:sp>
        <p:sp>
          <p:nvSpPr>
            <p:cNvPr id="22" name="Text 13"/>
            <p:cNvSpPr txBox="1"/>
            <p:nvPr/>
          </p:nvSpPr>
          <p:spPr>
            <a:xfrm>
              <a:off x="933602" y="4528463"/>
              <a:ext cx="4807322" cy="296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35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활성 기준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Z-score ≤ -4 → 활성(1), Z-score &gt; -4 → 비활성(0)</a:t>
              </a:r>
              <a:endParaRPr lang="en-US" sz="1400" dirty="0"/>
            </a:p>
          </p:txBody>
        </p:sp>
      </p:grpSp>
      <p:sp>
        <p:nvSpPr>
          <p:cNvPr id="23" name="Text 14"/>
          <p:cNvSpPr txBox="1"/>
          <p:nvPr/>
        </p:nvSpPr>
        <p:spPr>
          <a:xfrm>
            <a:off x="895198" y="5024005"/>
            <a:ext cx="5201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</a:t>
            </a:r>
            <a:endParaRPr lang="en-US" sz="2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476402" y="5061495"/>
            <a:ext cx="304495" cy="267005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76402" y="5481205"/>
            <a:ext cx="5429707" cy="1190549"/>
          </a:xfrm>
          <a:prstGeom prst="roundRect">
            <a:avLst>
              <a:gd name="adj" fmla="val 4916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705459" y="5662879"/>
            <a:ext cx="5086807" cy="87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유전자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클러스터링을 통해 152개 변이균주를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13개의 기능적 클러스터(C1-C13)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그룹화하고,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클러스터별 Z-score 중앙값을 계산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클러스터 수준 타깃을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생성했습니다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400" dirty="0" err="1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이를</a:t>
            </a:r>
            <a:r>
              <a:rPr lang="en-US" sz="1400" dirty="0" smtClean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멀티라벨 이진 분류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문제로 변환했습니다. </a:t>
            </a:r>
            <a:endParaRPr lang="en-US" sz="1400" dirty="0"/>
          </a:p>
        </p:txBody>
      </p:sp>
      <p:sp>
        <p:nvSpPr>
          <p:cNvPr id="27" name="Shape 17"/>
          <p:cNvSpPr/>
          <p:nvPr/>
        </p:nvSpPr>
        <p:spPr>
          <a:xfrm>
            <a:off x="6286500" y="964369"/>
            <a:ext cx="5429707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24244" y="1212172"/>
            <a:ext cx="304495" cy="30449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067398" y="1119817"/>
            <a:ext cx="4686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화합물 수</a:t>
            </a:r>
            <a:endParaRPr lang="en-US" sz="1050" dirty="0"/>
          </a:p>
        </p:txBody>
      </p:sp>
      <p:sp>
        <p:nvSpPr>
          <p:cNvPr id="30" name="Text 19"/>
          <p:cNvSpPr txBox="1"/>
          <p:nvPr/>
        </p:nvSpPr>
        <p:spPr>
          <a:xfrm>
            <a:off x="7067398" y="1342931"/>
            <a:ext cx="4610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47,217개 화학 구조</a:t>
            </a:r>
            <a:endParaRPr lang="en-US" sz="1600" dirty="0"/>
          </a:p>
        </p:txBody>
      </p:sp>
      <p:sp>
        <p:nvSpPr>
          <p:cNvPr id="31" name="Shape 20"/>
          <p:cNvSpPr/>
          <p:nvPr/>
        </p:nvSpPr>
        <p:spPr>
          <a:xfrm>
            <a:off x="6286500" y="1776466"/>
            <a:ext cx="5429707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6486754" y="2024268"/>
            <a:ext cx="381305" cy="30449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7067398" y="1930999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Mtb Hypomorphs</a:t>
            </a:r>
            <a:endParaRPr lang="en-US" sz="1050" dirty="0"/>
          </a:p>
        </p:txBody>
      </p:sp>
      <p:sp>
        <p:nvSpPr>
          <p:cNvPr id="34" name="Text 22"/>
          <p:cNvSpPr txBox="1"/>
          <p:nvPr/>
        </p:nvSpPr>
        <p:spPr>
          <a:xfrm>
            <a:off x="7067398" y="2155027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152개 변이균주</a:t>
            </a:r>
            <a:endParaRPr lang="en-US" sz="1600" dirty="0"/>
          </a:p>
        </p:txBody>
      </p:sp>
      <p:sp>
        <p:nvSpPr>
          <p:cNvPr id="35" name="Shape 23"/>
          <p:cNvSpPr/>
          <p:nvPr/>
        </p:nvSpPr>
        <p:spPr>
          <a:xfrm>
            <a:off x="6286500" y="2568801"/>
            <a:ext cx="5429707" cy="761695"/>
          </a:xfrm>
          <a:prstGeom prst="roundRect">
            <a:avLst>
              <a:gd name="adj" fmla="val 90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6505956" y="2816603"/>
            <a:ext cx="342900" cy="30449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7067398" y="2723335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유전자 클러스터 (COG)</a:t>
            </a:r>
            <a:endParaRPr lang="en-US" sz="1050" dirty="0"/>
          </a:p>
        </p:txBody>
      </p:sp>
      <p:sp>
        <p:nvSpPr>
          <p:cNvPr id="38" name="Text 25"/>
          <p:cNvSpPr txBox="1"/>
          <p:nvPr/>
        </p:nvSpPr>
        <p:spPr>
          <a:xfrm>
            <a:off x="7067398" y="2947363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13개 기능적 그룹</a:t>
            </a:r>
            <a:endParaRPr lang="en-US" sz="1600" dirty="0"/>
          </a:p>
        </p:txBody>
      </p:sp>
      <p:sp>
        <p:nvSpPr>
          <p:cNvPr id="39" name="Text 26"/>
          <p:cNvSpPr txBox="1"/>
          <p:nvPr/>
        </p:nvSpPr>
        <p:spPr>
          <a:xfrm>
            <a:off x="6667805" y="3408268"/>
            <a:ext cx="5238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400" b="1" dirty="0" smtClean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24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286500" y="3446673"/>
            <a:ext cx="267005" cy="267005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6286500" y="3865468"/>
            <a:ext cx="2657246" cy="875995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/>
        </p:spPr>
      </p:sp>
      <p:sp>
        <p:nvSpPr>
          <p:cNvPr id="42" name="Shape 28"/>
          <p:cNvSpPr/>
          <p:nvPr/>
        </p:nvSpPr>
        <p:spPr>
          <a:xfrm>
            <a:off x="6286500" y="3865468"/>
            <a:ext cx="2657246" cy="28346"/>
          </a:xfrm>
          <a:prstGeom prst="roundRect">
            <a:avLst>
              <a:gd name="adj" fmla="val 21038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3" name="Text 29"/>
          <p:cNvSpPr txBox="1"/>
          <p:nvPr/>
        </p:nvSpPr>
        <p:spPr>
          <a:xfrm>
            <a:off x="6439205" y="4046519"/>
            <a:ext cx="24469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AUROC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44" name="Text 30"/>
          <p:cNvSpPr txBox="1"/>
          <p:nvPr/>
        </p:nvSpPr>
        <p:spPr>
          <a:xfrm>
            <a:off x="6439205" y="4275119"/>
            <a:ext cx="2541118" cy="416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ROC 곡선 아래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면적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2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성능의 종합 지표</a:t>
            </a:r>
            <a:endParaRPr lang="en-US" sz="1200" dirty="0"/>
          </a:p>
        </p:txBody>
      </p:sp>
      <p:sp>
        <p:nvSpPr>
          <p:cNvPr id="45" name="Shape 31"/>
          <p:cNvSpPr/>
          <p:nvPr/>
        </p:nvSpPr>
        <p:spPr>
          <a:xfrm>
            <a:off x="9058046" y="3865468"/>
            <a:ext cx="2657246" cy="875995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/>
        </p:spPr>
      </p:sp>
      <p:sp>
        <p:nvSpPr>
          <p:cNvPr id="46" name="Shape 32"/>
          <p:cNvSpPr/>
          <p:nvPr/>
        </p:nvSpPr>
        <p:spPr>
          <a:xfrm>
            <a:off x="9058046" y="3865468"/>
            <a:ext cx="2657246" cy="28346"/>
          </a:xfrm>
          <a:prstGeom prst="roundRect">
            <a:avLst>
              <a:gd name="adj" fmla="val 21038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7" name="Text 33"/>
          <p:cNvSpPr txBox="1"/>
          <p:nvPr/>
        </p:nvSpPr>
        <p:spPr>
          <a:xfrm>
            <a:off x="9210751" y="4046519"/>
            <a:ext cx="24469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AUPRC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9210751" y="4275118"/>
            <a:ext cx="2505456" cy="440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Precision-Recall 곡선 아래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면적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불균형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데이터에 효과적</a:t>
            </a:r>
            <a:endParaRPr lang="en-US" sz="1200" dirty="0"/>
          </a:p>
        </p:txBody>
      </p:sp>
      <p:sp>
        <p:nvSpPr>
          <p:cNvPr id="49" name="Shape 35"/>
          <p:cNvSpPr/>
          <p:nvPr/>
        </p:nvSpPr>
        <p:spPr>
          <a:xfrm>
            <a:off x="6286500" y="4856678"/>
            <a:ext cx="2657246" cy="724205"/>
          </a:xfrm>
          <a:prstGeom prst="roundRect">
            <a:avLst>
              <a:gd name="adj" fmla="val 9968"/>
            </a:avLst>
          </a:prstGeom>
          <a:solidFill>
            <a:srgbClr val="FFFFFF"/>
          </a:solidFill>
          <a:ln/>
        </p:spPr>
      </p:sp>
      <p:sp>
        <p:nvSpPr>
          <p:cNvPr id="50" name="Shape 36"/>
          <p:cNvSpPr/>
          <p:nvPr/>
        </p:nvSpPr>
        <p:spPr>
          <a:xfrm>
            <a:off x="6286500" y="4856678"/>
            <a:ext cx="2657246" cy="28346"/>
          </a:xfrm>
          <a:prstGeom prst="roundRect">
            <a:avLst>
              <a:gd name="adj" fmla="val 25467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1" name="Text 37"/>
          <p:cNvSpPr txBox="1"/>
          <p:nvPr/>
        </p:nvSpPr>
        <p:spPr>
          <a:xfrm>
            <a:off x="6439205" y="5037729"/>
            <a:ext cx="24469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52" name="Text 38"/>
          <p:cNvSpPr txBox="1"/>
          <p:nvPr/>
        </p:nvSpPr>
        <p:spPr>
          <a:xfrm>
            <a:off x="6439205" y="5266329"/>
            <a:ext cx="2541118" cy="2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예측 중 정확히 분류된 비율</a:t>
            </a:r>
            <a:endParaRPr lang="en-US" sz="1200" dirty="0"/>
          </a:p>
        </p:txBody>
      </p:sp>
      <p:sp>
        <p:nvSpPr>
          <p:cNvPr id="53" name="Shape 39"/>
          <p:cNvSpPr/>
          <p:nvPr/>
        </p:nvSpPr>
        <p:spPr>
          <a:xfrm>
            <a:off x="9058046" y="4856678"/>
            <a:ext cx="2657246" cy="724205"/>
          </a:xfrm>
          <a:prstGeom prst="roundRect">
            <a:avLst>
              <a:gd name="adj" fmla="val 9968"/>
            </a:avLst>
          </a:prstGeom>
          <a:solidFill>
            <a:srgbClr val="FFFFFF"/>
          </a:solidFill>
          <a:ln/>
        </p:spPr>
      </p:sp>
      <p:sp>
        <p:nvSpPr>
          <p:cNvPr id="54" name="Shape 40"/>
          <p:cNvSpPr/>
          <p:nvPr/>
        </p:nvSpPr>
        <p:spPr>
          <a:xfrm>
            <a:off x="9058046" y="4856678"/>
            <a:ext cx="2657246" cy="28346"/>
          </a:xfrm>
          <a:prstGeom prst="roundRect">
            <a:avLst>
              <a:gd name="adj" fmla="val 25467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5" name="Text 41"/>
          <p:cNvSpPr txBox="1"/>
          <p:nvPr/>
        </p:nvSpPr>
        <p:spPr>
          <a:xfrm>
            <a:off x="9210751" y="5037729"/>
            <a:ext cx="24469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</a:t>
            </a:r>
            <a:endParaRPr lang="en-US" sz="1600" dirty="0"/>
          </a:p>
        </p:txBody>
      </p:sp>
      <p:sp>
        <p:nvSpPr>
          <p:cNvPr id="56" name="Text 42"/>
          <p:cNvSpPr txBox="1"/>
          <p:nvPr/>
        </p:nvSpPr>
        <p:spPr>
          <a:xfrm>
            <a:off x="9210751" y="5266329"/>
            <a:ext cx="2446934" cy="2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Precision과 Recall의 조화 평균</a:t>
            </a:r>
            <a:endParaRPr lang="en-US" sz="1200" dirty="0"/>
          </a:p>
        </p:txBody>
      </p:sp>
      <p:sp>
        <p:nvSpPr>
          <p:cNvPr id="57" name="Text 43"/>
          <p:cNvSpPr txBox="1"/>
          <p:nvPr/>
        </p:nvSpPr>
        <p:spPr>
          <a:xfrm>
            <a:off x="6667805" y="5615462"/>
            <a:ext cx="5238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분할</a:t>
            </a:r>
            <a:endParaRPr lang="en-US" sz="2400" dirty="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286500" y="5653867"/>
            <a:ext cx="267005" cy="267005"/>
          </a:xfrm>
          <a:prstGeom prst="rect">
            <a:avLst/>
          </a:prstGeom>
        </p:spPr>
      </p:pic>
      <p:sp>
        <p:nvSpPr>
          <p:cNvPr id="59" name="Shape 44"/>
          <p:cNvSpPr/>
          <p:nvPr/>
        </p:nvSpPr>
        <p:spPr>
          <a:xfrm>
            <a:off x="6286500" y="6072663"/>
            <a:ext cx="5429707" cy="616138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45"/>
          <p:cNvSpPr/>
          <p:nvPr/>
        </p:nvSpPr>
        <p:spPr>
          <a:xfrm>
            <a:off x="6286500" y="6072663"/>
            <a:ext cx="38405" cy="616138"/>
          </a:xfrm>
          <a:prstGeom prst="roundRect">
            <a:avLst>
              <a:gd name="adj" fmla="val 186740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sp>
        <p:nvSpPr>
          <p:cNvPr id="61" name="Text 46"/>
          <p:cNvSpPr txBox="1"/>
          <p:nvPr/>
        </p:nvSpPr>
        <p:spPr>
          <a:xfrm>
            <a:off x="6468466" y="6174060"/>
            <a:ext cx="5104180" cy="431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Scaffold Splitting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방식으로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분자 골격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다양성을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보장</a:t>
            </a:r>
            <a:endParaRPr lang="en-US" sz="1400" dirty="0">
              <a:solidFill>
                <a:srgbClr val="334155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훈련:검증:테스트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r>
              <a:rPr lang="en-US" sz="14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80:10:10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비율로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분할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228600"/>
            <a:ext cx="886054" cy="381305"/>
          </a:xfrm>
          <a:prstGeom prst="roundRect">
            <a:avLst>
              <a:gd name="adj" fmla="val 11990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6598" y="304495"/>
            <a:ext cx="600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45336" y="190195"/>
            <a:ext cx="3724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종간 유전자 상동성 분석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11449202" y="286207"/>
            <a:ext cx="2670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64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64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27" r="-27"/>
          <a:stretch/>
        </p:blipFill>
        <p:spPr>
          <a:xfrm>
            <a:off x="1423721" y="1595628"/>
            <a:ext cx="428854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37970" y="2093061"/>
            <a:ext cx="101224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Mtb 유전자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060704" y="2419502"/>
            <a:ext cx="11631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152개 필수 유전자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2991002" y="1873606"/>
            <a:ext cx="267005" cy="3044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482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82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38498" y="1595628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762880" y="2093061"/>
            <a:ext cx="1711210" cy="26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BLAST 상동성 검색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118458" y="2419502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E-value &lt; 0.01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5962802" y="1873606"/>
            <a:ext cx="267005" cy="30449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4200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4200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7386523" y="1595628"/>
            <a:ext cx="390449" cy="3429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592823" y="2096115"/>
            <a:ext cx="20683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E.coli K12 상동 유전자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7084771" y="2419502"/>
            <a:ext cx="1000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122개 매핑 완료</a:t>
            </a:r>
            <a:endParaRPr lang="en-US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8934602" y="1873606"/>
            <a:ext cx="267005" cy="30449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93918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93918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10425074" y="1595628"/>
            <a:ext cx="256946" cy="3429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784465" y="2086339"/>
            <a:ext cx="1549201" cy="24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의미론적 유사도</a:t>
            </a:r>
            <a:endParaRPr lang="en-US" sz="1600" dirty="0"/>
          </a:p>
        </p:txBody>
      </p:sp>
      <p:sp>
        <p:nvSpPr>
          <p:cNvPr id="30" name="Text 20"/>
          <p:cNvSpPr txBox="1"/>
          <p:nvPr/>
        </p:nvSpPr>
        <p:spPr>
          <a:xfrm>
            <a:off x="10157155" y="2419502"/>
            <a:ext cx="8019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 기반 계산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76402" y="3215030"/>
            <a:ext cx="5505602" cy="328635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476402" y="3215030"/>
            <a:ext cx="38405" cy="3286354"/>
          </a:xfrm>
          <a:prstGeom prst="roundRect">
            <a:avLst>
              <a:gd name="adj" fmla="val 5521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743407" y="3510382"/>
            <a:ext cx="200254" cy="2286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57046" y="3486607"/>
            <a:ext cx="21131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BLAST 단백질 서열 정렬</a:t>
            </a:r>
            <a:endParaRPr lang="en-US" sz="16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3995928"/>
            <a:ext cx="75895" cy="37124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14400" y="3938321"/>
            <a:ext cx="455969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M. tuberculosis와 E. coli 간의 진화적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상동성(Homology) 분석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통해 유전적 민감도 데이터의 교차 활용 기반 마련</a:t>
            </a:r>
            <a:endParaRPr lang="en-US" sz="11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4519879"/>
            <a:ext cx="75895" cy="37124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14400" y="4462272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NCBI BLAST를 활용한 단백질 서열 비교 분석 (RefSeq: NC_000962.3 vs NC_000913.3)</a:t>
            </a:r>
            <a:endParaRPr lang="en-US" sz="11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5043830"/>
            <a:ext cx="75895" cy="371246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914400" y="4986223"/>
            <a:ext cx="455969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임계값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Expectation value (E-value) &lt; 0.01로 설정하여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통계적으로 유의한 상동성 관계만 선별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41" name="Shape 27"/>
          <p:cNvSpPr/>
          <p:nvPr/>
        </p:nvSpPr>
        <p:spPr>
          <a:xfrm>
            <a:off x="743407" y="5586070"/>
            <a:ext cx="500999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905256" y="5710428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매핑 결과</a:t>
            </a:r>
            <a:endParaRPr lang="en-US" sz="1050" dirty="0"/>
          </a:p>
        </p:txBody>
      </p:sp>
      <p:sp>
        <p:nvSpPr>
          <p:cNvPr id="43" name="Text 29"/>
          <p:cNvSpPr txBox="1"/>
          <p:nvPr/>
        </p:nvSpPr>
        <p:spPr>
          <a:xfrm>
            <a:off x="905256" y="591982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152개 Mtb 유전자 → 122개 E.coli 상동 유전자</a:t>
            </a:r>
            <a:endParaRPr lang="en-US" sz="1600" dirty="0"/>
          </a:p>
        </p:txBody>
      </p:sp>
      <p:sp>
        <p:nvSpPr>
          <p:cNvPr id="44" name="Shape 30"/>
          <p:cNvSpPr/>
          <p:nvPr/>
        </p:nvSpPr>
        <p:spPr>
          <a:xfrm>
            <a:off x="6210605" y="3215030"/>
            <a:ext cx="5505602" cy="328635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6210605" y="3215030"/>
            <a:ext cx="38405" cy="3286354"/>
          </a:xfrm>
          <a:prstGeom prst="roundRect">
            <a:avLst>
              <a:gd name="adj" fmla="val 5521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6476695" y="3510382"/>
            <a:ext cx="256946" cy="22860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6848855" y="3486607"/>
            <a:ext cx="266209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GOSemSim 의미론적 유사도</a:t>
            </a:r>
            <a:endParaRPr lang="en-US" sz="16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3995928"/>
            <a:ext cx="75895" cy="371246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6648602" y="3938321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Gene Ontology (GO) 기반으로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유전자 간 기능적 유사도를 정량화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생물학적으로 의미 있는 군집화 준비</a:t>
            </a:r>
            <a:endParaRPr lang="en-US" sz="11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4519879"/>
            <a:ext cx="75895" cy="371246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6648602" y="4462272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Biological Process (BP) 카테고리의 GO </a:t>
            </a:r>
            <a:r>
              <a:rPr lang="en-US" sz="11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주석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</a:t>
            </a:r>
            <a:endParaRPr lang="en-US" sz="1100" dirty="0" smtClean="0">
              <a:solidFill>
                <a:srgbClr val="47556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1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E. coli K12 OrgDb 패키지)</a:t>
            </a:r>
            <a:endParaRPr lang="en-US" sz="1100" dirty="0"/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5043830"/>
            <a:ext cx="75895" cy="371246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6648602" y="4986223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Wang et al. 그래프 기반 의미론적 측정 방법으로 유전자 쌍 간 유사도 행렬 계산</a:t>
            </a:r>
            <a:endParaRPr lang="en-US" sz="1100" dirty="0"/>
          </a:p>
        </p:txBody>
      </p:sp>
      <p:sp>
        <p:nvSpPr>
          <p:cNvPr id="54" name="Shape 36"/>
          <p:cNvSpPr/>
          <p:nvPr/>
        </p:nvSpPr>
        <p:spPr>
          <a:xfrm>
            <a:off x="6476695" y="5586070"/>
            <a:ext cx="500999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37"/>
          <p:cNvSpPr txBox="1"/>
          <p:nvPr/>
        </p:nvSpPr>
        <p:spPr>
          <a:xfrm>
            <a:off x="6638544" y="5710428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군집화 대상</a:t>
            </a:r>
            <a:endParaRPr lang="en-US" sz="1050" dirty="0"/>
          </a:p>
        </p:txBody>
      </p:sp>
      <p:sp>
        <p:nvSpPr>
          <p:cNvPr id="56" name="Text 38"/>
          <p:cNvSpPr txBox="1"/>
          <p:nvPr/>
        </p:nvSpPr>
        <p:spPr>
          <a:xfrm>
            <a:off x="6638544" y="591982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107개 E.coli 상동 유전자 (GO 데이터 보유)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228600"/>
            <a:ext cx="886054" cy="381305"/>
          </a:xfrm>
          <a:prstGeom prst="roundRect">
            <a:avLst>
              <a:gd name="adj" fmla="val 11990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6598" y="304495"/>
            <a:ext cx="600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45336" y="190195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계층적 군집화 및 기전 정의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11373307" y="286207"/>
            <a:ext cx="342900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64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64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66698" y="1595628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4654" y="2077517"/>
            <a:ext cx="101650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유사도 행렬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99770" y="2419502"/>
            <a:ext cx="14785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107개 유전자 GO 유사도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2991002" y="1873606"/>
            <a:ext cx="267005" cy="3044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482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82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38498" y="1595628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89070" y="2115007"/>
            <a:ext cx="1241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계층적 군집화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049878" y="2419502"/>
            <a:ext cx="112288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Average-linkage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5962802" y="1873606"/>
            <a:ext cx="267005" cy="30449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4200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4200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10298" y="1595628"/>
            <a:ext cx="342900" cy="3429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05295" y="2086661"/>
            <a:ext cx="1890065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Dynamic Tree Cut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7034479" y="2419502"/>
            <a:ext cx="11000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크기 5, PAM</a:t>
            </a:r>
            <a:endParaRPr lang="en-US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8934602" y="1873606"/>
            <a:ext cx="267005" cy="30449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93918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93918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0358323" y="1595628"/>
            <a:ext cx="390449" cy="3429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865461" y="2115007"/>
            <a:ext cx="1376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13개 클러스터</a:t>
            </a:r>
            <a:endParaRPr lang="en-US" sz="1600" dirty="0"/>
          </a:p>
        </p:txBody>
      </p:sp>
      <p:sp>
        <p:nvSpPr>
          <p:cNvPr id="30" name="Text 20"/>
          <p:cNvSpPr txBox="1"/>
          <p:nvPr/>
        </p:nvSpPr>
        <p:spPr>
          <a:xfrm>
            <a:off x="10115093" y="2419502"/>
            <a:ext cx="878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COG 기반 명명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76402" y="3215030"/>
            <a:ext cx="5505602" cy="328635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476402" y="3215030"/>
            <a:ext cx="38405" cy="3286354"/>
          </a:xfrm>
          <a:prstGeom prst="roundRect">
            <a:avLst>
              <a:gd name="adj" fmla="val 5521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743407" y="3510382"/>
            <a:ext cx="256946" cy="2286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114654" y="3486607"/>
            <a:ext cx="28565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Average-linkage 계층적 군집화</a:t>
            </a:r>
            <a:endParaRPr lang="en-US" sz="16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3995928"/>
            <a:ext cx="75895" cy="37124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14400" y="3938321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유전자 간 의미론적 유사도를 기반으로 생물학적으로 연관된 유전자들을 그룹화하여 작용기전(MoA) 클러스터 형성</a:t>
            </a:r>
            <a:endParaRPr lang="en-US" sz="11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4519879"/>
            <a:ext cx="75895" cy="37124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14400" y="4462272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R hclust 함수를 사용하여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계층적 군집 트리(dendrogram) 구축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Average-linkage 옵션으로 클러스터 간 평균 거리 기반 병합</a:t>
            </a:r>
            <a:endParaRPr lang="en-US" sz="11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5043830"/>
            <a:ext cx="75895" cy="371246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914400" y="4986223"/>
            <a:ext cx="50484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덴드로그램과 히트맵을 통해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유전자 간 유사도 패턴 </a:t>
            </a:r>
            <a:r>
              <a:rPr lang="en-US" sz="1100" b="1" dirty="0" err="1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r>
              <a:rPr lang="en-US" sz="11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en-US" sz="11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체커보드</a:t>
            </a:r>
            <a:r>
              <a:rPr lang="en-US" sz="11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형태로 높은 유사도 그룹 식별</a:t>
            </a:r>
            <a:endParaRPr lang="en-US" sz="1100" dirty="0"/>
          </a:p>
        </p:txBody>
      </p:sp>
      <p:sp>
        <p:nvSpPr>
          <p:cNvPr id="41" name="Shape 27"/>
          <p:cNvSpPr/>
          <p:nvPr/>
        </p:nvSpPr>
        <p:spPr>
          <a:xfrm>
            <a:off x="743407" y="5586070"/>
            <a:ext cx="500999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905256" y="5710428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군집화 대상</a:t>
            </a:r>
            <a:endParaRPr lang="en-US" sz="1050" dirty="0"/>
          </a:p>
        </p:txBody>
      </p:sp>
      <p:sp>
        <p:nvSpPr>
          <p:cNvPr id="43" name="Text 29"/>
          <p:cNvSpPr txBox="1"/>
          <p:nvPr/>
        </p:nvSpPr>
        <p:spPr>
          <a:xfrm>
            <a:off x="905256" y="591982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107개 E.coli 상동 유전자 → 덴드로그램 생성</a:t>
            </a:r>
            <a:endParaRPr lang="en-US" sz="1600" dirty="0"/>
          </a:p>
        </p:txBody>
      </p:sp>
      <p:sp>
        <p:nvSpPr>
          <p:cNvPr id="44" name="Shape 30"/>
          <p:cNvSpPr/>
          <p:nvPr/>
        </p:nvSpPr>
        <p:spPr>
          <a:xfrm>
            <a:off x="6210605" y="3215030"/>
            <a:ext cx="5505602" cy="328635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6210605" y="3215030"/>
            <a:ext cx="38405" cy="3286354"/>
          </a:xfrm>
          <a:prstGeom prst="roundRect">
            <a:avLst>
              <a:gd name="adj" fmla="val 5521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76695" y="3510382"/>
            <a:ext cx="228600" cy="22860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6819595" y="3486607"/>
            <a:ext cx="25749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Dynamic Tree Cut 알고리즘</a:t>
            </a:r>
            <a:endParaRPr lang="en-US" sz="16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3995928"/>
            <a:ext cx="75895" cy="371246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6648602" y="3938321"/>
            <a:ext cx="47247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고정 높이 절단의 한계를 극복하고 중첩된 복잡한 클러스터 구조에서 최적의 유전자 그룹 결정</a:t>
            </a:r>
            <a:endParaRPr lang="en-US" sz="11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4519879"/>
            <a:ext cx="75895" cy="371246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6648602" y="4462272"/>
            <a:ext cx="47247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최소 클러스터 크기 5, PAM(Partitioning Around Medoids) 활성화로 이상치를 클러스터에 재할당</a:t>
            </a:r>
            <a:endParaRPr lang="en-US" sz="1100" dirty="0"/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5043830"/>
            <a:ext cx="75895" cy="371246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6648602" y="4986223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명명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eggNOG-mapper를 통해 COG 카테고리 주석 확인 후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클러스터에 생물학적 기능명 부여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(예: C1 TCA 회로, C2 번역)</a:t>
            </a:r>
            <a:endParaRPr lang="en-US" sz="1100" dirty="0"/>
          </a:p>
        </p:txBody>
      </p:sp>
      <p:sp>
        <p:nvSpPr>
          <p:cNvPr id="54" name="Shape 36"/>
          <p:cNvSpPr/>
          <p:nvPr/>
        </p:nvSpPr>
        <p:spPr>
          <a:xfrm>
            <a:off x="6476695" y="5586070"/>
            <a:ext cx="500999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37"/>
          <p:cNvSpPr txBox="1"/>
          <p:nvPr/>
        </p:nvSpPr>
        <p:spPr>
          <a:xfrm>
            <a:off x="6638544" y="5710428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</a:t>
            </a:r>
            <a:endParaRPr lang="en-US" sz="1050" dirty="0"/>
          </a:p>
        </p:txBody>
      </p:sp>
      <p:sp>
        <p:nvSpPr>
          <p:cNvPr id="56" name="Text 38"/>
          <p:cNvSpPr txBox="1"/>
          <p:nvPr/>
        </p:nvSpPr>
        <p:spPr>
          <a:xfrm>
            <a:off x="6638544" y="591982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13개 기능 클러스터 (C1~C13) 정의 완료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228600"/>
            <a:ext cx="886054" cy="381305"/>
          </a:xfrm>
          <a:prstGeom prst="roundRect">
            <a:avLst>
              <a:gd name="adj" fmla="val 11990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6598" y="304495"/>
            <a:ext cx="600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45336" y="190195"/>
            <a:ext cx="3384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CGIP 피처 엔지니어링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0798" y="286207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64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64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743" r="-743"/>
          <a:stretch/>
        </p:blipFill>
        <p:spPr>
          <a:xfrm>
            <a:off x="1485900" y="1595628"/>
            <a:ext cx="304495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9934" y="2044692"/>
            <a:ext cx="157642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CGIP 원본 데이터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11657" y="2419502"/>
            <a:ext cx="1463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47K 화합물 × 152 균주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2991002" y="1873606"/>
            <a:ext cx="267005" cy="3044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482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82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607" r="-607"/>
          <a:stretch/>
        </p:blipFill>
        <p:spPr>
          <a:xfrm>
            <a:off x="4414723" y="1595628"/>
            <a:ext cx="390449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579876" y="2048257"/>
            <a:ext cx="2002536" cy="26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클러스터별 중앙값 계산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175150" y="2419502"/>
            <a:ext cx="8778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13개 클러스터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5962802" y="1873606"/>
            <a:ext cx="267005" cy="30449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4200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4200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10298" y="1595628"/>
            <a:ext cx="342900" cy="3429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036223" y="2076602"/>
            <a:ext cx="10936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이진 라벨링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6943039" y="2419502"/>
            <a:ext cx="12810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Z-score 임계값 적용</a:t>
            </a:r>
            <a:endParaRPr lang="en-US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8934602" y="1873606"/>
            <a:ext cx="267005" cy="30449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93918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93918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382098" y="1595628"/>
            <a:ext cx="342900" cy="3429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775634" y="2040969"/>
            <a:ext cx="1679753" cy="26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데이터셋 완성</a:t>
            </a:r>
            <a:endParaRPr lang="en-US" sz="1600" dirty="0"/>
          </a:p>
        </p:txBody>
      </p:sp>
      <p:sp>
        <p:nvSpPr>
          <p:cNvPr id="30" name="Text 20"/>
          <p:cNvSpPr txBox="1"/>
          <p:nvPr/>
        </p:nvSpPr>
        <p:spPr>
          <a:xfrm>
            <a:off x="10133381" y="2419502"/>
            <a:ext cx="8458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멀티라벨 분류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76402" y="3215030"/>
            <a:ext cx="5505602" cy="328635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476402" y="3215030"/>
            <a:ext cx="38405" cy="3286354"/>
          </a:xfrm>
          <a:prstGeom prst="roundRect">
            <a:avLst>
              <a:gd name="adj" fmla="val 5521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43407" y="3510382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86307" y="3486607"/>
            <a:ext cx="2048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클러스터별 중앙값 계산</a:t>
            </a:r>
            <a:endParaRPr lang="en-US" sz="16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3995928"/>
            <a:ext cx="75895" cy="37124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14400" y="3938321"/>
            <a:ext cx="46680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각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화합물의 클러스터 수준 성장 억제 효과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대표하는 단일 값으로 집계하여 모델 학습을 위한 타깃 생성</a:t>
            </a:r>
            <a:endParaRPr lang="en-US" sz="11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4519879"/>
            <a:ext cx="75895" cy="37124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14400" y="4462272"/>
            <a:ext cx="459232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각 클러스터(C1-C13)에 속한 균주들의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Z-score 중앙값(Median)을 해당 클러스터의 대표 값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사용</a:t>
            </a:r>
            <a:endParaRPr lang="en-US" sz="11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5043830"/>
            <a:ext cx="75895" cy="371246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914400" y="4986223"/>
            <a:ext cx="47914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정규화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Z-score는 이미 표준화된 값으로, 중앙값 사용으로 이상치(outlier)의 영향을 최소화</a:t>
            </a:r>
            <a:endParaRPr lang="en-US" sz="1100" dirty="0"/>
          </a:p>
        </p:txBody>
      </p:sp>
      <p:sp>
        <p:nvSpPr>
          <p:cNvPr id="41" name="Shape 27"/>
          <p:cNvSpPr/>
          <p:nvPr/>
        </p:nvSpPr>
        <p:spPr>
          <a:xfrm>
            <a:off x="743407" y="5586070"/>
            <a:ext cx="500999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905256" y="5710428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결과</a:t>
            </a:r>
            <a:endParaRPr lang="en-US" sz="1050" dirty="0"/>
          </a:p>
        </p:txBody>
      </p:sp>
      <p:sp>
        <p:nvSpPr>
          <p:cNvPr id="43" name="Text 29"/>
          <p:cNvSpPr txBox="1"/>
          <p:nvPr/>
        </p:nvSpPr>
        <p:spPr>
          <a:xfrm>
            <a:off x="905256" y="591982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47,217 화합물 × 13 클러스터 타깃 행렬</a:t>
            </a:r>
            <a:endParaRPr lang="en-US" sz="1600" dirty="0"/>
          </a:p>
        </p:txBody>
      </p:sp>
      <p:sp>
        <p:nvSpPr>
          <p:cNvPr id="44" name="Shape 30"/>
          <p:cNvSpPr/>
          <p:nvPr/>
        </p:nvSpPr>
        <p:spPr>
          <a:xfrm>
            <a:off x="6210605" y="3215030"/>
            <a:ext cx="5505602" cy="328635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6210605" y="3215030"/>
            <a:ext cx="38405" cy="3286354"/>
          </a:xfrm>
          <a:prstGeom prst="roundRect">
            <a:avLst>
              <a:gd name="adj" fmla="val 5521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6476695" y="3510382"/>
            <a:ext cx="200254" cy="22860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6791249" y="3486607"/>
            <a:ext cx="149961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이진 라벨링 전략</a:t>
            </a:r>
            <a:endParaRPr lang="en-US" sz="16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3995928"/>
            <a:ext cx="75895" cy="371246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6648601" y="3938321"/>
            <a:ext cx="453755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연속형 Z-score 값을 이진 분류 라벨(활성/비활성)로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변환하여 멀티라벨 이진 분류 문제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정식화</a:t>
            </a:r>
            <a:endParaRPr lang="en-US" sz="11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4519879"/>
            <a:ext cx="75895" cy="371246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6648602" y="4462272"/>
            <a:ext cx="483809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임계값 설정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Z-score ≤ -4를 활성(1), Z-score &gt; -4를 비활성(0)</a:t>
            </a:r>
            <a:r>
              <a:rPr lang="en-US" sz="11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100" dirty="0" smtClean="0">
              <a:solidFill>
                <a:srgbClr val="47556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1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유의성 기준)</a:t>
            </a:r>
            <a:endParaRPr lang="en-US" sz="1100" dirty="0"/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5043830"/>
            <a:ext cx="75895" cy="371246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6648603" y="4986223"/>
            <a:ext cx="45375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전체 데이터의 평균 4%가 활성 클래스로 분류되어 불균형 분류 문제 대응 필요</a:t>
            </a:r>
            <a:endParaRPr lang="en-US" sz="1100" dirty="0"/>
          </a:p>
        </p:txBody>
      </p:sp>
      <p:sp>
        <p:nvSpPr>
          <p:cNvPr id="54" name="Shape 36"/>
          <p:cNvSpPr/>
          <p:nvPr/>
        </p:nvSpPr>
        <p:spPr>
          <a:xfrm>
            <a:off x="6476695" y="5586070"/>
            <a:ext cx="500999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37"/>
          <p:cNvSpPr txBox="1"/>
          <p:nvPr/>
        </p:nvSpPr>
        <p:spPr>
          <a:xfrm>
            <a:off x="6638544" y="5710428"/>
            <a:ext cx="4800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분할 (Scaffold Split)</a:t>
            </a:r>
            <a:endParaRPr lang="en-US" sz="1050" dirty="0"/>
          </a:p>
        </p:txBody>
      </p:sp>
      <p:sp>
        <p:nvSpPr>
          <p:cNvPr id="56" name="Text 38"/>
          <p:cNvSpPr txBox="1"/>
          <p:nvPr/>
        </p:nvSpPr>
        <p:spPr>
          <a:xfrm>
            <a:off x="6638544" y="591982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훈련 80% / 검증 10% / 테스트 10%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228600"/>
            <a:ext cx="886054" cy="381305"/>
          </a:xfrm>
          <a:prstGeom prst="roundRect">
            <a:avLst>
              <a:gd name="adj" fmla="val 11990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6598" y="304495"/>
            <a:ext cx="600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45336" y="190195"/>
            <a:ext cx="2768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D-MPNN 모델 구축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0798" y="286207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64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64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607" r="-607"/>
          <a:stretch/>
        </p:blipFill>
        <p:spPr>
          <a:xfrm>
            <a:off x="1442923" y="1595628"/>
            <a:ext cx="390449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92453" y="2039112"/>
            <a:ext cx="1491387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 그래프 입력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178662" y="2419502"/>
            <a:ext cx="9235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원자/결합 특징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2991002" y="1873606"/>
            <a:ext cx="267005" cy="3044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482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82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38498" y="1595628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802217" y="2039112"/>
            <a:ext cx="1615462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전달 단계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153205" y="2419502"/>
            <a:ext cx="9235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중심 학습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5962802" y="1873606"/>
            <a:ext cx="267005" cy="30449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4200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4200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607" r="-607"/>
          <a:stretch/>
        </p:blipFill>
        <p:spPr>
          <a:xfrm>
            <a:off x="7386523" y="1595628"/>
            <a:ext cx="390449" cy="3429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44151" y="2065629"/>
            <a:ext cx="12772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Readout 단계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7060997" y="2419502"/>
            <a:ext cx="10515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 표현 생성</a:t>
            </a:r>
            <a:endParaRPr lang="en-US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8934602" y="1873606"/>
            <a:ext cx="267005" cy="30449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93918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93918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10401300" y="1595628"/>
            <a:ext cx="304495" cy="3429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976104" y="2068749"/>
            <a:ext cx="1163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 결합</a:t>
            </a:r>
            <a:endParaRPr lang="en-US" sz="1600" dirty="0"/>
          </a:p>
        </p:txBody>
      </p:sp>
      <p:sp>
        <p:nvSpPr>
          <p:cNvPr id="30" name="Text 20"/>
          <p:cNvSpPr txBox="1"/>
          <p:nvPr/>
        </p:nvSpPr>
        <p:spPr>
          <a:xfrm>
            <a:off x="9976104" y="2419502"/>
            <a:ext cx="11631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200개 분자 기술자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76402" y="3215030"/>
            <a:ext cx="5505602" cy="328635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476402" y="3215030"/>
            <a:ext cx="38405" cy="3286354"/>
          </a:xfrm>
          <a:prstGeom prst="roundRect">
            <a:avLst>
              <a:gd name="adj" fmla="val 5521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743407" y="3510382"/>
            <a:ext cx="286207" cy="2286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142999" y="3486607"/>
            <a:ext cx="17657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D-MPNN 아키텍처</a:t>
            </a:r>
            <a:endParaRPr lang="en-US" sz="16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3995928"/>
            <a:ext cx="75895" cy="37124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14400" y="3938321"/>
            <a:ext cx="4839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기존 MPNN과 달리 원자가 아닌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결합(Bond)을 중심으로 메시지 전달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수행하여 더 효율적인 분자 표현 학습</a:t>
            </a:r>
            <a:endParaRPr lang="en-US" sz="11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4519879"/>
            <a:ext cx="75895" cy="37124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14400" y="4462272"/>
            <a:ext cx="472562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루프 회피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Directed 방식으로 메시지를 전달하여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순환 정보를 제거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계산 효율성 향상</a:t>
            </a:r>
            <a:endParaRPr lang="en-US" sz="11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5043830"/>
            <a:ext cx="75895" cy="371246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914400" y="4986223"/>
            <a:ext cx="460248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전달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각 결합의 hidden state를 이웃 결합들로부터의 정보를 집계하여 반복적으로 업데이트</a:t>
            </a:r>
            <a:endParaRPr lang="en-US" sz="1100" dirty="0"/>
          </a:p>
        </p:txBody>
      </p:sp>
      <p:sp>
        <p:nvSpPr>
          <p:cNvPr id="41" name="Shape 27"/>
          <p:cNvSpPr/>
          <p:nvPr/>
        </p:nvSpPr>
        <p:spPr>
          <a:xfrm>
            <a:off x="743407" y="5586070"/>
            <a:ext cx="500999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905256" y="5710428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프레임워크</a:t>
            </a:r>
            <a:endParaRPr lang="en-US" sz="1050" dirty="0"/>
          </a:p>
        </p:txBody>
      </p:sp>
      <p:sp>
        <p:nvSpPr>
          <p:cNvPr id="43" name="Text 29"/>
          <p:cNvSpPr txBox="1"/>
          <p:nvPr/>
        </p:nvSpPr>
        <p:spPr>
          <a:xfrm>
            <a:off x="905256" y="591982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Chemprop (PyTorch 기반)</a:t>
            </a:r>
            <a:endParaRPr lang="en-US" sz="1600" dirty="0"/>
          </a:p>
        </p:txBody>
      </p:sp>
      <p:sp>
        <p:nvSpPr>
          <p:cNvPr id="44" name="Shape 30"/>
          <p:cNvSpPr/>
          <p:nvPr/>
        </p:nvSpPr>
        <p:spPr>
          <a:xfrm>
            <a:off x="6210605" y="3215030"/>
            <a:ext cx="5505602" cy="328635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6210605" y="3215030"/>
            <a:ext cx="38405" cy="3286354"/>
          </a:xfrm>
          <a:prstGeom prst="roundRect">
            <a:avLst>
              <a:gd name="adj" fmla="val 5521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76695" y="3510382"/>
            <a:ext cx="228600" cy="22860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6819595" y="3486607"/>
            <a:ext cx="16331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 기술자 통합</a:t>
            </a:r>
            <a:endParaRPr lang="en-US" sz="16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3995928"/>
            <a:ext cx="75895" cy="371246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6648602" y="3938321"/>
            <a:ext cx="476219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그래프 표현만으로는 포착하기 어려운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전역적(Global) 분자 특성을 보완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예측 성능 향상</a:t>
            </a:r>
            <a:endParaRPr lang="en-US" sz="11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4519879"/>
            <a:ext cx="75895" cy="371246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6648602" y="4462272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시점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Readout 단계에서 학습된 그래프 표현과 정규화된 RDKit 기술자를 연결(Concatenation)</a:t>
            </a:r>
            <a:endParaRPr lang="en-US" sz="1100" dirty="0"/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5043830"/>
            <a:ext cx="75895" cy="371246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6648602" y="4986223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200개 분자 기술자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누적 분포 함수(CDF)로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정규화하여 스케일 차이로 인한 편향 방지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54" name="Shape 36"/>
          <p:cNvSpPr/>
          <p:nvPr/>
        </p:nvSpPr>
        <p:spPr>
          <a:xfrm>
            <a:off x="6476695" y="5586070"/>
            <a:ext cx="500999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37"/>
          <p:cNvSpPr txBox="1"/>
          <p:nvPr/>
        </p:nvSpPr>
        <p:spPr>
          <a:xfrm>
            <a:off x="6638544" y="5710428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기술자 종류</a:t>
            </a:r>
            <a:endParaRPr lang="en-US" sz="1050" dirty="0"/>
          </a:p>
        </p:txBody>
      </p:sp>
      <p:sp>
        <p:nvSpPr>
          <p:cNvPr id="56" name="Text 38"/>
          <p:cNvSpPr txBox="1"/>
          <p:nvPr/>
        </p:nvSpPr>
        <p:spPr>
          <a:xfrm>
            <a:off x="6638544" y="591982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분자량, LogP, TPSA, 회전 가능 결합 수 등 200개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228600"/>
            <a:ext cx="886054" cy="381305"/>
          </a:xfrm>
          <a:prstGeom prst="roundRect">
            <a:avLst>
              <a:gd name="adj" fmla="val 11990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6598" y="304495"/>
            <a:ext cx="600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45336" y="190195"/>
            <a:ext cx="31290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 및 최적화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11334902" y="286207"/>
            <a:ext cx="3813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64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64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743" r="-743"/>
          <a:stretch/>
        </p:blipFill>
        <p:spPr>
          <a:xfrm>
            <a:off x="1485900" y="1595628"/>
            <a:ext cx="304495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75334" y="2090318"/>
            <a:ext cx="11256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분할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36676" y="2419502"/>
            <a:ext cx="1610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Scaffold Split 80/10/10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2991002" y="1873606"/>
            <a:ext cx="267005" cy="3044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482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82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38498" y="1595628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34740" y="2093976"/>
            <a:ext cx="2031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하이퍼파라미터 최적화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3813962" y="2419502"/>
            <a:ext cx="15983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Bayesian Optimization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5962802" y="1873606"/>
            <a:ext cx="267005" cy="30449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4200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4200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10298" y="1595628"/>
            <a:ext cx="342900" cy="3429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012554" y="2047798"/>
            <a:ext cx="108265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7006133" y="2419502"/>
            <a:ext cx="1155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D-MPNN Training</a:t>
            </a:r>
            <a:endParaRPr lang="en-US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8934602" y="1873606"/>
            <a:ext cx="267005" cy="30449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9391802" y="1218895"/>
            <a:ext cx="2324405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9391802" y="1218895"/>
            <a:ext cx="2324405" cy="38405"/>
          </a:xfrm>
          <a:prstGeom prst="roundRect">
            <a:avLst>
              <a:gd name="adj" fmla="val 112044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0358323" y="1595628"/>
            <a:ext cx="390449" cy="3429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194997" y="2100313"/>
            <a:ext cx="6922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</a:t>
            </a:r>
            <a:endParaRPr lang="en-US" sz="1600" dirty="0"/>
          </a:p>
        </p:txBody>
      </p:sp>
      <p:sp>
        <p:nvSpPr>
          <p:cNvPr id="30" name="Text 20"/>
          <p:cNvSpPr txBox="1"/>
          <p:nvPr/>
        </p:nvSpPr>
        <p:spPr>
          <a:xfrm>
            <a:off x="10118750" y="2419502"/>
            <a:ext cx="8750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모델 결합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76402" y="3215030"/>
            <a:ext cx="5505602" cy="328635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476402" y="3215030"/>
            <a:ext cx="38405" cy="3286354"/>
          </a:xfrm>
          <a:prstGeom prst="roundRect">
            <a:avLst>
              <a:gd name="adj" fmla="val 5521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43407" y="3510382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86307" y="3486607"/>
            <a:ext cx="270936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Bayesian Optimization 전략</a:t>
            </a:r>
            <a:endParaRPr lang="en-US" sz="16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3995928"/>
            <a:ext cx="75895" cy="37124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14400" y="3938321"/>
            <a:ext cx="467532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확률 모델을 활용하여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하이퍼파라미터 조합을 효율적으로 탐색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이전 정보를 반영하여 순차적 업데이트</a:t>
            </a:r>
            <a:endParaRPr lang="en-US" sz="11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4519879"/>
            <a:ext cx="75895" cy="37124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14400" y="4462272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파라미터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Dropout 확률 [0-0.4, 0.05 간격], 메시지 전달 횟수 [2-6], Feed-forward 레이어 수 [1-3], Hidden size [300-2400, 100 간격]</a:t>
            </a:r>
            <a:endParaRPr lang="en-US" sz="11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743407" y="5043830"/>
            <a:ext cx="75895" cy="371246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914400" y="4986223"/>
            <a:ext cx="466801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 설정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Hyperopt 패키지 활용, 20회 반복으로 30 </a:t>
            </a:r>
            <a:r>
              <a:rPr lang="en-US" sz="11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</a:t>
            </a:r>
            <a:r>
              <a:rPr lang="ko-KR" altLang="en-US" sz="11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포크</a:t>
            </a:r>
            <a:r>
              <a:rPr lang="en-US" sz="11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씩 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실행하여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세트 성능 기반 최적 조합 도출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41" name="Shape 27"/>
          <p:cNvSpPr/>
          <p:nvPr/>
        </p:nvSpPr>
        <p:spPr>
          <a:xfrm>
            <a:off x="743407" y="5586070"/>
            <a:ext cx="500999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905256" y="5710428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분할 전략</a:t>
            </a:r>
            <a:endParaRPr lang="en-US" sz="1400" dirty="0"/>
          </a:p>
        </p:txBody>
      </p:sp>
      <p:sp>
        <p:nvSpPr>
          <p:cNvPr id="43" name="Text 29"/>
          <p:cNvSpPr txBox="1"/>
          <p:nvPr/>
        </p:nvSpPr>
        <p:spPr>
          <a:xfrm>
            <a:off x="905256" y="5919826"/>
            <a:ext cx="52166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Scaffold Split - Train 80% / Validation 10</a:t>
            </a:r>
            <a:r>
              <a:rPr lang="en-US" sz="1200" b="1" dirty="0" smtClean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/ </a:t>
            </a: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10%</a:t>
            </a:r>
            <a:endParaRPr lang="en-US" sz="1200" dirty="0"/>
          </a:p>
        </p:txBody>
      </p:sp>
      <p:sp>
        <p:nvSpPr>
          <p:cNvPr id="44" name="Shape 30"/>
          <p:cNvSpPr/>
          <p:nvPr/>
        </p:nvSpPr>
        <p:spPr>
          <a:xfrm>
            <a:off x="6210605" y="3215030"/>
            <a:ext cx="5505602" cy="328635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6210605" y="3215030"/>
            <a:ext cx="38405" cy="3286354"/>
          </a:xfrm>
          <a:prstGeom prst="roundRect">
            <a:avLst>
              <a:gd name="adj" fmla="val 5521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6476695" y="3510382"/>
            <a:ext cx="286207" cy="22860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6877202" y="3486607"/>
            <a:ext cx="245150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전략 및 강건성 향상</a:t>
            </a:r>
            <a:endParaRPr lang="en-US" sz="16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3995928"/>
            <a:ext cx="75895" cy="371246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6648602" y="3938321"/>
            <a:ext cx="479999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초기 가중치로 학습된 여러 모델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예측을 평균하여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과적합 방지 및 예측 안정성 극대화</a:t>
            </a:r>
            <a:endParaRPr lang="en-US" sz="1100" b="1" dirty="0">
              <a:solidFill>
                <a:srgbClr val="FF0000"/>
              </a:solidFill>
            </a:endParaRPr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4519879"/>
            <a:ext cx="75895" cy="371246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6648602" y="4419013"/>
            <a:ext cx="4838091" cy="682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최적화된 하이퍼파라미터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5개의 독립적 D-MPNN 모델 학습 후 예측 확률을 산술 평균하여 </a:t>
            </a:r>
            <a:r>
              <a:rPr lang="en-US" sz="11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</a:t>
            </a:r>
            <a:endParaRPr lang="en-US" sz="1100" dirty="0">
              <a:solidFill>
                <a:srgbClr val="47556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</a:rPr>
              <a:t>→ Dropout </a:t>
            </a:r>
            <a:r>
              <a:rPr lang="ko-KR" alt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</a:rPr>
              <a:t>확률</a:t>
            </a:r>
            <a:r>
              <a:rPr lang="en-US" altLang="ko-KR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</a:rPr>
              <a:t>: 0.35 / </a:t>
            </a:r>
            <a:r>
              <a:rPr lang="ko-KR" alt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</a:rPr>
              <a:t>메시지 전달 횟수</a:t>
            </a:r>
            <a:r>
              <a:rPr lang="en-US" altLang="ko-KR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</a:rPr>
              <a:t>: 6</a:t>
            </a:r>
          </a:p>
          <a:p>
            <a:r>
              <a:rPr lang="en-US" altLang="ko-KR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</a:rPr>
              <a:t>→ Feed-forward </a:t>
            </a:r>
            <a:r>
              <a:rPr lang="ko-KR" alt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</a:rPr>
              <a:t>레이어 수</a:t>
            </a:r>
            <a:r>
              <a:rPr lang="en-US" altLang="ko-KR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</a:rPr>
              <a:t>: 1 / Hidden size: 1100</a:t>
            </a:r>
            <a:endParaRPr lang="en-US" sz="1100" b="1" dirty="0">
              <a:solidFill>
                <a:srgbClr val="FF0000"/>
              </a:solidFill>
            </a:endParaRPr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0"/>
          <a:srcRect t="-194579" b="-194579"/>
          <a:stretch/>
        </p:blipFill>
        <p:spPr>
          <a:xfrm>
            <a:off x="6476695" y="5277749"/>
            <a:ext cx="75895" cy="371246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6648602" y="5220142"/>
            <a:ext cx="486735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손실 함수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Binary Cross-Entropy Loss 적용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각 클러스터에 대한 </a:t>
            </a:r>
            <a:r>
              <a:rPr lang="en-US" sz="11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활성/비활성 이진 분류 수행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54" name="Shape 36"/>
          <p:cNvSpPr/>
          <p:nvPr/>
        </p:nvSpPr>
        <p:spPr>
          <a:xfrm>
            <a:off x="6476695" y="5724293"/>
            <a:ext cx="500999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37"/>
          <p:cNvSpPr txBox="1"/>
          <p:nvPr/>
        </p:nvSpPr>
        <p:spPr>
          <a:xfrm>
            <a:off x="6638544" y="5848651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모델 구성</a:t>
            </a:r>
            <a:endParaRPr lang="en-US" sz="1400" dirty="0"/>
          </a:p>
        </p:txBody>
      </p:sp>
      <p:sp>
        <p:nvSpPr>
          <p:cNvPr id="56" name="Text 38"/>
          <p:cNvSpPr txBox="1"/>
          <p:nvPr/>
        </p:nvSpPr>
        <p:spPr>
          <a:xfrm>
            <a:off x="6638544" y="6058049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크기 5개 + </a:t>
            </a:r>
            <a:r>
              <a:rPr lang="en-US" sz="12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최적화된</a:t>
            </a: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하이퍼파라미터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3562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예측 성능 요약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3992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D-MPNN + RDKit Descriptors 모델 성능 (Test Set)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0798" y="418795"/>
            <a:ext cx="304495" cy="304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0520" y="1398352"/>
            <a:ext cx="2419502" cy="1628546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50520" y="1398352"/>
            <a:ext cx="38405" cy="1628546"/>
          </a:xfrm>
          <a:prstGeom prst="roundRect">
            <a:avLst>
              <a:gd name="adj" fmla="val 11138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9120" y="1655299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2818" y="1659871"/>
            <a:ext cx="9244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AUROC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79120" y="2045748"/>
            <a:ext cx="216072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0.82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579120" y="2522149"/>
            <a:ext cx="2076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 Under ROC Curve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(13개 클러스터 평균)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915412" y="1398352"/>
            <a:ext cx="2419502" cy="1628546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15412" y="1398352"/>
            <a:ext cx="38405" cy="1628546"/>
          </a:xfrm>
          <a:prstGeom prst="roundRect">
            <a:avLst>
              <a:gd name="adj" fmla="val 11138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44012" y="1655299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68624" y="1659871"/>
            <a:ext cx="6848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3144012" y="2045748"/>
            <a:ext cx="216072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0.75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3144012" y="2522150"/>
            <a:ext cx="2092147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</a:t>
            </a:r>
            <a:r>
              <a:rPr lang="en-US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b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(Youden's J 임계값)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50520" y="3179604"/>
            <a:ext cx="2419502" cy="1476756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50520" y="3179604"/>
            <a:ext cx="38405" cy="1476756"/>
          </a:xfrm>
          <a:prstGeom prst="roundRect">
            <a:avLst>
              <a:gd name="adj" fmla="val 12288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9120" y="343655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2818" y="3441122"/>
            <a:ext cx="9144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AUPRC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79120" y="3826999"/>
            <a:ext cx="216072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0.30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579120" y="4277391"/>
            <a:ext cx="2192731" cy="32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Precision-Recall AUC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(불균형 데이터)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915412" y="3179604"/>
            <a:ext cx="2419502" cy="1476756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915412" y="3179604"/>
            <a:ext cx="38405" cy="1476756"/>
          </a:xfrm>
          <a:prstGeom prst="roundRect">
            <a:avLst>
              <a:gd name="adj" fmla="val 12288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3144012" y="3436550"/>
            <a:ext cx="2862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525317" y="3441122"/>
            <a:ext cx="6574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3144012" y="3826999"/>
            <a:ext cx="216072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0.19</a:t>
            </a:r>
            <a:endParaRPr lang="en-US" sz="3600" dirty="0"/>
          </a:p>
        </p:txBody>
      </p:sp>
      <p:sp>
        <p:nvSpPr>
          <p:cNvPr id="30" name="Text 23"/>
          <p:cNvSpPr txBox="1"/>
          <p:nvPr/>
        </p:nvSpPr>
        <p:spPr>
          <a:xfrm>
            <a:off x="3144012" y="4303401"/>
            <a:ext cx="2160727" cy="29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정밀도-재현율 조화평균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568695" y="3876140"/>
            <a:ext cx="6476695" cy="2602901"/>
          </a:xfrm>
          <a:prstGeom prst="roundRect">
            <a:avLst>
              <a:gd name="adj" fmla="val 172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568695" y="3876139"/>
            <a:ext cx="6476695" cy="45719"/>
          </a:xfrm>
          <a:prstGeom prst="roundRect">
            <a:avLst>
              <a:gd name="adj" fmla="val 122307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006693" y="4094682"/>
            <a:ext cx="4543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</a:t>
            </a:r>
            <a:endParaRPr lang="en-US" sz="2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5758891" y="4133086"/>
            <a:ext cx="171907" cy="152705"/>
          </a:xfrm>
          <a:prstGeom prst="rect">
            <a:avLst/>
          </a:prstGeom>
        </p:spPr>
      </p:pic>
      <p:grpSp>
        <p:nvGrpSpPr>
          <p:cNvPr id="63" name="그룹 62">
            <a:extLst>
              <a:ext uri="{FF2B5EF4-FFF2-40B4-BE49-F238E27FC236}">
                <a16:creationId xmlns:a16="http://schemas.microsoft.com/office/drawing/2014/main" id="{64780ECA-F4A6-4077-AA7C-57837F035AA3}"/>
              </a:ext>
            </a:extLst>
          </p:cNvPr>
          <p:cNvGrpSpPr/>
          <p:nvPr/>
        </p:nvGrpSpPr>
        <p:grpSpPr>
          <a:xfrm>
            <a:off x="5758890" y="4440036"/>
            <a:ext cx="6116421" cy="344379"/>
            <a:chOff x="5758891" y="4440036"/>
            <a:chExt cx="5449573" cy="233217"/>
          </a:xfrm>
        </p:grpSpPr>
        <p:pic>
          <p:nvPicPr>
            <p:cNvPr id="35" name="Image 6" descr="preencoded.png"/>
            <p:cNvPicPr>
              <a:picLocks noChangeAspect="1"/>
            </p:cNvPicPr>
            <p:nvPr/>
          </p:nvPicPr>
          <p:blipFill>
            <a:blip r:embed="rId9"/>
            <a:srcRect t="-37952" b="-37952"/>
            <a:stretch/>
          </p:blipFill>
          <p:spPr>
            <a:xfrm>
              <a:off x="5758891" y="4495189"/>
              <a:ext cx="75895" cy="133502"/>
            </a:xfrm>
            <a:prstGeom prst="rect">
              <a:avLst/>
            </a:prstGeom>
          </p:spPr>
        </p:pic>
        <p:sp>
          <p:nvSpPr>
            <p:cNvPr id="36" name="Text 27"/>
            <p:cNvSpPr txBox="1"/>
            <p:nvPr/>
          </p:nvSpPr>
          <p:spPr>
            <a:xfrm>
              <a:off x="5930797" y="4440036"/>
              <a:ext cx="5277667" cy="2332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35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최고 성능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</a:t>
              </a:r>
              <a:r>
                <a:rPr lang="en-US" sz="1400" b="1" dirty="0">
                  <a:solidFill>
                    <a:srgbClr val="FF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D-MPNN+RDKit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 모든 베이스라인 모델 대비 </a:t>
              </a:r>
              <a:r>
                <a:rPr lang="en-US" sz="1400" b="1" dirty="0">
                  <a:solidFill>
                    <a:srgbClr val="FF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우수한 AUROC 달성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DE638FC-9579-4317-B2A2-58A4B15645D0}"/>
              </a:ext>
            </a:extLst>
          </p:cNvPr>
          <p:cNvGrpSpPr/>
          <p:nvPr/>
        </p:nvGrpSpPr>
        <p:grpSpPr>
          <a:xfrm>
            <a:off x="5758886" y="4801925"/>
            <a:ext cx="6006699" cy="307501"/>
            <a:chOff x="5758891" y="4713918"/>
            <a:chExt cx="5449575" cy="222659"/>
          </a:xfrm>
        </p:grpSpPr>
        <p:pic>
          <p:nvPicPr>
            <p:cNvPr id="37" name="Image 7" descr="preencoded.png"/>
            <p:cNvPicPr>
              <a:picLocks noChangeAspect="1"/>
            </p:cNvPicPr>
            <p:nvPr/>
          </p:nvPicPr>
          <p:blipFill>
            <a:blip r:embed="rId9"/>
            <a:srcRect t="-37952" b="-37952"/>
            <a:stretch/>
          </p:blipFill>
          <p:spPr>
            <a:xfrm>
              <a:off x="5758891" y="4762194"/>
              <a:ext cx="75895" cy="133502"/>
            </a:xfrm>
            <a:prstGeom prst="rect">
              <a:avLst/>
            </a:prstGeom>
          </p:spPr>
        </p:pic>
        <p:sp>
          <p:nvSpPr>
            <p:cNvPr id="38" name="Text 28"/>
            <p:cNvSpPr txBox="1"/>
            <p:nvPr/>
          </p:nvSpPr>
          <p:spPr>
            <a:xfrm>
              <a:off x="5930796" y="4713918"/>
              <a:ext cx="5277670" cy="2226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35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Scaffold Split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</a:t>
              </a:r>
              <a:r>
                <a:rPr lang="en-US" sz="1400" b="1" dirty="0">
                  <a:solidFill>
                    <a:srgbClr val="FF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분자 골격 다양성 보장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하는 80/10/10 분할로 </a:t>
              </a:r>
              <a:r>
                <a:rPr lang="en-US" sz="1400" b="1" dirty="0">
                  <a:solidFill>
                    <a:srgbClr val="FF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일반화 성능 검증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CC7E76E5-2F5B-48BF-B29B-826E682F9D2C}"/>
              </a:ext>
            </a:extLst>
          </p:cNvPr>
          <p:cNvGrpSpPr/>
          <p:nvPr/>
        </p:nvGrpSpPr>
        <p:grpSpPr>
          <a:xfrm>
            <a:off x="5758886" y="5154844"/>
            <a:ext cx="6203728" cy="307032"/>
            <a:chOff x="5758891" y="4983705"/>
            <a:chExt cx="5449578" cy="222659"/>
          </a:xfrm>
        </p:grpSpPr>
        <p:pic>
          <p:nvPicPr>
            <p:cNvPr id="39" name="Image 8" descr="preencoded.png"/>
            <p:cNvPicPr>
              <a:picLocks noChangeAspect="1"/>
            </p:cNvPicPr>
            <p:nvPr/>
          </p:nvPicPr>
          <p:blipFill>
            <a:blip r:embed="rId9"/>
            <a:srcRect t="-37952" b="-37952"/>
            <a:stretch/>
          </p:blipFill>
          <p:spPr>
            <a:xfrm>
              <a:off x="5758891" y="5028284"/>
              <a:ext cx="75895" cy="133502"/>
            </a:xfrm>
            <a:prstGeom prst="rect">
              <a:avLst/>
            </a:prstGeom>
          </p:spPr>
        </p:pic>
        <p:sp>
          <p:nvSpPr>
            <p:cNvPr id="40" name="Text 29"/>
            <p:cNvSpPr txBox="1"/>
            <p:nvPr/>
          </p:nvSpPr>
          <p:spPr>
            <a:xfrm>
              <a:off x="5930797" y="4983705"/>
              <a:ext cx="5277672" cy="2226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35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임계값 최적화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Youden's J 통계로 </a:t>
              </a:r>
              <a:r>
                <a:rPr lang="en-US" sz="1400" b="1" dirty="0">
                  <a:solidFill>
                    <a:srgbClr val="FF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클러스터별 최적 결정 임계값 도출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(평균 0.05)</a:t>
              </a:r>
              <a:endParaRPr lang="en-US" sz="1400" dirty="0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9F4261C-E88B-4AE1-97D6-5FA133BC1EE5}"/>
              </a:ext>
            </a:extLst>
          </p:cNvPr>
          <p:cNvGrpSpPr/>
          <p:nvPr/>
        </p:nvGrpSpPr>
        <p:grpSpPr>
          <a:xfrm>
            <a:off x="5758886" y="5567419"/>
            <a:ext cx="4097427" cy="237699"/>
            <a:chOff x="5758891" y="5265196"/>
            <a:chExt cx="3364077" cy="191110"/>
          </a:xfrm>
        </p:grpSpPr>
        <p:pic>
          <p:nvPicPr>
            <p:cNvPr id="41" name="Image 9" descr="preencoded.png"/>
            <p:cNvPicPr>
              <a:picLocks noChangeAspect="1"/>
            </p:cNvPicPr>
            <p:nvPr/>
          </p:nvPicPr>
          <p:blipFill>
            <a:blip r:embed="rId9"/>
            <a:srcRect t="-37952" b="-37952"/>
            <a:stretch/>
          </p:blipFill>
          <p:spPr>
            <a:xfrm>
              <a:off x="5758891" y="5295289"/>
              <a:ext cx="75895" cy="133502"/>
            </a:xfrm>
            <a:prstGeom prst="rect">
              <a:avLst/>
            </a:prstGeom>
          </p:spPr>
        </p:pic>
        <p:sp>
          <p:nvSpPr>
            <p:cNvPr id="42" name="Text 30"/>
            <p:cNvSpPr txBox="1"/>
            <p:nvPr/>
          </p:nvSpPr>
          <p:spPr>
            <a:xfrm>
              <a:off x="5930798" y="5265196"/>
              <a:ext cx="319217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35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앙상블 효과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5개 모델 앙상블로 </a:t>
              </a:r>
              <a:r>
                <a:rPr lang="en-US" sz="1400" b="1" dirty="0">
                  <a:solidFill>
                    <a:srgbClr val="FF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예측 강건성 향상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3082EBD-7410-4A1C-AC80-ABB1A0E1DB4F}"/>
              </a:ext>
            </a:extLst>
          </p:cNvPr>
          <p:cNvGrpSpPr/>
          <p:nvPr/>
        </p:nvGrpSpPr>
        <p:grpSpPr>
          <a:xfrm>
            <a:off x="5758890" y="5893567"/>
            <a:ext cx="5430726" cy="307032"/>
            <a:chOff x="5758891" y="5537694"/>
            <a:chExt cx="4612233" cy="191110"/>
          </a:xfrm>
        </p:grpSpPr>
        <p:pic>
          <p:nvPicPr>
            <p:cNvPr id="43" name="Image 10" descr="preencoded.png"/>
            <p:cNvPicPr>
              <a:picLocks noChangeAspect="1"/>
            </p:cNvPicPr>
            <p:nvPr/>
          </p:nvPicPr>
          <p:blipFill>
            <a:blip r:embed="rId9"/>
            <a:srcRect t="-37952" b="-37952"/>
            <a:stretch/>
          </p:blipFill>
          <p:spPr>
            <a:xfrm>
              <a:off x="5758891" y="5562294"/>
              <a:ext cx="75895" cy="133502"/>
            </a:xfrm>
            <a:prstGeom prst="rect">
              <a:avLst/>
            </a:prstGeom>
          </p:spPr>
        </p:pic>
        <p:sp>
          <p:nvSpPr>
            <p:cNvPr id="44" name="Text 31"/>
            <p:cNvSpPr txBox="1"/>
            <p:nvPr/>
          </p:nvSpPr>
          <p:spPr>
            <a:xfrm>
              <a:off x="5930798" y="5537694"/>
              <a:ext cx="444032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35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특성</a:t>
              </a:r>
              <a:r>
                <a:rPr lang="en-US" sz="14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: 4% 양성 라벨 불균형 데이터에서 </a:t>
              </a:r>
              <a:r>
                <a:rPr lang="en-US" sz="1400" b="1" dirty="0">
                  <a:solidFill>
                    <a:srgbClr val="FF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효과적인 분류 성능 입증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C32DC061-9293-4FB8-A282-5CA8C94546D2}"/>
              </a:ext>
            </a:extLst>
          </p:cNvPr>
          <p:cNvGrpSpPr/>
          <p:nvPr/>
        </p:nvGrpSpPr>
        <p:grpSpPr>
          <a:xfrm>
            <a:off x="5568695" y="1390802"/>
            <a:ext cx="6515100" cy="2314346"/>
            <a:chOff x="5568695" y="1390802"/>
            <a:chExt cx="6515100" cy="2314346"/>
          </a:xfrm>
        </p:grpSpPr>
        <p:sp>
          <p:nvSpPr>
            <p:cNvPr id="50" name="Shape 40">
              <a:extLst>
                <a:ext uri="{FF2B5EF4-FFF2-40B4-BE49-F238E27FC236}">
                  <a16:creationId xmlns:a16="http://schemas.microsoft.com/office/drawing/2014/main" id="{8D9AAC19-3953-46C7-85BD-ECEACCF055CC}"/>
                </a:ext>
              </a:extLst>
            </p:cNvPr>
            <p:cNvSpPr/>
            <p:nvPr/>
          </p:nvSpPr>
          <p:spPr>
            <a:xfrm>
              <a:off x="5568695" y="1390802"/>
              <a:ext cx="6515100" cy="2314346"/>
            </a:xfrm>
            <a:prstGeom prst="roundRect">
              <a:avLst>
                <a:gd name="adj" fmla="val 1301"/>
              </a:avLst>
            </a:prstGeom>
            <a:solidFill>
              <a:srgbClr val="F1F5F9"/>
            </a:solidFill>
            <a:ln w="25400">
              <a:solidFill>
                <a:srgbClr val="2563EB"/>
              </a:solidFill>
              <a:prstDash val="solid"/>
            </a:ln>
          </p:spPr>
        </p:sp>
        <p:pic>
          <p:nvPicPr>
            <p:cNvPr id="51" name="Image 6" descr="preencoded.png">
              <a:extLst>
                <a:ext uri="{FF2B5EF4-FFF2-40B4-BE49-F238E27FC236}">
                  <a16:creationId xmlns:a16="http://schemas.microsoft.com/office/drawing/2014/main" id="{941208FD-453C-4764-966D-9C31180D7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779007" y="1585569"/>
              <a:ext cx="209398" cy="209398"/>
            </a:xfrm>
            <a:prstGeom prst="rect">
              <a:avLst/>
            </a:prstGeom>
          </p:spPr>
        </p:pic>
        <p:sp>
          <p:nvSpPr>
            <p:cNvPr id="52" name="Text 41">
              <a:extLst>
                <a:ext uri="{FF2B5EF4-FFF2-40B4-BE49-F238E27FC236}">
                  <a16:creationId xmlns:a16="http://schemas.microsoft.com/office/drawing/2014/main" id="{5FF74306-AFA8-44C4-B24C-3A5419D97ED2}"/>
                </a:ext>
              </a:extLst>
            </p:cNvPr>
            <p:cNvSpPr txBox="1"/>
            <p:nvPr/>
          </p:nvSpPr>
          <p:spPr>
            <a:xfrm>
              <a:off x="6102704" y="1561794"/>
              <a:ext cx="3020263" cy="3221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클러스터별 </a:t>
              </a:r>
              <a:r>
                <a:rPr lang="en-US" sz="1600" b="1" dirty="0" err="1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성능</a:t>
              </a:r>
              <a:r>
                <a:rPr lang="en-US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600" b="1" dirty="0" err="1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분석</a:t>
              </a:r>
              <a:r>
                <a:rPr lang="en-US" sz="1600" b="1" dirty="0">
                  <a:solidFill>
                    <a:srgbClr val="1E293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(AUROC)</a:t>
              </a:r>
              <a:endParaRPr lang="en-US" sz="1600" dirty="0"/>
            </a:p>
          </p:txBody>
        </p:sp>
        <p:pic>
          <p:nvPicPr>
            <p:cNvPr id="53" name="Image 7" descr="preencoded.png">
              <a:extLst>
                <a:ext uri="{FF2B5EF4-FFF2-40B4-BE49-F238E27FC236}">
                  <a16:creationId xmlns:a16="http://schemas.microsoft.com/office/drawing/2014/main" id="{814608CC-05E8-4D44-BBD4-85620F504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-14" r="-14"/>
            <a:stretch/>
          </p:blipFill>
          <p:spPr>
            <a:xfrm>
              <a:off x="5779007" y="1933955"/>
              <a:ext cx="6096305" cy="1333195"/>
            </a:xfrm>
            <a:prstGeom prst="rect">
              <a:avLst/>
            </a:prstGeom>
          </p:spPr>
        </p:pic>
        <p:sp>
          <p:nvSpPr>
            <p:cNvPr id="54" name="Shape 42">
              <a:extLst>
                <a:ext uri="{FF2B5EF4-FFF2-40B4-BE49-F238E27FC236}">
                  <a16:creationId xmlns:a16="http://schemas.microsoft.com/office/drawing/2014/main" id="{A78778BF-8323-4913-AC27-16FB6A0F1113}"/>
                </a:ext>
              </a:extLst>
            </p:cNvPr>
            <p:cNvSpPr/>
            <p:nvPr/>
          </p:nvSpPr>
          <p:spPr>
            <a:xfrm>
              <a:off x="7812633" y="3390594"/>
              <a:ext cx="114300" cy="114300"/>
            </a:xfrm>
            <a:prstGeom prst="roundRect">
              <a:avLst>
                <a:gd name="adj" fmla="val 133333"/>
              </a:avLst>
            </a:prstGeom>
            <a:solidFill>
              <a:srgbClr val="EF4444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5" name="Text 43">
              <a:extLst>
                <a:ext uri="{FF2B5EF4-FFF2-40B4-BE49-F238E27FC236}">
                  <a16:creationId xmlns:a16="http://schemas.microsoft.com/office/drawing/2014/main" id="{F8D6B237-282D-4B56-B9E2-5D2EB1724F2A}"/>
                </a:ext>
              </a:extLst>
            </p:cNvPr>
            <p:cNvSpPr txBox="1"/>
            <p:nvPr/>
          </p:nvSpPr>
          <p:spPr>
            <a:xfrm>
              <a:off x="7983626" y="3362248"/>
              <a:ext cx="1292962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41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난이도 높음 (C7, C11)</a:t>
              </a:r>
              <a:endParaRPr lang="en-US" sz="900" dirty="0"/>
            </a:p>
          </p:txBody>
        </p:sp>
        <p:sp>
          <p:nvSpPr>
            <p:cNvPr id="56" name="Shape 44">
              <a:extLst>
                <a:ext uri="{FF2B5EF4-FFF2-40B4-BE49-F238E27FC236}">
                  <a16:creationId xmlns:a16="http://schemas.microsoft.com/office/drawing/2014/main" id="{DBA59488-99E2-4191-A81A-5E5FBCD55245}"/>
                </a:ext>
              </a:extLst>
            </p:cNvPr>
            <p:cNvSpPr/>
            <p:nvPr/>
          </p:nvSpPr>
          <p:spPr>
            <a:xfrm>
              <a:off x="9216237" y="3390594"/>
              <a:ext cx="114300" cy="114300"/>
            </a:xfrm>
            <a:prstGeom prst="roundRect">
              <a:avLst>
                <a:gd name="adj" fmla="val 133333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7" name="Text 45">
              <a:extLst>
                <a:ext uri="{FF2B5EF4-FFF2-40B4-BE49-F238E27FC236}">
                  <a16:creationId xmlns:a16="http://schemas.microsoft.com/office/drawing/2014/main" id="{3D26332A-274D-455D-BAFA-6C6BF8DF04D6}"/>
                </a:ext>
              </a:extLst>
            </p:cNvPr>
            <p:cNvSpPr txBox="1"/>
            <p:nvPr/>
          </p:nvSpPr>
          <p:spPr>
            <a:xfrm>
              <a:off x="9388144" y="3362248"/>
              <a:ext cx="54406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41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평균 이상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4038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개요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Mtb-Inhibitor Finder AI: 딥러닝 기반 가상 스크리닝 플랫폼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11334902" y="418795"/>
            <a:ext cx="381305" cy="304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6402" y="1438351"/>
            <a:ext cx="5201107" cy="2314346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6402" y="1438351"/>
            <a:ext cx="5201107" cy="38405"/>
          </a:xfrm>
          <a:prstGeom prst="roundRect">
            <a:avLst>
              <a:gd name="adj" fmla="val 78385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47902" y="1705356"/>
            <a:ext cx="45912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목표</a:t>
            </a:r>
            <a:endParaRPr lang="en-US" sz="2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5002" y="1723644"/>
            <a:ext cx="247802" cy="2478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5002" y="2160829"/>
            <a:ext cx="481980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사용자는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화합물의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SMILES 문자열을 입력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하면,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학습된 D-MPNN 모델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13개 기능적 유전자 클러스터(COG)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저해 확률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Lipinski's Rule 기반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약물성 주요 </a:t>
            </a:r>
            <a:r>
              <a:rPr lang="en-US" sz="1200" b="1" dirty="0" err="1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실시간으로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제공하는 </a:t>
            </a:r>
            <a:r>
              <a:rPr lang="ko-KR" altLang="en-US" sz="1200" b="1" dirty="0" smtClean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기반 </a:t>
            </a:r>
            <a:r>
              <a:rPr lang="en-US" altLang="ko-KR" sz="1200" b="1" dirty="0" smtClean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ko-KR" altLang="en-US" sz="1200" b="1" dirty="0" smtClean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r>
              <a:rPr lang="ko-KR" alt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</a:t>
            </a:r>
            <a:r>
              <a:rPr lang="en-US" altLang="ko-KR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r>
              <a:rPr lang="en-US" sz="1200" dirty="0" smtClean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6402" y="3952951"/>
            <a:ext cx="5201107" cy="2428646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6402" y="3952951"/>
            <a:ext cx="38405" cy="2428646"/>
          </a:xfrm>
          <a:prstGeom prst="roundRect">
            <a:avLst>
              <a:gd name="adj" fmla="val 7469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77163" y="4181551"/>
            <a:ext cx="45628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 제안</a:t>
            </a:r>
            <a:endParaRPr lang="en-US" sz="2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461" r="-461"/>
          <a:stretch/>
        </p:blipFill>
        <p:spPr>
          <a:xfrm>
            <a:off x="743407" y="4205326"/>
            <a:ext cx="237744" cy="20939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" y="4572000"/>
            <a:ext cx="4610405" cy="426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전 선별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수만 개 화합물 라이브러리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 가능성이 높은 후보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 선별하여 실험 비용 절감</a:t>
            </a:r>
            <a:endParaRPr lang="en-US" sz="1200" b="1" dirty="0">
              <a:solidFill>
                <a:srgbClr val="FF0000"/>
              </a:solidFill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t="-43976" b="-43976"/>
          <a:stretch/>
        </p:blipFill>
        <p:spPr>
          <a:xfrm>
            <a:off x="743407" y="5058815"/>
            <a:ext cx="80822" cy="1753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23087" y="4964700"/>
            <a:ext cx="4724704" cy="363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우선순위화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13개 클러스터별 예측 확률로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표적 특이적 저해제 우선순위 설정</a:t>
            </a:r>
            <a:endParaRPr lang="en-US" sz="1200" b="1" dirty="0">
              <a:solidFill>
                <a:srgbClr val="FF0000"/>
              </a:solidFill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rcRect t="-43976" b="-43976"/>
          <a:stretch/>
        </p:blipFill>
        <p:spPr>
          <a:xfrm>
            <a:off x="743407" y="5397071"/>
            <a:ext cx="75895" cy="2264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14400" y="5340378"/>
            <a:ext cx="4351630" cy="31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가설 생성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작용기전(MoA) 예측을 통해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검증 실험의 방향성 제시</a:t>
            </a:r>
            <a:endParaRPr lang="en-US" sz="1200" b="1" dirty="0">
              <a:solidFill>
                <a:srgbClr val="FF0000"/>
              </a:solidFill>
            </a:endParaRPr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rcRect t="-43976" b="-43976"/>
          <a:stretch/>
        </p:blipFill>
        <p:spPr>
          <a:xfrm>
            <a:off x="743407" y="5737578"/>
            <a:ext cx="75895" cy="20337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14400" y="5680884"/>
            <a:ext cx="4380890" cy="285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웹 브라우저만으로 누구나 즉시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가능한 직관적 인터페이스</a:t>
            </a:r>
            <a:endParaRPr lang="en-US" sz="1200" b="1" dirty="0">
              <a:solidFill>
                <a:srgbClr val="FF0000"/>
              </a:solidFill>
            </a:endParaRPr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6"/>
          <a:srcRect t="-43976" b="-43976"/>
          <a:stretch/>
        </p:blipFill>
        <p:spPr>
          <a:xfrm>
            <a:off x="743407" y="6078085"/>
            <a:ext cx="75895" cy="17204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14400" y="6021392"/>
            <a:ext cx="4218127" cy="24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레이더 차트와 약물성 지표로 예측 결과의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 해석 지원</a:t>
            </a:r>
            <a:endParaRPr lang="en-US" sz="1200" b="1" dirty="0">
              <a:solidFill>
                <a:srgbClr val="FF0000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C88D5AAA-6C5B-4B3D-AB65-74EC915A5D0F}"/>
              </a:ext>
            </a:extLst>
          </p:cNvPr>
          <p:cNvGrpSpPr/>
          <p:nvPr/>
        </p:nvGrpSpPr>
        <p:grpSpPr>
          <a:xfrm>
            <a:off x="6003036" y="1438351"/>
            <a:ext cx="5715000" cy="5301116"/>
            <a:chOff x="6003036" y="1438351"/>
            <a:chExt cx="5715000" cy="6638544"/>
          </a:xfrm>
        </p:grpSpPr>
        <p:sp>
          <p:nvSpPr>
            <p:cNvPr id="27" name="Shape 17"/>
            <p:cNvSpPr/>
            <p:nvPr/>
          </p:nvSpPr>
          <p:spPr>
            <a:xfrm>
              <a:off x="6003036" y="1438351"/>
              <a:ext cx="5715000" cy="6638544"/>
            </a:xfrm>
            <a:prstGeom prst="roundRect">
              <a:avLst>
                <a:gd name="adj" fmla="val 213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76200" dist="25400" dir="162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8" name="Text 18"/>
            <p:cNvSpPr txBox="1"/>
            <p:nvPr/>
          </p:nvSpPr>
          <p:spPr>
            <a:xfrm>
              <a:off x="7746316" y="1556307"/>
              <a:ext cx="2225695" cy="4800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A35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시스템 작동 흐름</a:t>
              </a:r>
              <a:endParaRPr lang="en-US" sz="2400" dirty="0"/>
            </a:p>
          </p:txBody>
        </p:sp>
        <p:sp>
          <p:nvSpPr>
            <p:cNvPr id="31" name="Shape 20"/>
            <p:cNvSpPr/>
            <p:nvPr/>
          </p:nvSpPr>
          <p:spPr>
            <a:xfrm>
              <a:off x="6250838" y="2226564"/>
              <a:ext cx="1410005" cy="1238098"/>
            </a:xfrm>
            <a:prstGeom prst="roundRect">
              <a:avLst>
                <a:gd name="adj" fmla="val 3409"/>
              </a:avLst>
            </a:prstGeom>
            <a:solidFill>
              <a:srgbClr val="EFF6FF"/>
            </a:solidFill>
            <a:ln w="25400">
              <a:solidFill>
                <a:srgbClr val="3B82F6"/>
              </a:solidFill>
              <a:prstDash val="solid"/>
            </a:ln>
          </p:spPr>
        </p:sp>
        <p:pic>
          <p:nvPicPr>
            <p:cNvPr id="32" name="Image 9" descr="preencoded.png"/>
            <p:cNvPicPr>
              <a:picLocks noChangeAspect="1"/>
            </p:cNvPicPr>
            <p:nvPr/>
          </p:nvPicPr>
          <p:blipFill>
            <a:blip r:embed="rId7"/>
            <a:srcRect l="-685" r="-685"/>
            <a:stretch/>
          </p:blipFill>
          <p:spPr>
            <a:xfrm>
              <a:off x="6799478" y="2498141"/>
              <a:ext cx="304495" cy="267005"/>
            </a:xfrm>
            <a:prstGeom prst="rect">
              <a:avLst/>
            </a:prstGeom>
          </p:spPr>
        </p:pic>
        <p:sp>
          <p:nvSpPr>
            <p:cNvPr id="33" name="Text 21"/>
            <p:cNvSpPr txBox="1"/>
            <p:nvPr/>
          </p:nvSpPr>
          <p:spPr>
            <a:xfrm>
              <a:off x="6703466" y="2797149"/>
              <a:ext cx="508407" cy="2697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341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입력</a:t>
              </a:r>
              <a:endParaRPr lang="en-US" sz="1400" dirty="0"/>
            </a:p>
          </p:txBody>
        </p:sp>
        <p:sp>
          <p:nvSpPr>
            <p:cNvPr id="34" name="Text 22"/>
            <p:cNvSpPr txBox="1"/>
            <p:nvPr/>
          </p:nvSpPr>
          <p:spPr>
            <a:xfrm>
              <a:off x="6450633" y="3117188"/>
              <a:ext cx="1002183" cy="2359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SMILES 문자열</a:t>
              </a:r>
              <a:endParaRPr lang="en-US" sz="1200" dirty="0"/>
            </a:p>
          </p:txBody>
        </p:sp>
        <p:pic>
          <p:nvPicPr>
            <p:cNvPr id="35" name="Image 10" descr="preencoded.png"/>
            <p:cNvPicPr>
              <a:picLocks noChangeAspect="1"/>
            </p:cNvPicPr>
            <p:nvPr/>
          </p:nvPicPr>
          <p:blipFill>
            <a:blip r:embed="rId8"/>
            <a:srcRect l="-57" r="-57"/>
            <a:stretch/>
          </p:blipFill>
          <p:spPr>
            <a:xfrm>
              <a:off x="7805318" y="2740457"/>
              <a:ext cx="200254" cy="228600"/>
            </a:xfrm>
            <a:prstGeom prst="rect">
              <a:avLst/>
            </a:prstGeom>
          </p:spPr>
        </p:pic>
        <p:sp>
          <p:nvSpPr>
            <p:cNvPr id="36" name="Shape 23"/>
            <p:cNvSpPr/>
            <p:nvPr/>
          </p:nvSpPr>
          <p:spPr>
            <a:xfrm>
              <a:off x="8158277" y="2147926"/>
              <a:ext cx="1410005" cy="1399946"/>
            </a:xfrm>
            <a:prstGeom prst="roundRect">
              <a:avLst>
                <a:gd name="adj" fmla="val 2666"/>
              </a:avLst>
            </a:prstGeom>
            <a:solidFill>
              <a:srgbClr val="F1F5F9"/>
            </a:solidFill>
            <a:ln w="25400">
              <a:solidFill>
                <a:srgbClr val="1A355B"/>
              </a:solidFill>
              <a:prstDash val="solid"/>
            </a:ln>
          </p:spPr>
        </p:sp>
        <p:pic>
          <p:nvPicPr>
            <p:cNvPr id="37" name="Image 11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8692286" y="2419502"/>
              <a:ext cx="333756" cy="267005"/>
            </a:xfrm>
            <a:prstGeom prst="rect">
              <a:avLst/>
            </a:prstGeom>
          </p:spPr>
        </p:pic>
        <p:sp>
          <p:nvSpPr>
            <p:cNvPr id="38" name="Text 24"/>
            <p:cNvSpPr txBox="1"/>
            <p:nvPr/>
          </p:nvSpPr>
          <p:spPr>
            <a:xfrm>
              <a:off x="8539536" y="2845613"/>
              <a:ext cx="643738" cy="2148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341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전처리</a:t>
              </a:r>
              <a:endParaRPr lang="en-US" sz="1400" dirty="0"/>
            </a:p>
          </p:txBody>
        </p:sp>
        <p:sp>
          <p:nvSpPr>
            <p:cNvPr id="39" name="Text 25"/>
            <p:cNvSpPr txBox="1"/>
            <p:nvPr/>
          </p:nvSpPr>
          <p:spPr>
            <a:xfrm>
              <a:off x="8266862" y="3066898"/>
              <a:ext cx="1184604" cy="426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RDKit 유효성 검증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분자 구조 파싱</a:t>
              </a:r>
              <a:endParaRPr lang="en-US" sz="1200" dirty="0"/>
            </a:p>
          </p:txBody>
        </p:sp>
        <p:pic>
          <p:nvPicPr>
            <p:cNvPr id="40" name="Image 12" descr="preencoded.png"/>
            <p:cNvPicPr>
              <a:picLocks noChangeAspect="1"/>
            </p:cNvPicPr>
            <p:nvPr/>
          </p:nvPicPr>
          <p:blipFill>
            <a:blip r:embed="rId8"/>
            <a:srcRect l="-57" r="-57"/>
            <a:stretch/>
          </p:blipFill>
          <p:spPr>
            <a:xfrm>
              <a:off x="9712757" y="2740457"/>
              <a:ext cx="200254" cy="228600"/>
            </a:xfrm>
            <a:prstGeom prst="rect">
              <a:avLst/>
            </a:prstGeom>
          </p:spPr>
        </p:pic>
        <p:sp>
          <p:nvSpPr>
            <p:cNvPr id="41" name="Shape 26"/>
            <p:cNvSpPr/>
            <p:nvPr/>
          </p:nvSpPr>
          <p:spPr>
            <a:xfrm>
              <a:off x="10065715" y="2147926"/>
              <a:ext cx="1410005" cy="1399946"/>
            </a:xfrm>
            <a:prstGeom prst="roundRect">
              <a:avLst>
                <a:gd name="adj" fmla="val 2666"/>
              </a:avLst>
            </a:prstGeom>
            <a:solidFill>
              <a:srgbClr val="F1F5F9"/>
            </a:solidFill>
            <a:ln w="25400">
              <a:solidFill>
                <a:srgbClr val="1A355B"/>
              </a:solidFill>
              <a:prstDash val="solid"/>
            </a:ln>
          </p:spPr>
        </p:sp>
        <p:pic>
          <p:nvPicPr>
            <p:cNvPr id="42" name="Image 13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10633558" y="2419502"/>
              <a:ext cx="267005" cy="267005"/>
            </a:xfrm>
            <a:prstGeom prst="rect">
              <a:avLst/>
            </a:prstGeom>
          </p:spPr>
        </p:pic>
        <p:sp>
          <p:nvSpPr>
            <p:cNvPr id="43" name="Text 27"/>
            <p:cNvSpPr txBox="1"/>
            <p:nvPr/>
          </p:nvSpPr>
          <p:spPr>
            <a:xfrm>
              <a:off x="10389412" y="2808892"/>
              <a:ext cx="759867" cy="2651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341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예측</a:t>
              </a:r>
              <a:endParaRPr lang="en-US" sz="1400" dirty="0"/>
            </a:p>
          </p:txBody>
        </p:sp>
        <p:sp>
          <p:nvSpPr>
            <p:cNvPr id="44" name="Text 28"/>
            <p:cNvSpPr txBox="1"/>
            <p:nvPr/>
          </p:nvSpPr>
          <p:spPr>
            <a:xfrm>
              <a:off x="10108235" y="3060352"/>
              <a:ext cx="1317650" cy="4472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D-MPNN 모델 추론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200 RDKit 기술자</a:t>
              </a:r>
              <a:endParaRPr lang="en-US" sz="1200" dirty="0"/>
            </a:p>
          </p:txBody>
        </p:sp>
        <p:pic>
          <p:nvPicPr>
            <p:cNvPr id="45" name="Image 14" descr="preencoded.png"/>
            <p:cNvPicPr>
              <a:picLocks noChangeAspect="1"/>
            </p:cNvPicPr>
            <p:nvPr/>
          </p:nvPicPr>
          <p:blipFill>
            <a:blip r:embed="rId11"/>
            <a:srcRect l="-133" r="-133"/>
            <a:stretch/>
          </p:blipFill>
          <p:spPr>
            <a:xfrm>
              <a:off x="8773668" y="3733495"/>
              <a:ext cx="171907" cy="228600"/>
            </a:xfrm>
            <a:prstGeom prst="rect">
              <a:avLst/>
            </a:prstGeom>
          </p:spPr>
        </p:pic>
        <p:sp>
          <p:nvSpPr>
            <p:cNvPr id="46" name="Shape 29"/>
            <p:cNvSpPr/>
            <p:nvPr/>
          </p:nvSpPr>
          <p:spPr>
            <a:xfrm>
              <a:off x="6250838" y="4153205"/>
              <a:ext cx="2361895" cy="1828800"/>
            </a:xfrm>
            <a:prstGeom prst="roundRect">
              <a:avLst>
                <a:gd name="adj" fmla="val 1563"/>
              </a:avLst>
            </a:prstGeom>
            <a:solidFill>
              <a:srgbClr val="ECFDF5"/>
            </a:solidFill>
            <a:ln w="25400">
              <a:solidFill>
                <a:srgbClr val="10B981"/>
              </a:solidFill>
              <a:prstDash val="solid"/>
            </a:ln>
          </p:spPr>
        </p:sp>
        <p:sp>
          <p:nvSpPr>
            <p:cNvPr id="47" name="Text 30"/>
            <p:cNvSpPr txBox="1"/>
            <p:nvPr/>
          </p:nvSpPr>
          <p:spPr>
            <a:xfrm>
              <a:off x="6600555" y="4495191"/>
              <a:ext cx="1653235" cy="473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341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출력 1: 작용기전 예측</a:t>
              </a:r>
              <a:endParaRPr lang="en-US" sz="1400" dirty="0"/>
            </a:p>
          </p:txBody>
        </p:sp>
        <p:sp>
          <p:nvSpPr>
            <p:cNvPr id="48" name="Shape 31"/>
            <p:cNvSpPr/>
            <p:nvPr/>
          </p:nvSpPr>
          <p:spPr>
            <a:xfrm>
              <a:off x="6441034" y="5100523"/>
              <a:ext cx="933602" cy="796257"/>
            </a:xfrm>
            <a:prstGeom prst="roundRect">
              <a:avLst>
                <a:gd name="adj" fmla="val 7210"/>
              </a:avLst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</p:spPr>
        </p:sp>
        <p:sp>
          <p:nvSpPr>
            <p:cNvPr id="49" name="Text 32"/>
            <p:cNvSpPr txBox="1"/>
            <p:nvPr/>
          </p:nvSpPr>
          <p:spPr>
            <a:xfrm>
              <a:off x="6507785" y="5205679"/>
              <a:ext cx="8001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C1-C13</a:t>
              </a:r>
              <a:endParaRPr lang="en-US" sz="1200" dirty="0"/>
            </a:p>
          </p:txBody>
        </p:sp>
        <p:sp>
          <p:nvSpPr>
            <p:cNvPr id="50" name="Text 33"/>
            <p:cNvSpPr txBox="1"/>
            <p:nvPr/>
          </p:nvSpPr>
          <p:spPr>
            <a:xfrm>
              <a:off x="6516928" y="5400446"/>
              <a:ext cx="800099" cy="463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클러스터별 저해 확률</a:t>
              </a:r>
              <a:endParaRPr lang="en-US" sz="1200" dirty="0"/>
            </a:p>
          </p:txBody>
        </p:sp>
        <p:sp>
          <p:nvSpPr>
            <p:cNvPr id="51" name="Shape 34"/>
            <p:cNvSpPr/>
            <p:nvPr/>
          </p:nvSpPr>
          <p:spPr>
            <a:xfrm>
              <a:off x="7486193" y="5100523"/>
              <a:ext cx="933602" cy="796257"/>
            </a:xfrm>
            <a:prstGeom prst="roundRect">
              <a:avLst>
                <a:gd name="adj" fmla="val 7210"/>
              </a:avLst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</p:spPr>
        </p:sp>
        <p:sp>
          <p:nvSpPr>
            <p:cNvPr id="52" name="Text 35"/>
            <p:cNvSpPr txBox="1"/>
            <p:nvPr/>
          </p:nvSpPr>
          <p:spPr>
            <a:xfrm>
              <a:off x="7552944" y="5205679"/>
              <a:ext cx="8001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레이더 차트</a:t>
              </a:r>
              <a:endParaRPr lang="en-US" sz="1200" dirty="0"/>
            </a:p>
          </p:txBody>
        </p:sp>
        <p:sp>
          <p:nvSpPr>
            <p:cNvPr id="53" name="Text 36"/>
            <p:cNvSpPr txBox="1"/>
            <p:nvPr/>
          </p:nvSpPr>
          <p:spPr>
            <a:xfrm>
              <a:off x="7665658" y="5400446"/>
              <a:ext cx="579730" cy="427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시각적 프로파일</a:t>
              </a:r>
              <a:endParaRPr lang="en-US" sz="1200" dirty="0"/>
            </a:p>
          </p:txBody>
        </p:sp>
        <p:pic>
          <p:nvPicPr>
            <p:cNvPr id="54" name="Image 15" descr="preencoded.png"/>
            <p:cNvPicPr>
              <a:picLocks noChangeAspect="1"/>
            </p:cNvPicPr>
            <p:nvPr/>
          </p:nvPicPr>
          <p:blipFill>
            <a:blip r:embed="rId12"/>
            <a:srcRect l="-57" r="-57"/>
            <a:stretch/>
          </p:blipFill>
          <p:spPr>
            <a:xfrm>
              <a:off x="8759038" y="4962449"/>
              <a:ext cx="200254" cy="228600"/>
            </a:xfrm>
            <a:prstGeom prst="rect">
              <a:avLst/>
            </a:prstGeom>
          </p:spPr>
        </p:pic>
        <p:sp>
          <p:nvSpPr>
            <p:cNvPr id="55" name="Shape 37"/>
            <p:cNvSpPr/>
            <p:nvPr/>
          </p:nvSpPr>
          <p:spPr>
            <a:xfrm>
              <a:off x="9111996" y="4153205"/>
              <a:ext cx="2361895" cy="1828800"/>
            </a:xfrm>
            <a:prstGeom prst="roundRect">
              <a:avLst>
                <a:gd name="adj" fmla="val 1563"/>
              </a:avLst>
            </a:prstGeom>
            <a:solidFill>
              <a:srgbClr val="ECFDF5"/>
            </a:solidFill>
            <a:ln w="25400">
              <a:solidFill>
                <a:srgbClr val="10B981"/>
              </a:solidFill>
              <a:prstDash val="solid"/>
            </a:ln>
          </p:spPr>
        </p:sp>
        <p:sp>
          <p:nvSpPr>
            <p:cNvPr id="57" name="Text 38"/>
            <p:cNvSpPr txBox="1"/>
            <p:nvPr/>
          </p:nvSpPr>
          <p:spPr>
            <a:xfrm>
              <a:off x="9503815" y="4544360"/>
              <a:ext cx="1578255" cy="4235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341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출력 2: 약물성 지표</a:t>
              </a:r>
              <a:endParaRPr lang="en-US" sz="1400" dirty="0"/>
            </a:p>
          </p:txBody>
        </p:sp>
        <p:sp>
          <p:nvSpPr>
            <p:cNvPr id="58" name="Shape 39"/>
            <p:cNvSpPr/>
            <p:nvPr/>
          </p:nvSpPr>
          <p:spPr>
            <a:xfrm>
              <a:off x="9302191" y="5100523"/>
              <a:ext cx="933602" cy="796257"/>
            </a:xfrm>
            <a:prstGeom prst="roundRect">
              <a:avLst>
                <a:gd name="adj" fmla="val 7210"/>
              </a:avLst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</p:spPr>
        </p:sp>
        <p:sp>
          <p:nvSpPr>
            <p:cNvPr id="59" name="Text 40"/>
            <p:cNvSpPr txBox="1"/>
            <p:nvPr/>
          </p:nvSpPr>
          <p:spPr>
            <a:xfrm>
              <a:off x="9368942" y="5205679"/>
              <a:ext cx="8001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Lipinski</a:t>
              </a:r>
              <a:endParaRPr lang="en-US" sz="1200" dirty="0"/>
            </a:p>
          </p:txBody>
        </p:sp>
        <p:sp>
          <p:nvSpPr>
            <p:cNvPr id="60" name="Text 41"/>
            <p:cNvSpPr txBox="1"/>
            <p:nvPr/>
          </p:nvSpPr>
          <p:spPr>
            <a:xfrm>
              <a:off x="9378086" y="5400446"/>
              <a:ext cx="78181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MW, LogP, HBA/HBD</a:t>
              </a:r>
              <a:endParaRPr lang="en-US" sz="1200" dirty="0"/>
            </a:p>
          </p:txBody>
        </p:sp>
        <p:sp>
          <p:nvSpPr>
            <p:cNvPr id="61" name="Shape 42"/>
            <p:cNvSpPr/>
            <p:nvPr/>
          </p:nvSpPr>
          <p:spPr>
            <a:xfrm>
              <a:off x="10347350" y="5100523"/>
              <a:ext cx="933602" cy="796257"/>
            </a:xfrm>
            <a:prstGeom prst="roundRect">
              <a:avLst>
                <a:gd name="adj" fmla="val 7210"/>
              </a:avLst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</p:spPr>
        </p:sp>
        <p:sp>
          <p:nvSpPr>
            <p:cNvPr id="62" name="Text 43"/>
            <p:cNvSpPr txBox="1"/>
            <p:nvPr/>
          </p:nvSpPr>
          <p:spPr>
            <a:xfrm>
              <a:off x="10414102" y="5205679"/>
              <a:ext cx="8001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TPSA</a:t>
              </a:r>
              <a:endParaRPr lang="en-US" sz="1200" dirty="0"/>
            </a:p>
          </p:txBody>
        </p:sp>
        <p:sp>
          <p:nvSpPr>
            <p:cNvPr id="63" name="Text 44"/>
            <p:cNvSpPr txBox="1"/>
            <p:nvPr/>
          </p:nvSpPr>
          <p:spPr>
            <a:xfrm>
              <a:off x="10414102" y="5400446"/>
              <a:ext cx="800100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막 투과성</a:t>
              </a:r>
              <a:endParaRPr lang="en-US" sz="1200" dirty="0"/>
            </a:p>
          </p:txBody>
        </p:sp>
        <p:pic>
          <p:nvPicPr>
            <p:cNvPr id="64" name="Image 17" descr="preencoded.png"/>
            <p:cNvPicPr>
              <a:picLocks noChangeAspect="1"/>
            </p:cNvPicPr>
            <p:nvPr/>
          </p:nvPicPr>
          <p:blipFill>
            <a:blip r:embed="rId11"/>
            <a:srcRect l="-133" r="-133"/>
            <a:stretch/>
          </p:blipFill>
          <p:spPr>
            <a:xfrm>
              <a:off x="8773668" y="6172200"/>
              <a:ext cx="171907" cy="228600"/>
            </a:xfrm>
            <a:prstGeom prst="rect">
              <a:avLst/>
            </a:prstGeom>
          </p:spPr>
        </p:pic>
        <p:sp>
          <p:nvSpPr>
            <p:cNvPr id="65" name="Shape 45"/>
            <p:cNvSpPr/>
            <p:nvPr/>
          </p:nvSpPr>
          <p:spPr>
            <a:xfrm>
              <a:off x="6250838" y="6590995"/>
              <a:ext cx="5219395" cy="1238098"/>
            </a:xfrm>
            <a:prstGeom prst="roundRect">
              <a:avLst>
                <a:gd name="adj" fmla="val 3409"/>
              </a:avLst>
            </a:prstGeom>
            <a:solidFill>
              <a:srgbClr val="FAF5FF"/>
            </a:solidFill>
            <a:ln w="25400">
              <a:solidFill>
                <a:srgbClr val="8B5CF6"/>
              </a:solidFill>
              <a:prstDash val="solid"/>
            </a:ln>
          </p:spPr>
        </p:sp>
        <p:pic>
          <p:nvPicPr>
            <p:cNvPr id="66" name="Image 18" descr="preencoded.png"/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726119" y="6762903"/>
              <a:ext cx="267005" cy="267005"/>
            </a:xfrm>
            <a:prstGeom prst="rect">
              <a:avLst/>
            </a:prstGeom>
          </p:spPr>
        </p:pic>
        <p:sp>
          <p:nvSpPr>
            <p:cNvPr id="67" name="Text 46"/>
            <p:cNvSpPr txBox="1"/>
            <p:nvPr/>
          </p:nvSpPr>
          <p:spPr>
            <a:xfrm>
              <a:off x="8266862" y="7053229"/>
              <a:ext cx="1169518" cy="3567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341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결과 내보내기</a:t>
              </a:r>
              <a:endParaRPr lang="en-US" sz="1400" dirty="0"/>
            </a:p>
          </p:txBody>
        </p:sp>
        <p:sp>
          <p:nvSpPr>
            <p:cNvPr id="68" name="Text 47"/>
            <p:cNvSpPr txBox="1"/>
            <p:nvPr/>
          </p:nvSpPr>
          <p:spPr>
            <a:xfrm>
              <a:off x="7946018" y="7465974"/>
              <a:ext cx="193304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이미지(PNG) / 데이터(CSV)</a:t>
              </a:r>
              <a:endParaRPr lang="en-US" sz="1200" dirty="0"/>
            </a:p>
          </p:txBody>
        </p:sp>
      </p:grpSp>
      <p:pic>
        <p:nvPicPr>
          <p:cNvPr id="70" name="Image 4" descr="preencoded.png">
            <a:extLst>
              <a:ext uri="{FF2B5EF4-FFF2-40B4-BE49-F238E27FC236}">
                <a16:creationId xmlns:a16="http://schemas.microsoft.com/office/drawing/2014/main" id="{8295F3A4-1405-4B60-84ED-D728781F4D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43976" b="-43976"/>
          <a:stretch/>
        </p:blipFill>
        <p:spPr>
          <a:xfrm>
            <a:off x="749051" y="4678383"/>
            <a:ext cx="75895" cy="1519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34225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Mtb-Inhibitor Finder AI 플랫폼의 핵심 기능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0798" y="418795"/>
            <a:ext cx="304495" cy="304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6402" y="1221467"/>
            <a:ext cx="5505602" cy="2643530"/>
          </a:xfrm>
          <a:prstGeom prst="roundRect">
            <a:avLst>
              <a:gd name="adj" fmla="val 78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6402" y="1221467"/>
            <a:ext cx="38405" cy="2643530"/>
          </a:xfrm>
          <a:prstGeom prst="roundRect">
            <a:avLst>
              <a:gd name="adj" fmla="val 6105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52398" y="1473842"/>
            <a:ext cx="4515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SMILES 파싱 및 분자구조 렌더링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52398" y="1769193"/>
            <a:ext cx="4515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Chemical Structure Analysis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3408" y="1982593"/>
            <a:ext cx="499079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화합물의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SMILES 문자열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입력받아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 구조를 파싱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 구조식을 시각적으로 렌더링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2420323"/>
            <a:ext cx="133502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72006" y="2401120"/>
            <a:ext cx="3787365" cy="2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 기반 SMILES 유효성 검증 및 분자 객체 생성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2668125"/>
            <a:ext cx="133502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72006" y="2648923"/>
            <a:ext cx="3656437" cy="1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 분자 구조 이미지 자동 생성 및 웹 UI 표시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2915927"/>
            <a:ext cx="133502" cy="1335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72007" y="2896725"/>
            <a:ext cx="2926994" cy="193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오류 시 실시간 피드백 및 예시 제공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43407" y="3144527"/>
            <a:ext cx="5009998" cy="590702"/>
          </a:xfrm>
          <a:prstGeom prst="roundRect">
            <a:avLst>
              <a:gd name="adj" fmla="val 9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66851" y="3248769"/>
            <a:ext cx="4953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866851" y="3444451"/>
            <a:ext cx="4877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 Chem.MolFromSmiles / Draw.MolToImage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10605" y="1221467"/>
            <a:ext cx="5505602" cy="2643530"/>
          </a:xfrm>
          <a:prstGeom prst="roundRect">
            <a:avLst>
              <a:gd name="adj" fmla="val 78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10605" y="1221467"/>
            <a:ext cx="38405" cy="2643530"/>
          </a:xfrm>
          <a:prstGeom prst="roundRect">
            <a:avLst>
              <a:gd name="adj" fmla="val 6105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086600" y="1473842"/>
            <a:ext cx="4515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C1-C13 레이더 차트 예측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7086600" y="1769193"/>
            <a:ext cx="4515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 of Action Prediction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476695" y="2007965"/>
            <a:ext cx="5086807" cy="303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13개 기능적 유전자 클러스터(COG)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저해 확률을 예측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레이더 차트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시각화합니다.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76695" y="2447678"/>
            <a:ext cx="133502" cy="1335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705295" y="2429390"/>
            <a:ext cx="3565246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D-MPNN 모델 기반 클러스터별 저해 활성 확률 산출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76695" y="2695480"/>
            <a:ext cx="133502" cy="1335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705295" y="2676278"/>
            <a:ext cx="374821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13축 레이더 차트로 작용기전 프로파일 시각화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76695" y="2943283"/>
            <a:ext cx="133502" cy="13350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705294" y="2924080"/>
            <a:ext cx="3432127" cy="20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클러스터 호버 시 생물학적 기능 툴팁 표시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476695" y="3171883"/>
            <a:ext cx="5009998" cy="590702"/>
          </a:xfrm>
          <a:prstGeom prst="roundRect">
            <a:avLst>
              <a:gd name="adj" fmla="val 9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6601054" y="3277039"/>
            <a:ext cx="4953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형식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6601054" y="3471806"/>
            <a:ext cx="4877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C1~C13 확률 값 (0~1) + 인터랙티브 차트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476402" y="4023095"/>
            <a:ext cx="5505602" cy="2643530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476402" y="4023095"/>
            <a:ext cx="38405" cy="2643530"/>
          </a:xfrm>
          <a:prstGeom prst="roundRect">
            <a:avLst>
              <a:gd name="adj" fmla="val 6370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6"/>
          <a:srcRect l="-607" r="-607"/>
          <a:stretch/>
        </p:blipFill>
        <p:spPr>
          <a:xfrm>
            <a:off x="785470" y="4360508"/>
            <a:ext cx="390449" cy="3429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352398" y="4275469"/>
            <a:ext cx="45912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약물성 주요 지표 분석</a:t>
            </a:r>
            <a:endParaRPr lang="en-US" sz="2000" dirty="0"/>
          </a:p>
        </p:txBody>
      </p:sp>
      <p:sp>
        <p:nvSpPr>
          <p:cNvPr id="39" name="Text 29"/>
          <p:cNvSpPr txBox="1"/>
          <p:nvPr/>
        </p:nvSpPr>
        <p:spPr>
          <a:xfrm>
            <a:off x="1352398" y="4570820"/>
            <a:ext cx="4515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Drug-likeness Properties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731006" y="4808935"/>
            <a:ext cx="50868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Lipinski's Rule of Five 기반 약물성 지표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자동 계산하여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화합물의 생체이용률 가능성을 평가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</a:t>
            </a:r>
            <a:endParaRPr lang="en-US" sz="12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5278395"/>
            <a:ext cx="133502" cy="13350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72006" y="5259194"/>
            <a:ext cx="2279193" cy="15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분자량(MW)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500 Da 이하 권장</a:t>
            </a:r>
            <a:endParaRPr lang="en-US" sz="12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5526197"/>
            <a:ext cx="133502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972006" y="5506995"/>
            <a:ext cx="2358215" cy="138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LogP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지질 친화성 (0~5 이상적)</a:t>
            </a:r>
            <a:endParaRPr lang="en-US" sz="12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5774000"/>
            <a:ext cx="133502" cy="13350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972007" y="5754797"/>
            <a:ext cx="2456992" cy="20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HBD/HBA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수소결합 주개/받개 개수</a:t>
            </a:r>
            <a:endParaRPr lang="en-US" sz="12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6020888"/>
            <a:ext cx="133502" cy="133502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972007" y="6002600"/>
            <a:ext cx="2456992" cy="20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TPSA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극성 표면적 (막 투과성 지표)</a:t>
            </a:r>
            <a:endParaRPr lang="en-US" sz="1200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407" y="6249488"/>
            <a:ext cx="5009998" cy="219456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743407" y="6249488"/>
            <a:ext cx="501091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 Descriptors Module</a:t>
            </a:r>
            <a:endParaRPr lang="en-US" sz="1100" dirty="0"/>
          </a:p>
        </p:txBody>
      </p:sp>
      <p:sp>
        <p:nvSpPr>
          <p:cNvPr id="52" name="Shape 37"/>
          <p:cNvSpPr/>
          <p:nvPr/>
        </p:nvSpPr>
        <p:spPr>
          <a:xfrm>
            <a:off x="6210605" y="4011806"/>
            <a:ext cx="5505602" cy="2654819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38"/>
          <p:cNvSpPr/>
          <p:nvPr/>
        </p:nvSpPr>
        <p:spPr>
          <a:xfrm>
            <a:off x="6210605" y="4011802"/>
            <a:ext cx="38405" cy="2654819"/>
          </a:xfrm>
          <a:prstGeom prst="roundRect">
            <a:avLst>
              <a:gd name="adj" fmla="val 63704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43446" y="4349219"/>
            <a:ext cx="342900" cy="342900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7086600" y="4264180"/>
            <a:ext cx="45912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내보내기</a:t>
            </a:r>
            <a:endParaRPr lang="en-US" sz="2000" dirty="0"/>
          </a:p>
        </p:txBody>
      </p:sp>
      <p:sp>
        <p:nvSpPr>
          <p:cNvPr id="56" name="Text 40"/>
          <p:cNvSpPr txBox="1"/>
          <p:nvPr/>
        </p:nvSpPr>
        <p:spPr>
          <a:xfrm>
            <a:off x="7086600" y="4559531"/>
            <a:ext cx="4515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Export &amp; Documentation</a:t>
            </a:r>
            <a:endParaRPr lang="en-US" sz="1200" dirty="0"/>
          </a:p>
        </p:txBody>
      </p:sp>
      <p:sp>
        <p:nvSpPr>
          <p:cNvPr id="57" name="Text 41"/>
          <p:cNvSpPr txBox="1"/>
          <p:nvPr/>
        </p:nvSpPr>
        <p:spPr>
          <a:xfrm>
            <a:off x="6476695" y="4774415"/>
            <a:ext cx="5201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결과와 시각화 차트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다양한 형식으로 내보내어 </a:t>
            </a:r>
            <a:r>
              <a:rPr lang="en-US" sz="1200" b="1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 및 공유를 지원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</a:t>
            </a:r>
            <a:endParaRPr lang="en-US" sz="1200" dirty="0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76695" y="5238016"/>
            <a:ext cx="133502" cy="133502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6705295" y="5194834"/>
            <a:ext cx="3373220" cy="245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내보내기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레이더 차트를 PNG 형식으로 저장</a:t>
            </a:r>
            <a:endParaRPr lang="en-US" sz="1200" dirty="0"/>
          </a:p>
        </p:txBody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76695" y="5485819"/>
            <a:ext cx="133502" cy="133502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6705294" y="5466616"/>
            <a:ext cx="3917549" cy="169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내보내기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예측 확률 및 물성 지표를 CSV 파일로 저장</a:t>
            </a:r>
            <a:endParaRPr lang="en-US" sz="1200" dirty="0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76695" y="5733621"/>
            <a:ext cx="133502" cy="133502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6705295" y="5714419"/>
            <a:ext cx="2934309" cy="193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 구조 이미지 별도 다운로드 가능</a:t>
            </a:r>
            <a:endParaRPr lang="en-US" sz="1200" dirty="0"/>
          </a:p>
        </p:txBody>
      </p:sp>
      <p:sp>
        <p:nvSpPr>
          <p:cNvPr id="64" name="Shape 45"/>
          <p:cNvSpPr/>
          <p:nvPr/>
        </p:nvSpPr>
        <p:spPr>
          <a:xfrm>
            <a:off x="6476695" y="5962221"/>
            <a:ext cx="5009998" cy="590702"/>
          </a:xfrm>
          <a:prstGeom prst="roundRect">
            <a:avLst>
              <a:gd name="adj" fmla="val 9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46"/>
          <p:cNvSpPr txBox="1"/>
          <p:nvPr/>
        </p:nvSpPr>
        <p:spPr>
          <a:xfrm>
            <a:off x="6601054" y="6066463"/>
            <a:ext cx="4953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형식</a:t>
            </a:r>
            <a:endParaRPr lang="en-US" sz="1100" dirty="0"/>
          </a:p>
        </p:txBody>
      </p:sp>
      <p:sp>
        <p:nvSpPr>
          <p:cNvPr id="66" name="Text 47"/>
          <p:cNvSpPr txBox="1"/>
          <p:nvPr/>
        </p:nvSpPr>
        <p:spPr>
          <a:xfrm>
            <a:off x="6601054" y="6262144"/>
            <a:ext cx="4877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PNG (차트/분자구조) / CSV (데이터)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3427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아키텍처(전체)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3738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연구 → 솔루션 구현: 8단계 통합 파이프라인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11373307" y="418795"/>
            <a:ext cx="342900" cy="30449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6402" y="1306678"/>
            <a:ext cx="11239805" cy="5361127"/>
          </a:xfrm>
          <a:prstGeom prst="roundRect">
            <a:avLst>
              <a:gd name="adj" fmla="val 28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05002" y="1906524"/>
            <a:ext cx="1078260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05001" y="1535278"/>
            <a:ext cx="3510383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8단계 통합 파이프라인 아키텍처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049275" y="1606601"/>
            <a:ext cx="114300" cy="1143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1182" y="1578254"/>
            <a:ext cx="1539560" cy="194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연구 (Step 1-4)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802591" y="1606601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974497" y="1578254"/>
            <a:ext cx="1539559" cy="194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구현 (Step 5-8)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05002" y="2078431"/>
            <a:ext cx="10896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📘 논문 연구 단계 (Research Phase)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05002" y="2359152"/>
            <a:ext cx="5219395" cy="705002"/>
          </a:xfrm>
          <a:prstGeom prst="roundRect">
            <a:avLst>
              <a:gd name="adj" fmla="val 10516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75995" y="2556662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89381" y="2609698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295705" y="2511857"/>
            <a:ext cx="4334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종간 유전자 상동성 분석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295705" y="2749601"/>
            <a:ext cx="4258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BLAST 기반 Mtb ↔ E.coli 유전자 매핑 (122개 상동 유전자)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5553151" y="2604211"/>
            <a:ext cx="200254" cy="2286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019495" y="2630729"/>
            <a:ext cx="152705" cy="171907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267298" y="2359152"/>
            <a:ext cx="5219395" cy="705002"/>
          </a:xfrm>
          <a:prstGeom prst="roundRect">
            <a:avLst>
              <a:gd name="adj" fmla="val 10516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39205" y="2556662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551676" y="2609698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2511857"/>
            <a:ext cx="4277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계층적 군집화 및 기전 정의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6858000" y="2749601"/>
            <a:ext cx="4200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GOSemSim + Dynamic tree cut → 13개 COG 클러스터 확정</a:t>
            </a:r>
            <a:endParaRPr lang="en-US" sz="1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11058754" y="2604211"/>
            <a:ext cx="256946" cy="2286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05002" y="3154680"/>
            <a:ext cx="5219395" cy="705002"/>
          </a:xfrm>
          <a:prstGeom prst="roundRect">
            <a:avLst>
              <a:gd name="adj" fmla="val 10516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75995" y="3352190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89381" y="340431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1295705" y="3307385"/>
            <a:ext cx="4305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CGIP 피처 엔지니어링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1295705" y="3545129"/>
            <a:ext cx="4229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클러스터별 Z-score 중앙값 계산 및 활성 라벨링 (Z ≤ -4)</a:t>
            </a:r>
            <a:endParaRPr lang="en-US" sz="12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24805" y="3399739"/>
            <a:ext cx="228600" cy="228600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019495" y="3426257"/>
            <a:ext cx="152705" cy="171907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6267298" y="3154680"/>
            <a:ext cx="5219395" cy="705002"/>
          </a:xfrm>
          <a:prstGeom prst="roundRect">
            <a:avLst>
              <a:gd name="adj" fmla="val 10516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439205" y="3352190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551676" y="340431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6858000" y="3307385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D-MPNN 모델 학습</a:t>
            </a:r>
            <a:endParaRPr lang="en-US" sz="1600" dirty="0"/>
          </a:p>
        </p:txBody>
      </p:sp>
      <p:sp>
        <p:nvSpPr>
          <p:cNvPr id="44" name="Text 35"/>
          <p:cNvSpPr txBox="1"/>
          <p:nvPr/>
        </p:nvSpPr>
        <p:spPr>
          <a:xfrm>
            <a:off x="6858000" y="3545129"/>
            <a:ext cx="4229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47K 화합물 학습 + RDKit 기술자 → AUROC 0.82 달성</a:t>
            </a:r>
            <a:endParaRPr lang="en-US" sz="12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087100" y="3399739"/>
            <a:ext cx="228600" cy="22860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705002" y="4203352"/>
            <a:ext cx="1078260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5305191" y="4045708"/>
            <a:ext cx="1951295" cy="339428"/>
          </a:xfrm>
          <a:prstGeom prst="roundRect">
            <a:avLst>
              <a:gd name="adj" fmla="val 12779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5387289" y="4157022"/>
            <a:ext cx="1818742" cy="155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연구 → 솔루션 구현</a:t>
            </a:r>
            <a:endParaRPr lang="en-US" sz="1400" dirty="0"/>
          </a:p>
        </p:txBody>
      </p:sp>
      <p:sp>
        <p:nvSpPr>
          <p:cNvPr id="49" name="Text 39"/>
          <p:cNvSpPr txBox="1"/>
          <p:nvPr/>
        </p:nvSpPr>
        <p:spPr>
          <a:xfrm>
            <a:off x="705002" y="4536926"/>
            <a:ext cx="10896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💻 솔루션 구현 단계 (Solution Phase)</a:t>
            </a:r>
            <a:endParaRPr lang="en-US" sz="1400" dirty="0"/>
          </a:p>
        </p:txBody>
      </p:sp>
      <p:sp>
        <p:nvSpPr>
          <p:cNvPr id="50" name="Shape 40"/>
          <p:cNvSpPr/>
          <p:nvPr/>
        </p:nvSpPr>
        <p:spPr>
          <a:xfrm>
            <a:off x="705002" y="4817647"/>
            <a:ext cx="5219395" cy="705002"/>
          </a:xfrm>
          <a:prstGeom prst="roundRect">
            <a:avLst>
              <a:gd name="adj" fmla="val 10516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875995" y="5015157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989381" y="5068193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43"/>
          <p:cNvSpPr txBox="1"/>
          <p:nvPr/>
        </p:nvSpPr>
        <p:spPr>
          <a:xfrm>
            <a:off x="1295705" y="4970352"/>
            <a:ext cx="4305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배포 및 추론 엔진</a:t>
            </a:r>
            <a:endParaRPr lang="en-US" sz="1600" dirty="0"/>
          </a:p>
        </p:txBody>
      </p:sp>
      <p:sp>
        <p:nvSpPr>
          <p:cNvPr id="54" name="Text 44"/>
          <p:cNvSpPr txBox="1"/>
          <p:nvPr/>
        </p:nvSpPr>
        <p:spPr>
          <a:xfrm>
            <a:off x="1295705" y="5208096"/>
            <a:ext cx="4229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학습된 .pt 체크포인트 로드 + 임계값 적용 (Youden's J)</a:t>
            </a:r>
            <a:endParaRPr lang="en-US" sz="12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524805" y="5063621"/>
            <a:ext cx="228600" cy="228600"/>
          </a:xfrm>
          <a:prstGeom prst="rect">
            <a:avLst/>
          </a:prstGeom>
        </p:spPr>
      </p:pic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019495" y="5089224"/>
            <a:ext cx="152705" cy="171907"/>
          </a:xfrm>
          <a:prstGeom prst="rect">
            <a:avLst/>
          </a:prstGeom>
        </p:spPr>
      </p:pic>
      <p:sp>
        <p:nvSpPr>
          <p:cNvPr id="57" name="Shape 45"/>
          <p:cNvSpPr/>
          <p:nvPr/>
        </p:nvSpPr>
        <p:spPr>
          <a:xfrm>
            <a:off x="6267298" y="4817647"/>
            <a:ext cx="5219395" cy="705002"/>
          </a:xfrm>
          <a:prstGeom prst="roundRect">
            <a:avLst>
              <a:gd name="adj" fmla="val 10516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6439205" y="5015157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6551676" y="5068193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600" dirty="0"/>
          </a:p>
        </p:txBody>
      </p:sp>
      <p:sp>
        <p:nvSpPr>
          <p:cNvPr id="60" name="Text 48"/>
          <p:cNvSpPr txBox="1"/>
          <p:nvPr/>
        </p:nvSpPr>
        <p:spPr>
          <a:xfrm>
            <a:off x="6858000" y="4970352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백엔드 개발</a:t>
            </a:r>
            <a:endParaRPr lang="en-US" sz="1600" dirty="0"/>
          </a:p>
        </p:txBody>
      </p:sp>
      <p:sp>
        <p:nvSpPr>
          <p:cNvPr id="61" name="Text 49"/>
          <p:cNvSpPr txBox="1"/>
          <p:nvPr/>
        </p:nvSpPr>
        <p:spPr>
          <a:xfrm>
            <a:off x="6858000" y="5208096"/>
            <a:ext cx="4229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model_service.py + main.py → /predict, /properties API</a:t>
            </a:r>
            <a:endParaRPr lang="en-US" sz="1200" dirty="0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87100" y="5063621"/>
            <a:ext cx="228600" cy="228600"/>
          </a:xfrm>
          <a:prstGeom prst="rect">
            <a:avLst/>
          </a:prstGeom>
        </p:spPr>
      </p:pic>
      <p:sp>
        <p:nvSpPr>
          <p:cNvPr id="63" name="Shape 50"/>
          <p:cNvSpPr/>
          <p:nvPr/>
        </p:nvSpPr>
        <p:spPr>
          <a:xfrm>
            <a:off x="705002" y="5613175"/>
            <a:ext cx="5219395" cy="705002"/>
          </a:xfrm>
          <a:prstGeom prst="roundRect">
            <a:avLst>
              <a:gd name="adj" fmla="val 10516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4" name="Shape 51"/>
          <p:cNvSpPr/>
          <p:nvPr/>
        </p:nvSpPr>
        <p:spPr>
          <a:xfrm>
            <a:off x="875995" y="5810685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2"/>
          <p:cNvSpPr txBox="1"/>
          <p:nvPr/>
        </p:nvSpPr>
        <p:spPr>
          <a:xfrm>
            <a:off x="989381" y="586372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600" dirty="0"/>
          </a:p>
        </p:txBody>
      </p:sp>
      <p:sp>
        <p:nvSpPr>
          <p:cNvPr id="66" name="Text 53"/>
          <p:cNvSpPr txBox="1"/>
          <p:nvPr/>
        </p:nvSpPr>
        <p:spPr>
          <a:xfrm>
            <a:off x="1295705" y="5765880"/>
            <a:ext cx="4305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UI 개발</a:t>
            </a:r>
            <a:endParaRPr lang="en-US" sz="1600" dirty="0"/>
          </a:p>
        </p:txBody>
      </p:sp>
      <p:sp>
        <p:nvSpPr>
          <p:cNvPr id="67" name="Text 54"/>
          <p:cNvSpPr txBox="1"/>
          <p:nvPr/>
        </p:nvSpPr>
        <p:spPr>
          <a:xfrm>
            <a:off x="1295705" y="6003624"/>
            <a:ext cx="4229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index.html + Plotly.js → 레이더 차트 + 약물성 지표 시각화</a:t>
            </a:r>
            <a:endParaRPr lang="en-US" sz="1200" dirty="0"/>
          </a:p>
        </p:txBody>
      </p:sp>
      <p:pic>
        <p:nvPicPr>
          <p:cNvPr id="68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24805" y="5858234"/>
            <a:ext cx="228600" cy="228600"/>
          </a:xfrm>
          <a:prstGeom prst="rect">
            <a:avLst/>
          </a:prstGeom>
        </p:spPr>
      </p:pic>
      <p:pic>
        <p:nvPicPr>
          <p:cNvPr id="69" name="Image 1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019495" y="5884752"/>
            <a:ext cx="152705" cy="171907"/>
          </a:xfrm>
          <a:prstGeom prst="rect">
            <a:avLst/>
          </a:prstGeom>
        </p:spPr>
      </p:pic>
      <p:sp>
        <p:nvSpPr>
          <p:cNvPr id="70" name="Shape 55"/>
          <p:cNvSpPr/>
          <p:nvPr/>
        </p:nvSpPr>
        <p:spPr>
          <a:xfrm>
            <a:off x="6267298" y="5613175"/>
            <a:ext cx="5219395" cy="705002"/>
          </a:xfrm>
          <a:prstGeom prst="roundRect">
            <a:avLst>
              <a:gd name="adj" fmla="val 10516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1" name="Shape 56"/>
          <p:cNvSpPr/>
          <p:nvPr/>
        </p:nvSpPr>
        <p:spPr>
          <a:xfrm>
            <a:off x="6439205" y="5810685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57"/>
          <p:cNvSpPr txBox="1"/>
          <p:nvPr/>
        </p:nvSpPr>
        <p:spPr>
          <a:xfrm>
            <a:off x="6551676" y="5863721"/>
            <a:ext cx="162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600" dirty="0"/>
          </a:p>
        </p:txBody>
      </p:sp>
      <p:sp>
        <p:nvSpPr>
          <p:cNvPr id="73" name="Text 58"/>
          <p:cNvSpPr txBox="1"/>
          <p:nvPr/>
        </p:nvSpPr>
        <p:spPr>
          <a:xfrm>
            <a:off x="6858000" y="5765880"/>
            <a:ext cx="4305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스크리닝 서비스</a:t>
            </a:r>
            <a:endParaRPr lang="en-US" sz="1600" dirty="0"/>
          </a:p>
        </p:txBody>
      </p:sp>
      <p:sp>
        <p:nvSpPr>
          <p:cNvPr id="74" name="Text 59"/>
          <p:cNvSpPr txBox="1"/>
          <p:nvPr/>
        </p:nvSpPr>
        <p:spPr>
          <a:xfrm>
            <a:off x="6858000" y="6003624"/>
            <a:ext cx="4229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Mtb-Inhibitor Finder AI 플랫폼 최종 배포 및 운영</a:t>
            </a:r>
            <a:endParaRPr lang="en-US" sz="1200" dirty="0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087100" y="5858234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24588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아키텍처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27093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+ model_service.py 구조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0798" y="418795"/>
            <a:ext cx="304495" cy="304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6402" y="1390802"/>
            <a:ext cx="5477256" cy="4634078"/>
          </a:xfrm>
          <a:prstGeom prst="roundRect">
            <a:avLst>
              <a:gd name="adj" fmla="val 51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6402" y="1390802"/>
            <a:ext cx="38405" cy="4634078"/>
          </a:xfrm>
          <a:prstGeom prst="roundRect">
            <a:avLst>
              <a:gd name="adj" fmla="val 4921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775" r="-775"/>
          <a:stretch/>
        </p:blipFill>
        <p:spPr>
          <a:xfrm>
            <a:off x="724205" y="1678838"/>
            <a:ext cx="314554" cy="2478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52144" y="1657807"/>
            <a:ext cx="2085746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엔드포인트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724205" y="2124151"/>
            <a:ext cx="5020056" cy="733349"/>
          </a:xfrm>
          <a:prstGeom prst="roundRect">
            <a:avLst>
              <a:gd name="adj" fmla="val 9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31036" y="2247595"/>
            <a:ext cx="42848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2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" y="2266798"/>
            <a:ext cx="476402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6851" y="2266798"/>
            <a:ext cx="4764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866851" y="2557577"/>
            <a:ext cx="4924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SMILES 입력받아 13개 클러스터별 저해 확률 예측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4205" y="2967228"/>
            <a:ext cx="5020056" cy="733349"/>
          </a:xfrm>
          <a:prstGeom prst="roundRect">
            <a:avLst>
              <a:gd name="adj" fmla="val 9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431036" y="3090672"/>
            <a:ext cx="42848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/properties</a:t>
            </a:r>
            <a:endParaRPr lang="en-US" sz="2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" y="3109874"/>
            <a:ext cx="476402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6851" y="3109874"/>
            <a:ext cx="4764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866851" y="3400654"/>
            <a:ext cx="48490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SMILES로부터 약물성 지표(MW, LogP, TPSA 등) 계산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 t="-25301" b="-25301"/>
          <a:stretch/>
        </p:blipFill>
        <p:spPr>
          <a:xfrm>
            <a:off x="724205" y="3866998"/>
            <a:ext cx="75895" cy="1143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5197" y="3810305"/>
            <a:ext cx="3580183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형식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JSON {"smiles": "화합물 SMILES 문자열"}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 t="-25301" b="-25301"/>
          <a:stretch/>
        </p:blipFill>
        <p:spPr>
          <a:xfrm>
            <a:off x="724205" y="4134002"/>
            <a:ext cx="75895" cy="1143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95197" y="4076395"/>
            <a:ext cx="335617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 형식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JSON (예측 확률 배열 + COG 매핑 정보)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rcRect t="-25301" b="-25301"/>
          <a:stretch/>
        </p:blipFill>
        <p:spPr>
          <a:xfrm>
            <a:off x="724205" y="4401007"/>
            <a:ext cx="75895" cy="1143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95197" y="4343400"/>
            <a:ext cx="3688091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 처리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HTTPException으로 유효성 검증 실패 응답</a:t>
            </a:r>
            <a:endParaRPr lang="en-US" sz="12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5" y="4610405"/>
            <a:ext cx="609905" cy="25694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24205" y="4610405"/>
            <a:ext cx="6099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11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4518" y="4610405"/>
            <a:ext cx="629107" cy="25694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404518" y="4610405"/>
            <a:ext cx="629107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Uvicorn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4034" y="4610405"/>
            <a:ext cx="1133856" cy="25694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2104034" y="4610405"/>
            <a:ext cx="1133856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CORS Middleware</a:t>
            </a:r>
            <a:endParaRPr lang="en-US" sz="1100" dirty="0"/>
          </a:p>
        </p:txBody>
      </p:sp>
      <p:sp>
        <p:nvSpPr>
          <p:cNvPr id="36" name="Shape 24"/>
          <p:cNvSpPr/>
          <p:nvPr/>
        </p:nvSpPr>
        <p:spPr>
          <a:xfrm>
            <a:off x="6238344" y="1390802"/>
            <a:ext cx="5477256" cy="4634078"/>
          </a:xfrm>
          <a:prstGeom prst="roundRect">
            <a:avLst>
              <a:gd name="adj" fmla="val 108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6238344" y="1390802"/>
            <a:ext cx="38405" cy="4634078"/>
          </a:xfrm>
          <a:prstGeom prst="roundRect">
            <a:avLst>
              <a:gd name="adj" fmla="val 7160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0"/>
          <a:srcRect l="-775" r="-775"/>
          <a:stretch/>
        </p:blipFill>
        <p:spPr>
          <a:xfrm>
            <a:off x="6486147" y="1678838"/>
            <a:ext cx="314554" cy="247802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914086" y="1657807"/>
            <a:ext cx="3286354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model_service.py 핵심 로직</a:t>
            </a:r>
            <a:endParaRPr lang="en-US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6"/>
          <a:srcRect t="-25301" b="-25301"/>
          <a:stretch/>
        </p:blipFill>
        <p:spPr>
          <a:xfrm>
            <a:off x="6486147" y="2181758"/>
            <a:ext cx="75895" cy="114300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6657139" y="2124151"/>
            <a:ext cx="4022149" cy="195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MtbModelService 클래스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모델 로드, 예측, 결과 포맷팅 통합</a:t>
            </a:r>
            <a:endParaRPr lang="en-US" sz="120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6"/>
          <a:srcRect t="-25301" b="-25301"/>
          <a:stretch/>
        </p:blipFill>
        <p:spPr>
          <a:xfrm>
            <a:off x="6486147" y="2447848"/>
            <a:ext cx="75895" cy="11430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6657139" y="2391156"/>
            <a:ext cx="328269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TASK_NAMES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C1~C13 클러스터 명칭 정의</a:t>
            </a:r>
            <a:endParaRPr lang="en-US" sz="1200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6"/>
          <a:srcRect t="-25301" b="-25301"/>
          <a:stretch/>
        </p:blipFill>
        <p:spPr>
          <a:xfrm>
            <a:off x="6486147" y="2714853"/>
            <a:ext cx="75895" cy="11430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6657140" y="2658160"/>
            <a:ext cx="4022148" cy="199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COG_MAPPING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각 클러스터의 생물학적 기능 한글명 매핑</a:t>
            </a:r>
            <a:endParaRPr lang="en-US" sz="1200" dirty="0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6"/>
          <a:srcRect t="-25301" b="-25301"/>
          <a:stretch/>
        </p:blipFill>
        <p:spPr>
          <a:xfrm>
            <a:off x="6486147" y="2981858"/>
            <a:ext cx="75895" cy="114300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6657140" y="2924251"/>
            <a:ext cx="3633788" cy="195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체크포인트 로드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Torch 안전 로더로 .pt 모델 파일 로드</a:t>
            </a:r>
            <a:endParaRPr lang="en-US" sz="1200" dirty="0"/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6"/>
          <a:srcRect t="-25301" b="-25301"/>
          <a:stretch/>
        </p:blipFill>
        <p:spPr>
          <a:xfrm>
            <a:off x="6486147" y="3247948"/>
            <a:ext cx="75895" cy="114300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6657139" y="3185644"/>
            <a:ext cx="28819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스케일러 활용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학습 시 정규화 파라미터 복원</a:t>
            </a:r>
            <a:endParaRPr lang="en-US" sz="1200" dirty="0"/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147" y="3458260"/>
            <a:ext cx="638251" cy="256946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6486147" y="3458260"/>
            <a:ext cx="638251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</a:t>
            </a:r>
            <a:endParaRPr lang="en-US" sz="11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99379" y="3458260"/>
            <a:ext cx="771754" cy="256946"/>
          </a:xfrm>
          <a:prstGeom prst="rect">
            <a:avLst/>
          </a:prstGeom>
        </p:spPr>
      </p:pic>
      <p:sp>
        <p:nvSpPr>
          <p:cNvPr id="54" name="Text 34"/>
          <p:cNvSpPr/>
          <p:nvPr/>
        </p:nvSpPr>
        <p:spPr>
          <a:xfrm>
            <a:off x="7199379" y="3458260"/>
            <a:ext cx="771754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Chemprop</a:t>
            </a:r>
            <a:endParaRPr lang="en-US" sz="1100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39712" y="3458260"/>
            <a:ext cx="523951" cy="256946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8039712" y="3458260"/>
            <a:ext cx="523951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3381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구조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3784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index.html + Tailwind CSS + Plotly.js 아키텍처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0798" y="418795"/>
            <a:ext cx="304495" cy="304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6907" y="1478584"/>
            <a:ext cx="5477256" cy="4414215"/>
          </a:xfrm>
          <a:prstGeom prst="roundRect">
            <a:avLst>
              <a:gd name="adj" fmla="val 67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06907" y="1478584"/>
            <a:ext cx="38405" cy="4414215"/>
          </a:xfrm>
          <a:prstGeom prst="roundRect">
            <a:avLst>
              <a:gd name="adj" fmla="val 5652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775" r="-775"/>
          <a:stretch/>
        </p:blipFill>
        <p:spPr>
          <a:xfrm>
            <a:off x="654710" y="1766621"/>
            <a:ext cx="314554" cy="2478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82649" y="1745590"/>
            <a:ext cx="237674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구조 및 스타일링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54710" y="2211934"/>
            <a:ext cx="5020056" cy="629107"/>
          </a:xfrm>
          <a:prstGeom prst="roundRect">
            <a:avLst>
              <a:gd name="adj" fmla="val 132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8679" y="2433219"/>
            <a:ext cx="142646" cy="1901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96949" y="2335378"/>
            <a:ext cx="44485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96949" y="2554834"/>
            <a:ext cx="4524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페이지 애플리케이션(SPA) 구조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54710" y="2949855"/>
            <a:ext cx="5020056" cy="629107"/>
          </a:xfrm>
          <a:prstGeom prst="roundRect">
            <a:avLst>
              <a:gd name="adj" fmla="val 132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8679" y="3171140"/>
            <a:ext cx="142646" cy="1901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96949" y="3074213"/>
            <a:ext cx="44485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196949" y="3292755"/>
            <a:ext cx="4524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유틸리티 기반 스타일링 프레임워크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25301" b="-25301"/>
          <a:stretch/>
        </p:blipFill>
        <p:spPr>
          <a:xfrm>
            <a:off x="654710" y="3755543"/>
            <a:ext cx="75895" cy="1143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25702" y="3698850"/>
            <a:ext cx="4486961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레이아웃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Flexbox와 Grid로 적응형 UI 구성</a:t>
            </a:r>
            <a:endParaRPr lang="en-US" sz="14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710" y="4221785"/>
            <a:ext cx="580644" cy="25694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54710" y="4221785"/>
            <a:ext cx="581558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HTML5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1249" y="4221785"/>
            <a:ext cx="886054" cy="25694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311249" y="4221785"/>
            <a:ext cx="886054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 CSS</a:t>
            </a:r>
            <a:endParaRPr lang="en-US" sz="12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9540" y="4221785"/>
            <a:ext cx="981151" cy="25694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2269540" y="4221785"/>
            <a:ext cx="981151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Font Awesome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6238037" y="1478585"/>
            <a:ext cx="5477256" cy="4414214"/>
          </a:xfrm>
          <a:prstGeom prst="roundRect">
            <a:avLst>
              <a:gd name="adj" fmla="val 67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6238037" y="1478585"/>
            <a:ext cx="38405" cy="4414214"/>
          </a:xfrm>
          <a:prstGeom prst="roundRect">
            <a:avLst>
              <a:gd name="adj" fmla="val 5652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85840" y="1766621"/>
            <a:ext cx="247802" cy="247802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47941" y="1745589"/>
            <a:ext cx="2147541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 및 인터랙션</a:t>
            </a:r>
            <a:endParaRPr lang="en-US" dirty="0"/>
          </a:p>
        </p:txBody>
      </p:sp>
      <p:sp>
        <p:nvSpPr>
          <p:cNvPr id="36" name="Shape 24"/>
          <p:cNvSpPr/>
          <p:nvPr/>
        </p:nvSpPr>
        <p:spPr>
          <a:xfrm>
            <a:off x="6485840" y="2211933"/>
            <a:ext cx="5020056" cy="629107"/>
          </a:xfrm>
          <a:prstGeom prst="roundRect">
            <a:avLst>
              <a:gd name="adj" fmla="val 132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25"/>
          <p:cNvSpPr txBox="1"/>
          <p:nvPr/>
        </p:nvSpPr>
        <p:spPr>
          <a:xfrm>
            <a:off x="7028079" y="2336292"/>
            <a:ext cx="44485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Plotly.js 레이더 차트</a:t>
            </a:r>
            <a:endParaRPr lang="en-US" sz="1600" dirty="0"/>
          </a:p>
        </p:txBody>
      </p:sp>
      <p:sp>
        <p:nvSpPr>
          <p:cNvPr id="38" name="Text 26"/>
          <p:cNvSpPr txBox="1"/>
          <p:nvPr/>
        </p:nvSpPr>
        <p:spPr>
          <a:xfrm>
            <a:off x="7028079" y="2554833"/>
            <a:ext cx="4524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13축 레이더 차트로 C1-C13 클러스터 시각화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6485840" y="2950769"/>
            <a:ext cx="5020056" cy="629107"/>
          </a:xfrm>
          <a:prstGeom prst="roundRect">
            <a:avLst>
              <a:gd name="adj" fmla="val 132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6685179" y="3172053"/>
            <a:ext cx="171907" cy="190195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7028079" y="3074213"/>
            <a:ext cx="44485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Vanilla JavaScript</a:t>
            </a:r>
            <a:endParaRPr lang="en-US" sz="1600" dirty="0"/>
          </a:p>
        </p:txBody>
      </p:sp>
      <p:sp>
        <p:nvSpPr>
          <p:cNvPr id="42" name="Text 29"/>
          <p:cNvSpPr txBox="1"/>
          <p:nvPr/>
        </p:nvSpPr>
        <p:spPr>
          <a:xfrm>
            <a:off x="7028079" y="3293669"/>
            <a:ext cx="4448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호출, DOM 조작, 이벤트 처리</a:t>
            </a:r>
            <a:endParaRPr lang="en-US" sz="12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7"/>
          <a:srcRect t="-25301" b="-25301"/>
          <a:stretch/>
        </p:blipFill>
        <p:spPr>
          <a:xfrm>
            <a:off x="6485840" y="3746297"/>
            <a:ext cx="75895" cy="11430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6656832" y="3717544"/>
            <a:ext cx="4122927" cy="181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업데이트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Fetch API로 백엔드와 비동기 통신</a:t>
            </a:r>
            <a:endParaRPr lang="en-US" sz="140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7"/>
          <a:srcRect t="-25301" b="-25301"/>
          <a:stretch/>
        </p:blipFill>
        <p:spPr>
          <a:xfrm>
            <a:off x="6485840" y="4012387"/>
            <a:ext cx="75895" cy="11430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6656833" y="3955694"/>
            <a:ext cx="4458207" cy="275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인터랙티브 툴팁</a:t>
            </a: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호버 시 클러스터 상세 정보 표시</a:t>
            </a:r>
            <a:endParaRPr lang="en-US" sz="14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5840" y="4221785"/>
            <a:ext cx="647395" cy="256946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485840" y="4221785"/>
            <a:ext cx="64831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Plotly.js</a:t>
            </a:r>
            <a:endParaRPr lang="en-US" sz="12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01815" y="4221785"/>
            <a:ext cx="705002" cy="256946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7201815" y="4221785"/>
            <a:ext cx="7050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Fetch API</a:t>
            </a:r>
            <a:endParaRPr lang="en-US" sz="12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1798" y="4221785"/>
            <a:ext cx="485546" cy="256946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7981798" y="4221785"/>
            <a:ext cx="486461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ES6+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2924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모듈 설명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325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model_service.py 핵심 구성 요소 및 기능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0798" y="418795"/>
            <a:ext cx="304495" cy="304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6402" y="1390802"/>
            <a:ext cx="4981651" cy="2210105"/>
          </a:xfrm>
          <a:prstGeom prst="roundRect">
            <a:avLst>
              <a:gd name="adj" fmla="val 142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6402" y="1390802"/>
            <a:ext cx="38405" cy="2210105"/>
          </a:xfrm>
          <a:prstGeom prst="roundRect">
            <a:avLst>
              <a:gd name="adj" fmla="val 8210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5002" y="1647749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47901" y="1638605"/>
            <a:ext cx="2758745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TASK_NAMES 상수 정의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705002" y="2057400"/>
            <a:ext cx="4562856" cy="590702"/>
          </a:xfrm>
          <a:prstGeom prst="roundRect">
            <a:avLst>
              <a:gd name="adj" fmla="val 1498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8446" y="2162556"/>
            <a:ext cx="4429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TASK_NAMES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'C1'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'C2'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..., </a:t>
            </a: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'C13'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28446" y="2349094"/>
            <a:ext cx="45061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13개 유전자 클러스터 명칭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25301" b="-25301"/>
          <a:stretch/>
        </p:blipFill>
        <p:spPr>
          <a:xfrm>
            <a:off x="705002" y="2792578"/>
            <a:ext cx="75895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5994" y="2735885"/>
            <a:ext cx="3115733" cy="1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모델 출력의 13개 작업(task) 라벨 정의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 t="-25301" b="-25301"/>
          <a:stretch/>
        </p:blipFill>
        <p:spPr>
          <a:xfrm>
            <a:off x="705002" y="3040380"/>
            <a:ext cx="75895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5995" y="2982773"/>
            <a:ext cx="3029961" cy="204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리스트 ['C1', 'C2', 'C3', ..., 'C13']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 t="-25301" b="-25301"/>
          <a:stretch/>
        </p:blipFill>
        <p:spPr>
          <a:xfrm>
            <a:off x="705002" y="3288182"/>
            <a:ext cx="75895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75994" y="3230575"/>
            <a:ext cx="2953149" cy="213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예측 결과 배열의 인덱스와 클러스터명 매핑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76402" y="3764586"/>
            <a:ext cx="4981651" cy="2749104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76402" y="3764586"/>
            <a:ext cx="38405" cy="2749104"/>
          </a:xfrm>
          <a:prstGeom prst="roundRect">
            <a:avLst>
              <a:gd name="adj" fmla="val 5176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705002" y="4021531"/>
            <a:ext cx="200254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19556" y="4011472"/>
            <a:ext cx="266639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COG_MAPPING 딕셔너리</a:t>
            </a:r>
            <a:endParaRPr lang="en-US" dirty="0"/>
          </a:p>
        </p:txBody>
      </p:sp>
      <p:sp>
        <p:nvSpPr>
          <p:cNvPr id="24" name="Shape 16"/>
          <p:cNvSpPr/>
          <p:nvPr/>
        </p:nvSpPr>
        <p:spPr>
          <a:xfrm>
            <a:off x="705002" y="4431182"/>
            <a:ext cx="4562856" cy="1143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828446" y="4535424"/>
            <a:ext cx="4429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COG_MAPPING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050" dirty="0"/>
          </a:p>
        </p:txBody>
      </p:sp>
      <p:sp>
        <p:nvSpPr>
          <p:cNvPr id="26" name="Text 18"/>
          <p:cNvSpPr txBox="1"/>
          <p:nvPr/>
        </p:nvSpPr>
        <p:spPr>
          <a:xfrm>
            <a:off x="828446" y="4721962"/>
            <a:ext cx="4429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'C1'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'TCA 회로...'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</p:txBody>
      </p:sp>
      <p:sp>
        <p:nvSpPr>
          <p:cNvPr id="27" name="Text 19"/>
          <p:cNvSpPr txBox="1"/>
          <p:nvPr/>
        </p:nvSpPr>
        <p:spPr>
          <a:xfrm>
            <a:off x="828446" y="4908499"/>
            <a:ext cx="4429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'C2'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'번역 및...'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</p:txBody>
      </p:sp>
      <p:sp>
        <p:nvSpPr>
          <p:cNvPr id="28" name="Text 20"/>
          <p:cNvSpPr txBox="1"/>
          <p:nvPr/>
        </p:nvSpPr>
        <p:spPr>
          <a:xfrm>
            <a:off x="828446" y="5095951"/>
            <a:ext cx="4429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828446" y="5282489"/>
            <a:ext cx="4429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 t="-25301" b="-25301"/>
          <a:stretch/>
        </p:blipFill>
        <p:spPr>
          <a:xfrm>
            <a:off x="705002" y="5725973"/>
            <a:ext cx="75895" cy="1143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75995" y="5669280"/>
            <a:ext cx="26517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클러스터 ID → 생물학적 기능명 매핑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rcRect t="-25301" b="-25301"/>
          <a:stretch/>
        </p:blipFill>
        <p:spPr>
          <a:xfrm>
            <a:off x="705002" y="5973775"/>
            <a:ext cx="75895" cy="1143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75995" y="5916168"/>
            <a:ext cx="26517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UI에서 사용자에게 클러스터 설명 제공</a:t>
            </a:r>
            <a:endParaRPr lang="en-US" sz="11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7"/>
          <a:srcRect t="-25301" b="-25301"/>
          <a:stretch/>
        </p:blipFill>
        <p:spPr>
          <a:xfrm>
            <a:off x="705002" y="6221578"/>
            <a:ext cx="75895" cy="1143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75995" y="6163970"/>
            <a:ext cx="242590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'C1' → 'TCA 회로 및 중심 탄소 대사'</a:t>
            </a:r>
            <a:endParaRPr lang="en-US" sz="1100" dirty="0"/>
          </a:p>
        </p:txBody>
      </p:sp>
      <p:sp>
        <p:nvSpPr>
          <p:cNvPr id="54" name="Shape 37"/>
          <p:cNvSpPr/>
          <p:nvPr/>
        </p:nvSpPr>
        <p:spPr>
          <a:xfrm>
            <a:off x="5740603" y="1390801"/>
            <a:ext cx="5982005" cy="5048403"/>
          </a:xfrm>
          <a:prstGeom prst="roundRect">
            <a:avLst>
              <a:gd name="adj" fmla="val 42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38"/>
          <p:cNvSpPr/>
          <p:nvPr/>
        </p:nvSpPr>
        <p:spPr>
          <a:xfrm>
            <a:off x="5740603" y="1390801"/>
            <a:ext cx="38405" cy="5048403"/>
          </a:xfrm>
          <a:prstGeom prst="roundRect">
            <a:avLst>
              <a:gd name="adj" fmla="val 4503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5969203" y="1647749"/>
            <a:ext cx="286207" cy="228600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6369710" y="1638605"/>
            <a:ext cx="218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메서드 및 기능</a:t>
            </a:r>
            <a:endParaRPr lang="en-US" dirty="0"/>
          </a:p>
        </p:txBody>
      </p:sp>
      <p:sp>
        <p:nvSpPr>
          <p:cNvPr id="58" name="Shape 40"/>
          <p:cNvSpPr/>
          <p:nvPr/>
        </p:nvSpPr>
        <p:spPr>
          <a:xfrm>
            <a:off x="5969203" y="2057399"/>
            <a:ext cx="2734056" cy="678485"/>
          </a:xfrm>
          <a:prstGeom prst="roundRect">
            <a:avLst>
              <a:gd name="adj" fmla="val 114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41"/>
          <p:cNvSpPr txBox="1"/>
          <p:nvPr/>
        </p:nvSpPr>
        <p:spPr>
          <a:xfrm>
            <a:off x="6074359" y="2162556"/>
            <a:ext cx="26252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__init__()</a:t>
            </a:r>
            <a:endParaRPr lang="en-US" sz="1100" dirty="0"/>
          </a:p>
        </p:txBody>
      </p:sp>
      <p:sp>
        <p:nvSpPr>
          <p:cNvPr id="60" name="Text 42"/>
          <p:cNvSpPr txBox="1"/>
          <p:nvPr/>
        </p:nvSpPr>
        <p:spPr>
          <a:xfrm>
            <a:off x="6074359" y="2371953"/>
            <a:ext cx="2714854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체크포인트 로드, 스케일러 복원, COG 매핑 초기화</a:t>
            </a:r>
            <a:endParaRPr lang="en-US" sz="1050" dirty="0"/>
          </a:p>
        </p:txBody>
      </p:sp>
      <p:sp>
        <p:nvSpPr>
          <p:cNvPr id="61" name="Shape 43"/>
          <p:cNvSpPr/>
          <p:nvPr/>
        </p:nvSpPr>
        <p:spPr>
          <a:xfrm>
            <a:off x="8794699" y="2057399"/>
            <a:ext cx="2734056" cy="678485"/>
          </a:xfrm>
          <a:prstGeom prst="roundRect">
            <a:avLst>
              <a:gd name="adj" fmla="val 114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44"/>
          <p:cNvSpPr txBox="1"/>
          <p:nvPr/>
        </p:nvSpPr>
        <p:spPr>
          <a:xfrm>
            <a:off x="8899855" y="2162556"/>
            <a:ext cx="26252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predict(smiles)</a:t>
            </a:r>
            <a:endParaRPr lang="en-US" sz="1100" dirty="0"/>
          </a:p>
        </p:txBody>
      </p:sp>
      <p:sp>
        <p:nvSpPr>
          <p:cNvPr id="63" name="Text 45"/>
          <p:cNvSpPr txBox="1"/>
          <p:nvPr/>
        </p:nvSpPr>
        <p:spPr>
          <a:xfrm>
            <a:off x="8899855" y="2371954"/>
            <a:ext cx="2587143" cy="36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SMILES → C1-C13 저해 확률 예측, 200 RDKit 기술자 통합</a:t>
            </a:r>
            <a:endParaRPr lang="en-US" sz="1050" dirty="0"/>
          </a:p>
        </p:txBody>
      </p:sp>
      <p:sp>
        <p:nvSpPr>
          <p:cNvPr id="64" name="Shape 46"/>
          <p:cNvSpPr/>
          <p:nvPr/>
        </p:nvSpPr>
        <p:spPr>
          <a:xfrm>
            <a:off x="5969203" y="2895037"/>
            <a:ext cx="2734056" cy="775364"/>
          </a:xfrm>
          <a:prstGeom prst="roundRect">
            <a:avLst>
              <a:gd name="adj" fmla="val 114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47"/>
          <p:cNvSpPr txBox="1"/>
          <p:nvPr/>
        </p:nvSpPr>
        <p:spPr>
          <a:xfrm>
            <a:off x="6074359" y="3000193"/>
            <a:ext cx="26252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get_properties()</a:t>
            </a:r>
            <a:endParaRPr lang="en-US" sz="1100" dirty="0"/>
          </a:p>
        </p:txBody>
      </p:sp>
      <p:sp>
        <p:nvSpPr>
          <p:cNvPr id="66" name="Text 48"/>
          <p:cNvSpPr txBox="1"/>
          <p:nvPr/>
        </p:nvSpPr>
        <p:spPr>
          <a:xfrm>
            <a:off x="6074359" y="3209591"/>
            <a:ext cx="2625242" cy="36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분자량, LogP, HBD/HBA, TPSA 등 약물성 지표 계산</a:t>
            </a:r>
            <a:endParaRPr lang="en-US" sz="1050" dirty="0"/>
          </a:p>
        </p:txBody>
      </p:sp>
      <p:sp>
        <p:nvSpPr>
          <p:cNvPr id="67" name="Shape 49"/>
          <p:cNvSpPr/>
          <p:nvPr/>
        </p:nvSpPr>
        <p:spPr>
          <a:xfrm>
            <a:off x="8794699" y="2895037"/>
            <a:ext cx="2734056" cy="775364"/>
          </a:xfrm>
          <a:prstGeom prst="roundRect">
            <a:avLst>
              <a:gd name="adj" fmla="val 114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50"/>
          <p:cNvSpPr txBox="1"/>
          <p:nvPr/>
        </p:nvSpPr>
        <p:spPr>
          <a:xfrm>
            <a:off x="8899855" y="3000193"/>
            <a:ext cx="26252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generate_image()</a:t>
            </a:r>
            <a:endParaRPr lang="en-US" sz="1100" dirty="0"/>
          </a:p>
        </p:txBody>
      </p:sp>
      <p:sp>
        <p:nvSpPr>
          <p:cNvPr id="69" name="Text 51"/>
          <p:cNvSpPr txBox="1"/>
          <p:nvPr/>
        </p:nvSpPr>
        <p:spPr>
          <a:xfrm>
            <a:off x="8899855" y="3209591"/>
            <a:ext cx="2625242" cy="36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 Draw.MolToImage로 2D 구조식 PNG 생성</a:t>
            </a:r>
            <a:endParaRPr lang="en-US" sz="1050" dirty="0"/>
          </a:p>
        </p:txBody>
      </p:sp>
      <p:sp>
        <p:nvSpPr>
          <p:cNvPr id="70" name="Shape 52"/>
          <p:cNvSpPr/>
          <p:nvPr/>
        </p:nvSpPr>
        <p:spPr>
          <a:xfrm>
            <a:off x="5969203" y="3803904"/>
            <a:ext cx="2734056" cy="731520"/>
          </a:xfrm>
          <a:prstGeom prst="roundRect">
            <a:avLst>
              <a:gd name="adj" fmla="val 114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53"/>
          <p:cNvSpPr txBox="1"/>
          <p:nvPr/>
        </p:nvSpPr>
        <p:spPr>
          <a:xfrm>
            <a:off x="6074359" y="3908145"/>
            <a:ext cx="26252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_validate_smiles()</a:t>
            </a:r>
            <a:endParaRPr lang="en-US" sz="1100" dirty="0"/>
          </a:p>
        </p:txBody>
      </p:sp>
      <p:sp>
        <p:nvSpPr>
          <p:cNvPr id="72" name="Text 54"/>
          <p:cNvSpPr txBox="1"/>
          <p:nvPr/>
        </p:nvSpPr>
        <p:spPr>
          <a:xfrm>
            <a:off x="6074359" y="4117543"/>
            <a:ext cx="2714854" cy="23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SMILES 유효성 검사 및 분자 객체 생성 확인</a:t>
            </a:r>
            <a:endParaRPr lang="en-US" sz="1050" dirty="0"/>
          </a:p>
        </p:txBody>
      </p:sp>
      <p:sp>
        <p:nvSpPr>
          <p:cNvPr id="73" name="Shape 55"/>
          <p:cNvSpPr/>
          <p:nvPr/>
        </p:nvSpPr>
        <p:spPr>
          <a:xfrm>
            <a:off x="8794699" y="3803904"/>
            <a:ext cx="2734056" cy="731520"/>
          </a:xfrm>
          <a:prstGeom prst="roundRect">
            <a:avLst>
              <a:gd name="adj" fmla="val 114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56"/>
          <p:cNvSpPr txBox="1"/>
          <p:nvPr/>
        </p:nvSpPr>
        <p:spPr>
          <a:xfrm>
            <a:off x="8899855" y="3908145"/>
            <a:ext cx="26252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_calculate_descriptors()</a:t>
            </a:r>
            <a:endParaRPr lang="en-US" sz="1100" dirty="0"/>
          </a:p>
        </p:txBody>
      </p:sp>
      <p:sp>
        <p:nvSpPr>
          <p:cNvPr id="75" name="Text 57"/>
          <p:cNvSpPr txBox="1"/>
          <p:nvPr/>
        </p:nvSpPr>
        <p:spPr>
          <a:xfrm>
            <a:off x="8899855" y="4117543"/>
            <a:ext cx="2625242" cy="28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 200개 분자 기술자 계산 및 정규화</a:t>
            </a:r>
            <a:endParaRPr lang="en-US" sz="1050" dirty="0"/>
          </a:p>
        </p:txBody>
      </p:sp>
      <p:pic>
        <p:nvPicPr>
          <p:cNvPr id="76" name="Image 16" descr="preencoded.png"/>
          <p:cNvPicPr>
            <a:picLocks noChangeAspect="1"/>
          </p:cNvPicPr>
          <p:nvPr/>
        </p:nvPicPr>
        <p:blipFill>
          <a:blip r:embed="rId9"/>
          <a:srcRect t="-25301" b="-25301"/>
          <a:stretch/>
        </p:blipFill>
        <p:spPr>
          <a:xfrm>
            <a:off x="5969203" y="4847236"/>
            <a:ext cx="75895" cy="114300"/>
          </a:xfrm>
          <a:prstGeom prst="rect">
            <a:avLst/>
          </a:prstGeom>
        </p:spPr>
      </p:pic>
      <p:sp>
        <p:nvSpPr>
          <p:cNvPr id="77" name="Text 58"/>
          <p:cNvSpPr txBox="1"/>
          <p:nvPr/>
        </p:nvSpPr>
        <p:spPr>
          <a:xfrm>
            <a:off x="6141109" y="4790543"/>
            <a:ext cx="454273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체크포인트 로드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chemprop.utils.load_checkpoint로 .pt 모델 파일 로드</a:t>
            </a:r>
            <a:endParaRPr lang="en-US" sz="1100" dirty="0"/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 r:embed="rId9"/>
          <a:srcRect t="-25301" b="-25301"/>
          <a:stretch/>
        </p:blipFill>
        <p:spPr>
          <a:xfrm>
            <a:off x="5969203" y="5095038"/>
            <a:ext cx="75895" cy="114300"/>
          </a:xfrm>
          <a:prstGeom prst="rect">
            <a:avLst/>
          </a:prstGeom>
        </p:spPr>
      </p:pic>
      <p:sp>
        <p:nvSpPr>
          <p:cNvPr id="79" name="Text 59"/>
          <p:cNvSpPr txBox="1"/>
          <p:nvPr/>
        </p:nvSpPr>
        <p:spPr>
          <a:xfrm>
            <a:off x="6141110" y="5038345"/>
            <a:ext cx="454273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스케일러 로드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chemprop.utils.load_scalers로 정규화 파라미터 복원</a:t>
            </a:r>
            <a:endParaRPr lang="en-US" sz="1100" dirty="0"/>
          </a:p>
        </p:txBody>
      </p:sp>
      <p:pic>
        <p:nvPicPr>
          <p:cNvPr id="80" name="Image 18" descr="preencoded.png"/>
          <p:cNvPicPr>
            <a:picLocks noChangeAspect="1"/>
          </p:cNvPicPr>
          <p:nvPr/>
        </p:nvPicPr>
        <p:blipFill>
          <a:blip r:embed="rId9"/>
          <a:srcRect t="-25301" b="-25301"/>
          <a:stretch/>
        </p:blipFill>
        <p:spPr>
          <a:xfrm>
            <a:off x="5969203" y="5342840"/>
            <a:ext cx="75895" cy="114300"/>
          </a:xfrm>
          <a:prstGeom prst="rect">
            <a:avLst/>
          </a:prstGeom>
        </p:spPr>
      </p:pic>
      <p:sp>
        <p:nvSpPr>
          <p:cNvPr id="81" name="Text 60"/>
          <p:cNvSpPr txBox="1"/>
          <p:nvPr/>
        </p:nvSpPr>
        <p:spPr>
          <a:xfrm>
            <a:off x="6141109" y="5285233"/>
            <a:ext cx="426567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MoleculeDataset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Chemprop 데이터 구조로 입력 변환</a:t>
            </a:r>
            <a:endParaRPr lang="en-US" sz="1100" dirty="0"/>
          </a:p>
        </p:txBody>
      </p:sp>
      <p:pic>
        <p:nvPicPr>
          <p:cNvPr id="82" name="Image 19" descr="preencoded.png"/>
          <p:cNvPicPr>
            <a:picLocks noChangeAspect="1"/>
          </p:cNvPicPr>
          <p:nvPr/>
        </p:nvPicPr>
        <p:blipFill>
          <a:blip r:embed="rId9"/>
          <a:srcRect t="-25301" b="-25301"/>
          <a:stretch/>
        </p:blipFill>
        <p:spPr>
          <a:xfrm>
            <a:off x="5969203" y="5590643"/>
            <a:ext cx="75895" cy="114300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6141110" y="5533036"/>
            <a:ext cx="3815690" cy="20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실행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chemprop.train.predict 함수로 배치 추론</a:t>
            </a:r>
            <a:endParaRPr lang="en-US" sz="1100" dirty="0"/>
          </a:p>
        </p:txBody>
      </p:sp>
      <p:pic>
        <p:nvPicPr>
          <p:cNvPr id="84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2520" y="5881421"/>
            <a:ext cx="599594" cy="249886"/>
          </a:xfrm>
          <a:prstGeom prst="rect">
            <a:avLst/>
          </a:prstGeom>
        </p:spPr>
      </p:pic>
      <p:sp>
        <p:nvSpPr>
          <p:cNvPr id="85" name="Text 62"/>
          <p:cNvSpPr/>
          <p:nvPr/>
        </p:nvSpPr>
        <p:spPr>
          <a:xfrm>
            <a:off x="5992520" y="5884231"/>
            <a:ext cx="571500" cy="26609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</a:t>
            </a:r>
            <a:endParaRPr lang="en-US" sz="1050" dirty="0"/>
          </a:p>
        </p:txBody>
      </p:sp>
      <p:pic>
        <p:nvPicPr>
          <p:cNvPr id="86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6720" y="5892393"/>
            <a:ext cx="746607" cy="238914"/>
          </a:xfrm>
          <a:prstGeom prst="rect">
            <a:avLst/>
          </a:prstGeom>
        </p:spPr>
      </p:pic>
      <p:sp>
        <p:nvSpPr>
          <p:cNvPr id="87" name="Text 63"/>
          <p:cNvSpPr/>
          <p:nvPr/>
        </p:nvSpPr>
        <p:spPr>
          <a:xfrm>
            <a:off x="6676719" y="5906050"/>
            <a:ext cx="746607" cy="21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Chemprop</a:t>
            </a:r>
            <a:endParaRPr lang="en-US" sz="1050" dirty="0"/>
          </a:p>
        </p:txBody>
      </p:sp>
      <p:pic>
        <p:nvPicPr>
          <p:cNvPr id="88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0964" y="5906050"/>
            <a:ext cx="647393" cy="210120"/>
          </a:xfrm>
          <a:prstGeom prst="rect">
            <a:avLst/>
          </a:prstGeom>
        </p:spPr>
      </p:pic>
      <p:sp>
        <p:nvSpPr>
          <p:cNvPr id="89" name="Text 64"/>
          <p:cNvSpPr/>
          <p:nvPr/>
        </p:nvSpPr>
        <p:spPr>
          <a:xfrm>
            <a:off x="7640345" y="5911851"/>
            <a:ext cx="45720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</a:t>
            </a:r>
            <a:endParaRPr lang="en-US" sz="1050" dirty="0"/>
          </a:p>
        </p:txBody>
      </p:sp>
      <p:pic>
        <p:nvPicPr>
          <p:cNvPr id="90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5994" y="5906050"/>
            <a:ext cx="809472" cy="211600"/>
          </a:xfrm>
          <a:prstGeom prst="rect">
            <a:avLst/>
          </a:prstGeom>
        </p:spPr>
      </p:pic>
      <p:sp>
        <p:nvSpPr>
          <p:cNvPr id="91" name="Text 65"/>
          <p:cNvSpPr/>
          <p:nvPr/>
        </p:nvSpPr>
        <p:spPr>
          <a:xfrm>
            <a:off x="8361936" y="5898842"/>
            <a:ext cx="809472" cy="2011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Descriptors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2924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모듈 설명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325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model_service.py 핵심 구성 요소 및 기능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0798" y="418795"/>
            <a:ext cx="304495" cy="304495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507492" y="1330745"/>
            <a:ext cx="4981651" cy="2486254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507492" y="1330745"/>
            <a:ext cx="38405" cy="2486254"/>
          </a:xfrm>
          <a:prstGeom prst="roundRect">
            <a:avLst>
              <a:gd name="adj" fmla="val 7297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6092" y="1587691"/>
            <a:ext cx="228600" cy="2286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078991" y="1578546"/>
            <a:ext cx="2612439" cy="300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처리 및 유효성 검증</a:t>
            </a:r>
            <a:endParaRPr lang="en-US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5"/>
          <a:srcRect t="-25301" b="-25301"/>
          <a:stretch/>
        </p:blipFill>
        <p:spPr>
          <a:xfrm>
            <a:off x="736092" y="2054950"/>
            <a:ext cx="75895" cy="11430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907085" y="1997342"/>
            <a:ext cx="35707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SMILES 검증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RDKit MolFromSmiles 실패 시 예외 발생</a:t>
            </a:r>
            <a:endParaRPr lang="en-US" sz="11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5"/>
          <a:srcRect t="-25301" b="-25301"/>
          <a:stretch/>
        </p:blipFill>
        <p:spPr>
          <a:xfrm>
            <a:off x="736092" y="2302752"/>
            <a:ext cx="75895" cy="11430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907085" y="2245145"/>
            <a:ext cx="4014871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로드 안전성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torch.serialization.add_safe_globals 사용</a:t>
            </a:r>
            <a:endParaRPr lang="en-US" sz="11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5"/>
          <a:srcRect t="-25301" b="-25301"/>
          <a:stretch/>
        </p:blipFill>
        <p:spPr>
          <a:xfrm>
            <a:off x="736092" y="2549640"/>
            <a:ext cx="75895" cy="11430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907085" y="2492948"/>
            <a:ext cx="3461715" cy="160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try-except 블록으로 HTTPException 반환</a:t>
            </a:r>
            <a:endParaRPr lang="en-US" sz="11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5"/>
          <a:srcRect t="-25301" b="-25301"/>
          <a:stretch/>
        </p:blipFill>
        <p:spPr>
          <a:xfrm>
            <a:off x="736092" y="2797442"/>
            <a:ext cx="75895" cy="11430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907085" y="2740750"/>
            <a:ext cx="2822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검증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빈 문자열, 잘못된 형식 사전 차단</a:t>
            </a:r>
            <a:endParaRPr lang="en-US" sz="1100" dirty="0"/>
          </a:p>
        </p:txBody>
      </p:sp>
      <p:sp>
        <p:nvSpPr>
          <p:cNvPr id="50" name="Shape 34"/>
          <p:cNvSpPr/>
          <p:nvPr/>
        </p:nvSpPr>
        <p:spPr>
          <a:xfrm>
            <a:off x="736092" y="3006840"/>
            <a:ext cx="4562856" cy="619049"/>
          </a:xfrm>
          <a:prstGeom prst="roundRect">
            <a:avLst>
              <a:gd name="adj" fmla="val 1363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1021385" y="3131198"/>
            <a:ext cx="434431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안전성 강화</a:t>
            </a:r>
            <a:endParaRPr lang="en-US" sz="1050" dirty="0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9536" y="3156802"/>
            <a:ext cx="105156" cy="105156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859536" y="3345168"/>
            <a:ext cx="4506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 2.6+ 안전 로더, 입력 위생 처리, 상세한 에러 메시지로 사용자 경험 개선</a:t>
            </a:r>
            <a:endParaRPr lang="en-US" sz="1050" dirty="0"/>
          </a:p>
        </p:txBody>
      </p:sp>
      <p:sp>
        <p:nvSpPr>
          <p:cNvPr id="92" name="Shape 66"/>
          <p:cNvSpPr/>
          <p:nvPr/>
        </p:nvSpPr>
        <p:spPr>
          <a:xfrm>
            <a:off x="5733288" y="1321737"/>
            <a:ext cx="5982005" cy="2829154"/>
          </a:xfrm>
          <a:prstGeom prst="roundRect">
            <a:avLst>
              <a:gd name="adj" fmla="val 87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3" name="Shape 67"/>
          <p:cNvSpPr/>
          <p:nvPr/>
        </p:nvSpPr>
        <p:spPr>
          <a:xfrm>
            <a:off x="5733288" y="1321737"/>
            <a:ext cx="38405" cy="2829154"/>
          </a:xfrm>
          <a:prstGeom prst="roundRect">
            <a:avLst>
              <a:gd name="adj" fmla="val 6413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94" name="Image 2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61888" y="1578683"/>
            <a:ext cx="228600" cy="228600"/>
          </a:xfrm>
          <a:prstGeom prst="rect">
            <a:avLst/>
          </a:prstGeom>
        </p:spPr>
      </p:pic>
      <p:sp>
        <p:nvSpPr>
          <p:cNvPr id="95" name="Text 68"/>
          <p:cNvSpPr txBox="1"/>
          <p:nvPr/>
        </p:nvSpPr>
        <p:spPr>
          <a:xfrm>
            <a:off x="6304788" y="1568625"/>
            <a:ext cx="2641701" cy="247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 이미지 생성 (RDKit)</a:t>
            </a:r>
            <a:endParaRPr lang="en-US" dirty="0"/>
          </a:p>
        </p:txBody>
      </p:sp>
      <p:sp>
        <p:nvSpPr>
          <p:cNvPr id="96" name="Shape 69"/>
          <p:cNvSpPr/>
          <p:nvPr/>
        </p:nvSpPr>
        <p:spPr>
          <a:xfrm>
            <a:off x="5961888" y="1988335"/>
            <a:ext cx="5562295" cy="961949"/>
          </a:xfrm>
          <a:prstGeom prst="roundRect">
            <a:avLst>
              <a:gd name="adj" fmla="val 564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70"/>
          <p:cNvSpPr txBox="1"/>
          <p:nvPr/>
        </p:nvSpPr>
        <p:spPr>
          <a:xfrm>
            <a:off x="6086247" y="2092576"/>
            <a:ext cx="5429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rdkit.Chem </a:t>
            </a:r>
            <a:r>
              <a:rPr lang="en-US" sz="10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Draw</a:t>
            </a:r>
            <a:endParaRPr lang="en-US" sz="1050" dirty="0"/>
          </a:p>
        </p:txBody>
      </p:sp>
      <p:sp>
        <p:nvSpPr>
          <p:cNvPr id="98" name="Text 71"/>
          <p:cNvSpPr txBox="1"/>
          <p:nvPr/>
        </p:nvSpPr>
        <p:spPr>
          <a:xfrm>
            <a:off x="6086247" y="2279114"/>
            <a:ext cx="5429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mol = Chem.MolFromSmiles(smiles)</a:t>
            </a:r>
            <a:endParaRPr lang="en-US" sz="1050" dirty="0"/>
          </a:p>
        </p:txBody>
      </p:sp>
      <p:sp>
        <p:nvSpPr>
          <p:cNvPr id="99" name="Text 72"/>
          <p:cNvSpPr txBox="1"/>
          <p:nvPr/>
        </p:nvSpPr>
        <p:spPr>
          <a:xfrm>
            <a:off x="6086247" y="2466566"/>
            <a:ext cx="5429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Draw.MolToImage(mol, size=(300,300))</a:t>
            </a:r>
            <a:endParaRPr lang="en-US" sz="1050" dirty="0"/>
          </a:p>
        </p:txBody>
      </p:sp>
      <p:sp>
        <p:nvSpPr>
          <p:cNvPr id="100" name="Text 73"/>
          <p:cNvSpPr txBox="1"/>
          <p:nvPr/>
        </p:nvSpPr>
        <p:spPr>
          <a:xfrm>
            <a:off x="6086247" y="2653103"/>
            <a:ext cx="54297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Base64 인코딩하여 웹 전송</a:t>
            </a:r>
            <a:endParaRPr lang="en-US" sz="1050" dirty="0"/>
          </a:p>
        </p:txBody>
      </p:sp>
      <p:pic>
        <p:nvPicPr>
          <p:cNvPr id="101" name="Image 25" descr="preencoded.png"/>
          <p:cNvPicPr>
            <a:picLocks noChangeAspect="1"/>
          </p:cNvPicPr>
          <p:nvPr/>
        </p:nvPicPr>
        <p:blipFill>
          <a:blip r:embed="rId8"/>
          <a:srcRect t="-25301" b="-25301"/>
          <a:stretch/>
        </p:blipFill>
        <p:spPr>
          <a:xfrm>
            <a:off x="5961888" y="3096587"/>
            <a:ext cx="75895" cy="114300"/>
          </a:xfrm>
          <a:prstGeom prst="rect">
            <a:avLst/>
          </a:prstGeom>
        </p:spPr>
      </p:pic>
      <p:sp>
        <p:nvSpPr>
          <p:cNvPr id="102" name="Text 74"/>
          <p:cNvSpPr txBox="1"/>
          <p:nvPr/>
        </p:nvSpPr>
        <p:spPr>
          <a:xfrm>
            <a:off x="6133795" y="3038981"/>
            <a:ext cx="161118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SMILES 문자열</a:t>
            </a:r>
            <a:endParaRPr lang="en-US" sz="1100" dirty="0"/>
          </a:p>
        </p:txBody>
      </p:sp>
      <p:pic>
        <p:nvPicPr>
          <p:cNvPr id="103" name="Image 26" descr="preencoded.png"/>
          <p:cNvPicPr>
            <a:picLocks noChangeAspect="1"/>
          </p:cNvPicPr>
          <p:nvPr/>
        </p:nvPicPr>
        <p:blipFill>
          <a:blip r:embed="rId8"/>
          <a:srcRect t="-25301" b="-25301"/>
          <a:stretch/>
        </p:blipFill>
        <p:spPr>
          <a:xfrm>
            <a:off x="5961888" y="3344390"/>
            <a:ext cx="75895" cy="114300"/>
          </a:xfrm>
          <a:prstGeom prst="rect">
            <a:avLst/>
          </a:prstGeom>
        </p:spPr>
      </p:pic>
      <p:sp>
        <p:nvSpPr>
          <p:cNvPr id="104" name="Text 75"/>
          <p:cNvSpPr txBox="1"/>
          <p:nvPr/>
        </p:nvSpPr>
        <p:spPr>
          <a:xfrm>
            <a:off x="6133794" y="3286783"/>
            <a:ext cx="3845583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RDKit Chem.MolFromSmiles → Draw.MolToImage</a:t>
            </a:r>
            <a:endParaRPr lang="en-US" sz="1100" dirty="0"/>
          </a:p>
        </p:txBody>
      </p:sp>
      <p:pic>
        <p:nvPicPr>
          <p:cNvPr id="105" name="Image 27" descr="preencoded.png"/>
          <p:cNvPicPr>
            <a:picLocks noChangeAspect="1"/>
          </p:cNvPicPr>
          <p:nvPr/>
        </p:nvPicPr>
        <p:blipFill>
          <a:blip r:embed="rId8"/>
          <a:srcRect t="-25301" b="-25301"/>
          <a:stretch/>
        </p:blipFill>
        <p:spPr>
          <a:xfrm>
            <a:off x="5961888" y="3592192"/>
            <a:ext cx="75895" cy="114300"/>
          </a:xfrm>
          <a:prstGeom prst="rect">
            <a:avLst/>
          </a:prstGeom>
        </p:spPr>
      </p:pic>
      <p:sp>
        <p:nvSpPr>
          <p:cNvPr id="106" name="Text 76"/>
          <p:cNvSpPr txBox="1"/>
          <p:nvPr/>
        </p:nvSpPr>
        <p:spPr>
          <a:xfrm>
            <a:off x="6133794" y="3534585"/>
            <a:ext cx="3692875" cy="18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PIL Image 객체 → Base64 인코딩 문자열</a:t>
            </a:r>
            <a:endParaRPr lang="en-US" sz="1100" dirty="0"/>
          </a:p>
        </p:txBody>
      </p:sp>
      <p:pic>
        <p:nvPicPr>
          <p:cNvPr id="107" name="Image 28" descr="preencoded.png"/>
          <p:cNvPicPr>
            <a:picLocks noChangeAspect="1"/>
          </p:cNvPicPr>
          <p:nvPr/>
        </p:nvPicPr>
        <p:blipFill>
          <a:blip r:embed="rId8"/>
          <a:srcRect t="-25301" b="-25301"/>
          <a:stretch/>
        </p:blipFill>
        <p:spPr>
          <a:xfrm>
            <a:off x="5961888" y="3839080"/>
            <a:ext cx="75895" cy="114300"/>
          </a:xfrm>
          <a:prstGeom prst="rect">
            <a:avLst/>
          </a:prstGeom>
        </p:spPr>
      </p:pic>
      <p:sp>
        <p:nvSpPr>
          <p:cNvPr id="108" name="Text 77"/>
          <p:cNvSpPr txBox="1"/>
          <p:nvPr/>
        </p:nvSpPr>
        <p:spPr>
          <a:xfrm>
            <a:off x="6133795" y="3782387"/>
            <a:ext cx="4647094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웹 UI에서 &lt;img src="data:image/png;base64,..." /&gt; 형태로 표시</a:t>
            </a:r>
            <a:endParaRPr lang="en-US" sz="1100" dirty="0"/>
          </a:p>
        </p:txBody>
      </p:sp>
      <p:sp>
        <p:nvSpPr>
          <p:cNvPr id="109" name="Shape 78"/>
          <p:cNvSpPr/>
          <p:nvPr/>
        </p:nvSpPr>
        <p:spPr>
          <a:xfrm>
            <a:off x="5733288" y="4315483"/>
            <a:ext cx="5982005" cy="2048256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0" name="Shape 79"/>
          <p:cNvSpPr/>
          <p:nvPr/>
        </p:nvSpPr>
        <p:spPr>
          <a:xfrm>
            <a:off x="5733288" y="4315483"/>
            <a:ext cx="38405" cy="2048256"/>
          </a:xfrm>
          <a:prstGeom prst="roundRect">
            <a:avLst>
              <a:gd name="adj" fmla="val 8859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111" name="Image 29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5961888" y="4573343"/>
            <a:ext cx="171907" cy="228600"/>
          </a:xfrm>
          <a:prstGeom prst="rect">
            <a:avLst/>
          </a:prstGeom>
        </p:spPr>
      </p:pic>
      <p:sp>
        <p:nvSpPr>
          <p:cNvPr id="112" name="Text 80"/>
          <p:cNvSpPr txBox="1"/>
          <p:nvPr/>
        </p:nvSpPr>
        <p:spPr>
          <a:xfrm>
            <a:off x="6248095" y="4563285"/>
            <a:ext cx="2862038" cy="312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메트릭 산출 및 스케일러 로드</a:t>
            </a:r>
            <a:endParaRPr lang="en-US" dirty="0"/>
          </a:p>
        </p:txBody>
      </p:sp>
      <p:pic>
        <p:nvPicPr>
          <p:cNvPr id="113" name="Image 30" descr="preencoded.png"/>
          <p:cNvPicPr>
            <a:picLocks noChangeAspect="1"/>
          </p:cNvPicPr>
          <p:nvPr/>
        </p:nvPicPr>
        <p:blipFill>
          <a:blip r:embed="rId8"/>
          <a:srcRect t="-25301" b="-25301"/>
          <a:stretch/>
        </p:blipFill>
        <p:spPr>
          <a:xfrm>
            <a:off x="5961888" y="5039687"/>
            <a:ext cx="75895" cy="114300"/>
          </a:xfrm>
          <a:prstGeom prst="rect">
            <a:avLst/>
          </a:prstGeom>
        </p:spPr>
      </p:pic>
      <p:sp>
        <p:nvSpPr>
          <p:cNvPr id="114" name="Text 81"/>
          <p:cNvSpPr txBox="1"/>
          <p:nvPr/>
        </p:nvSpPr>
        <p:spPr>
          <a:xfrm>
            <a:off x="6133794" y="4982080"/>
            <a:ext cx="4400949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스케일러 역할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학습 시 사용한 정규화 파라미터(평균, 표준편차) 복원</a:t>
            </a:r>
            <a:endParaRPr lang="en-US" sz="1100" dirty="0"/>
          </a:p>
        </p:txBody>
      </p:sp>
      <p:pic>
        <p:nvPicPr>
          <p:cNvPr id="115" name="Image 31" descr="preencoded.png"/>
          <p:cNvPicPr>
            <a:picLocks noChangeAspect="1"/>
          </p:cNvPicPr>
          <p:nvPr/>
        </p:nvPicPr>
        <p:blipFill>
          <a:blip r:embed="rId8"/>
          <a:srcRect t="-25301" b="-25301"/>
          <a:stretch/>
        </p:blipFill>
        <p:spPr>
          <a:xfrm>
            <a:off x="5961888" y="5287490"/>
            <a:ext cx="75895" cy="114300"/>
          </a:xfrm>
          <a:prstGeom prst="rect">
            <a:avLst/>
          </a:prstGeom>
        </p:spPr>
      </p:pic>
      <p:sp>
        <p:nvSpPr>
          <p:cNvPr id="116" name="Text 82"/>
          <p:cNvSpPr txBox="1"/>
          <p:nvPr/>
        </p:nvSpPr>
        <p:spPr>
          <a:xfrm>
            <a:off x="6133795" y="5229883"/>
            <a:ext cx="411651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대상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200개 RDKit 분자 기술자 정규화</a:t>
            </a:r>
            <a:endParaRPr lang="en-US" sz="1100" dirty="0"/>
          </a:p>
        </p:txBody>
      </p:sp>
      <p:pic>
        <p:nvPicPr>
          <p:cNvPr id="117" name="Image 32" descr="preencoded.png"/>
          <p:cNvPicPr>
            <a:picLocks noChangeAspect="1"/>
          </p:cNvPicPr>
          <p:nvPr/>
        </p:nvPicPr>
        <p:blipFill>
          <a:blip r:embed="rId8"/>
          <a:srcRect t="-25301" b="-25301"/>
          <a:stretch/>
        </p:blipFill>
        <p:spPr>
          <a:xfrm>
            <a:off x="5961888" y="5535292"/>
            <a:ext cx="75895" cy="114300"/>
          </a:xfrm>
          <a:prstGeom prst="rect">
            <a:avLst/>
          </a:prstGeom>
        </p:spPr>
      </p:pic>
      <p:sp>
        <p:nvSpPr>
          <p:cNvPr id="118" name="Text 83"/>
          <p:cNvSpPr txBox="1"/>
          <p:nvPr/>
        </p:nvSpPr>
        <p:spPr>
          <a:xfrm>
            <a:off x="6133795" y="5477685"/>
            <a:ext cx="3529494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일관성 보장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학습과 동일한 스케일로 추론 수행</a:t>
            </a:r>
            <a:endParaRPr lang="en-US" sz="1100" dirty="0"/>
          </a:p>
        </p:txBody>
      </p:sp>
      <p:pic>
        <p:nvPicPr>
          <p:cNvPr id="119" name="Image 33" descr="preencoded.png"/>
          <p:cNvPicPr>
            <a:picLocks noChangeAspect="1"/>
          </p:cNvPicPr>
          <p:nvPr/>
        </p:nvPicPr>
        <p:blipFill>
          <a:blip r:embed="rId8"/>
          <a:srcRect t="-25301" b="-25301"/>
          <a:stretch/>
        </p:blipFill>
        <p:spPr>
          <a:xfrm>
            <a:off x="5962972" y="5779461"/>
            <a:ext cx="75895" cy="114300"/>
          </a:xfrm>
          <a:prstGeom prst="rect">
            <a:avLst/>
          </a:prstGeom>
        </p:spPr>
      </p:pic>
      <p:sp>
        <p:nvSpPr>
          <p:cNvPr id="120" name="Text 84"/>
          <p:cNvSpPr txBox="1"/>
          <p:nvPr/>
        </p:nvSpPr>
        <p:spPr>
          <a:xfrm>
            <a:off x="6145666" y="5739292"/>
            <a:ext cx="3845582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메트릭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시그모이드 활성화 후 0~1 확률값 출력</a:t>
            </a:r>
            <a:endParaRPr lang="en-US" sz="1100" dirty="0"/>
          </a:p>
        </p:txBody>
      </p:sp>
      <p:pic>
        <p:nvPicPr>
          <p:cNvPr id="121" name="Image 3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8439" y="5996523"/>
            <a:ext cx="1123523" cy="226523"/>
          </a:xfrm>
          <a:prstGeom prst="rect">
            <a:avLst/>
          </a:prstGeom>
        </p:spPr>
      </p:pic>
      <p:sp>
        <p:nvSpPr>
          <p:cNvPr id="122" name="Text 85"/>
          <p:cNvSpPr/>
          <p:nvPr/>
        </p:nvSpPr>
        <p:spPr>
          <a:xfrm>
            <a:off x="6086247" y="5984737"/>
            <a:ext cx="117204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StandardScaler</a:t>
            </a:r>
            <a:endParaRPr lang="en-US" sz="1050" dirty="0"/>
          </a:p>
        </p:txBody>
      </p:sp>
      <p:pic>
        <p:nvPicPr>
          <p:cNvPr id="123" name="Image 3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61635" y="5987455"/>
            <a:ext cx="1123523" cy="228601"/>
          </a:xfrm>
          <a:prstGeom prst="rect">
            <a:avLst/>
          </a:prstGeom>
        </p:spPr>
      </p:pic>
      <p:sp>
        <p:nvSpPr>
          <p:cNvPr id="124" name="Text 86"/>
          <p:cNvSpPr/>
          <p:nvPr/>
        </p:nvSpPr>
        <p:spPr>
          <a:xfrm>
            <a:off x="7299742" y="6000252"/>
            <a:ext cx="1223822" cy="1883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Chemprop Utils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19895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3433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시연: UI 화면 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348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SMILES 입력 인터페이스 및 </a:t>
            </a:r>
            <a:r>
              <a:rPr lang="ko-KR" altLang="en-US" sz="1200" dirty="0" err="1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스크리닝</a:t>
            </a:r>
            <a:r>
              <a:rPr lang="ko-KR" alt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요약 리포트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11373307" y="418795"/>
            <a:ext cx="342900" cy="304495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2A562D7C-19A1-4123-8E6C-F3799FDE2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83" y="1600200"/>
            <a:ext cx="11592128" cy="436836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3676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시연: UI 화면 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4031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200" dirty="0" err="1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</a:t>
            </a:r>
            <a:r>
              <a:rPr lang="en-US" altLang="ko-KR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r>
              <a:rPr lang="en-US" altLang="ko-KR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r>
              <a:rPr lang="en-US" altLang="ko-KR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13개 클러스터 </a:t>
            </a:r>
            <a:r>
              <a:rPr lang="en-US" sz="1200" dirty="0" err="1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레이더</a:t>
            </a: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차트</a:t>
            </a:r>
            <a:endParaRPr lang="en-US" sz="1200" dirty="0"/>
          </a:p>
        </p:txBody>
      </p:sp>
      <p:pic>
        <p:nvPicPr>
          <p:cNvPr id="142" name="그림 141">
            <a:extLst>
              <a:ext uri="{FF2B5EF4-FFF2-40B4-BE49-F238E27FC236}">
                <a16:creationId xmlns:a16="http://schemas.microsoft.com/office/drawing/2014/main" id="{97991688-9CA7-48A9-9591-EB7AB79C5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4" y="1432873"/>
            <a:ext cx="10541385" cy="509247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53645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04595"/>
          </a:xfrm>
          <a:prstGeom prst="rect">
            <a:avLst/>
          </a:prstGeom>
          <a:solidFill>
            <a:srgbClr val="1A35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190195"/>
            <a:ext cx="31290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</a:t>
            </a: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400" b="1" kern="0" spc="-37" dirty="0" err="1" smtClean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</a:t>
            </a:r>
            <a:r>
              <a:rPr lang="en-US" sz="2400" b="1" kern="0" spc="-37" dirty="0" smtClean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2400" b="1" kern="0" spc="-37" dirty="0" err="1" smtClean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r>
              <a:rPr lang="en-US" sz="2400" b="1" kern="0" spc="-37" dirty="0" smtClean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4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685800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및 재현성 확보 방법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11334902" y="418795"/>
            <a:ext cx="381305" cy="3044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6402" y="1371600"/>
            <a:ext cx="5486400" cy="1304849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6402" y="1371600"/>
            <a:ext cx="38405" cy="1304849"/>
          </a:xfrm>
          <a:prstGeom prst="roundRect">
            <a:avLst>
              <a:gd name="adj" fmla="val 13903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95628"/>
            <a:ext cx="190195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2007" y="1585570"/>
            <a:ext cx="12216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943100"/>
            <a:ext cx="580644" cy="25694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1943100"/>
            <a:ext cx="581558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HTML5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137" y="1943100"/>
            <a:ext cx="1123798" cy="25694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3137" y="1943100"/>
            <a:ext cx="112471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 (ES6+)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2713" y="1943100"/>
            <a:ext cx="886054" cy="25694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502713" y="1943100"/>
            <a:ext cx="886054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 CSS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1802" y="1943100"/>
            <a:ext cx="647395" cy="25694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441802" y="1943100"/>
            <a:ext cx="64831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Plotly.js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9489" y="1943100"/>
            <a:ext cx="981151" cy="25694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139489" y="1943100"/>
            <a:ext cx="981151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Font Awesome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476402" y="2829154"/>
            <a:ext cx="5486400" cy="100035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476402" y="2829154"/>
            <a:ext cx="38405" cy="1000354"/>
          </a:xfrm>
          <a:prstGeom prst="roundRect">
            <a:avLst>
              <a:gd name="adj" fmla="val 18140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85800" y="3053182"/>
            <a:ext cx="190195" cy="19019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72007" y="3043123"/>
            <a:ext cx="8092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4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400654"/>
            <a:ext cx="847649" cy="25694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00100" y="3448202"/>
            <a:ext cx="7370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3.8+</a:t>
            </a:r>
            <a:endParaRPr lang="en-US" sz="11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83741" y="3400654"/>
            <a:ext cx="609905" cy="256946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583741" y="3400654"/>
            <a:ext cx="6099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11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45766" y="3400654"/>
            <a:ext cx="629107" cy="256946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2245766" y="3400654"/>
            <a:ext cx="629107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Uvicorn</a:t>
            </a:r>
            <a:endParaRPr lang="en-US" sz="110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5166" y="3400654"/>
            <a:ext cx="685800" cy="256946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925166" y="3400654"/>
            <a:ext cx="68580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Pydantic</a:t>
            </a:r>
            <a:endParaRPr lang="en-US" sz="11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60343" y="3400654"/>
            <a:ext cx="1133856" cy="256946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3660343" y="3400654"/>
            <a:ext cx="1133856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CORS Middleware</a:t>
            </a:r>
            <a:endParaRPr lang="en-US" sz="1100" dirty="0"/>
          </a:p>
        </p:txBody>
      </p:sp>
      <p:sp>
        <p:nvSpPr>
          <p:cNvPr id="48" name="Shape 32"/>
          <p:cNvSpPr/>
          <p:nvPr/>
        </p:nvSpPr>
        <p:spPr>
          <a:xfrm>
            <a:off x="476402" y="3976726"/>
            <a:ext cx="5486400" cy="100035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33"/>
          <p:cNvSpPr/>
          <p:nvPr/>
        </p:nvSpPr>
        <p:spPr>
          <a:xfrm>
            <a:off x="476402" y="3976726"/>
            <a:ext cx="38405" cy="1000354"/>
          </a:xfrm>
          <a:prstGeom prst="roundRect">
            <a:avLst>
              <a:gd name="adj" fmla="val 181405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85800" y="4200754"/>
            <a:ext cx="190195" cy="190195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972006" y="4190695"/>
            <a:ext cx="1523391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 smtClean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</a:t>
            </a:r>
            <a:endParaRPr lang="en-US" sz="1400" dirty="0"/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548226"/>
            <a:ext cx="819302" cy="256946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00100" y="4595774"/>
            <a:ext cx="7031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 1.x</a:t>
            </a:r>
            <a:endParaRPr lang="en-US" sz="1100" dirty="0"/>
          </a:p>
        </p:txBody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9966" y="4548226"/>
            <a:ext cx="771754" cy="256946"/>
          </a:xfrm>
          <a:prstGeom prst="rect">
            <a:avLst/>
          </a:prstGeom>
        </p:spPr>
      </p:pic>
      <p:sp>
        <p:nvSpPr>
          <p:cNvPr id="56" name="Text 37"/>
          <p:cNvSpPr/>
          <p:nvPr/>
        </p:nvSpPr>
        <p:spPr>
          <a:xfrm>
            <a:off x="1559966" y="4548226"/>
            <a:ext cx="771754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Chemprop</a:t>
            </a:r>
            <a:endParaRPr lang="en-US" sz="1100" dirty="0"/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81098" y="4548226"/>
            <a:ext cx="523951" cy="256946"/>
          </a:xfrm>
          <a:prstGeom prst="rect">
            <a:avLst/>
          </a:prstGeom>
        </p:spPr>
      </p:pic>
      <p:sp>
        <p:nvSpPr>
          <p:cNvPr id="59" name="Text 39"/>
          <p:cNvSpPr/>
          <p:nvPr/>
        </p:nvSpPr>
        <p:spPr>
          <a:xfrm>
            <a:off x="2381098" y="4548226"/>
            <a:ext cx="523951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RDKit</a:t>
            </a:r>
            <a:endParaRPr lang="en-US" sz="1100" dirty="0"/>
          </a:p>
        </p:txBody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56255" y="4548226"/>
            <a:ext cx="819302" cy="256946"/>
          </a:xfrm>
          <a:prstGeom prst="rect">
            <a:avLst/>
          </a:prstGeom>
        </p:spPr>
      </p:pic>
      <p:sp>
        <p:nvSpPr>
          <p:cNvPr id="62" name="Text 41"/>
          <p:cNvSpPr/>
          <p:nvPr/>
        </p:nvSpPr>
        <p:spPr>
          <a:xfrm>
            <a:off x="2956255" y="4548226"/>
            <a:ext cx="8193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Scikit-learn</a:t>
            </a:r>
            <a:endParaRPr lang="en-US" sz="1100" dirty="0"/>
          </a:p>
        </p:txBody>
      </p:sp>
      <p:pic>
        <p:nvPicPr>
          <p:cNvPr id="64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27678" y="4548226"/>
            <a:ext cx="599846" cy="256946"/>
          </a:xfrm>
          <a:prstGeom prst="rect">
            <a:avLst/>
          </a:prstGeom>
        </p:spPr>
      </p:pic>
      <p:sp>
        <p:nvSpPr>
          <p:cNvPr id="65" name="Text 43"/>
          <p:cNvSpPr/>
          <p:nvPr/>
        </p:nvSpPr>
        <p:spPr>
          <a:xfrm>
            <a:off x="3827678" y="4548226"/>
            <a:ext cx="600761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NumPy</a:t>
            </a:r>
            <a:endParaRPr lang="en-US" sz="1100" dirty="0"/>
          </a:p>
        </p:txBody>
      </p:sp>
      <p:pic>
        <p:nvPicPr>
          <p:cNvPr id="67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84218" y="4548226"/>
            <a:ext cx="599846" cy="256946"/>
          </a:xfrm>
          <a:prstGeom prst="rect">
            <a:avLst/>
          </a:prstGeom>
        </p:spPr>
      </p:pic>
      <p:sp>
        <p:nvSpPr>
          <p:cNvPr id="68" name="Text 45"/>
          <p:cNvSpPr/>
          <p:nvPr/>
        </p:nvSpPr>
        <p:spPr>
          <a:xfrm>
            <a:off x="4484218" y="4548226"/>
            <a:ext cx="600761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1100" dirty="0"/>
          </a:p>
        </p:txBody>
      </p:sp>
      <p:sp>
        <p:nvSpPr>
          <p:cNvPr id="70" name="Shape 47"/>
          <p:cNvSpPr/>
          <p:nvPr/>
        </p:nvSpPr>
        <p:spPr>
          <a:xfrm>
            <a:off x="476402" y="5124298"/>
            <a:ext cx="5486400" cy="100035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1" name="Shape 48"/>
          <p:cNvSpPr/>
          <p:nvPr/>
        </p:nvSpPr>
        <p:spPr>
          <a:xfrm>
            <a:off x="476402" y="5124298"/>
            <a:ext cx="38405" cy="1000354"/>
          </a:xfrm>
          <a:prstGeom prst="roundRect">
            <a:avLst>
              <a:gd name="adj" fmla="val 18140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72" name="Image 21" descr="preencoded.png"/>
          <p:cNvPicPr>
            <a:picLocks noChangeAspect="1"/>
          </p:cNvPicPr>
          <p:nvPr/>
        </p:nvPicPr>
        <p:blipFill>
          <a:blip r:embed="rId21"/>
          <a:srcRect l="-1648" r="-1648"/>
          <a:stretch/>
        </p:blipFill>
        <p:spPr>
          <a:xfrm>
            <a:off x="685800" y="5348326"/>
            <a:ext cx="171907" cy="190195"/>
          </a:xfrm>
          <a:prstGeom prst="rect">
            <a:avLst/>
          </a:prstGeom>
        </p:spPr>
      </p:pic>
      <p:sp>
        <p:nvSpPr>
          <p:cNvPr id="73" name="Text 49"/>
          <p:cNvSpPr txBox="1"/>
          <p:nvPr/>
        </p:nvSpPr>
        <p:spPr>
          <a:xfrm>
            <a:off x="952804" y="5339182"/>
            <a:ext cx="1739189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처리 및 분석</a:t>
            </a:r>
            <a:endParaRPr lang="en-US" sz="1400" dirty="0"/>
          </a:p>
        </p:txBody>
      </p:sp>
      <p:pic>
        <p:nvPicPr>
          <p:cNvPr id="7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5695798"/>
            <a:ext cx="1095451" cy="256946"/>
          </a:xfrm>
          <a:prstGeom prst="rect">
            <a:avLst/>
          </a:prstGeom>
        </p:spPr>
      </p:pic>
      <p:sp>
        <p:nvSpPr>
          <p:cNvPr id="75" name="Text 50"/>
          <p:cNvSpPr/>
          <p:nvPr/>
        </p:nvSpPr>
        <p:spPr>
          <a:xfrm>
            <a:off x="685800" y="5695798"/>
            <a:ext cx="1095451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 (Bioconductor)</a:t>
            </a:r>
            <a:endParaRPr lang="en-US" sz="1100" dirty="0"/>
          </a:p>
        </p:txBody>
      </p:sp>
      <p:pic>
        <p:nvPicPr>
          <p:cNvPr id="77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32458" y="5695798"/>
            <a:ext cx="809244" cy="256946"/>
          </a:xfrm>
          <a:prstGeom prst="rect">
            <a:avLst/>
          </a:prstGeom>
        </p:spPr>
      </p:pic>
      <p:sp>
        <p:nvSpPr>
          <p:cNvPr id="78" name="Text 52"/>
          <p:cNvSpPr/>
          <p:nvPr/>
        </p:nvSpPr>
        <p:spPr>
          <a:xfrm>
            <a:off x="1832458" y="5695798"/>
            <a:ext cx="810158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GOSemSim</a:t>
            </a:r>
            <a:endParaRPr lang="en-US" sz="1100" dirty="0"/>
          </a:p>
        </p:txBody>
      </p:sp>
      <p:pic>
        <p:nvPicPr>
          <p:cNvPr id="80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91994" y="5695798"/>
            <a:ext cx="552298" cy="256946"/>
          </a:xfrm>
          <a:prstGeom prst="rect">
            <a:avLst/>
          </a:prstGeom>
        </p:spPr>
      </p:pic>
      <p:sp>
        <p:nvSpPr>
          <p:cNvPr id="81" name="Text 54"/>
          <p:cNvSpPr/>
          <p:nvPr/>
        </p:nvSpPr>
        <p:spPr>
          <a:xfrm>
            <a:off x="2691994" y="5695798"/>
            <a:ext cx="55321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BLAST</a:t>
            </a:r>
            <a:endParaRPr lang="en-US" sz="1100" dirty="0"/>
          </a:p>
        </p:txBody>
      </p:sp>
      <p:pic>
        <p:nvPicPr>
          <p:cNvPr id="83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300070" y="5695798"/>
            <a:ext cx="609905" cy="256946"/>
          </a:xfrm>
          <a:prstGeom prst="rect">
            <a:avLst/>
          </a:prstGeom>
        </p:spPr>
      </p:pic>
      <p:sp>
        <p:nvSpPr>
          <p:cNvPr id="84" name="Text 56"/>
          <p:cNvSpPr/>
          <p:nvPr/>
        </p:nvSpPr>
        <p:spPr>
          <a:xfrm>
            <a:off x="3300070" y="5695798"/>
            <a:ext cx="6099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WGCNA</a:t>
            </a:r>
            <a:endParaRPr lang="en-US" sz="1100" dirty="0"/>
          </a:p>
        </p:txBody>
      </p:sp>
      <p:pic>
        <p:nvPicPr>
          <p:cNvPr id="86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65753" y="5695798"/>
            <a:ext cx="1152144" cy="256946"/>
          </a:xfrm>
          <a:prstGeom prst="rect">
            <a:avLst/>
          </a:prstGeom>
        </p:spPr>
      </p:pic>
      <p:sp>
        <p:nvSpPr>
          <p:cNvPr id="87" name="Text 58"/>
          <p:cNvSpPr/>
          <p:nvPr/>
        </p:nvSpPr>
        <p:spPr>
          <a:xfrm>
            <a:off x="3965753" y="5695798"/>
            <a:ext cx="1153058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89" name="Shape 60"/>
          <p:cNvSpPr/>
          <p:nvPr/>
        </p:nvSpPr>
        <p:spPr>
          <a:xfrm>
            <a:off x="6229807" y="1371600"/>
            <a:ext cx="5486400" cy="3719298"/>
          </a:xfrm>
          <a:prstGeom prst="roundRect">
            <a:avLst>
              <a:gd name="adj" fmla="val 55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0" name="Shape 61"/>
          <p:cNvSpPr/>
          <p:nvPr/>
        </p:nvSpPr>
        <p:spPr>
          <a:xfrm>
            <a:off x="6229807" y="1371600"/>
            <a:ext cx="5486400" cy="28346"/>
          </a:xfrm>
          <a:prstGeom prst="roundRect">
            <a:avLst>
              <a:gd name="adj" fmla="val 69373"/>
            </a:avLst>
          </a:prstGeom>
          <a:solidFill>
            <a:srgbClr val="1A355B"/>
          </a:solidFill>
          <a:ln w="12700">
            <a:solidFill>
              <a:srgbClr val="1A355B">
                <a:alpha val="0"/>
              </a:srgbClr>
            </a:solidFill>
            <a:prstDash val="solid"/>
          </a:ln>
        </p:spPr>
      </p:sp>
      <p:pic>
        <p:nvPicPr>
          <p:cNvPr id="91" name="Image 27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6420002" y="1655064"/>
            <a:ext cx="209398" cy="209398"/>
          </a:xfrm>
          <a:prstGeom prst="rect">
            <a:avLst/>
          </a:prstGeom>
        </p:spPr>
      </p:pic>
      <p:sp>
        <p:nvSpPr>
          <p:cNvPr id="92" name="Text 62"/>
          <p:cNvSpPr txBox="1"/>
          <p:nvPr/>
        </p:nvSpPr>
        <p:spPr>
          <a:xfrm>
            <a:off x="6724498" y="1640434"/>
            <a:ext cx="1919881" cy="239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 확보 방법</a:t>
            </a:r>
            <a:endParaRPr lang="en-US" dirty="0"/>
          </a:p>
        </p:txBody>
      </p:sp>
      <p:sp>
        <p:nvSpPr>
          <p:cNvPr id="93" name="Shape 63"/>
          <p:cNvSpPr/>
          <p:nvPr/>
        </p:nvSpPr>
        <p:spPr>
          <a:xfrm>
            <a:off x="6420002" y="1991062"/>
            <a:ext cx="5105095" cy="638251"/>
          </a:xfrm>
          <a:prstGeom prst="roundRect">
            <a:avLst>
              <a:gd name="adj" fmla="val 16536"/>
            </a:avLst>
          </a:prstGeom>
          <a:solidFill>
            <a:srgbClr val="F8FAFC"/>
          </a:solidFill>
          <a:ln/>
        </p:spPr>
      </p:sp>
      <p:sp>
        <p:nvSpPr>
          <p:cNvPr id="94" name="Shape 64"/>
          <p:cNvSpPr/>
          <p:nvPr/>
        </p:nvSpPr>
        <p:spPr>
          <a:xfrm>
            <a:off x="6420002" y="1991062"/>
            <a:ext cx="28346" cy="638251"/>
          </a:xfrm>
          <a:prstGeom prst="roundRect">
            <a:avLst>
              <a:gd name="adj" fmla="val 32805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5" name="Text 65"/>
          <p:cNvSpPr txBox="1"/>
          <p:nvPr/>
        </p:nvSpPr>
        <p:spPr>
          <a:xfrm>
            <a:off x="6562649" y="2086160"/>
            <a:ext cx="5039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분할 전략</a:t>
            </a:r>
            <a:endParaRPr lang="en-US" sz="1200" dirty="0"/>
          </a:p>
        </p:txBody>
      </p:sp>
      <p:sp>
        <p:nvSpPr>
          <p:cNvPr id="96" name="Text 66"/>
          <p:cNvSpPr txBox="1"/>
          <p:nvPr/>
        </p:nvSpPr>
        <p:spPr>
          <a:xfrm>
            <a:off x="6562649" y="2281842"/>
            <a:ext cx="4572711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Scaffold Split (80:10:10)</a:t>
            </a: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분자 골격 기반 분할로 훈련/검증/테스트 세트 간 구조적 다양성 확보</a:t>
            </a:r>
            <a:endParaRPr lang="en-US" sz="1100" dirty="0"/>
          </a:p>
        </p:txBody>
      </p:sp>
      <p:sp>
        <p:nvSpPr>
          <p:cNvPr id="97" name="Shape 67"/>
          <p:cNvSpPr/>
          <p:nvPr/>
        </p:nvSpPr>
        <p:spPr>
          <a:xfrm>
            <a:off x="6420002" y="2709932"/>
            <a:ext cx="5105095" cy="667511"/>
          </a:xfrm>
          <a:prstGeom prst="roundRect">
            <a:avLst>
              <a:gd name="adj" fmla="val 16536"/>
            </a:avLst>
          </a:prstGeom>
          <a:solidFill>
            <a:srgbClr val="F8FAFC"/>
          </a:solidFill>
          <a:ln/>
        </p:spPr>
      </p:sp>
      <p:sp>
        <p:nvSpPr>
          <p:cNvPr id="98" name="Shape 68"/>
          <p:cNvSpPr/>
          <p:nvPr/>
        </p:nvSpPr>
        <p:spPr>
          <a:xfrm>
            <a:off x="6420002" y="2709932"/>
            <a:ext cx="28346" cy="667511"/>
          </a:xfrm>
          <a:prstGeom prst="roundRect">
            <a:avLst>
              <a:gd name="adj" fmla="val 32805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9" name="Text 69"/>
          <p:cNvSpPr txBox="1"/>
          <p:nvPr/>
        </p:nvSpPr>
        <p:spPr>
          <a:xfrm>
            <a:off x="6562649" y="2805031"/>
            <a:ext cx="5039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임계값 최적화</a:t>
            </a:r>
            <a:endParaRPr lang="en-US" sz="1200" dirty="0"/>
          </a:p>
        </p:txBody>
      </p:sp>
      <p:sp>
        <p:nvSpPr>
          <p:cNvPr id="100" name="Text 70"/>
          <p:cNvSpPr txBox="1"/>
          <p:nvPr/>
        </p:nvSpPr>
        <p:spPr>
          <a:xfrm>
            <a:off x="6562649" y="2999798"/>
            <a:ext cx="4278110" cy="30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Youden's J Statistic</a:t>
            </a: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ROC 곡선 기반 최적 분류 임계값 </a:t>
            </a:r>
            <a:r>
              <a:rPr lang="en-US" sz="1100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 smtClean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</a:t>
            </a:r>
            <a:endParaRPr lang="en-US" sz="1100" dirty="0" smtClean="0">
              <a:solidFill>
                <a:srgbClr val="1E293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100" dirty="0" smtClean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+ 특이도 - 1 최대화)</a:t>
            </a:r>
            <a:endParaRPr lang="en-US" sz="1100" dirty="0"/>
          </a:p>
        </p:txBody>
      </p:sp>
      <p:sp>
        <p:nvSpPr>
          <p:cNvPr id="101" name="Shape 71"/>
          <p:cNvSpPr/>
          <p:nvPr/>
        </p:nvSpPr>
        <p:spPr>
          <a:xfrm>
            <a:off x="6420002" y="3448833"/>
            <a:ext cx="5105095" cy="648417"/>
          </a:xfrm>
          <a:prstGeom prst="roundRect">
            <a:avLst>
              <a:gd name="adj" fmla="val 16536"/>
            </a:avLst>
          </a:prstGeom>
          <a:solidFill>
            <a:srgbClr val="F8FAFC"/>
          </a:solidFill>
          <a:ln/>
        </p:spPr>
      </p:sp>
      <p:sp>
        <p:nvSpPr>
          <p:cNvPr id="102" name="Shape 72"/>
          <p:cNvSpPr/>
          <p:nvPr/>
        </p:nvSpPr>
        <p:spPr>
          <a:xfrm>
            <a:off x="6420002" y="3448833"/>
            <a:ext cx="28346" cy="648417"/>
          </a:xfrm>
          <a:prstGeom prst="roundRect">
            <a:avLst>
              <a:gd name="adj" fmla="val 32805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3" name="Text 73"/>
          <p:cNvSpPr txBox="1"/>
          <p:nvPr/>
        </p:nvSpPr>
        <p:spPr>
          <a:xfrm>
            <a:off x="6562649" y="3543932"/>
            <a:ext cx="5039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앙상블</a:t>
            </a:r>
            <a:endParaRPr lang="en-US" sz="1200" dirty="0"/>
          </a:p>
        </p:txBody>
      </p:sp>
      <p:sp>
        <p:nvSpPr>
          <p:cNvPr id="104" name="Text 74"/>
          <p:cNvSpPr txBox="1"/>
          <p:nvPr/>
        </p:nvSpPr>
        <p:spPr>
          <a:xfrm>
            <a:off x="6562649" y="3739614"/>
            <a:ext cx="4572711" cy="304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5-Fold Ensemble</a:t>
            </a: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서로 다른 초기 가중치로 학습한 5개 모델의 예측 평균으로 강건성 향상</a:t>
            </a:r>
            <a:endParaRPr lang="en-US" sz="1100" dirty="0"/>
          </a:p>
        </p:txBody>
      </p:sp>
      <p:sp>
        <p:nvSpPr>
          <p:cNvPr id="105" name="Shape 75"/>
          <p:cNvSpPr/>
          <p:nvPr/>
        </p:nvSpPr>
        <p:spPr>
          <a:xfrm>
            <a:off x="6420002" y="4185798"/>
            <a:ext cx="5105095" cy="733349"/>
          </a:xfrm>
          <a:prstGeom prst="roundRect">
            <a:avLst>
              <a:gd name="adj" fmla="val 9716"/>
            </a:avLst>
          </a:prstGeom>
          <a:solidFill>
            <a:srgbClr val="F8FAFC"/>
          </a:solidFill>
          <a:ln/>
        </p:spPr>
      </p:sp>
      <p:sp>
        <p:nvSpPr>
          <p:cNvPr id="106" name="Shape 76"/>
          <p:cNvSpPr/>
          <p:nvPr/>
        </p:nvSpPr>
        <p:spPr>
          <a:xfrm>
            <a:off x="6420002" y="4185798"/>
            <a:ext cx="28346" cy="733349"/>
          </a:xfrm>
          <a:prstGeom prst="roundRect">
            <a:avLst>
              <a:gd name="adj" fmla="val 25136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7" name="Text 77"/>
          <p:cNvSpPr txBox="1"/>
          <p:nvPr/>
        </p:nvSpPr>
        <p:spPr>
          <a:xfrm>
            <a:off x="6562649" y="4280896"/>
            <a:ext cx="5039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하이퍼파라미터 최적화</a:t>
            </a:r>
            <a:endParaRPr lang="en-US" sz="1200" dirty="0"/>
          </a:p>
        </p:txBody>
      </p:sp>
      <p:sp>
        <p:nvSpPr>
          <p:cNvPr id="108" name="Text 78"/>
          <p:cNvSpPr txBox="1"/>
          <p:nvPr/>
        </p:nvSpPr>
        <p:spPr>
          <a:xfrm>
            <a:off x="6562649" y="4476577"/>
            <a:ext cx="45727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5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Bayesian Optimization</a:t>
            </a:r>
            <a:r>
              <a:rPr lang="en-US" sz="11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Hyperopt 라이브러리로 드롭아웃, hidden size, 메시지 전달 횟수 등 자동 튜닝</a:t>
            </a:r>
            <a:endParaRPr lang="en-US" sz="1100" dirty="0"/>
          </a:p>
        </p:txBody>
      </p:sp>
      <p:pic>
        <p:nvPicPr>
          <p:cNvPr id="135" name="Image 7" descr="preencoded.png">
            <a:extLst>
              <a:ext uri="{FF2B5EF4-FFF2-40B4-BE49-F238E27FC236}">
                <a16:creationId xmlns:a16="http://schemas.microsoft.com/office/drawing/2014/main" id="{0E51FA92-4C00-47E2-B0A1-6591D3E8390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5800" y="2253082"/>
            <a:ext cx="705002" cy="256946"/>
          </a:xfrm>
          <a:prstGeom prst="rect">
            <a:avLst/>
          </a:prstGeom>
        </p:spPr>
      </p:pic>
      <p:sp>
        <p:nvSpPr>
          <p:cNvPr id="136" name="Text 17">
            <a:extLst>
              <a:ext uri="{FF2B5EF4-FFF2-40B4-BE49-F238E27FC236}">
                <a16:creationId xmlns:a16="http://schemas.microsoft.com/office/drawing/2014/main" id="{8C2E366E-3DB4-439B-AED0-528D2D96BE2E}"/>
              </a:ext>
            </a:extLst>
          </p:cNvPr>
          <p:cNvSpPr/>
          <p:nvPr/>
        </p:nvSpPr>
        <p:spPr>
          <a:xfrm>
            <a:off x="685799" y="2253082"/>
            <a:ext cx="713231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Fetch API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7">
            <a:extLst>
              <a:ext uri="{FF2B5EF4-FFF2-40B4-BE49-F238E27FC236}">
                <a16:creationId xmlns:a16="http://schemas.microsoft.com/office/drawing/2014/main" id="{E16A0586-E24D-4DD0-8080-C50FDA5F572B}"/>
              </a:ext>
            </a:extLst>
          </p:cNvPr>
          <p:cNvSpPr/>
          <p:nvPr/>
        </p:nvSpPr>
        <p:spPr>
          <a:xfrm>
            <a:off x="2267406" y="2851316"/>
            <a:ext cx="7734549" cy="1155368"/>
          </a:xfrm>
          <a:prstGeom prst="roundRect">
            <a:avLst>
              <a:gd name="adj" fmla="val 5327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4" name="Text 99">
            <a:extLst>
              <a:ext uri="{FF2B5EF4-FFF2-40B4-BE49-F238E27FC236}">
                <a16:creationId xmlns:a16="http://schemas.microsoft.com/office/drawing/2014/main" id="{79108938-A584-46DE-BEAB-1175AA00F2D1}"/>
              </a:ext>
            </a:extLst>
          </p:cNvPr>
          <p:cNvSpPr txBox="1"/>
          <p:nvPr/>
        </p:nvSpPr>
        <p:spPr>
          <a:xfrm>
            <a:off x="3485845" y="3074212"/>
            <a:ext cx="5220309" cy="7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600" b="1" dirty="0">
                <a:latin typeface="Noto Sans KR" pitchFamily="34" charset="0"/>
                <a:ea typeface="Noto Sans KR" pitchFamily="34" charset="-122"/>
              </a:rPr>
              <a:t>감사합니다</a:t>
            </a:r>
            <a:r>
              <a:rPr lang="en-US" altLang="ko-KR" sz="3600" b="1" dirty="0">
                <a:latin typeface="Noto Sans KR" pitchFamily="34" charset="0"/>
                <a:ea typeface="Noto Sans KR" pitchFamily="34" charset="-122"/>
              </a:rPr>
              <a:t>.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57638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3485</Words>
  <Application>Microsoft Office PowerPoint</Application>
  <PresentationFormat>와이드스크린</PresentationFormat>
  <Paragraphs>538</Paragraphs>
  <Slides>23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Noto Sans KR</vt:lpstr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asia</cp:lastModifiedBy>
  <cp:revision>16</cp:revision>
  <dcterms:created xsi:type="dcterms:W3CDTF">2026-02-19T09:44:35Z</dcterms:created>
  <dcterms:modified xsi:type="dcterms:W3CDTF">2026-02-20T05:48:21Z</dcterms:modified>
</cp:coreProperties>
</file>