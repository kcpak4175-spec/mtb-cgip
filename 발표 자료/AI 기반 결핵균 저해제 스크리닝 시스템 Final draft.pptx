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7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84" r:id="rId20"/>
    <p:sldId id="273" r:id="rId21"/>
    <p:sldId id="278" r:id="rId22"/>
    <p:sldId id="275" r:id="rId23"/>
    <p:sldId id="280" r:id="rId24"/>
    <p:sldId id="281" r:id="rId25"/>
    <p:sldId id="282" r:id="rId26"/>
    <p:sldId id="283" r:id="rId27"/>
    <p:sldId id="279" r:id="rId28"/>
    <p:sldId id="277" r:id="rId29"/>
    <p:sldId id="27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autoAdjust="0"/>
  </p:normalViewPr>
  <p:slideViewPr>
    <p:cSldViewPr snapToGrid="0" snapToObjects="1">
      <p:cViewPr varScale="1">
        <p:scale>
          <a:sx n="94" d="100"/>
          <a:sy n="94" d="100"/>
        </p:scale>
        <p:origin x="4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9345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39327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932371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39708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610337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68866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422195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9494680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08823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275165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7.png"/><Relationship Id="rId7"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21.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41.png"/><Relationship Id="rId9" Type="http://schemas.openxmlformats.org/officeDocument/2006/relationships/image" Target="../media/image40.png"/></Relationships>
</file>

<file path=ppt/slides/_rels/slide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1.png"/><Relationship Id="rId7"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6.png"/><Relationship Id="rId9" Type="http://schemas.openxmlformats.org/officeDocument/2006/relationships/image" Target="../media/image54.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54.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6.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4.png"/><Relationship Id="rId5" Type="http://schemas.openxmlformats.org/officeDocument/2006/relationships/image" Target="../media/image69.png"/><Relationship Id="rId10" Type="http://schemas.openxmlformats.org/officeDocument/2006/relationships/image" Target="../media/image16.png"/><Relationship Id="rId4" Type="http://schemas.openxmlformats.org/officeDocument/2006/relationships/image" Target="../media/image68.png"/><Relationship Id="rId9" Type="http://schemas.openxmlformats.org/officeDocument/2006/relationships/image" Target="../media/image73.pn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1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7.png"/><Relationship Id="rId7" Type="http://schemas.openxmlformats.org/officeDocument/2006/relationships/image" Target="../media/image49.png"/><Relationship Id="rId12" Type="http://schemas.openxmlformats.org/officeDocument/2006/relationships/image" Target="../media/image9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90.png"/><Relationship Id="rId5" Type="http://schemas.openxmlformats.org/officeDocument/2006/relationships/image" Target="../media/image86.png"/><Relationship Id="rId10" Type="http://schemas.openxmlformats.org/officeDocument/2006/relationships/image" Target="../media/image89.png"/><Relationship Id="rId4" Type="http://schemas.openxmlformats.org/officeDocument/2006/relationships/image" Target="../media/image85.png"/><Relationship Id="rId9"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s>
</file>

<file path=ppt/slides/_rels/slide17.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1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3" Type="http://schemas.openxmlformats.org/officeDocument/2006/relationships/image" Target="../media/image116.png"/><Relationship Id="rId7" Type="http://schemas.openxmlformats.org/officeDocument/2006/relationships/image" Target="../media/image107.png"/><Relationship Id="rId12" Type="http://schemas.openxmlformats.org/officeDocument/2006/relationships/image" Target="../media/image1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8.png"/><Relationship Id="rId11" Type="http://schemas.openxmlformats.org/officeDocument/2006/relationships/image" Target="../media/image122.png"/><Relationship Id="rId5" Type="http://schemas.openxmlformats.org/officeDocument/2006/relationships/image" Target="../media/image95.png"/><Relationship Id="rId10" Type="http://schemas.openxmlformats.org/officeDocument/2006/relationships/image" Target="../media/image121.png"/><Relationship Id="rId4" Type="http://schemas.openxmlformats.org/officeDocument/2006/relationships/image" Target="../media/image117.png"/><Relationship Id="rId9" Type="http://schemas.openxmlformats.org/officeDocument/2006/relationships/image" Target="../media/image120.png"/></Relationships>
</file>

<file path=ppt/slides/_rels/slide19.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6.png"/><Relationship Id="rId7" Type="http://schemas.openxmlformats.org/officeDocument/2006/relationships/image" Target="../media/image12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7.png"/><Relationship Id="rId11" Type="http://schemas.openxmlformats.org/officeDocument/2006/relationships/image" Target="../media/image131.png"/><Relationship Id="rId5" Type="http://schemas.openxmlformats.org/officeDocument/2006/relationships/image" Target="../media/image126.png"/><Relationship Id="rId10" Type="http://schemas.openxmlformats.org/officeDocument/2006/relationships/image" Target="../media/image130.png"/><Relationship Id="rId4" Type="http://schemas.openxmlformats.org/officeDocument/2006/relationships/image" Target="../media/image125.png"/><Relationship Id="rId9" Type="http://schemas.openxmlformats.org/officeDocument/2006/relationships/image" Target="../media/image129.png"/></Relationships>
</file>

<file path=ppt/slides/_rels/slide2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33.png"/></Relationships>
</file>

<file path=ppt/slides/_rels/slide2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18" Type="http://schemas.openxmlformats.org/officeDocument/2006/relationships/image" Target="../media/image150.png"/><Relationship Id="rId26" Type="http://schemas.openxmlformats.org/officeDocument/2006/relationships/image" Target="../media/image158.png"/><Relationship Id="rId3" Type="http://schemas.openxmlformats.org/officeDocument/2006/relationships/image" Target="../media/image135.png"/><Relationship Id="rId21" Type="http://schemas.openxmlformats.org/officeDocument/2006/relationships/image" Target="../media/image153.png"/><Relationship Id="rId7" Type="http://schemas.openxmlformats.org/officeDocument/2006/relationships/image" Target="../media/image139.png"/><Relationship Id="rId12" Type="http://schemas.openxmlformats.org/officeDocument/2006/relationships/image" Target="../media/image144.png"/><Relationship Id="rId17" Type="http://schemas.openxmlformats.org/officeDocument/2006/relationships/image" Target="../media/image149.png"/><Relationship Id="rId25" Type="http://schemas.openxmlformats.org/officeDocument/2006/relationships/image" Target="../media/image157.png"/><Relationship Id="rId2" Type="http://schemas.openxmlformats.org/officeDocument/2006/relationships/notesSlide" Target="../notesSlides/notesSlide22.xml"/><Relationship Id="rId16" Type="http://schemas.openxmlformats.org/officeDocument/2006/relationships/image" Target="../media/image148.png"/><Relationship Id="rId20" Type="http://schemas.openxmlformats.org/officeDocument/2006/relationships/image" Target="../media/image152.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3.png"/><Relationship Id="rId24" Type="http://schemas.openxmlformats.org/officeDocument/2006/relationships/image" Target="../media/image156.png"/><Relationship Id="rId5" Type="http://schemas.openxmlformats.org/officeDocument/2006/relationships/image" Target="../media/image137.png"/><Relationship Id="rId15" Type="http://schemas.openxmlformats.org/officeDocument/2006/relationships/image" Target="../media/image147.png"/><Relationship Id="rId23" Type="http://schemas.openxmlformats.org/officeDocument/2006/relationships/image" Target="../media/image155.png"/><Relationship Id="rId28" Type="http://schemas.openxmlformats.org/officeDocument/2006/relationships/image" Target="../media/image160.png"/><Relationship Id="rId10" Type="http://schemas.openxmlformats.org/officeDocument/2006/relationships/image" Target="../media/image142.png"/><Relationship Id="rId19" Type="http://schemas.openxmlformats.org/officeDocument/2006/relationships/image" Target="../media/image151.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 Id="rId22" Type="http://schemas.openxmlformats.org/officeDocument/2006/relationships/image" Target="../media/image154.png"/><Relationship Id="rId27" Type="http://schemas.openxmlformats.org/officeDocument/2006/relationships/image" Target="../media/image1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62.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61.png"/></Relationships>
</file>

<file path=ppt/slides/_rels/slide25.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18" Type="http://schemas.openxmlformats.org/officeDocument/2006/relationships/image" Target="../media/image165.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164.png"/><Relationship Id="rId2" Type="http://schemas.openxmlformats.org/officeDocument/2006/relationships/notesSlide" Target="../notesSlides/notesSlide24.xml"/><Relationship Id="rId16" Type="http://schemas.openxmlformats.org/officeDocument/2006/relationships/image" Target="../media/image163.png"/><Relationship Id="rId1" Type="http://schemas.openxmlformats.org/officeDocument/2006/relationships/slideLayout" Target="../slideLayouts/slideLayout1.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5.png"/><Relationship Id="rId10" Type="http://schemas.openxmlformats.org/officeDocument/2006/relationships/image" Target="../media/image110.png"/><Relationship Id="rId19" Type="http://schemas.openxmlformats.org/officeDocument/2006/relationships/image" Target="../media/image166.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26.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21.png"/><Relationship Id="rId18" Type="http://schemas.openxmlformats.org/officeDocument/2006/relationships/image" Target="../media/image129.png"/><Relationship Id="rId3" Type="http://schemas.openxmlformats.org/officeDocument/2006/relationships/image" Target="../media/image116.png"/><Relationship Id="rId7" Type="http://schemas.openxmlformats.org/officeDocument/2006/relationships/image" Target="../media/image107.png"/><Relationship Id="rId12" Type="http://schemas.openxmlformats.org/officeDocument/2006/relationships/image" Target="../media/image120.png"/><Relationship Id="rId17" Type="http://schemas.openxmlformats.org/officeDocument/2006/relationships/image" Target="../media/image128.png"/><Relationship Id="rId2" Type="http://schemas.openxmlformats.org/officeDocument/2006/relationships/notesSlide" Target="../notesSlides/notesSlide25.xml"/><Relationship Id="rId16" Type="http://schemas.openxmlformats.org/officeDocument/2006/relationships/image" Target="../media/image124.png"/><Relationship Id="rId20" Type="http://schemas.openxmlformats.org/officeDocument/2006/relationships/image" Target="../media/image131.png"/><Relationship Id="rId1" Type="http://schemas.openxmlformats.org/officeDocument/2006/relationships/slideLayout" Target="../slideLayouts/slideLayout1.xml"/><Relationship Id="rId6" Type="http://schemas.openxmlformats.org/officeDocument/2006/relationships/image" Target="../media/image118.png"/><Relationship Id="rId11" Type="http://schemas.openxmlformats.org/officeDocument/2006/relationships/image" Target="../media/image119.png"/><Relationship Id="rId5" Type="http://schemas.openxmlformats.org/officeDocument/2006/relationships/image" Target="../media/image95.png"/><Relationship Id="rId15" Type="http://schemas.openxmlformats.org/officeDocument/2006/relationships/image" Target="../media/image123.png"/><Relationship Id="rId10" Type="http://schemas.openxmlformats.org/officeDocument/2006/relationships/image" Target="../media/image127.png"/><Relationship Id="rId19" Type="http://schemas.openxmlformats.org/officeDocument/2006/relationships/image" Target="../media/image130.png"/><Relationship Id="rId4" Type="http://schemas.openxmlformats.org/officeDocument/2006/relationships/image" Target="../media/image117.png"/><Relationship Id="rId9" Type="http://schemas.openxmlformats.org/officeDocument/2006/relationships/image" Target="../media/image126.png"/><Relationship Id="rId14" Type="http://schemas.openxmlformats.org/officeDocument/2006/relationships/image" Target="../media/image122.png"/></Relationships>
</file>

<file path=ppt/slides/_rels/slide2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4.png"/><Relationship Id="rId18" Type="http://schemas.openxmlformats.org/officeDocument/2006/relationships/image" Target="../media/image149.png"/><Relationship Id="rId26" Type="http://schemas.openxmlformats.org/officeDocument/2006/relationships/image" Target="../media/image157.png"/><Relationship Id="rId3" Type="http://schemas.openxmlformats.org/officeDocument/2006/relationships/image" Target="../media/image135.png"/><Relationship Id="rId21" Type="http://schemas.openxmlformats.org/officeDocument/2006/relationships/image" Target="../media/image152.png"/><Relationship Id="rId7" Type="http://schemas.openxmlformats.org/officeDocument/2006/relationships/image" Target="../media/image139.png"/><Relationship Id="rId12" Type="http://schemas.openxmlformats.org/officeDocument/2006/relationships/image" Target="../media/image143.png"/><Relationship Id="rId17" Type="http://schemas.openxmlformats.org/officeDocument/2006/relationships/image" Target="../media/image148.png"/><Relationship Id="rId25" Type="http://schemas.openxmlformats.org/officeDocument/2006/relationships/image" Target="../media/image156.png"/><Relationship Id="rId2" Type="http://schemas.openxmlformats.org/officeDocument/2006/relationships/notesSlide" Target="../notesSlides/notesSlide26.xml"/><Relationship Id="rId16" Type="http://schemas.openxmlformats.org/officeDocument/2006/relationships/image" Target="../media/image147.png"/><Relationship Id="rId20" Type="http://schemas.openxmlformats.org/officeDocument/2006/relationships/image" Target="../media/image151.png"/><Relationship Id="rId29" Type="http://schemas.openxmlformats.org/officeDocument/2006/relationships/image" Target="../media/image167.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2.png"/><Relationship Id="rId24" Type="http://schemas.openxmlformats.org/officeDocument/2006/relationships/image" Target="../media/image155.png"/><Relationship Id="rId32" Type="http://schemas.openxmlformats.org/officeDocument/2006/relationships/image" Target="../media/image170.png"/><Relationship Id="rId5" Type="http://schemas.openxmlformats.org/officeDocument/2006/relationships/image" Target="../media/image137.png"/><Relationship Id="rId15" Type="http://schemas.openxmlformats.org/officeDocument/2006/relationships/image" Target="../media/image146.png"/><Relationship Id="rId23" Type="http://schemas.openxmlformats.org/officeDocument/2006/relationships/image" Target="../media/image154.png"/><Relationship Id="rId28" Type="http://schemas.openxmlformats.org/officeDocument/2006/relationships/image" Target="../media/image159.png"/><Relationship Id="rId10" Type="http://schemas.openxmlformats.org/officeDocument/2006/relationships/image" Target="../media/image160.png"/><Relationship Id="rId19" Type="http://schemas.openxmlformats.org/officeDocument/2006/relationships/image" Target="../media/image150.png"/><Relationship Id="rId31" Type="http://schemas.openxmlformats.org/officeDocument/2006/relationships/image" Target="../media/image169.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5.png"/><Relationship Id="rId22" Type="http://schemas.openxmlformats.org/officeDocument/2006/relationships/image" Target="../media/image153.png"/><Relationship Id="rId27" Type="http://schemas.openxmlformats.org/officeDocument/2006/relationships/image" Target="../media/image158.png"/><Relationship Id="rId30" Type="http://schemas.openxmlformats.org/officeDocument/2006/relationships/image" Target="../media/image168.png"/></Relationships>
</file>

<file path=ppt/slides/_rels/slide28.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image" Target="../media/image132.png"/><Relationship Id="rId7" Type="http://schemas.openxmlformats.org/officeDocument/2006/relationships/image" Target="../media/image17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23.png"/><Relationship Id="rId5" Type="http://schemas.openxmlformats.org/officeDocument/2006/relationships/image" Target="../media/image172.png"/><Relationship Id="rId4" Type="http://schemas.openxmlformats.org/officeDocument/2006/relationships/image" Target="../media/image171.png"/><Relationship Id="rId9" Type="http://schemas.openxmlformats.org/officeDocument/2006/relationships/image" Target="../media/image133.png"/></Relationships>
</file>

<file path=ppt/slides/_rels/slide29.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4.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78.png"/><Relationship Id="rId11" Type="http://schemas.openxmlformats.org/officeDocument/2006/relationships/image" Target="../media/image182.png"/><Relationship Id="rId5" Type="http://schemas.openxmlformats.org/officeDocument/2006/relationships/image" Target="../media/image177.png"/><Relationship Id="rId15" Type="http://schemas.openxmlformats.org/officeDocument/2006/relationships/image" Target="../media/image186.png"/><Relationship Id="rId10" Type="http://schemas.openxmlformats.org/officeDocument/2006/relationships/image" Target="../media/image181.png"/><Relationship Id="rId4" Type="http://schemas.openxmlformats.org/officeDocument/2006/relationships/image" Target="../media/image176.png"/><Relationship Id="rId9" Type="http://schemas.openxmlformats.org/officeDocument/2006/relationships/image" Target="../media/image121.png"/><Relationship Id="rId14" Type="http://schemas.openxmlformats.org/officeDocument/2006/relationships/image" Target="../media/image185.png"/></Relationships>
</file>

<file path=ppt/slides/_rels/slide30.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18" Type="http://schemas.openxmlformats.org/officeDocument/2006/relationships/image" Target="../media/image150.png"/><Relationship Id="rId26" Type="http://schemas.openxmlformats.org/officeDocument/2006/relationships/image" Target="../media/image158.png"/><Relationship Id="rId3" Type="http://schemas.openxmlformats.org/officeDocument/2006/relationships/image" Target="../media/image135.png"/><Relationship Id="rId21" Type="http://schemas.openxmlformats.org/officeDocument/2006/relationships/image" Target="../media/image153.png"/><Relationship Id="rId7" Type="http://schemas.openxmlformats.org/officeDocument/2006/relationships/image" Target="../media/image139.png"/><Relationship Id="rId12" Type="http://schemas.openxmlformats.org/officeDocument/2006/relationships/image" Target="../media/image144.png"/><Relationship Id="rId17" Type="http://schemas.openxmlformats.org/officeDocument/2006/relationships/image" Target="../media/image149.png"/><Relationship Id="rId25" Type="http://schemas.openxmlformats.org/officeDocument/2006/relationships/image" Target="../media/image157.png"/><Relationship Id="rId2" Type="http://schemas.openxmlformats.org/officeDocument/2006/relationships/notesSlide" Target="../notesSlides/notesSlide29.xml"/><Relationship Id="rId16" Type="http://schemas.openxmlformats.org/officeDocument/2006/relationships/image" Target="../media/image148.png"/><Relationship Id="rId20" Type="http://schemas.openxmlformats.org/officeDocument/2006/relationships/image" Target="../media/image152.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3.png"/><Relationship Id="rId24" Type="http://schemas.openxmlformats.org/officeDocument/2006/relationships/image" Target="../media/image156.png"/><Relationship Id="rId5" Type="http://schemas.openxmlformats.org/officeDocument/2006/relationships/image" Target="../media/image137.png"/><Relationship Id="rId15" Type="http://schemas.openxmlformats.org/officeDocument/2006/relationships/image" Target="../media/image147.png"/><Relationship Id="rId23" Type="http://schemas.openxmlformats.org/officeDocument/2006/relationships/image" Target="../media/image155.png"/><Relationship Id="rId28" Type="http://schemas.openxmlformats.org/officeDocument/2006/relationships/image" Target="../media/image160.png"/><Relationship Id="rId10" Type="http://schemas.openxmlformats.org/officeDocument/2006/relationships/image" Target="../media/image142.png"/><Relationship Id="rId19" Type="http://schemas.openxmlformats.org/officeDocument/2006/relationships/image" Target="../media/image151.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 Id="rId22" Type="http://schemas.openxmlformats.org/officeDocument/2006/relationships/image" Target="../media/image154.png"/><Relationship Id="rId27" Type="http://schemas.openxmlformats.org/officeDocument/2006/relationships/image" Target="../media/image15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355B"/>
          </a:solidFill>
          <a:ln w="12700">
            <a:solidFill>
              <a:srgbClr val="FFFFFF">
                <a:alpha val="0"/>
              </a:srgbClr>
            </a:solidFill>
            <a:prstDash val="solid"/>
          </a:ln>
        </p:spPr>
      </p:sp>
      <p:sp>
        <p:nvSpPr>
          <p:cNvPr id="3" name="Shape 1"/>
          <p:cNvSpPr/>
          <p:nvPr/>
        </p:nvSpPr>
        <p:spPr>
          <a:xfrm>
            <a:off x="10287000" y="-1904695"/>
            <a:ext cx="3810305" cy="3810305"/>
          </a:xfrm>
          <a:prstGeom prst="ellipse">
            <a:avLst/>
          </a:prstGeom>
          <a:noFill/>
          <a:ln w="25400">
            <a:solidFill>
              <a:srgbClr val="FFFFFF"/>
            </a:solidFill>
            <a:prstDash val="solid"/>
          </a:ln>
        </p:spPr>
      </p:sp>
      <p:sp>
        <p:nvSpPr>
          <p:cNvPr id="4" name="Shape 2"/>
          <p:cNvSpPr/>
          <p:nvPr/>
        </p:nvSpPr>
        <p:spPr>
          <a:xfrm>
            <a:off x="-1429207" y="5429707"/>
            <a:ext cx="2857500" cy="2857500"/>
          </a:xfrm>
          <a:prstGeom prst="ellipse">
            <a:avLst/>
          </a:prstGeom>
          <a:noFill/>
          <a:ln w="25400">
            <a:solidFill>
              <a:srgbClr val="FFFFFF"/>
            </a:solidFill>
            <a:prstDash val="solid"/>
          </a:ln>
        </p:spPr>
      </p:sp>
      <p:pic>
        <p:nvPicPr>
          <p:cNvPr id="5" name="Image 0" descr="preencoded.png"/>
          <p:cNvPicPr>
            <a:picLocks noChangeAspect="1"/>
          </p:cNvPicPr>
          <p:nvPr/>
        </p:nvPicPr>
        <p:blipFill>
          <a:blip r:embed="rId3">
            <a:alphaModFix amt="10000"/>
          </a:blip>
          <a:srcRect t="-8" b="-8"/>
          <a:stretch/>
        </p:blipFill>
        <p:spPr>
          <a:xfrm rot="20700000">
            <a:off x="-952805" y="1143000"/>
            <a:ext cx="5522976" cy="1488643"/>
          </a:xfrm>
          <a:prstGeom prst="rect">
            <a:avLst/>
          </a:prstGeom>
        </p:spPr>
      </p:pic>
      <p:pic>
        <p:nvPicPr>
          <p:cNvPr id="6" name="Image 1" descr="preencoded.png"/>
          <p:cNvPicPr>
            <a:picLocks noChangeAspect="1"/>
          </p:cNvPicPr>
          <p:nvPr/>
        </p:nvPicPr>
        <p:blipFill>
          <a:blip r:embed="rId4">
            <a:alphaModFix amt="10000"/>
          </a:blip>
          <a:srcRect l="-6" r="-6"/>
          <a:stretch/>
        </p:blipFill>
        <p:spPr>
          <a:xfrm rot="1200000">
            <a:off x="7905902" y="5419649"/>
            <a:ext cx="4478731" cy="1637690"/>
          </a:xfrm>
          <a:prstGeom prst="rect">
            <a:avLst/>
          </a:prstGeom>
        </p:spPr>
      </p:pic>
      <p:pic>
        <p:nvPicPr>
          <p:cNvPr id="7" name="Image 2" descr="preencoded.png"/>
          <p:cNvPicPr>
            <a:picLocks noChangeAspect="1"/>
          </p:cNvPicPr>
          <p:nvPr/>
        </p:nvPicPr>
        <p:blipFill>
          <a:blip r:embed="rId5">
            <a:alphaModFix amt="6000"/>
          </a:blip>
          <a:srcRect l="-164" r="-164"/>
          <a:stretch/>
        </p:blipFill>
        <p:spPr>
          <a:xfrm>
            <a:off x="761695" y="1004926"/>
            <a:ext cx="1505102" cy="1714500"/>
          </a:xfrm>
          <a:prstGeom prst="rect">
            <a:avLst/>
          </a:prstGeom>
        </p:spPr>
      </p:pic>
      <p:pic>
        <p:nvPicPr>
          <p:cNvPr id="8" name="Image 3" descr="preencoded.png"/>
          <p:cNvPicPr>
            <a:picLocks noChangeAspect="1"/>
          </p:cNvPicPr>
          <p:nvPr/>
        </p:nvPicPr>
        <p:blipFill>
          <a:blip r:embed="rId6">
            <a:alphaModFix amt="6000"/>
          </a:blip>
          <a:srcRect/>
          <a:stretch/>
        </p:blipFill>
        <p:spPr>
          <a:xfrm>
            <a:off x="9525305" y="4243730"/>
            <a:ext cx="1714500" cy="1714500"/>
          </a:xfrm>
          <a:prstGeom prst="rect">
            <a:avLst/>
          </a:prstGeom>
        </p:spPr>
      </p:pic>
      <p:sp>
        <p:nvSpPr>
          <p:cNvPr id="9" name="Text 3"/>
          <p:cNvSpPr txBox="1"/>
          <p:nvPr/>
        </p:nvSpPr>
        <p:spPr>
          <a:xfrm>
            <a:off x="325867" y="1271930"/>
            <a:ext cx="11539960" cy="1028700"/>
          </a:xfrm>
          <a:prstGeom prst="rect">
            <a:avLst/>
          </a:prstGeom>
          <a:noFill/>
          <a:ln/>
        </p:spPr>
        <p:txBody>
          <a:bodyPr wrap="square" lIns="0" tIns="0" rIns="0" bIns="0" rtlCol="0" anchor="ctr"/>
          <a:lstStyle/>
          <a:p>
            <a:pPr marL="0" indent="0" algn="ctr">
              <a:buNone/>
            </a:pPr>
            <a:r>
              <a:rPr lang="en-US" altLang="ko-KR" sz="5400" b="1" kern="0" spc="-37" dirty="0">
                <a:solidFill>
                  <a:schemeClr val="bg1"/>
                </a:solidFill>
                <a:latin typeface="Noto Sans KR" pitchFamily="34" charset="0"/>
                <a:ea typeface="Noto Sans KR" pitchFamily="34" charset="-122"/>
                <a:cs typeface="Noto Sans KR" pitchFamily="34" charset="-120"/>
              </a:rPr>
              <a:t>AI </a:t>
            </a:r>
            <a:r>
              <a:rPr lang="en-US" altLang="ko-KR" sz="5400" b="1" kern="0" spc="-37" dirty="0" err="1">
                <a:solidFill>
                  <a:schemeClr val="bg1"/>
                </a:solidFill>
                <a:latin typeface="Noto Sans KR" pitchFamily="34" charset="0"/>
                <a:ea typeface="Noto Sans KR" pitchFamily="34" charset="-122"/>
                <a:cs typeface="Noto Sans KR" pitchFamily="34" charset="-120"/>
              </a:rPr>
              <a:t>기반</a:t>
            </a:r>
            <a:r>
              <a:rPr lang="en-US" altLang="ko-KR" sz="5400" b="1" kern="0" spc="-37" dirty="0">
                <a:solidFill>
                  <a:schemeClr val="bg1"/>
                </a:solidFill>
                <a:latin typeface="Noto Sans KR" pitchFamily="34" charset="0"/>
                <a:ea typeface="Noto Sans KR" pitchFamily="34" charset="-122"/>
                <a:cs typeface="Noto Sans KR" pitchFamily="34" charset="-120"/>
              </a:rPr>
              <a:t> </a:t>
            </a:r>
            <a:r>
              <a:rPr lang="en-US" altLang="ko-KR" sz="5400" b="1" kern="0" spc="-37" dirty="0" err="1">
                <a:solidFill>
                  <a:schemeClr val="bg1"/>
                </a:solidFill>
                <a:latin typeface="Noto Sans KR" pitchFamily="34" charset="0"/>
                <a:ea typeface="Noto Sans KR" pitchFamily="34" charset="-122"/>
                <a:cs typeface="Noto Sans KR" pitchFamily="34" charset="-120"/>
              </a:rPr>
              <a:t>결핵균</a:t>
            </a:r>
            <a:r>
              <a:rPr lang="en-US" altLang="ko-KR" sz="5400" b="1" kern="0" spc="-37" dirty="0">
                <a:solidFill>
                  <a:schemeClr val="bg1"/>
                </a:solidFill>
                <a:latin typeface="Noto Sans KR" pitchFamily="34" charset="0"/>
                <a:ea typeface="Noto Sans KR" pitchFamily="34" charset="-122"/>
                <a:cs typeface="Noto Sans KR" pitchFamily="34" charset="-120"/>
              </a:rPr>
              <a:t> </a:t>
            </a:r>
            <a:r>
              <a:rPr lang="en-US" altLang="ko-KR" sz="5400" b="1" kern="0" spc="-37" dirty="0" err="1">
                <a:solidFill>
                  <a:schemeClr val="bg1"/>
                </a:solidFill>
                <a:latin typeface="Noto Sans KR" pitchFamily="34" charset="0"/>
                <a:ea typeface="Noto Sans KR" pitchFamily="34" charset="-122"/>
                <a:cs typeface="Noto Sans KR" pitchFamily="34" charset="-120"/>
              </a:rPr>
              <a:t>저해제</a:t>
            </a:r>
            <a:r>
              <a:rPr lang="en-US" altLang="ko-KR" sz="5400" b="1" kern="0" spc="-37" dirty="0">
                <a:solidFill>
                  <a:schemeClr val="bg1"/>
                </a:solidFill>
                <a:latin typeface="Noto Sans KR" pitchFamily="34" charset="0"/>
                <a:ea typeface="Noto Sans KR" pitchFamily="34" charset="-122"/>
                <a:cs typeface="Noto Sans KR" pitchFamily="34" charset="-120"/>
              </a:rPr>
              <a:t> </a:t>
            </a:r>
            <a:r>
              <a:rPr lang="ko-KR" altLang="en-US" sz="5400" b="1" kern="0" spc="-37" dirty="0" err="1">
                <a:solidFill>
                  <a:schemeClr val="bg1"/>
                </a:solidFill>
                <a:latin typeface="Noto Sans KR" pitchFamily="34" charset="0"/>
                <a:ea typeface="Noto Sans KR" pitchFamily="34" charset="-122"/>
                <a:cs typeface="Noto Sans KR" pitchFamily="34" charset="-120"/>
              </a:rPr>
              <a:t>스크리닝</a:t>
            </a:r>
            <a:r>
              <a:rPr lang="ko-KR" altLang="en-US" sz="5400" b="1" kern="0" spc="-37" dirty="0">
                <a:solidFill>
                  <a:schemeClr val="bg1"/>
                </a:solidFill>
                <a:latin typeface="Noto Sans KR" pitchFamily="34" charset="0"/>
                <a:ea typeface="Noto Sans KR" pitchFamily="34" charset="-122"/>
                <a:cs typeface="Noto Sans KR" pitchFamily="34" charset="-120"/>
              </a:rPr>
              <a:t> 시스템</a:t>
            </a:r>
            <a:endParaRPr lang="en-US" sz="5400" dirty="0">
              <a:solidFill>
                <a:schemeClr val="bg1"/>
              </a:solidFill>
            </a:endParaRPr>
          </a:p>
        </p:txBody>
      </p:sp>
      <p:pic>
        <p:nvPicPr>
          <p:cNvPr id="18" name="Image 4" descr="preencoded.png"/>
          <p:cNvPicPr>
            <a:picLocks noChangeAspect="1"/>
          </p:cNvPicPr>
          <p:nvPr/>
        </p:nvPicPr>
        <p:blipFill>
          <a:blip r:embed="rId7">
            <a:alphaModFix amt="60000"/>
          </a:blip>
          <a:srcRect l="-404" r="-404"/>
          <a:stretch/>
        </p:blipFill>
        <p:spPr>
          <a:xfrm>
            <a:off x="5524805" y="2719426"/>
            <a:ext cx="1143000" cy="28346"/>
          </a:xfrm>
          <a:prstGeom prst="rect">
            <a:avLst/>
          </a:prstGeom>
        </p:spPr>
      </p:pic>
      <p:sp>
        <p:nvSpPr>
          <p:cNvPr id="19" name="Text 12"/>
          <p:cNvSpPr txBox="1"/>
          <p:nvPr/>
        </p:nvSpPr>
        <p:spPr>
          <a:xfrm>
            <a:off x="1064413" y="2928048"/>
            <a:ext cx="10062868" cy="859209"/>
          </a:xfrm>
          <a:prstGeom prst="rect">
            <a:avLst/>
          </a:prstGeom>
          <a:noFill/>
          <a:ln/>
        </p:spPr>
        <p:txBody>
          <a:bodyPr wrap="square" lIns="0" tIns="0" rIns="0" bIns="0" rtlCol="0" anchor="ctr"/>
          <a:lstStyle/>
          <a:p>
            <a:pPr marL="0" indent="0" algn="ctr">
              <a:buNone/>
            </a:pPr>
            <a:r>
              <a:rPr lang="en-US" altLang="ko-KR" sz="2400" dirty="0" err="1">
                <a:solidFill>
                  <a:schemeClr val="bg1"/>
                </a:solidFill>
                <a:latin typeface="Noto Sans KR" pitchFamily="34" charset="0"/>
                <a:ea typeface="Noto Sans KR" pitchFamily="34" charset="-122"/>
                <a:cs typeface="Noto Sans KR" pitchFamily="34" charset="-120"/>
              </a:rPr>
              <a:t>대규모</a:t>
            </a:r>
            <a:r>
              <a:rPr lang="en-US" altLang="ko-KR" sz="2400" dirty="0">
                <a:solidFill>
                  <a:schemeClr val="bg1"/>
                </a:solidFill>
                <a:latin typeface="Noto Sans KR" pitchFamily="34" charset="0"/>
                <a:ea typeface="Noto Sans KR" pitchFamily="34" charset="-122"/>
                <a:cs typeface="Noto Sans KR" pitchFamily="34" charset="-120"/>
              </a:rPr>
              <a:t> </a:t>
            </a:r>
            <a:r>
              <a:rPr lang="en-US" altLang="ko-KR" sz="2400" dirty="0" err="1">
                <a:solidFill>
                  <a:schemeClr val="bg1"/>
                </a:solidFill>
                <a:latin typeface="Noto Sans KR" pitchFamily="34" charset="0"/>
                <a:ea typeface="Noto Sans KR" pitchFamily="34" charset="-122"/>
                <a:cs typeface="Noto Sans KR" pitchFamily="34" charset="-120"/>
              </a:rPr>
              <a:t>화학-유전적</a:t>
            </a:r>
            <a:r>
              <a:rPr lang="en-US" altLang="ko-KR" sz="2400" dirty="0">
                <a:solidFill>
                  <a:schemeClr val="bg1"/>
                </a:solidFill>
                <a:latin typeface="Noto Sans KR" pitchFamily="34" charset="0"/>
                <a:ea typeface="Noto Sans KR" pitchFamily="34" charset="-122"/>
                <a:cs typeface="Noto Sans KR" pitchFamily="34" charset="-120"/>
              </a:rPr>
              <a:t> </a:t>
            </a:r>
            <a:r>
              <a:rPr lang="en-US" altLang="ko-KR" sz="2400" dirty="0" err="1">
                <a:solidFill>
                  <a:schemeClr val="bg1"/>
                </a:solidFill>
                <a:latin typeface="Noto Sans KR" pitchFamily="34" charset="0"/>
                <a:ea typeface="Noto Sans KR" pitchFamily="34" charset="-122"/>
                <a:cs typeface="Noto Sans KR" pitchFamily="34" charset="-120"/>
              </a:rPr>
              <a:t>상호작용</a:t>
            </a:r>
            <a:r>
              <a:rPr lang="en-US" altLang="ko-KR" sz="2400" dirty="0">
                <a:solidFill>
                  <a:schemeClr val="bg1"/>
                </a:solidFill>
                <a:latin typeface="Noto Sans KR" pitchFamily="34" charset="0"/>
                <a:ea typeface="Noto Sans KR" pitchFamily="34" charset="-122"/>
                <a:cs typeface="Noto Sans KR" pitchFamily="34" charset="-120"/>
              </a:rPr>
              <a:t>(CGIP) </a:t>
            </a:r>
            <a:r>
              <a:rPr lang="en-US" altLang="ko-KR" sz="2400" dirty="0" err="1">
                <a:solidFill>
                  <a:schemeClr val="bg1"/>
                </a:solidFill>
                <a:latin typeface="Noto Sans KR" pitchFamily="34" charset="0"/>
                <a:ea typeface="Noto Sans KR" pitchFamily="34" charset="-122"/>
                <a:cs typeface="Noto Sans KR" pitchFamily="34" charset="-120"/>
              </a:rPr>
              <a:t>기반</a:t>
            </a:r>
            <a:r>
              <a:rPr lang="en-US" altLang="ko-KR" sz="2400" dirty="0">
                <a:solidFill>
                  <a:schemeClr val="bg1"/>
                </a:solidFill>
                <a:latin typeface="Noto Sans KR" pitchFamily="34" charset="0"/>
                <a:ea typeface="Noto Sans KR" pitchFamily="34" charset="-122"/>
                <a:cs typeface="Noto Sans KR" pitchFamily="34" charset="-120"/>
              </a:rPr>
              <a:t> </a:t>
            </a:r>
            <a:r>
              <a:rPr lang="ko-KR" altLang="en-US" sz="2400" dirty="0">
                <a:solidFill>
                  <a:schemeClr val="bg1"/>
                </a:solidFill>
                <a:latin typeface="Noto Sans KR" pitchFamily="34" charset="0"/>
                <a:ea typeface="Noto Sans KR" pitchFamily="34" charset="-122"/>
                <a:cs typeface="Noto Sans KR" pitchFamily="34" charset="-120"/>
              </a:rPr>
              <a:t>약물 작용기전</a:t>
            </a:r>
            <a:r>
              <a:rPr lang="en-US" altLang="ko-KR" sz="2400" dirty="0">
                <a:solidFill>
                  <a:schemeClr val="bg1"/>
                </a:solidFill>
                <a:latin typeface="Noto Sans KR" pitchFamily="34" charset="0"/>
                <a:ea typeface="Noto Sans KR" pitchFamily="34" charset="-122"/>
                <a:cs typeface="Noto Sans KR" pitchFamily="34" charset="-120"/>
              </a:rPr>
              <a:t> </a:t>
            </a:r>
            <a:r>
              <a:rPr lang="en-US" altLang="ko-KR" sz="2400" dirty="0" err="1">
                <a:solidFill>
                  <a:schemeClr val="bg1"/>
                </a:solidFill>
                <a:latin typeface="Noto Sans KR" pitchFamily="34" charset="0"/>
                <a:ea typeface="Noto Sans KR" pitchFamily="34" charset="-122"/>
                <a:cs typeface="Noto Sans KR" pitchFamily="34" charset="-120"/>
              </a:rPr>
              <a:t>예측</a:t>
            </a:r>
            <a:r>
              <a:rPr lang="en-US" altLang="ko-KR" sz="2400" dirty="0">
                <a:solidFill>
                  <a:schemeClr val="bg1"/>
                </a:solidFill>
                <a:latin typeface="Noto Sans KR" pitchFamily="34" charset="0"/>
                <a:ea typeface="Noto Sans KR" pitchFamily="34" charset="-122"/>
                <a:cs typeface="Noto Sans KR" pitchFamily="34" charset="-120"/>
              </a:rPr>
              <a:t> </a:t>
            </a:r>
            <a:r>
              <a:rPr lang="ko-KR" altLang="en-US" sz="2400" dirty="0">
                <a:solidFill>
                  <a:schemeClr val="bg1"/>
                </a:solidFill>
                <a:latin typeface="Noto Sans KR" pitchFamily="34" charset="0"/>
                <a:ea typeface="Noto Sans KR" pitchFamily="34" charset="-122"/>
                <a:cs typeface="Noto Sans KR" pitchFamily="34" charset="-120"/>
              </a:rPr>
              <a:t>및 </a:t>
            </a:r>
            <a:r>
              <a:rPr lang="en-US" altLang="ko-KR" sz="2400" dirty="0">
                <a:solidFill>
                  <a:schemeClr val="bg1"/>
                </a:solidFill>
                <a:latin typeface="Noto Sans KR" pitchFamily="34" charset="0"/>
                <a:ea typeface="Noto Sans KR" pitchFamily="34" charset="-122"/>
                <a:cs typeface="Noto Sans KR" pitchFamily="34" charset="-120"/>
              </a:rPr>
              <a:t>웹 </a:t>
            </a:r>
            <a:r>
              <a:rPr lang="en-US" altLang="ko-KR" sz="2400" dirty="0" err="1">
                <a:solidFill>
                  <a:schemeClr val="bg1"/>
                </a:solidFill>
                <a:latin typeface="Noto Sans KR" pitchFamily="34" charset="0"/>
                <a:ea typeface="Noto Sans KR" pitchFamily="34" charset="-122"/>
                <a:cs typeface="Noto Sans KR" pitchFamily="34" charset="-120"/>
              </a:rPr>
              <a:t>서비스</a:t>
            </a:r>
            <a:r>
              <a:rPr lang="en-US" altLang="ko-KR" sz="2400" dirty="0">
                <a:solidFill>
                  <a:schemeClr val="bg1"/>
                </a:solidFill>
                <a:latin typeface="Noto Sans KR" pitchFamily="34" charset="0"/>
                <a:ea typeface="Noto Sans KR" pitchFamily="34" charset="-122"/>
                <a:cs typeface="Noto Sans KR" pitchFamily="34" charset="-120"/>
              </a:rPr>
              <a:t> </a:t>
            </a:r>
            <a:r>
              <a:rPr lang="en-US" altLang="ko-KR" sz="2400" dirty="0" err="1">
                <a:solidFill>
                  <a:schemeClr val="bg1"/>
                </a:solidFill>
                <a:latin typeface="Noto Sans KR" pitchFamily="34" charset="0"/>
                <a:ea typeface="Noto Sans KR" pitchFamily="34" charset="-122"/>
                <a:cs typeface="Noto Sans KR" pitchFamily="34" charset="-120"/>
              </a:rPr>
              <a:t>구현</a:t>
            </a:r>
            <a:endParaRPr lang="en-US" altLang="ko-KR" sz="2400" dirty="0">
              <a:solidFill>
                <a:schemeClr val="bg1"/>
              </a:solidFill>
              <a:latin typeface="Noto Sans KR" pitchFamily="34" charset="0"/>
              <a:ea typeface="Noto Sans KR" pitchFamily="34" charset="-122"/>
              <a:cs typeface="Noto Sans KR" pitchFamily="34" charset="-120"/>
            </a:endParaRPr>
          </a:p>
          <a:p>
            <a:pPr marL="0" indent="0" algn="ctr">
              <a:buNone/>
            </a:pPr>
            <a:r>
              <a:rPr lang="en-US" altLang="ko-KR" sz="2400" dirty="0">
                <a:solidFill>
                  <a:schemeClr val="bg1"/>
                </a:solidFill>
                <a:latin typeface="Noto Sans KR" pitchFamily="34" charset="0"/>
                <a:ea typeface="Noto Sans KR" pitchFamily="34" charset="-122"/>
              </a:rPr>
              <a:t>(</a:t>
            </a:r>
            <a:r>
              <a:rPr lang="en-US" altLang="ko-KR" sz="2400" dirty="0" err="1">
                <a:solidFill>
                  <a:schemeClr val="bg1"/>
                </a:solidFill>
                <a:latin typeface="Noto Sans KR" pitchFamily="34" charset="0"/>
                <a:ea typeface="Noto Sans KR" pitchFamily="34" charset="-122"/>
              </a:rPr>
              <a:t>Mtb</a:t>
            </a:r>
            <a:r>
              <a:rPr lang="en-US" altLang="ko-KR" sz="2400" dirty="0">
                <a:solidFill>
                  <a:schemeClr val="bg1"/>
                </a:solidFill>
                <a:latin typeface="Noto Sans KR" pitchFamily="34" charset="0"/>
                <a:ea typeface="Noto Sans KR" pitchFamily="34" charset="-122"/>
              </a:rPr>
              <a:t>-Inhibitor Finder AI)</a:t>
            </a:r>
            <a:endParaRPr lang="en-US" altLang="ko-KR" sz="2400" dirty="0">
              <a:solidFill>
                <a:schemeClr val="bg1"/>
              </a:solidFill>
            </a:endParaRPr>
          </a:p>
        </p:txBody>
      </p:sp>
      <p:sp>
        <p:nvSpPr>
          <p:cNvPr id="20" name="Text 7">
            <a:extLst>
              <a:ext uri="{FF2B5EF4-FFF2-40B4-BE49-F238E27FC236}">
                <a16:creationId xmlns:a16="http://schemas.microsoft.com/office/drawing/2014/main" id="{21BB93A1-EB0D-4272-9D12-DAF6D6ADB12F}"/>
              </a:ext>
            </a:extLst>
          </p:cNvPr>
          <p:cNvSpPr txBox="1"/>
          <p:nvPr/>
        </p:nvSpPr>
        <p:spPr>
          <a:xfrm>
            <a:off x="1523390" y="5762549"/>
            <a:ext cx="3153766" cy="200254"/>
          </a:xfrm>
          <a:prstGeom prst="rect">
            <a:avLst/>
          </a:prstGeom>
          <a:noFill/>
          <a:ln/>
        </p:spPr>
        <p:txBody>
          <a:bodyPr wrap="square" lIns="0" tIns="0" rIns="0" bIns="0" rtlCol="0" anchor="ctr"/>
          <a:lstStyle/>
          <a:p>
            <a:pPr marL="0" indent="0" algn="l">
              <a:buNone/>
            </a:pPr>
            <a:r>
              <a:rPr lang="en-US" sz="1400" b="1" dirty="0">
                <a:solidFill>
                  <a:schemeClr val="bg1"/>
                </a:solidFill>
                <a:latin typeface="Noto Sans KR" pitchFamily="34" charset="0"/>
                <a:ea typeface="Noto Sans KR" pitchFamily="34" charset="-122"/>
                <a:cs typeface="Noto Sans KR" pitchFamily="34" charset="-120"/>
              </a:rPr>
              <a:t>참고 논문:</a:t>
            </a:r>
            <a:endParaRPr lang="en-US" sz="1400" b="1" dirty="0">
              <a:solidFill>
                <a:schemeClr val="bg1"/>
              </a:solidFill>
            </a:endParaRPr>
          </a:p>
        </p:txBody>
      </p:sp>
      <p:pic>
        <p:nvPicPr>
          <p:cNvPr id="21" name="Image 4" descr="preencoded.png">
            <a:extLst>
              <a:ext uri="{FF2B5EF4-FFF2-40B4-BE49-F238E27FC236}">
                <a16:creationId xmlns:a16="http://schemas.microsoft.com/office/drawing/2014/main" id="{170ECB3A-BBB7-4B69-AB68-267BB8BFC5BD}"/>
              </a:ext>
            </a:extLst>
          </p:cNvPr>
          <p:cNvPicPr>
            <a:picLocks noChangeAspect="1"/>
          </p:cNvPicPr>
          <p:nvPr/>
        </p:nvPicPr>
        <p:blipFill>
          <a:blip r:embed="rId8"/>
          <a:srcRect t="-1100" b="-1100"/>
          <a:stretch/>
        </p:blipFill>
        <p:spPr>
          <a:xfrm>
            <a:off x="1333195" y="5798210"/>
            <a:ext cx="114300" cy="133502"/>
          </a:xfrm>
          <a:prstGeom prst="rect">
            <a:avLst/>
          </a:prstGeom>
        </p:spPr>
      </p:pic>
      <p:sp>
        <p:nvSpPr>
          <p:cNvPr id="22" name="Text 8">
            <a:extLst>
              <a:ext uri="{FF2B5EF4-FFF2-40B4-BE49-F238E27FC236}">
                <a16:creationId xmlns:a16="http://schemas.microsoft.com/office/drawing/2014/main" id="{AAF436B7-5B5F-4868-AFAB-D314097A0E5E}"/>
              </a:ext>
            </a:extLst>
          </p:cNvPr>
          <p:cNvSpPr txBox="1"/>
          <p:nvPr/>
        </p:nvSpPr>
        <p:spPr>
          <a:xfrm>
            <a:off x="1333194" y="6010350"/>
            <a:ext cx="4888497" cy="267921"/>
          </a:xfrm>
          <a:prstGeom prst="rect">
            <a:avLst/>
          </a:prstGeom>
          <a:noFill/>
          <a:ln/>
        </p:spPr>
        <p:txBody>
          <a:bodyPr wrap="square" lIns="0" tIns="0" rIns="0" bIns="0" rtlCol="0" anchor="ctr"/>
          <a:lstStyle/>
          <a:p>
            <a:pPr marL="0" indent="0" algn="l">
              <a:buNone/>
            </a:pPr>
            <a:r>
              <a:rPr lang="en-US" sz="1400" b="1" dirty="0">
                <a:solidFill>
                  <a:schemeClr val="bg1"/>
                </a:solidFill>
                <a:latin typeface="Noto Sans KR" pitchFamily="34" charset="0"/>
                <a:ea typeface="Noto Sans KR" pitchFamily="34" charset="-122"/>
                <a:cs typeface="Noto Sans KR" pitchFamily="34" charset="-120"/>
              </a:rPr>
              <a:t>Liu et al., Journal of Cheminformatics (2022) 14:12</a:t>
            </a:r>
            <a:endParaRPr lang="en-US" sz="1400" b="1" dirty="0">
              <a:solidFill>
                <a:schemeClr val="bg1"/>
              </a:solidFill>
            </a:endParaRPr>
          </a:p>
        </p:txBody>
      </p:sp>
      <p:sp>
        <p:nvSpPr>
          <p:cNvPr id="23" name="Text 9">
            <a:extLst>
              <a:ext uri="{FF2B5EF4-FFF2-40B4-BE49-F238E27FC236}">
                <a16:creationId xmlns:a16="http://schemas.microsoft.com/office/drawing/2014/main" id="{41FE021B-6275-429B-9C6B-62CCEDA2A159}"/>
              </a:ext>
            </a:extLst>
          </p:cNvPr>
          <p:cNvSpPr txBox="1"/>
          <p:nvPr/>
        </p:nvSpPr>
        <p:spPr>
          <a:xfrm>
            <a:off x="9795967" y="5762549"/>
            <a:ext cx="1069848" cy="219456"/>
          </a:xfrm>
          <a:prstGeom prst="rect">
            <a:avLst/>
          </a:prstGeom>
          <a:noFill/>
          <a:ln/>
        </p:spPr>
        <p:txBody>
          <a:bodyPr wrap="square" lIns="0" tIns="0" rIns="0" bIns="0" rtlCol="0" anchor="ctr"/>
          <a:lstStyle/>
          <a:p>
            <a:pPr marL="0" indent="0" algn="r">
              <a:buNone/>
            </a:pPr>
            <a:r>
              <a:rPr lang="ko-KR" altLang="en-US" sz="2000" b="1" dirty="0">
                <a:solidFill>
                  <a:schemeClr val="bg1"/>
                </a:solidFill>
                <a:latin typeface="Noto Sans KR" pitchFamily="34" charset="0"/>
                <a:ea typeface="Noto Sans KR" pitchFamily="34" charset="-122"/>
                <a:cs typeface="Noto Sans KR" pitchFamily="34" charset="-120"/>
              </a:rPr>
              <a:t>박관철</a:t>
            </a:r>
            <a:endParaRPr lang="en-US" sz="2000" b="1" dirty="0">
              <a:solidFill>
                <a:schemeClr val="bg1"/>
              </a:solidFill>
            </a:endParaRPr>
          </a:p>
        </p:txBody>
      </p:sp>
      <p:sp>
        <p:nvSpPr>
          <p:cNvPr id="24" name="Text 10">
            <a:extLst>
              <a:ext uri="{FF2B5EF4-FFF2-40B4-BE49-F238E27FC236}">
                <a16:creationId xmlns:a16="http://schemas.microsoft.com/office/drawing/2014/main" id="{75D28FD9-B250-4B3D-AB98-D4CF42134C65}"/>
              </a:ext>
            </a:extLst>
          </p:cNvPr>
          <p:cNvSpPr txBox="1"/>
          <p:nvPr/>
        </p:nvSpPr>
        <p:spPr>
          <a:xfrm>
            <a:off x="9687154" y="6024982"/>
            <a:ext cx="1179576" cy="191110"/>
          </a:xfrm>
          <a:prstGeom prst="rect">
            <a:avLst/>
          </a:prstGeom>
          <a:noFill/>
          <a:ln/>
        </p:spPr>
        <p:txBody>
          <a:bodyPr wrap="square" lIns="0" tIns="0" rIns="0" bIns="0" rtlCol="0" anchor="ctr"/>
          <a:lstStyle/>
          <a:p>
            <a:pPr marL="0" indent="0" algn="r">
              <a:buNone/>
            </a:pPr>
            <a:r>
              <a:rPr lang="en-US" sz="1400" b="1" dirty="0">
                <a:solidFill>
                  <a:schemeClr val="bg1"/>
                </a:solidFill>
                <a:latin typeface="Noto Sans KR" pitchFamily="34" charset="0"/>
                <a:ea typeface="Noto Sans KR" pitchFamily="34" charset="-122"/>
                <a:cs typeface="Noto Sans KR" pitchFamily="34" charset="-120"/>
              </a:rPr>
              <a:t>2026-02-20</a:t>
            </a:r>
            <a:endParaRPr lang="en-US" sz="14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1"/>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06710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6615684"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전체 구성도: 논문 연구 → 솔루션 구현 매핑</a:t>
            </a:r>
            <a:endParaRPr lang="en-US" sz="2400" dirty="0"/>
          </a:p>
        </p:txBody>
      </p:sp>
      <p:sp>
        <p:nvSpPr>
          <p:cNvPr id="5" name="Text 3"/>
          <p:cNvSpPr txBox="1"/>
          <p:nvPr/>
        </p:nvSpPr>
        <p:spPr>
          <a:xfrm>
            <a:off x="476402" y="647395"/>
            <a:ext cx="556321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8단계 프로세스 통합 아키텍처</a:t>
            </a:r>
            <a:endParaRPr lang="en-US" sz="1200" dirty="0"/>
          </a:p>
        </p:txBody>
      </p:sp>
      <p:pic>
        <p:nvPicPr>
          <p:cNvPr id="6" name="Image 0" descr="preencoded.png"/>
          <p:cNvPicPr>
            <a:picLocks noChangeAspect="1"/>
          </p:cNvPicPr>
          <p:nvPr/>
        </p:nvPicPr>
        <p:blipFill>
          <a:blip r:embed="rId3"/>
          <a:srcRect l="-50" r="-50"/>
          <a:stretch/>
        </p:blipFill>
        <p:spPr>
          <a:xfrm>
            <a:off x="11373307" y="400507"/>
            <a:ext cx="342900" cy="304495"/>
          </a:xfrm>
          <a:prstGeom prst="rect">
            <a:avLst/>
          </a:prstGeom>
        </p:spPr>
      </p:pic>
      <p:grpSp>
        <p:nvGrpSpPr>
          <p:cNvPr id="110" name="그룹 109">
            <a:extLst>
              <a:ext uri="{FF2B5EF4-FFF2-40B4-BE49-F238E27FC236}">
                <a16:creationId xmlns:a16="http://schemas.microsoft.com/office/drawing/2014/main" id="{B6B0C1AE-B615-49C8-92F0-21347D9E7F24}"/>
              </a:ext>
            </a:extLst>
          </p:cNvPr>
          <p:cNvGrpSpPr/>
          <p:nvPr/>
        </p:nvGrpSpPr>
        <p:grpSpPr>
          <a:xfrm>
            <a:off x="476402" y="1352398"/>
            <a:ext cx="11239805" cy="4572000"/>
            <a:chOff x="476402" y="1352398"/>
            <a:chExt cx="11239805" cy="4572000"/>
          </a:xfrm>
        </p:grpSpPr>
        <p:sp>
          <p:nvSpPr>
            <p:cNvPr id="7" name="Shape 4"/>
            <p:cNvSpPr/>
            <p:nvPr/>
          </p:nvSpPr>
          <p:spPr>
            <a:xfrm>
              <a:off x="476402" y="1352398"/>
              <a:ext cx="11239805" cy="4572000"/>
            </a:xfrm>
            <a:prstGeom prst="roundRect">
              <a:avLst>
                <a:gd name="adj" fmla="val 94"/>
              </a:avLst>
            </a:prstGeom>
            <a:solidFill>
              <a:srgbClr val="FFFFFF"/>
            </a:solidFill>
            <a:ln w="12700">
              <a:solidFill>
                <a:srgbClr val="FFFFFF">
                  <a:alpha val="0"/>
                </a:srgbClr>
              </a:solidFill>
              <a:prstDash val="solid"/>
            </a:ln>
            <a:effectLst>
              <a:outerShdw blurRad="76200" dist="25400" dir="16200000" algn="bl" rotWithShape="0">
                <a:srgbClr val="000000">
                  <a:alpha val="8000"/>
                </a:srgbClr>
              </a:outerShdw>
            </a:effectLst>
          </p:spPr>
        </p:sp>
        <p:sp>
          <p:nvSpPr>
            <p:cNvPr id="8" name="Shape 5"/>
            <p:cNvSpPr/>
            <p:nvPr/>
          </p:nvSpPr>
          <p:spPr>
            <a:xfrm>
              <a:off x="476402" y="1352398"/>
              <a:ext cx="11239805" cy="533095"/>
            </a:xfrm>
            <a:prstGeom prst="roundRect">
              <a:avLst>
                <a:gd name="adj" fmla="val 24504"/>
              </a:avLst>
            </a:prstGeom>
            <a:solidFill>
              <a:srgbClr val="1A355B"/>
            </a:solidFill>
            <a:ln w="12700">
              <a:solidFill>
                <a:srgbClr val="FFFFFF">
                  <a:alpha val="0"/>
                </a:srgbClr>
              </a:solidFill>
              <a:prstDash val="solid"/>
            </a:ln>
          </p:spPr>
        </p:sp>
      </p:grpSp>
      <p:sp>
        <p:nvSpPr>
          <p:cNvPr id="9" name="Shape 6"/>
          <p:cNvSpPr/>
          <p:nvPr/>
        </p:nvSpPr>
        <p:spPr>
          <a:xfrm>
            <a:off x="1228954" y="1352398"/>
            <a:ext cx="9144" cy="533095"/>
          </a:xfrm>
          <a:prstGeom prst="roundRect">
            <a:avLst>
              <a:gd name="adj" fmla="val 1428571"/>
            </a:avLst>
          </a:prstGeom>
          <a:solidFill>
            <a:srgbClr val="FFFFFF">
              <a:alpha val="20000"/>
            </a:srgbClr>
          </a:solidFill>
          <a:ln w="12700">
            <a:solidFill>
              <a:srgbClr val="FFFFFF">
                <a:alpha val="0"/>
              </a:srgbClr>
            </a:solidFill>
            <a:prstDash val="solid"/>
          </a:ln>
        </p:spPr>
      </p:sp>
      <p:sp>
        <p:nvSpPr>
          <p:cNvPr id="10" name="Text 7"/>
          <p:cNvSpPr txBox="1"/>
          <p:nvPr/>
        </p:nvSpPr>
        <p:spPr>
          <a:xfrm>
            <a:off x="629107" y="1505102"/>
            <a:ext cx="448056" cy="228600"/>
          </a:xfrm>
          <a:prstGeom prst="rect">
            <a:avLst/>
          </a:prstGeom>
          <a:noFill/>
          <a:ln/>
        </p:spPr>
        <p:txBody>
          <a:bodyPr wrap="square" lIns="0" tIns="0" rIns="0" bIns="0" rtlCol="0" anchor="ctr"/>
          <a:lstStyle/>
          <a:p>
            <a:pPr marL="0" indent="0" algn="ctr">
              <a:buNone/>
            </a:pPr>
            <a:r>
              <a:rPr lang="en-US" b="1" dirty="0">
                <a:solidFill>
                  <a:srgbClr val="FFFFFF"/>
                </a:solidFill>
                <a:latin typeface="Noto Sans KR" pitchFamily="34" charset="0"/>
                <a:ea typeface="Noto Sans KR" pitchFamily="34" charset="-122"/>
                <a:cs typeface="Noto Sans KR" pitchFamily="34" charset="-120"/>
              </a:rPr>
              <a:t>단계</a:t>
            </a:r>
            <a:endParaRPr lang="en-US" dirty="0"/>
          </a:p>
        </p:txBody>
      </p:sp>
      <p:sp>
        <p:nvSpPr>
          <p:cNvPr id="11" name="Shape 8"/>
          <p:cNvSpPr/>
          <p:nvPr/>
        </p:nvSpPr>
        <p:spPr>
          <a:xfrm>
            <a:off x="6467551" y="1352398"/>
            <a:ext cx="9144" cy="533095"/>
          </a:xfrm>
          <a:prstGeom prst="rect">
            <a:avLst/>
          </a:prstGeom>
          <a:solidFill>
            <a:srgbClr val="FFFFFF">
              <a:alpha val="20000"/>
            </a:srgbClr>
          </a:solidFill>
          <a:ln w="12700">
            <a:solidFill>
              <a:srgbClr val="FFFFFF">
                <a:alpha val="0"/>
              </a:srgbClr>
            </a:solidFill>
            <a:prstDash val="solid"/>
          </a:ln>
        </p:spPr>
      </p:sp>
      <p:sp>
        <p:nvSpPr>
          <p:cNvPr id="12" name="Text 9"/>
          <p:cNvSpPr txBox="1"/>
          <p:nvPr/>
        </p:nvSpPr>
        <p:spPr>
          <a:xfrm>
            <a:off x="1371600" y="1505102"/>
            <a:ext cx="4963363" cy="228600"/>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KR" pitchFamily="34" charset="0"/>
                <a:ea typeface="Noto Sans KR" pitchFamily="34" charset="-122"/>
                <a:cs typeface="Noto Sans KR" pitchFamily="34" charset="-120"/>
              </a:rPr>
              <a:t>논문 연구 (Research Paper)</a:t>
            </a:r>
            <a:endParaRPr lang="en-US" sz="2000" dirty="0"/>
          </a:p>
        </p:txBody>
      </p:sp>
      <p:sp>
        <p:nvSpPr>
          <p:cNvPr id="13" name="Text 10"/>
          <p:cNvSpPr txBox="1"/>
          <p:nvPr/>
        </p:nvSpPr>
        <p:spPr>
          <a:xfrm>
            <a:off x="6610198" y="1505102"/>
            <a:ext cx="4972507" cy="228600"/>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KR" pitchFamily="34" charset="0"/>
                <a:ea typeface="Noto Sans KR" pitchFamily="34" charset="-122"/>
                <a:cs typeface="Noto Sans KR" pitchFamily="34" charset="-120"/>
              </a:rPr>
              <a:t>솔루션 구현 (Solution Implementation)</a:t>
            </a:r>
            <a:endParaRPr lang="en-US" sz="2000" dirty="0"/>
          </a:p>
        </p:txBody>
      </p:sp>
      <p:sp>
        <p:nvSpPr>
          <p:cNvPr id="14" name="Shape 11"/>
          <p:cNvSpPr/>
          <p:nvPr/>
        </p:nvSpPr>
        <p:spPr>
          <a:xfrm>
            <a:off x="476402" y="2933896"/>
            <a:ext cx="11239805" cy="9144"/>
          </a:xfrm>
          <a:prstGeom prst="rect">
            <a:avLst/>
          </a:prstGeom>
          <a:solidFill>
            <a:srgbClr val="E2E8F0"/>
          </a:solidFill>
          <a:ln w="12700">
            <a:solidFill>
              <a:srgbClr val="E2E8F0">
                <a:alpha val="0"/>
              </a:srgbClr>
            </a:solidFill>
            <a:prstDash val="solid"/>
          </a:ln>
        </p:spPr>
      </p:sp>
      <p:sp>
        <p:nvSpPr>
          <p:cNvPr id="15" name="Shape 12"/>
          <p:cNvSpPr/>
          <p:nvPr/>
        </p:nvSpPr>
        <p:spPr>
          <a:xfrm>
            <a:off x="476402" y="1933542"/>
            <a:ext cx="761695" cy="1000354"/>
          </a:xfrm>
          <a:prstGeom prst="rect">
            <a:avLst/>
          </a:prstGeom>
          <a:solidFill>
            <a:srgbClr val="1A355B"/>
          </a:solidFill>
          <a:ln/>
        </p:spPr>
      </p:sp>
      <p:sp>
        <p:nvSpPr>
          <p:cNvPr id="16" name="Shape 13"/>
          <p:cNvSpPr/>
          <p:nvPr/>
        </p:nvSpPr>
        <p:spPr>
          <a:xfrm>
            <a:off x="1228954" y="1933542"/>
            <a:ext cx="9144" cy="1000354"/>
          </a:xfrm>
          <a:prstGeom prst="rect">
            <a:avLst/>
          </a:prstGeom>
          <a:solidFill>
            <a:srgbClr val="E2E8F0"/>
          </a:solidFill>
          <a:ln w="12700">
            <a:solidFill>
              <a:srgbClr val="E2E8F0">
                <a:alpha val="0"/>
              </a:srgbClr>
            </a:solidFill>
            <a:prstDash val="solid"/>
          </a:ln>
        </p:spPr>
      </p:sp>
      <p:sp>
        <p:nvSpPr>
          <p:cNvPr id="17" name="Text 14"/>
          <p:cNvSpPr txBox="1"/>
          <p:nvPr/>
        </p:nvSpPr>
        <p:spPr>
          <a:xfrm>
            <a:off x="801929" y="2304789"/>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1</a:t>
            </a:r>
            <a:endParaRPr lang="en-US" sz="2000" dirty="0"/>
          </a:p>
        </p:txBody>
      </p:sp>
      <p:sp>
        <p:nvSpPr>
          <p:cNvPr id="18" name="Shape 15"/>
          <p:cNvSpPr/>
          <p:nvPr/>
        </p:nvSpPr>
        <p:spPr>
          <a:xfrm>
            <a:off x="6467551" y="1933542"/>
            <a:ext cx="9144" cy="1000354"/>
          </a:xfrm>
          <a:prstGeom prst="rect">
            <a:avLst/>
          </a:prstGeom>
          <a:solidFill>
            <a:srgbClr val="E2E8F0"/>
          </a:solidFill>
          <a:ln w="12700">
            <a:solidFill>
              <a:srgbClr val="E2E8F0">
                <a:alpha val="0"/>
              </a:srgbClr>
            </a:solidFill>
            <a:prstDash val="solid"/>
          </a:ln>
        </p:spPr>
      </p:sp>
      <p:sp>
        <p:nvSpPr>
          <p:cNvPr id="19" name="Text 16"/>
          <p:cNvSpPr txBox="1"/>
          <p:nvPr/>
        </p:nvSpPr>
        <p:spPr>
          <a:xfrm>
            <a:off x="1429207" y="2125566"/>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종간 유전자 상동성 분석</a:t>
            </a:r>
            <a:endParaRPr lang="en-US" dirty="0"/>
          </a:p>
        </p:txBody>
      </p:sp>
      <p:sp>
        <p:nvSpPr>
          <p:cNvPr id="20" name="Text 17"/>
          <p:cNvSpPr txBox="1"/>
          <p:nvPr/>
        </p:nvSpPr>
        <p:spPr>
          <a:xfrm>
            <a:off x="1429207" y="2397143"/>
            <a:ext cx="4691786" cy="381762"/>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Mtb와 E.coli 간의 진화적 상동성(Homology) 분석을 통해 유전적 민감도 데이터의 교차 활용 기반 마련</a:t>
            </a:r>
            <a:endParaRPr lang="en-US" sz="1200" dirty="0"/>
          </a:p>
        </p:txBody>
      </p:sp>
      <p:sp>
        <p:nvSpPr>
          <p:cNvPr id="21" name="Text 18"/>
          <p:cNvSpPr txBox="1"/>
          <p:nvPr/>
        </p:nvSpPr>
        <p:spPr>
          <a:xfrm>
            <a:off x="6610198" y="2131673"/>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생물학적 데이터 매핑</a:t>
            </a:r>
            <a:endParaRPr lang="en-US" dirty="0"/>
          </a:p>
        </p:txBody>
      </p:sp>
      <p:sp>
        <p:nvSpPr>
          <p:cNvPr id="22" name="Text 19"/>
          <p:cNvSpPr txBox="1"/>
          <p:nvPr/>
        </p:nvSpPr>
        <p:spPr>
          <a:xfrm>
            <a:off x="6639001" y="2348570"/>
            <a:ext cx="5125127" cy="390035"/>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R 기반 분석 파일을 활용하여 두 균주 간 유전자 상동성 매핑 및 비교 데이터셋 구축</a:t>
            </a:r>
            <a:endParaRPr lang="en-US" sz="1200" dirty="0"/>
          </a:p>
        </p:txBody>
      </p:sp>
      <p:grpSp>
        <p:nvGrpSpPr>
          <p:cNvPr id="111" name="그룹 110">
            <a:extLst>
              <a:ext uri="{FF2B5EF4-FFF2-40B4-BE49-F238E27FC236}">
                <a16:creationId xmlns:a16="http://schemas.microsoft.com/office/drawing/2014/main" id="{E49BB269-8CCE-4140-BD41-42148E8290A3}"/>
              </a:ext>
            </a:extLst>
          </p:cNvPr>
          <p:cNvGrpSpPr/>
          <p:nvPr/>
        </p:nvGrpSpPr>
        <p:grpSpPr>
          <a:xfrm>
            <a:off x="10518618" y="2093019"/>
            <a:ext cx="1051341" cy="304124"/>
            <a:chOff x="8952195" y="2619174"/>
            <a:chExt cx="2847236" cy="264262"/>
          </a:xfrm>
        </p:grpSpPr>
        <p:pic>
          <p:nvPicPr>
            <p:cNvPr id="23" name="Image 1" descr="preencoded.png"/>
            <p:cNvPicPr>
              <a:picLocks noChangeAspect="1"/>
            </p:cNvPicPr>
            <p:nvPr/>
          </p:nvPicPr>
          <p:blipFill>
            <a:blip r:embed="rId4"/>
            <a:stretch>
              <a:fillRect/>
            </a:stretch>
          </p:blipFill>
          <p:spPr>
            <a:xfrm>
              <a:off x="8952195" y="2642725"/>
              <a:ext cx="2847236" cy="204456"/>
            </a:xfrm>
            <a:prstGeom prst="rect">
              <a:avLst/>
            </a:prstGeom>
          </p:spPr>
        </p:pic>
        <p:sp>
          <p:nvSpPr>
            <p:cNvPr id="24" name="Text 20"/>
            <p:cNvSpPr/>
            <p:nvPr/>
          </p:nvSpPr>
          <p:spPr>
            <a:xfrm>
              <a:off x="9214159" y="2619174"/>
              <a:ext cx="2333871" cy="264262"/>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구현</a:t>
              </a:r>
              <a:endParaRPr lang="en-US" sz="1200" dirty="0"/>
            </a:p>
          </p:txBody>
        </p:sp>
      </p:grpSp>
      <p:sp>
        <p:nvSpPr>
          <p:cNvPr id="26" name="Shape 22"/>
          <p:cNvSpPr/>
          <p:nvPr/>
        </p:nvSpPr>
        <p:spPr>
          <a:xfrm>
            <a:off x="476402" y="3943393"/>
            <a:ext cx="11239805" cy="9144"/>
          </a:xfrm>
          <a:prstGeom prst="rect">
            <a:avLst/>
          </a:prstGeom>
          <a:solidFill>
            <a:srgbClr val="E2E8F0"/>
          </a:solidFill>
          <a:ln w="12700">
            <a:solidFill>
              <a:srgbClr val="E2E8F0">
                <a:alpha val="0"/>
              </a:srgbClr>
            </a:solidFill>
            <a:prstDash val="solid"/>
          </a:ln>
        </p:spPr>
      </p:sp>
      <p:sp>
        <p:nvSpPr>
          <p:cNvPr id="27" name="Shape 23"/>
          <p:cNvSpPr/>
          <p:nvPr/>
        </p:nvSpPr>
        <p:spPr>
          <a:xfrm>
            <a:off x="476402" y="2943040"/>
            <a:ext cx="761695" cy="1000354"/>
          </a:xfrm>
          <a:prstGeom prst="rect">
            <a:avLst/>
          </a:prstGeom>
          <a:solidFill>
            <a:srgbClr val="1A355B"/>
          </a:solidFill>
          <a:ln/>
        </p:spPr>
      </p:sp>
      <p:sp>
        <p:nvSpPr>
          <p:cNvPr id="28" name="Shape 24"/>
          <p:cNvSpPr/>
          <p:nvPr/>
        </p:nvSpPr>
        <p:spPr>
          <a:xfrm>
            <a:off x="1228954" y="2943040"/>
            <a:ext cx="9144" cy="1000354"/>
          </a:xfrm>
          <a:prstGeom prst="rect">
            <a:avLst/>
          </a:prstGeom>
          <a:solidFill>
            <a:srgbClr val="E2E8F0"/>
          </a:solidFill>
          <a:ln w="12700">
            <a:solidFill>
              <a:srgbClr val="E2E8F0">
                <a:alpha val="0"/>
              </a:srgbClr>
            </a:solidFill>
            <a:prstDash val="solid"/>
          </a:ln>
        </p:spPr>
      </p:sp>
      <p:sp>
        <p:nvSpPr>
          <p:cNvPr id="29" name="Text 25"/>
          <p:cNvSpPr txBox="1"/>
          <p:nvPr/>
        </p:nvSpPr>
        <p:spPr>
          <a:xfrm>
            <a:off x="801929" y="3314286"/>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2</a:t>
            </a:r>
            <a:endParaRPr lang="en-US" sz="2000" dirty="0"/>
          </a:p>
        </p:txBody>
      </p:sp>
      <p:sp>
        <p:nvSpPr>
          <p:cNvPr id="30" name="Shape 26"/>
          <p:cNvSpPr/>
          <p:nvPr/>
        </p:nvSpPr>
        <p:spPr>
          <a:xfrm>
            <a:off x="6467551" y="2943040"/>
            <a:ext cx="9144" cy="1000354"/>
          </a:xfrm>
          <a:prstGeom prst="rect">
            <a:avLst/>
          </a:prstGeom>
          <a:solidFill>
            <a:srgbClr val="E2E8F0"/>
          </a:solidFill>
          <a:ln w="12700">
            <a:solidFill>
              <a:srgbClr val="E2E8F0">
                <a:alpha val="0"/>
              </a:srgbClr>
            </a:solidFill>
            <a:prstDash val="solid"/>
          </a:ln>
        </p:spPr>
      </p:sp>
      <p:sp>
        <p:nvSpPr>
          <p:cNvPr id="31" name="Text 27"/>
          <p:cNvSpPr txBox="1"/>
          <p:nvPr/>
        </p:nvSpPr>
        <p:spPr>
          <a:xfrm>
            <a:off x="1429207" y="3135978"/>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유전자 군집화 및 기전 정의</a:t>
            </a:r>
            <a:endParaRPr lang="en-US" dirty="0"/>
          </a:p>
        </p:txBody>
      </p:sp>
      <p:sp>
        <p:nvSpPr>
          <p:cNvPr id="32" name="Text 28"/>
          <p:cNvSpPr txBox="1"/>
          <p:nvPr/>
        </p:nvSpPr>
        <p:spPr>
          <a:xfrm>
            <a:off x="1429207" y="3406640"/>
            <a:ext cx="4562856" cy="460443"/>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계층적 군집화(Hierarchical Clustering)를 수행하여 유전자를 13개의 기능적 클러스터(COG) 및 기전으로 분류</a:t>
            </a:r>
            <a:endParaRPr lang="en-US" sz="1200" dirty="0"/>
          </a:p>
        </p:txBody>
      </p:sp>
      <p:sp>
        <p:nvSpPr>
          <p:cNvPr id="33" name="Text 29"/>
          <p:cNvSpPr txBox="1"/>
          <p:nvPr/>
        </p:nvSpPr>
        <p:spPr>
          <a:xfrm>
            <a:off x="6610199" y="3135499"/>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데이터 라벨링 최적화</a:t>
            </a:r>
            <a:endParaRPr lang="en-US" dirty="0"/>
          </a:p>
        </p:txBody>
      </p:sp>
      <p:sp>
        <p:nvSpPr>
          <p:cNvPr id="34" name="Text 30"/>
          <p:cNvSpPr txBox="1"/>
          <p:nvPr/>
        </p:nvSpPr>
        <p:spPr>
          <a:xfrm>
            <a:off x="6610198" y="3415284"/>
            <a:ext cx="5048403" cy="333756"/>
          </a:xfrm>
          <a:prstGeom prst="rect">
            <a:avLst/>
          </a:prstGeom>
          <a:noFill/>
          <a:ln/>
        </p:spPr>
        <p:txBody>
          <a:bodyPr wrap="square" lIns="0" tIns="0" rIns="0" bIns="0" rtlCol="0" anchor="ctr"/>
          <a:lstStyle/>
          <a:p>
            <a:pPr marL="0" indent="0" algn="l">
              <a:buNone/>
            </a:pPr>
            <a:r>
              <a:rPr lang="ko-KR" altLang="en-US" sz="1200" dirty="0" smtClean="0">
                <a:solidFill>
                  <a:srgbClr val="475569"/>
                </a:solidFill>
                <a:latin typeface="Noto Sans KR" pitchFamily="34" charset="0"/>
                <a:ea typeface="Noto Sans KR" pitchFamily="34" charset="-122"/>
                <a:cs typeface="Noto Sans KR" pitchFamily="34" charset="-120"/>
              </a:rPr>
              <a:t>계층적 </a:t>
            </a:r>
            <a:r>
              <a:rPr lang="ko-KR" altLang="en-US" sz="1200" dirty="0" err="1" smtClean="0">
                <a:solidFill>
                  <a:srgbClr val="475569"/>
                </a:solidFill>
                <a:latin typeface="Noto Sans KR" pitchFamily="34" charset="0"/>
                <a:ea typeface="Noto Sans KR" pitchFamily="34" charset="-122"/>
                <a:cs typeface="Noto Sans KR" pitchFamily="34" charset="-120"/>
              </a:rPr>
              <a:t>군집화를</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통한 클러스터링 및 13가지 작용 기전(MoA) 라벨링 수행</a:t>
            </a:r>
            <a:endParaRPr lang="en-US" sz="1200" dirty="0"/>
          </a:p>
        </p:txBody>
      </p:sp>
      <p:sp>
        <p:nvSpPr>
          <p:cNvPr id="38" name="Shape 33"/>
          <p:cNvSpPr/>
          <p:nvPr/>
        </p:nvSpPr>
        <p:spPr>
          <a:xfrm>
            <a:off x="476402" y="4952891"/>
            <a:ext cx="11239805" cy="9144"/>
          </a:xfrm>
          <a:prstGeom prst="rect">
            <a:avLst/>
          </a:prstGeom>
          <a:solidFill>
            <a:srgbClr val="E2E8F0"/>
          </a:solidFill>
          <a:ln w="12700">
            <a:solidFill>
              <a:srgbClr val="E2E8F0">
                <a:alpha val="0"/>
              </a:srgbClr>
            </a:solidFill>
            <a:prstDash val="solid"/>
          </a:ln>
        </p:spPr>
      </p:sp>
      <p:sp>
        <p:nvSpPr>
          <p:cNvPr id="39" name="Shape 34"/>
          <p:cNvSpPr/>
          <p:nvPr/>
        </p:nvSpPr>
        <p:spPr>
          <a:xfrm>
            <a:off x="476402" y="3952537"/>
            <a:ext cx="761695" cy="1000354"/>
          </a:xfrm>
          <a:prstGeom prst="rect">
            <a:avLst/>
          </a:prstGeom>
          <a:solidFill>
            <a:srgbClr val="1A355B"/>
          </a:solidFill>
          <a:ln/>
        </p:spPr>
      </p:sp>
      <p:sp>
        <p:nvSpPr>
          <p:cNvPr id="40" name="Shape 35"/>
          <p:cNvSpPr/>
          <p:nvPr/>
        </p:nvSpPr>
        <p:spPr>
          <a:xfrm>
            <a:off x="1228954" y="3952537"/>
            <a:ext cx="9144" cy="1000354"/>
          </a:xfrm>
          <a:prstGeom prst="rect">
            <a:avLst/>
          </a:prstGeom>
          <a:solidFill>
            <a:srgbClr val="E2E8F0"/>
          </a:solidFill>
          <a:ln w="12700">
            <a:solidFill>
              <a:srgbClr val="E2E8F0">
                <a:alpha val="0"/>
              </a:srgbClr>
            </a:solidFill>
            <a:prstDash val="solid"/>
          </a:ln>
        </p:spPr>
      </p:sp>
      <p:sp>
        <p:nvSpPr>
          <p:cNvPr id="41" name="Text 36"/>
          <p:cNvSpPr txBox="1"/>
          <p:nvPr/>
        </p:nvSpPr>
        <p:spPr>
          <a:xfrm>
            <a:off x="801929" y="4323784"/>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3</a:t>
            </a:r>
            <a:endParaRPr lang="en-US" sz="2000" dirty="0"/>
          </a:p>
        </p:txBody>
      </p:sp>
      <p:sp>
        <p:nvSpPr>
          <p:cNvPr id="42" name="Shape 37"/>
          <p:cNvSpPr/>
          <p:nvPr/>
        </p:nvSpPr>
        <p:spPr>
          <a:xfrm>
            <a:off x="6467551" y="3952537"/>
            <a:ext cx="9144" cy="1000354"/>
          </a:xfrm>
          <a:prstGeom prst="rect">
            <a:avLst/>
          </a:prstGeom>
          <a:solidFill>
            <a:srgbClr val="E2E8F0"/>
          </a:solidFill>
          <a:ln w="12700">
            <a:solidFill>
              <a:srgbClr val="E2E8F0">
                <a:alpha val="0"/>
              </a:srgbClr>
            </a:solidFill>
            <a:prstDash val="solid"/>
          </a:ln>
        </p:spPr>
      </p:sp>
      <p:sp>
        <p:nvSpPr>
          <p:cNvPr id="43" name="Text 38"/>
          <p:cNvSpPr txBox="1"/>
          <p:nvPr/>
        </p:nvSpPr>
        <p:spPr>
          <a:xfrm>
            <a:off x="1429207" y="4145476"/>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CGIP 기반 피처 엔지니어링</a:t>
            </a:r>
            <a:endParaRPr lang="en-US" dirty="0"/>
          </a:p>
        </p:txBody>
      </p:sp>
      <p:sp>
        <p:nvSpPr>
          <p:cNvPr id="44" name="Text 39"/>
          <p:cNvSpPr txBox="1"/>
          <p:nvPr/>
        </p:nvSpPr>
        <p:spPr>
          <a:xfrm>
            <a:off x="1429207" y="4417052"/>
            <a:ext cx="4924958" cy="450383"/>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결핵균 변이 균주의 성장 억제 프로파일(CGIP)로부터 클러스터별 대표값(Median Z-score) 산출 및 데이터 정규화</a:t>
            </a:r>
            <a:endParaRPr lang="en-US" sz="1200" dirty="0"/>
          </a:p>
        </p:txBody>
      </p:sp>
      <p:sp>
        <p:nvSpPr>
          <p:cNvPr id="45" name="Text 40"/>
          <p:cNvSpPr txBox="1"/>
          <p:nvPr/>
        </p:nvSpPr>
        <p:spPr>
          <a:xfrm>
            <a:off x="6610199" y="4148245"/>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데이터 전처리 시스템</a:t>
            </a:r>
            <a:endParaRPr lang="en-US" dirty="0"/>
          </a:p>
        </p:txBody>
      </p:sp>
      <p:sp>
        <p:nvSpPr>
          <p:cNvPr id="46" name="Text 41"/>
          <p:cNvSpPr txBox="1"/>
          <p:nvPr/>
        </p:nvSpPr>
        <p:spPr>
          <a:xfrm>
            <a:off x="6610199" y="4413745"/>
            <a:ext cx="4914900" cy="402336"/>
          </a:xfrm>
          <a:prstGeom prst="rect">
            <a:avLst/>
          </a:prstGeom>
          <a:noFill/>
          <a:ln/>
        </p:spPr>
        <p:txBody>
          <a:bodyPr wrap="square" lIns="0" tIns="0" rIns="0" bIns="0" rtlCol="0" anchor="ctr"/>
          <a:lstStyle/>
          <a:p>
            <a:r>
              <a:rPr lang="en-US" altLang="ko-KR" sz="1200" dirty="0" err="1">
                <a:solidFill>
                  <a:srgbClr val="475569"/>
                </a:solidFill>
                <a:latin typeface="Noto Sans KR" pitchFamily="34" charset="0"/>
                <a:ea typeface="Noto Sans KR" pitchFamily="34" charset="-122"/>
                <a:cs typeface="Noto Sans KR" pitchFamily="34" charset="-120"/>
              </a:rPr>
              <a:t>결핵균</a:t>
            </a:r>
            <a:r>
              <a:rPr lang="en-US" altLang="ko-KR" sz="1200" dirty="0">
                <a:solidFill>
                  <a:srgbClr val="475569"/>
                </a:solidFill>
                <a:latin typeface="Noto Sans KR" pitchFamily="34" charset="0"/>
                <a:ea typeface="Noto Sans KR" pitchFamily="34" charset="-122"/>
                <a:cs typeface="Noto Sans KR" pitchFamily="34" charset="-120"/>
              </a:rPr>
              <a:t> </a:t>
            </a:r>
            <a:r>
              <a:rPr lang="en-US" altLang="ko-KR" sz="1200" dirty="0" err="1">
                <a:solidFill>
                  <a:srgbClr val="475569"/>
                </a:solidFill>
                <a:latin typeface="Noto Sans KR" pitchFamily="34" charset="0"/>
                <a:ea typeface="Noto Sans KR" pitchFamily="34" charset="-122"/>
                <a:cs typeface="Noto Sans KR" pitchFamily="34" charset="-120"/>
              </a:rPr>
              <a:t>변이</a:t>
            </a:r>
            <a:r>
              <a:rPr lang="en-US" altLang="ko-KR" sz="1200" dirty="0">
                <a:solidFill>
                  <a:srgbClr val="475569"/>
                </a:solidFill>
                <a:latin typeface="Noto Sans KR" pitchFamily="34" charset="0"/>
                <a:ea typeface="Noto Sans KR" pitchFamily="34" charset="-122"/>
                <a:cs typeface="Noto Sans KR" pitchFamily="34" charset="-120"/>
              </a:rPr>
              <a:t> </a:t>
            </a:r>
            <a:r>
              <a:rPr lang="en-US" altLang="ko-KR" sz="1200" dirty="0" err="1">
                <a:solidFill>
                  <a:srgbClr val="475569"/>
                </a:solidFill>
                <a:latin typeface="Noto Sans KR" pitchFamily="34" charset="0"/>
                <a:ea typeface="Noto Sans KR" pitchFamily="34" charset="-122"/>
                <a:cs typeface="Noto Sans KR" pitchFamily="34" charset="-120"/>
              </a:rPr>
              <a:t>균주의</a:t>
            </a:r>
            <a:r>
              <a:rPr lang="en-US" altLang="ko-KR" sz="1200" dirty="0">
                <a:solidFill>
                  <a:srgbClr val="475569"/>
                </a:solidFill>
                <a:latin typeface="Noto Sans KR" pitchFamily="34" charset="0"/>
                <a:ea typeface="Noto Sans KR" pitchFamily="34" charset="-122"/>
                <a:cs typeface="Noto Sans KR" pitchFamily="34" charset="-120"/>
              </a:rPr>
              <a:t> </a:t>
            </a:r>
            <a:r>
              <a:rPr lang="en-US" altLang="ko-KR" sz="1200" dirty="0" err="1">
                <a:solidFill>
                  <a:srgbClr val="475569"/>
                </a:solidFill>
                <a:latin typeface="Noto Sans KR" pitchFamily="34" charset="0"/>
                <a:ea typeface="Noto Sans KR" pitchFamily="34" charset="-122"/>
                <a:cs typeface="Noto Sans KR" pitchFamily="34" charset="-120"/>
              </a:rPr>
              <a:t>성장</a:t>
            </a:r>
            <a:r>
              <a:rPr lang="en-US" altLang="ko-KR" sz="1200" dirty="0">
                <a:solidFill>
                  <a:srgbClr val="475569"/>
                </a:solidFill>
                <a:latin typeface="Noto Sans KR" pitchFamily="34" charset="0"/>
                <a:ea typeface="Noto Sans KR" pitchFamily="34" charset="-122"/>
                <a:cs typeface="Noto Sans KR" pitchFamily="34" charset="-120"/>
              </a:rPr>
              <a:t> </a:t>
            </a:r>
            <a:r>
              <a:rPr lang="en-US" altLang="ko-KR" sz="1200" dirty="0" err="1">
                <a:solidFill>
                  <a:srgbClr val="475569"/>
                </a:solidFill>
                <a:latin typeface="Noto Sans KR" pitchFamily="34" charset="0"/>
                <a:ea typeface="Noto Sans KR" pitchFamily="34" charset="-122"/>
                <a:cs typeface="Noto Sans KR" pitchFamily="34" charset="-120"/>
              </a:rPr>
              <a:t>억제</a:t>
            </a:r>
            <a:r>
              <a:rPr lang="en-US" altLang="ko-KR" sz="1200" dirty="0">
                <a:solidFill>
                  <a:srgbClr val="475569"/>
                </a:solidFill>
                <a:latin typeface="Noto Sans KR" pitchFamily="34" charset="0"/>
                <a:ea typeface="Noto Sans KR" pitchFamily="34" charset="-122"/>
                <a:cs typeface="Noto Sans KR" pitchFamily="34" charset="-120"/>
              </a:rPr>
              <a:t> </a:t>
            </a:r>
            <a:r>
              <a:rPr lang="en-US" altLang="ko-KR" sz="1200" dirty="0" err="1">
                <a:solidFill>
                  <a:srgbClr val="475569"/>
                </a:solidFill>
                <a:latin typeface="Noto Sans KR" pitchFamily="34" charset="0"/>
                <a:ea typeface="Noto Sans KR" pitchFamily="34" charset="-122"/>
                <a:cs typeface="Noto Sans KR" pitchFamily="34" charset="-120"/>
              </a:rPr>
              <a:t>프로파일</a:t>
            </a:r>
            <a:r>
              <a:rPr lang="en-US" altLang="ko-KR" sz="1200" dirty="0">
                <a:solidFill>
                  <a:srgbClr val="475569"/>
                </a:solidFill>
                <a:latin typeface="Noto Sans KR" pitchFamily="34" charset="0"/>
                <a:ea typeface="Noto Sans KR" pitchFamily="34" charset="-122"/>
                <a:cs typeface="Noto Sans KR" pitchFamily="34" charset="-120"/>
              </a:rPr>
              <a:t>(CGIP)</a:t>
            </a:r>
            <a:r>
              <a:rPr lang="en-US" altLang="ko-KR" sz="1200" dirty="0" err="1" smtClean="0">
                <a:solidFill>
                  <a:srgbClr val="475569"/>
                </a:solidFill>
                <a:latin typeface="Noto Sans KR" pitchFamily="34" charset="0"/>
                <a:ea typeface="Noto Sans KR" pitchFamily="34" charset="-122"/>
                <a:cs typeface="Noto Sans KR" pitchFamily="34" charset="-120"/>
              </a:rPr>
              <a:t>로부터</a:t>
            </a:r>
            <a:r>
              <a:rPr lang="en-US" altLang="ko-KR" sz="1200" dirty="0" smtClean="0">
                <a:solidFill>
                  <a:srgbClr val="475569"/>
                </a:solidFill>
                <a:latin typeface="Noto Sans KR" pitchFamily="34" charset="0"/>
                <a:ea typeface="Noto Sans KR" pitchFamily="34" charset="-122"/>
                <a:cs typeface="Noto Sans KR" pitchFamily="34" charset="-120"/>
              </a:rPr>
              <a:t> </a:t>
            </a:r>
            <a:r>
              <a:rPr lang="en-US" sz="1200" dirty="0" err="1" smtClean="0">
                <a:solidFill>
                  <a:srgbClr val="475569"/>
                </a:solidFill>
                <a:latin typeface="Noto Sans KR" pitchFamily="34" charset="0"/>
                <a:ea typeface="Noto Sans KR" pitchFamily="34" charset="-122"/>
                <a:cs typeface="Noto Sans KR" pitchFamily="34" charset="-120"/>
              </a:rPr>
              <a:t>클러스터별</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중앙값 기반 학습 데이터셋 완성</a:t>
            </a:r>
            <a:endParaRPr lang="en-US" sz="1200" dirty="0"/>
          </a:p>
        </p:txBody>
      </p:sp>
      <p:sp>
        <p:nvSpPr>
          <p:cNvPr id="50" name="Shape 44"/>
          <p:cNvSpPr/>
          <p:nvPr/>
        </p:nvSpPr>
        <p:spPr>
          <a:xfrm>
            <a:off x="476402" y="5962389"/>
            <a:ext cx="11239805" cy="9144"/>
          </a:xfrm>
          <a:prstGeom prst="rect">
            <a:avLst/>
          </a:prstGeom>
          <a:solidFill>
            <a:srgbClr val="E2E8F0"/>
          </a:solidFill>
          <a:ln w="12700">
            <a:solidFill>
              <a:srgbClr val="E2E8F0">
                <a:alpha val="0"/>
              </a:srgbClr>
            </a:solidFill>
            <a:prstDash val="solid"/>
          </a:ln>
        </p:spPr>
      </p:sp>
      <p:sp>
        <p:nvSpPr>
          <p:cNvPr id="51" name="Shape 45"/>
          <p:cNvSpPr/>
          <p:nvPr/>
        </p:nvSpPr>
        <p:spPr>
          <a:xfrm>
            <a:off x="476402" y="4962035"/>
            <a:ext cx="761695" cy="1000354"/>
          </a:xfrm>
          <a:prstGeom prst="rect">
            <a:avLst/>
          </a:prstGeom>
          <a:solidFill>
            <a:srgbClr val="1A355B"/>
          </a:solidFill>
          <a:ln/>
        </p:spPr>
      </p:sp>
      <p:sp>
        <p:nvSpPr>
          <p:cNvPr id="52" name="Shape 46"/>
          <p:cNvSpPr/>
          <p:nvPr/>
        </p:nvSpPr>
        <p:spPr>
          <a:xfrm>
            <a:off x="1228954" y="4962035"/>
            <a:ext cx="9144" cy="1000354"/>
          </a:xfrm>
          <a:prstGeom prst="rect">
            <a:avLst/>
          </a:prstGeom>
          <a:solidFill>
            <a:srgbClr val="E2E8F0"/>
          </a:solidFill>
          <a:ln w="12700">
            <a:solidFill>
              <a:srgbClr val="E2E8F0">
                <a:alpha val="0"/>
              </a:srgbClr>
            </a:solidFill>
            <a:prstDash val="solid"/>
          </a:ln>
        </p:spPr>
      </p:sp>
      <p:sp>
        <p:nvSpPr>
          <p:cNvPr id="53" name="Text 47"/>
          <p:cNvSpPr txBox="1"/>
          <p:nvPr/>
        </p:nvSpPr>
        <p:spPr>
          <a:xfrm>
            <a:off x="801929" y="5333281"/>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4</a:t>
            </a:r>
            <a:endParaRPr lang="en-US" sz="2000" dirty="0"/>
          </a:p>
        </p:txBody>
      </p:sp>
      <p:sp>
        <p:nvSpPr>
          <p:cNvPr id="54" name="Shape 48"/>
          <p:cNvSpPr/>
          <p:nvPr/>
        </p:nvSpPr>
        <p:spPr>
          <a:xfrm>
            <a:off x="6467551" y="4962035"/>
            <a:ext cx="9144" cy="1000354"/>
          </a:xfrm>
          <a:prstGeom prst="rect">
            <a:avLst/>
          </a:prstGeom>
          <a:solidFill>
            <a:srgbClr val="E2E8F0"/>
          </a:solidFill>
          <a:ln w="12700">
            <a:solidFill>
              <a:srgbClr val="E2E8F0">
                <a:alpha val="0"/>
              </a:srgbClr>
            </a:solidFill>
            <a:prstDash val="solid"/>
          </a:ln>
        </p:spPr>
      </p:sp>
      <p:sp>
        <p:nvSpPr>
          <p:cNvPr id="55" name="Text 49"/>
          <p:cNvSpPr txBox="1"/>
          <p:nvPr/>
        </p:nvSpPr>
        <p:spPr>
          <a:xfrm>
            <a:off x="1429207" y="5154973"/>
            <a:ext cx="4963363"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D-MPNN 기반 딥러닝 모델링</a:t>
            </a:r>
            <a:endParaRPr lang="en-US" dirty="0"/>
          </a:p>
        </p:txBody>
      </p:sp>
      <p:sp>
        <p:nvSpPr>
          <p:cNvPr id="56" name="Text 50"/>
          <p:cNvSpPr txBox="1"/>
          <p:nvPr/>
        </p:nvSpPr>
        <p:spPr>
          <a:xfrm>
            <a:off x="1429207" y="5426549"/>
            <a:ext cx="4924958" cy="441239"/>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분자 그래프 정보를 직접 학습하는 Directed Message Passing Neural Network 아키텍처 설계 및 구축</a:t>
            </a:r>
            <a:endParaRPr lang="en-US" sz="1200" dirty="0"/>
          </a:p>
        </p:txBody>
      </p:sp>
      <p:sp>
        <p:nvSpPr>
          <p:cNvPr id="57" name="Text 51"/>
          <p:cNvSpPr txBox="1"/>
          <p:nvPr/>
        </p:nvSpPr>
        <p:spPr>
          <a:xfrm>
            <a:off x="6610199" y="5142021"/>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학습 및 최적화 엔진</a:t>
            </a:r>
            <a:endParaRPr lang="en-US" dirty="0"/>
          </a:p>
        </p:txBody>
      </p:sp>
      <p:sp>
        <p:nvSpPr>
          <p:cNvPr id="58" name="Text 52"/>
          <p:cNvSpPr txBox="1"/>
          <p:nvPr/>
        </p:nvSpPr>
        <p:spPr>
          <a:xfrm>
            <a:off x="6639000" y="5394395"/>
            <a:ext cx="5019599" cy="393193"/>
          </a:xfrm>
          <a:prstGeom prst="rect">
            <a:avLst/>
          </a:prstGeom>
          <a:noFill/>
          <a:ln/>
        </p:spPr>
        <p:txBody>
          <a:bodyPr wrap="square" lIns="0" tIns="0" rIns="0" bIns="0" rtlCol="0" anchor="ctr"/>
          <a:lstStyle/>
          <a:p>
            <a:pPr marL="0" indent="0" algn="l">
              <a:buNone/>
            </a:pPr>
            <a:r>
              <a:rPr lang="en-US" sz="1200" dirty="0" smtClean="0">
                <a:solidFill>
                  <a:srgbClr val="475569"/>
                </a:solidFill>
                <a:latin typeface="Noto Sans KR" pitchFamily="34" charset="0"/>
                <a:ea typeface="Noto Sans KR" pitchFamily="34" charset="-122"/>
                <a:cs typeface="Noto Sans KR" pitchFamily="34" charset="-120"/>
              </a:rPr>
              <a:t>D-MPNN </a:t>
            </a:r>
            <a:r>
              <a:rPr lang="en-US" sz="1200" dirty="0">
                <a:solidFill>
                  <a:srgbClr val="475569"/>
                </a:solidFill>
                <a:latin typeface="Noto Sans KR" pitchFamily="34" charset="0"/>
                <a:ea typeface="Noto Sans KR" pitchFamily="34" charset="-122"/>
                <a:cs typeface="Noto Sans KR" pitchFamily="34" charset="-120"/>
              </a:rPr>
              <a:t>모델 구축 및 Bayesian Optimization을 통한 하이퍼파라미터 최적화</a:t>
            </a:r>
            <a:endParaRPr lang="en-US" sz="1200" dirty="0"/>
          </a:p>
        </p:txBody>
      </p:sp>
      <p:grpSp>
        <p:nvGrpSpPr>
          <p:cNvPr id="112" name="그룹 111">
            <a:extLst>
              <a:ext uri="{FF2B5EF4-FFF2-40B4-BE49-F238E27FC236}">
                <a16:creationId xmlns:a16="http://schemas.microsoft.com/office/drawing/2014/main" id="{5C8FB6FC-F69A-4C6C-8BE0-00B28ABD0198}"/>
              </a:ext>
            </a:extLst>
          </p:cNvPr>
          <p:cNvGrpSpPr/>
          <p:nvPr/>
        </p:nvGrpSpPr>
        <p:grpSpPr>
          <a:xfrm>
            <a:off x="10518617" y="3033820"/>
            <a:ext cx="1051341" cy="304124"/>
            <a:chOff x="8952195" y="2619174"/>
            <a:chExt cx="2847236" cy="264262"/>
          </a:xfrm>
        </p:grpSpPr>
        <p:pic>
          <p:nvPicPr>
            <p:cNvPr id="113" name="Image 1" descr="preencoded.png">
              <a:extLst>
                <a:ext uri="{FF2B5EF4-FFF2-40B4-BE49-F238E27FC236}">
                  <a16:creationId xmlns:a16="http://schemas.microsoft.com/office/drawing/2014/main" id="{DB55C03B-F23C-4CFF-AC5D-B069EDD3B79D}"/>
                </a:ext>
              </a:extLst>
            </p:cNvPr>
            <p:cNvPicPr>
              <a:picLocks noChangeAspect="1"/>
            </p:cNvPicPr>
            <p:nvPr/>
          </p:nvPicPr>
          <p:blipFill>
            <a:blip r:embed="rId4"/>
            <a:stretch>
              <a:fillRect/>
            </a:stretch>
          </p:blipFill>
          <p:spPr>
            <a:xfrm>
              <a:off x="8952195" y="2642725"/>
              <a:ext cx="2847236" cy="204456"/>
            </a:xfrm>
            <a:prstGeom prst="rect">
              <a:avLst/>
            </a:prstGeom>
          </p:spPr>
        </p:pic>
        <p:sp>
          <p:nvSpPr>
            <p:cNvPr id="114" name="Text 20">
              <a:extLst>
                <a:ext uri="{FF2B5EF4-FFF2-40B4-BE49-F238E27FC236}">
                  <a16:creationId xmlns:a16="http://schemas.microsoft.com/office/drawing/2014/main" id="{2442855C-7311-4F7D-8F05-2C16DE0EDAC2}"/>
                </a:ext>
              </a:extLst>
            </p:cNvPr>
            <p:cNvSpPr/>
            <p:nvPr/>
          </p:nvSpPr>
          <p:spPr>
            <a:xfrm>
              <a:off x="9214159" y="2619174"/>
              <a:ext cx="2333871" cy="264262"/>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구현</a:t>
              </a:r>
              <a:endParaRPr lang="en-US" sz="1200" dirty="0"/>
            </a:p>
          </p:txBody>
        </p:sp>
      </p:grpSp>
      <p:grpSp>
        <p:nvGrpSpPr>
          <p:cNvPr id="115" name="그룹 114">
            <a:extLst>
              <a:ext uri="{FF2B5EF4-FFF2-40B4-BE49-F238E27FC236}">
                <a16:creationId xmlns:a16="http://schemas.microsoft.com/office/drawing/2014/main" id="{A69A342E-7854-43E7-BC95-DAE265BB4459}"/>
              </a:ext>
            </a:extLst>
          </p:cNvPr>
          <p:cNvGrpSpPr/>
          <p:nvPr/>
        </p:nvGrpSpPr>
        <p:grpSpPr>
          <a:xfrm>
            <a:off x="10518616" y="4053862"/>
            <a:ext cx="1051341" cy="304124"/>
            <a:chOff x="8952195" y="2619174"/>
            <a:chExt cx="2847236" cy="264262"/>
          </a:xfrm>
        </p:grpSpPr>
        <p:pic>
          <p:nvPicPr>
            <p:cNvPr id="116" name="Image 1" descr="preencoded.png">
              <a:extLst>
                <a:ext uri="{FF2B5EF4-FFF2-40B4-BE49-F238E27FC236}">
                  <a16:creationId xmlns:a16="http://schemas.microsoft.com/office/drawing/2014/main" id="{91EA7BDD-5035-4F16-A8AA-55C66336F7D0}"/>
                </a:ext>
              </a:extLst>
            </p:cNvPr>
            <p:cNvPicPr>
              <a:picLocks noChangeAspect="1"/>
            </p:cNvPicPr>
            <p:nvPr/>
          </p:nvPicPr>
          <p:blipFill>
            <a:blip r:embed="rId4"/>
            <a:stretch>
              <a:fillRect/>
            </a:stretch>
          </p:blipFill>
          <p:spPr>
            <a:xfrm>
              <a:off x="8952195" y="2642725"/>
              <a:ext cx="2847236" cy="204456"/>
            </a:xfrm>
            <a:prstGeom prst="rect">
              <a:avLst/>
            </a:prstGeom>
          </p:spPr>
        </p:pic>
        <p:sp>
          <p:nvSpPr>
            <p:cNvPr id="117" name="Text 20">
              <a:extLst>
                <a:ext uri="{FF2B5EF4-FFF2-40B4-BE49-F238E27FC236}">
                  <a16:creationId xmlns:a16="http://schemas.microsoft.com/office/drawing/2014/main" id="{2A1931BB-9BA0-4A2A-8A70-CA923D871801}"/>
                </a:ext>
              </a:extLst>
            </p:cNvPr>
            <p:cNvSpPr/>
            <p:nvPr/>
          </p:nvSpPr>
          <p:spPr>
            <a:xfrm>
              <a:off x="9214159" y="2619174"/>
              <a:ext cx="2333871" cy="264262"/>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구현</a:t>
              </a:r>
              <a:endParaRPr lang="en-US" sz="1200" dirty="0"/>
            </a:p>
          </p:txBody>
        </p:sp>
      </p:grpSp>
      <p:grpSp>
        <p:nvGrpSpPr>
          <p:cNvPr id="118" name="그룹 117">
            <a:extLst>
              <a:ext uri="{FF2B5EF4-FFF2-40B4-BE49-F238E27FC236}">
                <a16:creationId xmlns:a16="http://schemas.microsoft.com/office/drawing/2014/main" id="{2A272CCD-7774-4899-B85A-6BB0E6DA7E79}"/>
              </a:ext>
            </a:extLst>
          </p:cNvPr>
          <p:cNvGrpSpPr/>
          <p:nvPr/>
        </p:nvGrpSpPr>
        <p:grpSpPr>
          <a:xfrm>
            <a:off x="10489814" y="5090271"/>
            <a:ext cx="1051341" cy="304124"/>
            <a:chOff x="8952195" y="2619174"/>
            <a:chExt cx="2847236" cy="264262"/>
          </a:xfrm>
        </p:grpSpPr>
        <p:pic>
          <p:nvPicPr>
            <p:cNvPr id="119" name="Image 1" descr="preencoded.png">
              <a:extLst>
                <a:ext uri="{FF2B5EF4-FFF2-40B4-BE49-F238E27FC236}">
                  <a16:creationId xmlns:a16="http://schemas.microsoft.com/office/drawing/2014/main" id="{EB0202FD-5C09-4C75-859E-E3B4B062599A}"/>
                </a:ext>
              </a:extLst>
            </p:cNvPr>
            <p:cNvPicPr>
              <a:picLocks noChangeAspect="1"/>
            </p:cNvPicPr>
            <p:nvPr/>
          </p:nvPicPr>
          <p:blipFill>
            <a:blip r:embed="rId4"/>
            <a:stretch>
              <a:fillRect/>
            </a:stretch>
          </p:blipFill>
          <p:spPr>
            <a:xfrm>
              <a:off x="8952195" y="2642725"/>
              <a:ext cx="2847236" cy="204456"/>
            </a:xfrm>
            <a:prstGeom prst="rect">
              <a:avLst/>
            </a:prstGeom>
          </p:spPr>
        </p:pic>
        <p:sp>
          <p:nvSpPr>
            <p:cNvPr id="120" name="Text 20">
              <a:extLst>
                <a:ext uri="{FF2B5EF4-FFF2-40B4-BE49-F238E27FC236}">
                  <a16:creationId xmlns:a16="http://schemas.microsoft.com/office/drawing/2014/main" id="{BAFA5DFF-49E9-4E45-AABD-4ED85371EF8C}"/>
                </a:ext>
              </a:extLst>
            </p:cNvPr>
            <p:cNvSpPr/>
            <p:nvPr/>
          </p:nvSpPr>
          <p:spPr>
            <a:xfrm>
              <a:off x="9214159" y="2619174"/>
              <a:ext cx="2333871" cy="264262"/>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구현</a:t>
              </a:r>
              <a:endParaRPr lang="en-US" sz="12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06710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6615684"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전체 구성도: 논문 연구 → 솔루션 구현 매핑</a:t>
            </a:r>
            <a:endParaRPr lang="en-US" sz="2400" dirty="0"/>
          </a:p>
        </p:txBody>
      </p:sp>
      <p:sp>
        <p:nvSpPr>
          <p:cNvPr id="5" name="Text 3"/>
          <p:cNvSpPr txBox="1"/>
          <p:nvPr/>
        </p:nvSpPr>
        <p:spPr>
          <a:xfrm>
            <a:off x="476402" y="647395"/>
            <a:ext cx="556321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8단계 프로세스 통합 아키텍처</a:t>
            </a:r>
            <a:endParaRPr lang="en-US" sz="1200" dirty="0"/>
          </a:p>
        </p:txBody>
      </p:sp>
      <p:pic>
        <p:nvPicPr>
          <p:cNvPr id="6" name="Image 0" descr="preencoded.png"/>
          <p:cNvPicPr>
            <a:picLocks noChangeAspect="1"/>
          </p:cNvPicPr>
          <p:nvPr/>
        </p:nvPicPr>
        <p:blipFill>
          <a:blip r:embed="rId3"/>
          <a:srcRect l="-50" r="-50"/>
          <a:stretch/>
        </p:blipFill>
        <p:spPr>
          <a:xfrm>
            <a:off x="11373307" y="400507"/>
            <a:ext cx="342900" cy="304495"/>
          </a:xfrm>
          <a:prstGeom prst="rect">
            <a:avLst/>
          </a:prstGeom>
        </p:spPr>
      </p:pic>
      <p:sp>
        <p:nvSpPr>
          <p:cNvPr id="7" name="Shape 4"/>
          <p:cNvSpPr/>
          <p:nvPr/>
        </p:nvSpPr>
        <p:spPr>
          <a:xfrm>
            <a:off x="476402" y="1352398"/>
            <a:ext cx="11239805" cy="4604795"/>
          </a:xfrm>
          <a:prstGeom prst="roundRect">
            <a:avLst>
              <a:gd name="adj" fmla="val 94"/>
            </a:avLst>
          </a:prstGeom>
          <a:solidFill>
            <a:srgbClr val="FFFFFF"/>
          </a:solidFill>
          <a:ln w="12700">
            <a:solidFill>
              <a:srgbClr val="FFFFFF">
                <a:alpha val="0"/>
              </a:srgbClr>
            </a:solidFill>
            <a:prstDash val="solid"/>
          </a:ln>
          <a:effectLst>
            <a:outerShdw blurRad="76200" dist="25400" dir="16200000" algn="bl" rotWithShape="0">
              <a:srgbClr val="000000">
                <a:alpha val="8000"/>
              </a:srgbClr>
            </a:outerShdw>
          </a:effectLst>
        </p:spPr>
      </p:sp>
      <p:sp>
        <p:nvSpPr>
          <p:cNvPr id="8" name="Shape 5"/>
          <p:cNvSpPr/>
          <p:nvPr/>
        </p:nvSpPr>
        <p:spPr>
          <a:xfrm>
            <a:off x="476402" y="1352398"/>
            <a:ext cx="11239805" cy="533095"/>
          </a:xfrm>
          <a:prstGeom prst="roundRect">
            <a:avLst>
              <a:gd name="adj" fmla="val 24504"/>
            </a:avLst>
          </a:prstGeom>
          <a:solidFill>
            <a:srgbClr val="1A355B"/>
          </a:solidFill>
          <a:ln w="12700">
            <a:solidFill>
              <a:srgbClr val="FFFFFF">
                <a:alpha val="0"/>
              </a:srgbClr>
            </a:solidFill>
            <a:prstDash val="solid"/>
          </a:ln>
        </p:spPr>
      </p:sp>
      <p:sp>
        <p:nvSpPr>
          <p:cNvPr id="9" name="Shape 6"/>
          <p:cNvSpPr/>
          <p:nvPr/>
        </p:nvSpPr>
        <p:spPr>
          <a:xfrm>
            <a:off x="1228954" y="1352398"/>
            <a:ext cx="9144" cy="533095"/>
          </a:xfrm>
          <a:prstGeom prst="roundRect">
            <a:avLst>
              <a:gd name="adj" fmla="val 1428571"/>
            </a:avLst>
          </a:prstGeom>
          <a:solidFill>
            <a:srgbClr val="FFFFFF">
              <a:alpha val="20000"/>
            </a:srgbClr>
          </a:solidFill>
          <a:ln w="12700">
            <a:solidFill>
              <a:srgbClr val="FFFFFF">
                <a:alpha val="0"/>
              </a:srgbClr>
            </a:solidFill>
            <a:prstDash val="solid"/>
          </a:ln>
        </p:spPr>
      </p:sp>
      <p:sp>
        <p:nvSpPr>
          <p:cNvPr id="10" name="Text 7"/>
          <p:cNvSpPr txBox="1"/>
          <p:nvPr/>
        </p:nvSpPr>
        <p:spPr>
          <a:xfrm>
            <a:off x="629107" y="1505102"/>
            <a:ext cx="448056" cy="228600"/>
          </a:xfrm>
          <a:prstGeom prst="rect">
            <a:avLst/>
          </a:prstGeom>
          <a:noFill/>
          <a:ln/>
        </p:spPr>
        <p:txBody>
          <a:bodyPr wrap="square" lIns="0" tIns="0" rIns="0" bIns="0" rtlCol="0" anchor="ctr"/>
          <a:lstStyle/>
          <a:p>
            <a:pPr marL="0" indent="0" algn="ctr">
              <a:buNone/>
            </a:pPr>
            <a:r>
              <a:rPr lang="en-US" b="1" dirty="0">
                <a:solidFill>
                  <a:srgbClr val="FFFFFF"/>
                </a:solidFill>
                <a:latin typeface="Noto Sans KR" pitchFamily="34" charset="0"/>
                <a:ea typeface="Noto Sans KR" pitchFamily="34" charset="-122"/>
                <a:cs typeface="Noto Sans KR" pitchFamily="34" charset="-120"/>
              </a:rPr>
              <a:t>단계</a:t>
            </a:r>
            <a:endParaRPr lang="en-US" dirty="0"/>
          </a:p>
        </p:txBody>
      </p:sp>
      <p:sp>
        <p:nvSpPr>
          <p:cNvPr id="11" name="Shape 8"/>
          <p:cNvSpPr/>
          <p:nvPr/>
        </p:nvSpPr>
        <p:spPr>
          <a:xfrm>
            <a:off x="6467551" y="1352398"/>
            <a:ext cx="9144" cy="533095"/>
          </a:xfrm>
          <a:prstGeom prst="rect">
            <a:avLst/>
          </a:prstGeom>
          <a:solidFill>
            <a:srgbClr val="FFFFFF">
              <a:alpha val="20000"/>
            </a:srgbClr>
          </a:solidFill>
          <a:ln w="12700">
            <a:solidFill>
              <a:srgbClr val="FFFFFF">
                <a:alpha val="0"/>
              </a:srgbClr>
            </a:solidFill>
            <a:prstDash val="solid"/>
          </a:ln>
        </p:spPr>
      </p:sp>
      <p:sp>
        <p:nvSpPr>
          <p:cNvPr id="12" name="Text 9"/>
          <p:cNvSpPr txBox="1"/>
          <p:nvPr/>
        </p:nvSpPr>
        <p:spPr>
          <a:xfrm>
            <a:off x="1371600" y="1505102"/>
            <a:ext cx="4963363" cy="228600"/>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KR" pitchFamily="34" charset="0"/>
                <a:ea typeface="Noto Sans KR" pitchFamily="34" charset="-122"/>
                <a:cs typeface="Noto Sans KR" pitchFamily="34" charset="-120"/>
              </a:rPr>
              <a:t>논문 연구 (Research Paper)</a:t>
            </a:r>
            <a:endParaRPr lang="en-US" sz="2000" dirty="0"/>
          </a:p>
        </p:txBody>
      </p:sp>
      <p:sp>
        <p:nvSpPr>
          <p:cNvPr id="13" name="Text 10"/>
          <p:cNvSpPr txBox="1"/>
          <p:nvPr/>
        </p:nvSpPr>
        <p:spPr>
          <a:xfrm>
            <a:off x="6610198" y="1505102"/>
            <a:ext cx="4972507" cy="228600"/>
          </a:xfrm>
          <a:prstGeom prst="rect">
            <a:avLst/>
          </a:prstGeom>
          <a:noFill/>
          <a:ln/>
        </p:spPr>
        <p:txBody>
          <a:bodyPr wrap="square" lIns="0" tIns="0" rIns="0" bIns="0" rtlCol="0" anchor="ctr"/>
          <a:lstStyle/>
          <a:p>
            <a:pPr marL="0" indent="0" algn="ctr">
              <a:buNone/>
            </a:pPr>
            <a:r>
              <a:rPr lang="en-US" sz="2000" b="1" dirty="0">
                <a:solidFill>
                  <a:srgbClr val="FFFFFF"/>
                </a:solidFill>
                <a:latin typeface="Noto Sans KR" pitchFamily="34" charset="0"/>
                <a:ea typeface="Noto Sans KR" pitchFamily="34" charset="-122"/>
                <a:cs typeface="Noto Sans KR" pitchFamily="34" charset="-120"/>
              </a:rPr>
              <a:t>솔루션 구현 (Solution Implementation)</a:t>
            </a:r>
            <a:endParaRPr lang="en-US" sz="2000" dirty="0"/>
          </a:p>
        </p:txBody>
      </p:sp>
      <p:sp>
        <p:nvSpPr>
          <p:cNvPr id="16" name="Shape 13"/>
          <p:cNvSpPr/>
          <p:nvPr/>
        </p:nvSpPr>
        <p:spPr>
          <a:xfrm>
            <a:off x="1228954" y="1886407"/>
            <a:ext cx="9144" cy="1000354"/>
          </a:xfrm>
          <a:prstGeom prst="rect">
            <a:avLst/>
          </a:prstGeom>
          <a:solidFill>
            <a:srgbClr val="E2E8F0"/>
          </a:solidFill>
          <a:ln w="12700">
            <a:solidFill>
              <a:srgbClr val="E2E8F0">
                <a:alpha val="0"/>
              </a:srgbClr>
            </a:solidFill>
            <a:prstDash val="solid"/>
          </a:ln>
        </p:spPr>
      </p:sp>
      <p:sp>
        <p:nvSpPr>
          <p:cNvPr id="18" name="Shape 15"/>
          <p:cNvSpPr/>
          <p:nvPr/>
        </p:nvSpPr>
        <p:spPr>
          <a:xfrm>
            <a:off x="6467551" y="1886407"/>
            <a:ext cx="9144" cy="1000354"/>
          </a:xfrm>
          <a:prstGeom prst="rect">
            <a:avLst/>
          </a:prstGeom>
          <a:solidFill>
            <a:srgbClr val="E2E8F0"/>
          </a:solidFill>
          <a:ln w="12700">
            <a:solidFill>
              <a:srgbClr val="E2E8F0">
                <a:alpha val="0"/>
              </a:srgbClr>
            </a:solidFill>
            <a:prstDash val="solid"/>
          </a:ln>
        </p:spPr>
      </p:sp>
      <p:grpSp>
        <p:nvGrpSpPr>
          <p:cNvPr id="110" name="그룹 109">
            <a:extLst>
              <a:ext uri="{FF2B5EF4-FFF2-40B4-BE49-F238E27FC236}">
                <a16:creationId xmlns:a16="http://schemas.microsoft.com/office/drawing/2014/main" id="{FEEDEF1E-6B8B-42FD-8419-5BBC565FFB8F}"/>
              </a:ext>
            </a:extLst>
          </p:cNvPr>
          <p:cNvGrpSpPr/>
          <p:nvPr/>
        </p:nvGrpSpPr>
        <p:grpSpPr>
          <a:xfrm>
            <a:off x="476402" y="1927715"/>
            <a:ext cx="11251692" cy="4029478"/>
            <a:chOff x="476402" y="2021985"/>
            <a:chExt cx="11251692" cy="4029478"/>
          </a:xfrm>
        </p:grpSpPr>
        <p:sp>
          <p:nvSpPr>
            <p:cNvPr id="98" name="Shape 88"/>
            <p:cNvSpPr/>
            <p:nvPr/>
          </p:nvSpPr>
          <p:spPr>
            <a:xfrm>
              <a:off x="476402" y="5051109"/>
              <a:ext cx="761695" cy="1000354"/>
            </a:xfrm>
            <a:prstGeom prst="roundRect">
              <a:avLst>
                <a:gd name="adj" fmla="val 12005"/>
              </a:avLst>
            </a:prstGeom>
            <a:solidFill>
              <a:srgbClr val="1A355B"/>
            </a:solidFill>
            <a:ln/>
          </p:spPr>
        </p:sp>
        <p:sp>
          <p:nvSpPr>
            <p:cNvPr id="99" name="Shape 89"/>
            <p:cNvSpPr/>
            <p:nvPr/>
          </p:nvSpPr>
          <p:spPr>
            <a:xfrm>
              <a:off x="1228954" y="5051109"/>
              <a:ext cx="9144" cy="1000354"/>
            </a:xfrm>
            <a:prstGeom prst="roundRect">
              <a:avLst>
                <a:gd name="adj" fmla="val 1000000"/>
              </a:avLst>
            </a:prstGeom>
            <a:solidFill>
              <a:srgbClr val="E2E8F0"/>
            </a:solidFill>
            <a:ln w="12700">
              <a:solidFill>
                <a:srgbClr val="E2E8F0">
                  <a:alpha val="0"/>
                </a:srgbClr>
              </a:solidFill>
              <a:prstDash val="solid"/>
            </a:ln>
          </p:spPr>
        </p:sp>
        <p:sp>
          <p:nvSpPr>
            <p:cNvPr id="101" name="Shape 91"/>
            <p:cNvSpPr/>
            <p:nvPr/>
          </p:nvSpPr>
          <p:spPr>
            <a:xfrm>
              <a:off x="6467551" y="5051109"/>
              <a:ext cx="9144" cy="1000354"/>
            </a:xfrm>
            <a:prstGeom prst="rect">
              <a:avLst/>
            </a:prstGeom>
            <a:solidFill>
              <a:srgbClr val="E2E8F0"/>
            </a:solidFill>
            <a:ln w="12700">
              <a:solidFill>
                <a:srgbClr val="E2E8F0">
                  <a:alpha val="0"/>
                </a:srgbClr>
              </a:solidFill>
              <a:prstDash val="solid"/>
            </a:ln>
          </p:spPr>
        </p:sp>
        <p:grpSp>
          <p:nvGrpSpPr>
            <p:cNvPr id="109" name="그룹 108">
              <a:extLst>
                <a:ext uri="{FF2B5EF4-FFF2-40B4-BE49-F238E27FC236}">
                  <a16:creationId xmlns:a16="http://schemas.microsoft.com/office/drawing/2014/main" id="{8A5ACA43-2EA7-4601-BF25-6DE25FDDE54D}"/>
                </a:ext>
              </a:extLst>
            </p:cNvPr>
            <p:cNvGrpSpPr/>
            <p:nvPr/>
          </p:nvGrpSpPr>
          <p:grpSpPr>
            <a:xfrm>
              <a:off x="476402" y="2021985"/>
              <a:ext cx="11251692" cy="3938023"/>
              <a:chOff x="476402" y="2012558"/>
              <a:chExt cx="11251692" cy="3938023"/>
            </a:xfrm>
          </p:grpSpPr>
          <p:sp>
            <p:nvSpPr>
              <p:cNvPr id="17" name="Text 14"/>
              <p:cNvSpPr txBox="1"/>
              <p:nvPr/>
            </p:nvSpPr>
            <p:spPr>
              <a:xfrm>
                <a:off x="801929" y="2257654"/>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1</a:t>
                </a:r>
                <a:endParaRPr lang="en-US" sz="2000" dirty="0"/>
              </a:p>
            </p:txBody>
          </p:sp>
          <p:sp>
            <p:nvSpPr>
              <p:cNvPr id="50" name="Shape 44"/>
              <p:cNvSpPr/>
              <p:nvPr/>
            </p:nvSpPr>
            <p:spPr>
              <a:xfrm>
                <a:off x="476402" y="2012558"/>
                <a:ext cx="11239805" cy="9144"/>
              </a:xfrm>
              <a:prstGeom prst="rect">
                <a:avLst/>
              </a:prstGeom>
              <a:solidFill>
                <a:srgbClr val="E2E8F0"/>
              </a:solidFill>
              <a:ln w="12700">
                <a:solidFill>
                  <a:srgbClr val="E2E8F0">
                    <a:alpha val="0"/>
                  </a:srgbClr>
                </a:solidFill>
                <a:prstDash val="solid"/>
              </a:ln>
            </p:spPr>
          </p:sp>
          <p:sp>
            <p:nvSpPr>
              <p:cNvPr id="62" name="Shape 55"/>
              <p:cNvSpPr/>
              <p:nvPr/>
            </p:nvSpPr>
            <p:spPr>
              <a:xfrm>
                <a:off x="476402" y="3022055"/>
                <a:ext cx="11239805" cy="9144"/>
              </a:xfrm>
              <a:prstGeom prst="rect">
                <a:avLst/>
              </a:prstGeom>
              <a:solidFill>
                <a:srgbClr val="E2E8F0"/>
              </a:solidFill>
              <a:ln w="12700">
                <a:solidFill>
                  <a:srgbClr val="E2E8F0">
                    <a:alpha val="0"/>
                  </a:srgbClr>
                </a:solidFill>
                <a:prstDash val="solid"/>
              </a:ln>
            </p:spPr>
          </p:sp>
          <p:sp>
            <p:nvSpPr>
              <p:cNvPr id="63" name="Shape 56"/>
              <p:cNvSpPr/>
              <p:nvPr/>
            </p:nvSpPr>
            <p:spPr>
              <a:xfrm>
                <a:off x="476402" y="2021702"/>
                <a:ext cx="761695" cy="1000354"/>
              </a:xfrm>
              <a:prstGeom prst="rect">
                <a:avLst/>
              </a:prstGeom>
              <a:solidFill>
                <a:srgbClr val="1A355B"/>
              </a:solidFill>
              <a:ln/>
            </p:spPr>
          </p:sp>
          <p:sp>
            <p:nvSpPr>
              <p:cNvPr id="64" name="Shape 57"/>
              <p:cNvSpPr/>
              <p:nvPr/>
            </p:nvSpPr>
            <p:spPr>
              <a:xfrm>
                <a:off x="1228954" y="2021702"/>
                <a:ext cx="9144" cy="1000354"/>
              </a:xfrm>
              <a:prstGeom prst="rect">
                <a:avLst/>
              </a:prstGeom>
              <a:solidFill>
                <a:srgbClr val="E2E8F0"/>
              </a:solidFill>
              <a:ln w="12700">
                <a:solidFill>
                  <a:srgbClr val="E2E8F0">
                    <a:alpha val="0"/>
                  </a:srgbClr>
                </a:solidFill>
                <a:prstDash val="solid"/>
              </a:ln>
            </p:spPr>
          </p:sp>
          <p:sp>
            <p:nvSpPr>
              <p:cNvPr id="65" name="Text 58"/>
              <p:cNvSpPr txBox="1"/>
              <p:nvPr/>
            </p:nvSpPr>
            <p:spPr>
              <a:xfrm>
                <a:off x="801929" y="2392948"/>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5</a:t>
                </a:r>
                <a:endParaRPr lang="en-US" sz="2000" dirty="0"/>
              </a:p>
            </p:txBody>
          </p:sp>
          <p:sp>
            <p:nvSpPr>
              <p:cNvPr id="66" name="Shape 59"/>
              <p:cNvSpPr/>
              <p:nvPr/>
            </p:nvSpPr>
            <p:spPr>
              <a:xfrm>
                <a:off x="6467551" y="2021702"/>
                <a:ext cx="9144" cy="1000354"/>
              </a:xfrm>
              <a:prstGeom prst="rect">
                <a:avLst/>
              </a:prstGeom>
              <a:solidFill>
                <a:srgbClr val="E2E8F0"/>
              </a:solidFill>
              <a:ln w="12700">
                <a:solidFill>
                  <a:srgbClr val="E2E8F0">
                    <a:alpha val="0"/>
                  </a:srgbClr>
                </a:solidFill>
                <a:prstDash val="solid"/>
              </a:ln>
            </p:spPr>
          </p:sp>
          <p:sp>
            <p:nvSpPr>
              <p:cNvPr id="67" name="Text 60"/>
              <p:cNvSpPr txBox="1"/>
              <p:nvPr/>
            </p:nvSpPr>
            <p:spPr>
              <a:xfrm>
                <a:off x="1429207" y="2300594"/>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모델 성능 검증 및 평가</a:t>
                </a:r>
                <a:endParaRPr lang="en-US" dirty="0"/>
              </a:p>
            </p:txBody>
          </p:sp>
          <p:sp>
            <p:nvSpPr>
              <p:cNvPr id="68" name="Text 61"/>
              <p:cNvSpPr txBox="1"/>
              <p:nvPr/>
            </p:nvSpPr>
            <p:spPr>
              <a:xfrm>
                <a:off x="1429208" y="2572170"/>
                <a:ext cx="4905756" cy="375819"/>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AUROC 및 PRC-AUC 지표를 통한 기전 예측 성능 검증 및 In-silico 스크리닝의 통계적 유효성 평가</a:t>
                </a:r>
                <a:endParaRPr lang="en-US" sz="1200" dirty="0"/>
              </a:p>
            </p:txBody>
          </p:sp>
          <p:sp>
            <p:nvSpPr>
              <p:cNvPr id="69" name="Text 62"/>
              <p:cNvSpPr txBox="1"/>
              <p:nvPr/>
            </p:nvSpPr>
            <p:spPr>
              <a:xfrm>
                <a:off x="6667805" y="2201698"/>
                <a:ext cx="5048402" cy="315467"/>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추론 엔진 고도화</a:t>
                </a:r>
                <a:endParaRPr lang="en-US" dirty="0"/>
              </a:p>
            </p:txBody>
          </p:sp>
          <p:sp>
            <p:nvSpPr>
              <p:cNvPr id="70" name="Text 63"/>
              <p:cNvSpPr txBox="1"/>
              <p:nvPr/>
            </p:nvSpPr>
            <p:spPr>
              <a:xfrm>
                <a:off x="6667804" y="2471585"/>
                <a:ext cx="5030113" cy="476403"/>
              </a:xfrm>
              <a:prstGeom prst="rect">
                <a:avLst/>
              </a:prstGeom>
              <a:noFill/>
              <a:ln/>
            </p:spPr>
            <p:txBody>
              <a:bodyPr wrap="square" lIns="0" tIns="0" rIns="0" bIns="0" rtlCol="0" anchor="ctr"/>
              <a:lstStyle/>
              <a:p>
                <a:pPr marL="0" indent="0" algn="l">
                  <a:buNone/>
                </a:pPr>
                <a:r>
                  <a:rPr lang="en-US" sz="1200" dirty="0" err="1">
                    <a:solidFill>
                      <a:srgbClr val="475569"/>
                    </a:solidFill>
                    <a:latin typeface="Noto Sans KR" pitchFamily="34" charset="0"/>
                    <a:ea typeface="Noto Sans KR" pitchFamily="34" charset="-122"/>
                    <a:cs typeface="Noto Sans KR" pitchFamily="34" charset="-120"/>
                  </a:rPr>
                  <a:t>학습된</a:t>
                </a:r>
                <a:r>
                  <a:rPr lang="en-US" sz="1200" dirty="0">
                    <a:solidFill>
                      <a:srgbClr val="475569"/>
                    </a:solidFill>
                    <a:latin typeface="Noto Sans KR" pitchFamily="34" charset="0"/>
                    <a:ea typeface="Noto Sans KR" pitchFamily="34" charset="-122"/>
                    <a:cs typeface="Noto Sans KR" pitchFamily="34" charset="-120"/>
                  </a:rPr>
                  <a:t> </a:t>
                </a:r>
                <a:r>
                  <a:rPr lang="en-US" sz="1200" dirty="0" smtClean="0">
                    <a:solidFill>
                      <a:srgbClr val="475569"/>
                    </a:solidFill>
                    <a:latin typeface="Noto Sans KR" pitchFamily="34" charset="0"/>
                    <a:ea typeface="Noto Sans KR" pitchFamily="34" charset="-122"/>
                    <a:cs typeface="Noto Sans KR" pitchFamily="34" charset="-120"/>
                  </a:rPr>
                  <a:t>D-MPNN </a:t>
                </a:r>
                <a:r>
                  <a:rPr lang="en-US" sz="1200" dirty="0" err="1" smtClean="0">
                    <a:solidFill>
                      <a:srgbClr val="475569"/>
                    </a:solidFill>
                    <a:latin typeface="Noto Sans KR" pitchFamily="34" charset="0"/>
                    <a:ea typeface="Noto Sans KR" pitchFamily="34" charset="-122"/>
                    <a:cs typeface="Noto Sans KR" pitchFamily="34" charset="-120"/>
                  </a:rPr>
                  <a:t>모델을</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활용하여 미지의 화합물에 대한 저해 활성 확률을 실시간으로 도출하는 로직 구현</a:t>
                </a:r>
                <a:endParaRPr lang="en-US" sz="1200" dirty="0"/>
              </a:p>
            </p:txBody>
          </p:sp>
          <p:sp>
            <p:nvSpPr>
              <p:cNvPr id="74" name="Shape 66"/>
              <p:cNvSpPr/>
              <p:nvPr/>
            </p:nvSpPr>
            <p:spPr>
              <a:xfrm>
                <a:off x="476402" y="4031553"/>
                <a:ext cx="11239805" cy="9144"/>
              </a:xfrm>
              <a:prstGeom prst="rect">
                <a:avLst/>
              </a:prstGeom>
              <a:solidFill>
                <a:srgbClr val="E2E8F0"/>
              </a:solidFill>
              <a:ln w="12700">
                <a:solidFill>
                  <a:srgbClr val="E2E8F0">
                    <a:alpha val="0"/>
                  </a:srgbClr>
                </a:solidFill>
                <a:prstDash val="solid"/>
              </a:ln>
            </p:spPr>
          </p:sp>
          <p:sp>
            <p:nvSpPr>
              <p:cNvPr id="75" name="Shape 67"/>
              <p:cNvSpPr/>
              <p:nvPr/>
            </p:nvSpPr>
            <p:spPr>
              <a:xfrm>
                <a:off x="476402" y="3031199"/>
                <a:ext cx="761695" cy="1000354"/>
              </a:xfrm>
              <a:prstGeom prst="rect">
                <a:avLst/>
              </a:prstGeom>
              <a:solidFill>
                <a:srgbClr val="1A355B"/>
              </a:solidFill>
              <a:ln/>
            </p:spPr>
          </p:sp>
          <p:sp>
            <p:nvSpPr>
              <p:cNvPr id="76" name="Shape 68"/>
              <p:cNvSpPr/>
              <p:nvPr/>
            </p:nvSpPr>
            <p:spPr>
              <a:xfrm>
                <a:off x="1228954" y="3031199"/>
                <a:ext cx="9144" cy="1000354"/>
              </a:xfrm>
              <a:prstGeom prst="rect">
                <a:avLst/>
              </a:prstGeom>
              <a:solidFill>
                <a:srgbClr val="E2E8F0"/>
              </a:solidFill>
              <a:ln w="12700">
                <a:solidFill>
                  <a:srgbClr val="E2E8F0">
                    <a:alpha val="0"/>
                  </a:srgbClr>
                </a:solidFill>
                <a:prstDash val="solid"/>
              </a:ln>
            </p:spPr>
          </p:sp>
          <p:sp>
            <p:nvSpPr>
              <p:cNvPr id="77" name="Text 69"/>
              <p:cNvSpPr txBox="1"/>
              <p:nvPr/>
            </p:nvSpPr>
            <p:spPr>
              <a:xfrm>
                <a:off x="801929" y="3403360"/>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6</a:t>
                </a:r>
                <a:endParaRPr lang="en-US" sz="2000" dirty="0"/>
              </a:p>
            </p:txBody>
          </p:sp>
          <p:sp>
            <p:nvSpPr>
              <p:cNvPr id="78" name="Shape 70"/>
              <p:cNvSpPr/>
              <p:nvPr/>
            </p:nvSpPr>
            <p:spPr>
              <a:xfrm>
                <a:off x="6467551" y="3031199"/>
                <a:ext cx="9144" cy="1000354"/>
              </a:xfrm>
              <a:prstGeom prst="rect">
                <a:avLst/>
              </a:prstGeom>
              <a:solidFill>
                <a:srgbClr val="E2E8F0"/>
              </a:solidFill>
              <a:ln w="12700">
                <a:solidFill>
                  <a:srgbClr val="E2E8F0">
                    <a:alpha val="0"/>
                  </a:srgbClr>
                </a:solidFill>
                <a:prstDash val="solid"/>
              </a:ln>
            </p:spPr>
          </p:sp>
          <p:sp>
            <p:nvSpPr>
              <p:cNvPr id="79" name="Text 71"/>
              <p:cNvSpPr txBox="1"/>
              <p:nvPr/>
            </p:nvSpPr>
            <p:spPr>
              <a:xfrm>
                <a:off x="1429207" y="3310091"/>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외부 데이터 검증</a:t>
                </a:r>
                <a:endParaRPr lang="en-US" dirty="0"/>
              </a:p>
            </p:txBody>
          </p:sp>
          <p:sp>
            <p:nvSpPr>
              <p:cNvPr id="80" name="Text 72"/>
              <p:cNvSpPr txBox="1"/>
              <p:nvPr/>
            </p:nvSpPr>
            <p:spPr>
              <a:xfrm>
                <a:off x="1429207" y="3564577"/>
                <a:ext cx="5039258" cy="357248"/>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외부 큐레이션된 화합물 데이터를 통한 모델 일반화 성능 평가</a:t>
                </a:r>
                <a:endParaRPr lang="en-US" sz="1200" dirty="0"/>
              </a:p>
            </p:txBody>
          </p:sp>
          <p:sp>
            <p:nvSpPr>
              <p:cNvPr id="81" name="Text 73"/>
              <p:cNvSpPr txBox="1"/>
              <p:nvPr/>
            </p:nvSpPr>
            <p:spPr>
              <a:xfrm>
                <a:off x="6667805" y="3274430"/>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백엔드 서비스 API</a:t>
                </a:r>
                <a:endParaRPr lang="en-US" dirty="0"/>
              </a:p>
            </p:txBody>
          </p:sp>
          <p:sp>
            <p:nvSpPr>
              <p:cNvPr id="82" name="Text 74"/>
              <p:cNvSpPr txBox="1"/>
              <p:nvPr/>
            </p:nvSpPr>
            <p:spPr>
              <a:xfrm>
                <a:off x="6679692" y="3522889"/>
                <a:ext cx="4903013" cy="418561"/>
              </a:xfrm>
              <a:prstGeom prst="rect">
                <a:avLst/>
              </a:prstGeom>
              <a:noFill/>
              <a:ln/>
            </p:spPr>
            <p:txBody>
              <a:bodyPr wrap="square" lIns="0" tIns="0" rIns="0" bIns="0" rtlCol="0" anchor="ctr"/>
              <a:lstStyle/>
              <a:p>
                <a:pPr marL="0" indent="0" algn="l">
                  <a:buNone/>
                </a:pPr>
                <a:r>
                  <a:rPr lang="en-US" sz="1200" dirty="0" err="1" smtClean="0">
                    <a:solidFill>
                      <a:srgbClr val="475569"/>
                    </a:solidFill>
                    <a:latin typeface="Noto Sans KR" pitchFamily="34" charset="0"/>
                    <a:ea typeface="Noto Sans KR" pitchFamily="34" charset="-122"/>
                    <a:cs typeface="Noto Sans KR" pitchFamily="34" charset="-120"/>
                  </a:rPr>
                  <a:t>FastAPI</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서버 구축 및 RDKit을 이용한 화합물 물성(Lipinski's Rule) 분석 연동</a:t>
                </a:r>
                <a:endParaRPr lang="en-US" sz="1200" dirty="0"/>
              </a:p>
            </p:txBody>
          </p:sp>
          <p:sp>
            <p:nvSpPr>
              <p:cNvPr id="86" name="Shape 77"/>
              <p:cNvSpPr/>
              <p:nvPr/>
            </p:nvSpPr>
            <p:spPr>
              <a:xfrm>
                <a:off x="476402" y="5041965"/>
                <a:ext cx="11239805" cy="9144"/>
              </a:xfrm>
              <a:prstGeom prst="rect">
                <a:avLst/>
              </a:prstGeom>
              <a:solidFill>
                <a:srgbClr val="E2E8F0"/>
              </a:solidFill>
              <a:ln w="12700">
                <a:solidFill>
                  <a:srgbClr val="E2E8F0">
                    <a:alpha val="0"/>
                  </a:srgbClr>
                </a:solidFill>
                <a:prstDash val="solid"/>
              </a:ln>
            </p:spPr>
          </p:sp>
          <p:sp>
            <p:nvSpPr>
              <p:cNvPr id="87" name="Shape 78"/>
              <p:cNvSpPr/>
              <p:nvPr/>
            </p:nvSpPr>
            <p:spPr>
              <a:xfrm>
                <a:off x="476402" y="4041611"/>
                <a:ext cx="761695" cy="1000354"/>
              </a:xfrm>
              <a:prstGeom prst="rect">
                <a:avLst/>
              </a:prstGeom>
              <a:solidFill>
                <a:srgbClr val="1A355B"/>
              </a:solidFill>
              <a:ln/>
            </p:spPr>
          </p:sp>
          <p:sp>
            <p:nvSpPr>
              <p:cNvPr id="88" name="Shape 79"/>
              <p:cNvSpPr/>
              <p:nvPr/>
            </p:nvSpPr>
            <p:spPr>
              <a:xfrm>
                <a:off x="1228954" y="4041611"/>
                <a:ext cx="9144" cy="1000354"/>
              </a:xfrm>
              <a:prstGeom prst="rect">
                <a:avLst/>
              </a:prstGeom>
              <a:solidFill>
                <a:srgbClr val="E2E8F0"/>
              </a:solidFill>
              <a:ln w="12700">
                <a:solidFill>
                  <a:srgbClr val="E2E8F0">
                    <a:alpha val="0"/>
                  </a:srgbClr>
                </a:solidFill>
                <a:prstDash val="solid"/>
              </a:ln>
            </p:spPr>
          </p:sp>
          <p:sp>
            <p:nvSpPr>
              <p:cNvPr id="89" name="Text 80"/>
              <p:cNvSpPr txBox="1"/>
              <p:nvPr/>
            </p:nvSpPr>
            <p:spPr>
              <a:xfrm>
                <a:off x="801929" y="4412858"/>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7</a:t>
                </a:r>
                <a:endParaRPr lang="en-US" sz="2000" dirty="0"/>
              </a:p>
            </p:txBody>
          </p:sp>
          <p:sp>
            <p:nvSpPr>
              <p:cNvPr id="90" name="Shape 81"/>
              <p:cNvSpPr/>
              <p:nvPr/>
            </p:nvSpPr>
            <p:spPr>
              <a:xfrm>
                <a:off x="6467551" y="4041611"/>
                <a:ext cx="9144" cy="1000354"/>
              </a:xfrm>
              <a:prstGeom prst="rect">
                <a:avLst/>
              </a:prstGeom>
              <a:solidFill>
                <a:srgbClr val="E2E8F0"/>
              </a:solidFill>
              <a:ln w="12700">
                <a:solidFill>
                  <a:srgbClr val="E2E8F0">
                    <a:alpha val="0"/>
                  </a:srgbClr>
                </a:solidFill>
                <a:prstDash val="solid"/>
              </a:ln>
            </p:spPr>
          </p:sp>
          <p:sp>
            <p:nvSpPr>
              <p:cNvPr id="91" name="Text 82"/>
              <p:cNvSpPr txBox="1"/>
              <p:nvPr/>
            </p:nvSpPr>
            <p:spPr>
              <a:xfrm>
                <a:off x="1429207" y="4319589"/>
                <a:ext cx="4963363"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UI/UX 설계</a:t>
                </a:r>
                <a:endParaRPr lang="en-US" dirty="0"/>
              </a:p>
            </p:txBody>
          </p:sp>
          <p:sp>
            <p:nvSpPr>
              <p:cNvPr id="92" name="Text 83"/>
              <p:cNvSpPr txBox="1"/>
              <p:nvPr/>
            </p:nvSpPr>
            <p:spPr>
              <a:xfrm>
                <a:off x="1429207" y="4591166"/>
                <a:ext cx="5039258" cy="321868"/>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사용자 친화적 인터페이스 설계 및 시각화 전략 수립</a:t>
                </a:r>
                <a:endParaRPr lang="en-US" sz="1200" dirty="0"/>
              </a:p>
            </p:txBody>
          </p:sp>
          <p:sp>
            <p:nvSpPr>
              <p:cNvPr id="93" name="Text 84"/>
              <p:cNvSpPr txBox="1"/>
              <p:nvPr/>
            </p:nvSpPr>
            <p:spPr>
              <a:xfrm>
                <a:off x="6679692" y="4209861"/>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인터랙티브 웹 인터페이스</a:t>
                </a:r>
                <a:endParaRPr lang="en-US" dirty="0"/>
              </a:p>
            </p:txBody>
          </p:sp>
          <p:sp>
            <p:nvSpPr>
              <p:cNvPr id="94" name="Text 85"/>
              <p:cNvSpPr txBox="1"/>
              <p:nvPr/>
            </p:nvSpPr>
            <p:spPr>
              <a:xfrm>
                <a:off x="6677997" y="4471379"/>
                <a:ext cx="5019919" cy="441655"/>
              </a:xfrm>
              <a:prstGeom prst="rect">
                <a:avLst/>
              </a:prstGeom>
              <a:noFill/>
              <a:ln/>
            </p:spPr>
            <p:txBody>
              <a:bodyPr wrap="square" lIns="0" tIns="0" rIns="0" bIns="0" rtlCol="0" anchor="ctr"/>
              <a:lstStyle/>
              <a:p>
                <a:pPr marL="0" indent="0" algn="l">
                  <a:buNone/>
                </a:pPr>
                <a:r>
                  <a:rPr lang="en-US" sz="1200" dirty="0" smtClean="0">
                    <a:solidFill>
                      <a:srgbClr val="475569"/>
                    </a:solidFill>
                    <a:latin typeface="Noto Sans KR" pitchFamily="34" charset="0"/>
                    <a:ea typeface="Noto Sans KR" pitchFamily="34" charset="-122"/>
                    <a:cs typeface="Noto Sans KR" pitchFamily="34" charset="-120"/>
                  </a:rPr>
                  <a:t>SMILES </a:t>
                </a:r>
                <a:r>
                  <a:rPr lang="en-US" sz="1200" dirty="0">
                    <a:solidFill>
                      <a:srgbClr val="475569"/>
                    </a:solidFill>
                    <a:latin typeface="Noto Sans KR" pitchFamily="34" charset="0"/>
                    <a:ea typeface="Noto Sans KR" pitchFamily="34" charset="-122"/>
                    <a:cs typeface="Noto Sans KR" pitchFamily="34" charset="-120"/>
                  </a:rPr>
                  <a:t>기반의 사용자 입력 처리 및 </a:t>
                </a:r>
                <a:r>
                  <a:rPr lang="ko-KR" altLang="en-US" sz="1200" dirty="0" smtClean="0">
                    <a:solidFill>
                      <a:srgbClr val="475569"/>
                    </a:solidFill>
                    <a:latin typeface="Noto Sans KR" pitchFamily="34" charset="0"/>
                    <a:ea typeface="Noto Sans KR" pitchFamily="34" charset="-122"/>
                    <a:cs typeface="Noto Sans KR" pitchFamily="34" charset="-120"/>
                  </a:rPr>
                  <a:t>클러스터</a:t>
                </a:r>
                <a:r>
                  <a:rPr lang="en-US" sz="1200" dirty="0" smtClean="0">
                    <a:solidFill>
                      <a:srgbClr val="475569"/>
                    </a:solidFill>
                    <a:latin typeface="Noto Sans KR" pitchFamily="34" charset="0"/>
                    <a:ea typeface="Noto Sans KR" pitchFamily="34" charset="-122"/>
                    <a:cs typeface="Noto Sans KR" pitchFamily="34" charset="-120"/>
                  </a:rPr>
                  <a:t>별 </a:t>
                </a:r>
                <a:r>
                  <a:rPr lang="en-US" sz="1200" dirty="0">
                    <a:solidFill>
                      <a:srgbClr val="475569"/>
                    </a:solidFill>
                    <a:latin typeface="Noto Sans KR" pitchFamily="34" charset="0"/>
                    <a:ea typeface="Noto Sans KR" pitchFamily="34" charset="-122"/>
                    <a:cs typeface="Noto Sans KR" pitchFamily="34" charset="-120"/>
                  </a:rPr>
                  <a:t>활성도 레이더 차트 시각화 구현</a:t>
                </a:r>
                <a:endParaRPr lang="en-US" sz="1200" dirty="0"/>
              </a:p>
            </p:txBody>
          </p:sp>
          <p:sp>
            <p:nvSpPr>
              <p:cNvPr id="100" name="Text 90"/>
              <p:cNvSpPr txBox="1"/>
              <p:nvPr/>
            </p:nvSpPr>
            <p:spPr>
              <a:xfrm>
                <a:off x="801929" y="5422355"/>
                <a:ext cx="181051" cy="257861"/>
              </a:xfrm>
              <a:prstGeom prst="rect">
                <a:avLst/>
              </a:prstGeom>
              <a:noFill/>
              <a:ln/>
            </p:spPr>
            <p:txBody>
              <a:bodyPr wrap="square" lIns="0" tIns="0" rIns="0" bIns="0" rtlCol="0" anchor="ctr"/>
              <a:lstStyle/>
              <a:p>
                <a:pPr marL="0" indent="0" algn="l">
                  <a:buNone/>
                </a:pPr>
                <a:r>
                  <a:rPr lang="en-US" sz="2000" b="1" dirty="0">
                    <a:solidFill>
                      <a:srgbClr val="FFFFFF"/>
                    </a:solidFill>
                    <a:latin typeface="Noto Sans KR" pitchFamily="34" charset="0"/>
                    <a:ea typeface="Noto Sans KR" pitchFamily="34" charset="-122"/>
                    <a:cs typeface="Noto Sans KR" pitchFamily="34" charset="-120"/>
                  </a:rPr>
                  <a:t>8</a:t>
                </a:r>
                <a:endParaRPr lang="en-US" sz="2000" dirty="0"/>
              </a:p>
            </p:txBody>
          </p:sp>
          <p:sp>
            <p:nvSpPr>
              <p:cNvPr id="102" name="Text 92"/>
              <p:cNvSpPr txBox="1"/>
              <p:nvPr/>
            </p:nvSpPr>
            <p:spPr>
              <a:xfrm>
                <a:off x="1429207" y="5329086"/>
                <a:ext cx="5039258"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가상 스크리닝 플랫폼 제안</a:t>
                </a:r>
                <a:endParaRPr lang="en-US" dirty="0"/>
              </a:p>
            </p:txBody>
          </p:sp>
          <p:sp>
            <p:nvSpPr>
              <p:cNvPr id="103" name="Text 93"/>
              <p:cNvSpPr txBox="1"/>
              <p:nvPr/>
            </p:nvSpPr>
            <p:spPr>
              <a:xfrm>
                <a:off x="1429207" y="5600663"/>
                <a:ext cx="4666793" cy="321869"/>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AI 기반의 효율적인 초기 약물 발견 및 결핵균 저해 기전 예측을 위한 전략적 가이드라인 제시</a:t>
                </a:r>
                <a:endParaRPr lang="en-US" sz="1200" dirty="0"/>
              </a:p>
            </p:txBody>
          </p:sp>
          <p:sp>
            <p:nvSpPr>
              <p:cNvPr id="104" name="Text 94"/>
              <p:cNvSpPr txBox="1"/>
              <p:nvPr/>
            </p:nvSpPr>
            <p:spPr>
              <a:xfrm>
                <a:off x="6679692" y="5277734"/>
                <a:ext cx="5048402" cy="21945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종합 스크리닝 서비스</a:t>
                </a:r>
                <a:endParaRPr lang="en-US" dirty="0"/>
              </a:p>
            </p:txBody>
          </p:sp>
          <p:sp>
            <p:nvSpPr>
              <p:cNvPr id="105" name="Text 95"/>
              <p:cNvSpPr txBox="1"/>
              <p:nvPr/>
            </p:nvSpPr>
            <p:spPr>
              <a:xfrm>
                <a:off x="6677998" y="5492467"/>
                <a:ext cx="4809324" cy="458114"/>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예측 모델과 웹 서비스를 통합한 Mtb-Inhibitor Finder AI 플랫폼 최종 배포 및 최적화</a:t>
                </a:r>
                <a:endParaRPr lang="en-US" sz="1200" dirty="0"/>
              </a:p>
            </p:txBody>
          </p:sp>
        </p:grpSp>
      </p:grpSp>
      <p:grpSp>
        <p:nvGrpSpPr>
          <p:cNvPr id="114" name="그룹 113">
            <a:extLst>
              <a:ext uri="{FF2B5EF4-FFF2-40B4-BE49-F238E27FC236}">
                <a16:creationId xmlns:a16="http://schemas.microsoft.com/office/drawing/2014/main" id="{E66173CE-E238-4D62-A91D-46AD20914A7B}"/>
              </a:ext>
            </a:extLst>
          </p:cNvPr>
          <p:cNvGrpSpPr/>
          <p:nvPr/>
        </p:nvGrpSpPr>
        <p:grpSpPr>
          <a:xfrm>
            <a:off x="10518618" y="3118218"/>
            <a:ext cx="1051342" cy="284158"/>
            <a:chOff x="2606423" y="6171199"/>
            <a:chExt cx="4858207" cy="274038"/>
          </a:xfrm>
        </p:grpSpPr>
        <p:pic>
          <p:nvPicPr>
            <p:cNvPr id="115" name="Image 6" descr="preencoded.png">
              <a:extLst>
                <a:ext uri="{FF2B5EF4-FFF2-40B4-BE49-F238E27FC236}">
                  <a16:creationId xmlns:a16="http://schemas.microsoft.com/office/drawing/2014/main" id="{A214AD80-03A5-43AA-B4B2-B4E015FB1DC8}"/>
                </a:ext>
              </a:extLst>
            </p:cNvPr>
            <p:cNvPicPr>
              <a:picLocks noChangeAspect="1"/>
            </p:cNvPicPr>
            <p:nvPr/>
          </p:nvPicPr>
          <p:blipFill>
            <a:blip r:embed="rId4"/>
            <a:stretch>
              <a:fillRect/>
            </a:stretch>
          </p:blipFill>
          <p:spPr>
            <a:xfrm>
              <a:off x="2606423" y="6190053"/>
              <a:ext cx="4858207" cy="237744"/>
            </a:xfrm>
            <a:prstGeom prst="rect">
              <a:avLst/>
            </a:prstGeom>
          </p:spPr>
        </p:pic>
        <p:sp>
          <p:nvSpPr>
            <p:cNvPr id="116" name="Text 75">
              <a:extLst>
                <a:ext uri="{FF2B5EF4-FFF2-40B4-BE49-F238E27FC236}">
                  <a16:creationId xmlns:a16="http://schemas.microsoft.com/office/drawing/2014/main" id="{618A53A7-262D-490E-B28A-8C6482C5EEC2}"/>
                </a:ext>
              </a:extLst>
            </p:cNvPr>
            <p:cNvSpPr/>
            <p:nvPr/>
          </p:nvSpPr>
          <p:spPr>
            <a:xfrm>
              <a:off x="3380381" y="6171199"/>
              <a:ext cx="3258620" cy="27403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92400E"/>
                  </a:solidFill>
                  <a:latin typeface="Noto Sans KR" pitchFamily="34" charset="0"/>
                  <a:ea typeface="Noto Sans KR" pitchFamily="34" charset="-122"/>
                  <a:cs typeface="Noto Sans KR" pitchFamily="34" charset="-120"/>
                </a:rPr>
                <a:t>개발</a:t>
              </a:r>
              <a:endParaRPr lang="en-US" sz="1200" dirty="0"/>
            </a:p>
          </p:txBody>
        </p:sp>
      </p:grpSp>
      <p:grpSp>
        <p:nvGrpSpPr>
          <p:cNvPr id="118" name="그룹 117">
            <a:extLst>
              <a:ext uri="{FF2B5EF4-FFF2-40B4-BE49-F238E27FC236}">
                <a16:creationId xmlns:a16="http://schemas.microsoft.com/office/drawing/2014/main" id="{E751751E-A266-45A8-97C0-8DFA567B3519}"/>
              </a:ext>
            </a:extLst>
          </p:cNvPr>
          <p:cNvGrpSpPr/>
          <p:nvPr/>
        </p:nvGrpSpPr>
        <p:grpSpPr>
          <a:xfrm>
            <a:off x="10518618" y="2093019"/>
            <a:ext cx="1051341" cy="304124"/>
            <a:chOff x="8952195" y="2619174"/>
            <a:chExt cx="2847236" cy="264262"/>
          </a:xfrm>
        </p:grpSpPr>
        <p:pic>
          <p:nvPicPr>
            <p:cNvPr id="119" name="Image 1" descr="preencoded.png">
              <a:extLst>
                <a:ext uri="{FF2B5EF4-FFF2-40B4-BE49-F238E27FC236}">
                  <a16:creationId xmlns:a16="http://schemas.microsoft.com/office/drawing/2014/main" id="{641D759D-1F4A-46DA-B667-93767A150F0C}"/>
                </a:ext>
              </a:extLst>
            </p:cNvPr>
            <p:cNvPicPr>
              <a:picLocks noChangeAspect="1"/>
            </p:cNvPicPr>
            <p:nvPr/>
          </p:nvPicPr>
          <p:blipFill>
            <a:blip r:embed="rId5"/>
            <a:stretch>
              <a:fillRect/>
            </a:stretch>
          </p:blipFill>
          <p:spPr>
            <a:xfrm>
              <a:off x="8952195" y="2642725"/>
              <a:ext cx="2847236" cy="204456"/>
            </a:xfrm>
            <a:prstGeom prst="rect">
              <a:avLst/>
            </a:prstGeom>
          </p:spPr>
        </p:pic>
        <p:sp>
          <p:nvSpPr>
            <p:cNvPr id="120" name="Text 20">
              <a:extLst>
                <a:ext uri="{FF2B5EF4-FFF2-40B4-BE49-F238E27FC236}">
                  <a16:creationId xmlns:a16="http://schemas.microsoft.com/office/drawing/2014/main" id="{B52ECB68-64DD-4600-8AC6-22571A6E9A96}"/>
                </a:ext>
              </a:extLst>
            </p:cNvPr>
            <p:cNvSpPr/>
            <p:nvPr/>
          </p:nvSpPr>
          <p:spPr>
            <a:xfrm>
              <a:off x="9214159" y="2619174"/>
              <a:ext cx="2333871" cy="264262"/>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구현</a:t>
              </a:r>
              <a:endParaRPr lang="en-US" sz="1200" dirty="0"/>
            </a:p>
          </p:txBody>
        </p:sp>
      </p:grpSp>
      <p:grpSp>
        <p:nvGrpSpPr>
          <p:cNvPr id="121" name="그룹 120">
            <a:extLst>
              <a:ext uri="{FF2B5EF4-FFF2-40B4-BE49-F238E27FC236}">
                <a16:creationId xmlns:a16="http://schemas.microsoft.com/office/drawing/2014/main" id="{74252D61-E8CC-4FA8-A6B2-3F4090F9C581}"/>
              </a:ext>
            </a:extLst>
          </p:cNvPr>
          <p:cNvGrpSpPr/>
          <p:nvPr/>
        </p:nvGrpSpPr>
        <p:grpSpPr>
          <a:xfrm>
            <a:off x="10513027" y="4081347"/>
            <a:ext cx="1051342" cy="284158"/>
            <a:chOff x="2606423" y="6171199"/>
            <a:chExt cx="4858207" cy="274038"/>
          </a:xfrm>
        </p:grpSpPr>
        <p:pic>
          <p:nvPicPr>
            <p:cNvPr id="122" name="Image 6" descr="preencoded.png">
              <a:extLst>
                <a:ext uri="{FF2B5EF4-FFF2-40B4-BE49-F238E27FC236}">
                  <a16:creationId xmlns:a16="http://schemas.microsoft.com/office/drawing/2014/main" id="{7765EC23-39C7-4F35-9794-23EB29A971A8}"/>
                </a:ext>
              </a:extLst>
            </p:cNvPr>
            <p:cNvPicPr>
              <a:picLocks noChangeAspect="1"/>
            </p:cNvPicPr>
            <p:nvPr/>
          </p:nvPicPr>
          <p:blipFill>
            <a:blip r:embed="rId4"/>
            <a:stretch>
              <a:fillRect/>
            </a:stretch>
          </p:blipFill>
          <p:spPr>
            <a:xfrm>
              <a:off x="2606423" y="6190053"/>
              <a:ext cx="4858207" cy="237744"/>
            </a:xfrm>
            <a:prstGeom prst="rect">
              <a:avLst/>
            </a:prstGeom>
          </p:spPr>
        </p:pic>
        <p:sp>
          <p:nvSpPr>
            <p:cNvPr id="123" name="Text 75">
              <a:extLst>
                <a:ext uri="{FF2B5EF4-FFF2-40B4-BE49-F238E27FC236}">
                  <a16:creationId xmlns:a16="http://schemas.microsoft.com/office/drawing/2014/main" id="{50DE2397-95BF-4148-90F6-88A6F2667968}"/>
                </a:ext>
              </a:extLst>
            </p:cNvPr>
            <p:cNvSpPr/>
            <p:nvPr/>
          </p:nvSpPr>
          <p:spPr>
            <a:xfrm>
              <a:off x="3380381" y="6171199"/>
              <a:ext cx="3258620" cy="27403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92400E"/>
                  </a:solidFill>
                  <a:latin typeface="Noto Sans KR" pitchFamily="34" charset="0"/>
                  <a:ea typeface="Noto Sans KR" pitchFamily="34" charset="-122"/>
                  <a:cs typeface="Noto Sans KR" pitchFamily="34" charset="-120"/>
                </a:rPr>
                <a:t>개발</a:t>
              </a:r>
              <a:endParaRPr lang="en-US" sz="1200" dirty="0"/>
            </a:p>
          </p:txBody>
        </p:sp>
      </p:grpSp>
      <p:grpSp>
        <p:nvGrpSpPr>
          <p:cNvPr id="124" name="그룹 123">
            <a:extLst>
              <a:ext uri="{FF2B5EF4-FFF2-40B4-BE49-F238E27FC236}">
                <a16:creationId xmlns:a16="http://schemas.microsoft.com/office/drawing/2014/main" id="{92B6B592-7637-472E-ADE6-919DEEB53C68}"/>
              </a:ext>
            </a:extLst>
          </p:cNvPr>
          <p:cNvGrpSpPr/>
          <p:nvPr/>
        </p:nvGrpSpPr>
        <p:grpSpPr>
          <a:xfrm>
            <a:off x="10487630" y="5134515"/>
            <a:ext cx="1051342" cy="284158"/>
            <a:chOff x="2606423" y="6171199"/>
            <a:chExt cx="4858207" cy="274038"/>
          </a:xfrm>
        </p:grpSpPr>
        <p:pic>
          <p:nvPicPr>
            <p:cNvPr id="125" name="Image 6" descr="preencoded.png">
              <a:extLst>
                <a:ext uri="{FF2B5EF4-FFF2-40B4-BE49-F238E27FC236}">
                  <a16:creationId xmlns:a16="http://schemas.microsoft.com/office/drawing/2014/main" id="{2F327050-8D23-44C9-9388-EB8127D5E4BB}"/>
                </a:ext>
              </a:extLst>
            </p:cNvPr>
            <p:cNvPicPr>
              <a:picLocks noChangeAspect="1"/>
            </p:cNvPicPr>
            <p:nvPr/>
          </p:nvPicPr>
          <p:blipFill>
            <a:blip r:embed="rId4"/>
            <a:stretch>
              <a:fillRect/>
            </a:stretch>
          </p:blipFill>
          <p:spPr>
            <a:xfrm>
              <a:off x="2606423" y="6190053"/>
              <a:ext cx="4858207" cy="237744"/>
            </a:xfrm>
            <a:prstGeom prst="rect">
              <a:avLst/>
            </a:prstGeom>
          </p:spPr>
        </p:pic>
        <p:sp>
          <p:nvSpPr>
            <p:cNvPr id="126" name="Text 75">
              <a:extLst>
                <a:ext uri="{FF2B5EF4-FFF2-40B4-BE49-F238E27FC236}">
                  <a16:creationId xmlns:a16="http://schemas.microsoft.com/office/drawing/2014/main" id="{485838A3-A8B8-4D6B-8D71-6B45B0EFC613}"/>
                </a:ext>
              </a:extLst>
            </p:cNvPr>
            <p:cNvSpPr/>
            <p:nvPr/>
          </p:nvSpPr>
          <p:spPr>
            <a:xfrm>
              <a:off x="3380381" y="6171199"/>
              <a:ext cx="3258620" cy="27403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92400E"/>
                  </a:solidFill>
                  <a:latin typeface="Noto Sans KR" pitchFamily="34" charset="0"/>
                  <a:ea typeface="Noto Sans KR" pitchFamily="34" charset="-122"/>
                  <a:cs typeface="Noto Sans KR" pitchFamily="34" charset="-120"/>
                </a:rPr>
                <a:t>개발</a:t>
              </a:r>
              <a:endParaRPr lang="en-US" sz="1200" dirty="0"/>
            </a:p>
          </p:txBody>
        </p:sp>
      </p:grpSp>
    </p:spTree>
    <p:extLst>
      <p:ext uri="{BB962C8B-B14F-4D97-AF65-F5344CB8AC3E}">
        <p14:creationId xmlns:p14="http://schemas.microsoft.com/office/powerpoint/2010/main" val="2413041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4092854"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배경: 문제 제기 및 필요성</a:t>
            </a:r>
            <a:endParaRPr lang="en-US" sz="2400" dirty="0"/>
          </a:p>
        </p:txBody>
      </p:sp>
      <p:pic>
        <p:nvPicPr>
          <p:cNvPr id="5" name="Image 0" descr="preencoded.png"/>
          <p:cNvPicPr>
            <a:picLocks noChangeAspect="1"/>
          </p:cNvPicPr>
          <p:nvPr/>
        </p:nvPicPr>
        <p:blipFill>
          <a:blip r:embed="rId3"/>
          <a:srcRect/>
          <a:stretch/>
        </p:blipFill>
        <p:spPr>
          <a:xfrm>
            <a:off x="11410798" y="286207"/>
            <a:ext cx="304495" cy="304495"/>
          </a:xfrm>
          <a:prstGeom prst="rect">
            <a:avLst/>
          </a:prstGeom>
        </p:spPr>
      </p:pic>
      <p:sp>
        <p:nvSpPr>
          <p:cNvPr id="6" name="Text 3"/>
          <p:cNvSpPr txBox="1"/>
          <p:nvPr/>
        </p:nvSpPr>
        <p:spPr>
          <a:xfrm>
            <a:off x="857707" y="1218895"/>
            <a:ext cx="523859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결핵 치료의 현재 과제</a:t>
            </a:r>
            <a:endParaRPr lang="en-US" sz="2400" dirty="0"/>
          </a:p>
        </p:txBody>
      </p:sp>
      <p:pic>
        <p:nvPicPr>
          <p:cNvPr id="7" name="Image 1" descr="preencoded.png"/>
          <p:cNvPicPr>
            <a:picLocks noChangeAspect="1"/>
          </p:cNvPicPr>
          <p:nvPr/>
        </p:nvPicPr>
        <p:blipFill>
          <a:blip r:embed="rId4"/>
          <a:srcRect/>
          <a:stretch/>
        </p:blipFill>
        <p:spPr>
          <a:xfrm>
            <a:off x="476402" y="1257300"/>
            <a:ext cx="267005" cy="267005"/>
          </a:xfrm>
          <a:prstGeom prst="rect">
            <a:avLst/>
          </a:prstGeom>
        </p:spPr>
      </p:pic>
      <p:sp>
        <p:nvSpPr>
          <p:cNvPr id="8" name="Shape 4"/>
          <p:cNvSpPr/>
          <p:nvPr/>
        </p:nvSpPr>
        <p:spPr>
          <a:xfrm>
            <a:off x="476402" y="1676095"/>
            <a:ext cx="5429707" cy="1485900"/>
          </a:xfrm>
          <a:prstGeom prst="roundRect">
            <a:avLst>
              <a:gd name="adj" fmla="val 3156"/>
            </a:avLst>
          </a:prstGeom>
          <a:solidFill>
            <a:srgbClr val="FFFFFF"/>
          </a:solidFill>
          <a:ln/>
          <a:effectLst>
            <a:outerShdw blurRad="76200" dist="25400" dir="16200000" algn="bl" rotWithShape="0">
              <a:srgbClr val="000000">
                <a:alpha val="8000"/>
              </a:srgbClr>
            </a:outerShdw>
          </a:effectLst>
        </p:spPr>
      </p:sp>
      <p:sp>
        <p:nvSpPr>
          <p:cNvPr id="9" name="Shape 5"/>
          <p:cNvSpPr/>
          <p:nvPr/>
        </p:nvSpPr>
        <p:spPr>
          <a:xfrm>
            <a:off x="476402" y="1676095"/>
            <a:ext cx="38405" cy="1485900"/>
          </a:xfrm>
          <a:prstGeom prst="roundRect">
            <a:avLst>
              <a:gd name="adj" fmla="val 122099"/>
            </a:avLst>
          </a:prstGeom>
          <a:solidFill>
            <a:srgbClr val="1A355B"/>
          </a:solidFill>
          <a:ln w="12700">
            <a:solidFill>
              <a:srgbClr val="1A355B">
                <a:alpha val="0"/>
              </a:srgbClr>
            </a:solidFill>
            <a:prstDash val="solid"/>
          </a:ln>
        </p:spPr>
      </p:sp>
      <p:sp>
        <p:nvSpPr>
          <p:cNvPr id="10" name="Text 6"/>
          <p:cNvSpPr txBox="1"/>
          <p:nvPr/>
        </p:nvSpPr>
        <p:spPr>
          <a:xfrm>
            <a:off x="743407" y="1895093"/>
            <a:ext cx="5010912" cy="1123798"/>
          </a:xfrm>
          <a:prstGeom prst="rect">
            <a:avLst/>
          </a:prstGeom>
          <a:noFill/>
          <a:ln/>
        </p:spPr>
        <p:txBody>
          <a:bodyPr wrap="square" lIns="0" tIns="0" rIns="0" bIns="0" rtlCol="0" anchor="t"/>
          <a:lstStyle/>
          <a:p>
            <a:pPr marL="0" indent="0" algn="l">
              <a:buNone/>
            </a:pPr>
            <a:r>
              <a:rPr lang="en-US" sz="1400" b="1" dirty="0">
                <a:solidFill>
                  <a:srgbClr val="334155"/>
                </a:solidFill>
                <a:latin typeface="Noto Sans KR" pitchFamily="34" charset="0"/>
                <a:ea typeface="Noto Sans KR" pitchFamily="34" charset="-122"/>
                <a:cs typeface="Noto Sans KR" pitchFamily="34" charset="-120"/>
              </a:rPr>
              <a:t>결핵균(Mycobacterium tuberculosis)</a:t>
            </a:r>
            <a:r>
              <a:rPr lang="en-US" sz="1400" dirty="0">
                <a:solidFill>
                  <a:srgbClr val="334155"/>
                </a:solidFill>
                <a:latin typeface="Noto Sans KR" pitchFamily="34" charset="0"/>
                <a:ea typeface="Noto Sans KR" pitchFamily="34" charset="-122"/>
                <a:cs typeface="Noto Sans KR" pitchFamily="34" charset="-120"/>
              </a:rPr>
              <a:t>은 </a:t>
            </a:r>
            <a:r>
              <a:rPr lang="en-US" sz="1400" b="1" dirty="0">
                <a:solidFill>
                  <a:srgbClr val="334155"/>
                </a:solidFill>
                <a:latin typeface="Noto Sans KR" pitchFamily="34" charset="0"/>
                <a:ea typeface="Noto Sans KR" pitchFamily="34" charset="-122"/>
                <a:cs typeface="Noto Sans KR" pitchFamily="34" charset="-120"/>
              </a:rPr>
              <a:t>전 세계적으로 연간 천만 명 이상의 환자</a:t>
            </a:r>
            <a:r>
              <a:rPr lang="en-US" sz="1400" dirty="0">
                <a:solidFill>
                  <a:srgbClr val="334155"/>
                </a:solidFill>
                <a:latin typeface="Noto Sans KR" pitchFamily="34" charset="0"/>
                <a:ea typeface="Noto Sans KR" pitchFamily="34" charset="-122"/>
                <a:cs typeface="Noto Sans KR" pitchFamily="34" charset="-120"/>
              </a:rPr>
              <a:t>를 발생시키며, </a:t>
            </a:r>
            <a:r>
              <a:rPr lang="en-US" sz="1400" b="1" dirty="0">
                <a:solidFill>
                  <a:srgbClr val="FF0000"/>
                </a:solidFill>
                <a:latin typeface="Noto Sans KR" pitchFamily="34" charset="0"/>
                <a:ea typeface="Noto Sans KR" pitchFamily="34" charset="-122"/>
                <a:cs typeface="Noto Sans KR" pitchFamily="34" charset="-120"/>
              </a:rPr>
              <a:t>다제내성 결핵(MDR-TB)</a:t>
            </a:r>
            <a:r>
              <a:rPr lang="en-US" sz="1400" dirty="0">
                <a:solidFill>
                  <a:srgbClr val="334155"/>
                </a:solidFill>
                <a:latin typeface="Noto Sans KR" pitchFamily="34" charset="0"/>
                <a:ea typeface="Noto Sans KR" pitchFamily="34" charset="-122"/>
                <a:cs typeface="Noto Sans KR" pitchFamily="34" charset="-120"/>
              </a:rPr>
              <a:t>과 </a:t>
            </a:r>
            <a:r>
              <a:rPr lang="en-US" sz="1400" b="1" dirty="0">
                <a:solidFill>
                  <a:srgbClr val="FF0000"/>
                </a:solidFill>
                <a:latin typeface="Noto Sans KR" pitchFamily="34" charset="0"/>
                <a:ea typeface="Noto Sans KR" pitchFamily="34" charset="-122"/>
                <a:cs typeface="Noto Sans KR" pitchFamily="34" charset="-120"/>
              </a:rPr>
              <a:t>광범위 약제내성 결핵(XDR-TB)</a:t>
            </a:r>
            <a:r>
              <a:rPr lang="en-US" sz="1400" dirty="0">
                <a:solidFill>
                  <a:srgbClr val="334155"/>
                </a:solidFill>
                <a:latin typeface="Noto Sans KR" pitchFamily="34" charset="0"/>
                <a:ea typeface="Noto Sans KR" pitchFamily="34" charset="-122"/>
                <a:cs typeface="Noto Sans KR" pitchFamily="34" charset="-120"/>
              </a:rPr>
              <a:t>의 출현으로 </a:t>
            </a:r>
            <a:r>
              <a:rPr lang="en-US" sz="1400" b="1" dirty="0">
                <a:solidFill>
                  <a:srgbClr val="FF0000"/>
                </a:solidFill>
                <a:latin typeface="Noto Sans KR" pitchFamily="34" charset="0"/>
                <a:ea typeface="Noto Sans KR" pitchFamily="34" charset="-122"/>
                <a:cs typeface="Noto Sans KR" pitchFamily="34" charset="-120"/>
              </a:rPr>
              <a:t>치료 난이도가 급격히 증가</a:t>
            </a:r>
            <a:r>
              <a:rPr lang="en-US" sz="1400" dirty="0">
                <a:solidFill>
                  <a:srgbClr val="334155"/>
                </a:solidFill>
                <a:latin typeface="Noto Sans KR" pitchFamily="34" charset="0"/>
                <a:ea typeface="Noto Sans KR" pitchFamily="34" charset="-122"/>
                <a:cs typeface="Noto Sans KR" pitchFamily="34" charset="-120"/>
              </a:rPr>
              <a:t>하고 있습니다. WHO Global TB Report 2023에 따르면, </a:t>
            </a:r>
            <a:r>
              <a:rPr lang="en-US" sz="1400" b="1" dirty="0">
                <a:solidFill>
                  <a:srgbClr val="FF0000"/>
                </a:solidFill>
                <a:latin typeface="Noto Sans KR" pitchFamily="34" charset="0"/>
                <a:ea typeface="Noto Sans KR" pitchFamily="34" charset="-122"/>
                <a:cs typeface="Noto Sans KR" pitchFamily="34" charset="-120"/>
              </a:rPr>
              <a:t>신규 항결핵제 개발의 필요성</a:t>
            </a:r>
            <a:r>
              <a:rPr lang="en-US" sz="1400" dirty="0">
                <a:solidFill>
                  <a:srgbClr val="334155"/>
                </a:solidFill>
                <a:latin typeface="Noto Sans KR" pitchFamily="34" charset="0"/>
                <a:ea typeface="Noto Sans KR" pitchFamily="34" charset="-122"/>
                <a:cs typeface="Noto Sans KR" pitchFamily="34" charset="-120"/>
              </a:rPr>
              <a:t>이 그 어느 때보다 절실합니다.</a:t>
            </a:r>
            <a:endParaRPr lang="en-US" sz="1400" dirty="0"/>
          </a:p>
        </p:txBody>
      </p:sp>
      <p:sp>
        <p:nvSpPr>
          <p:cNvPr id="11" name="Text 7"/>
          <p:cNvSpPr txBox="1"/>
          <p:nvPr/>
        </p:nvSpPr>
        <p:spPr>
          <a:xfrm>
            <a:off x="828446" y="3448202"/>
            <a:ext cx="526785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전통적 스크리닝의 한계</a:t>
            </a:r>
            <a:endParaRPr lang="en-US" sz="2400" dirty="0"/>
          </a:p>
        </p:txBody>
      </p:sp>
      <p:pic>
        <p:nvPicPr>
          <p:cNvPr id="12" name="Image 2" descr="preencoded.png"/>
          <p:cNvPicPr>
            <a:picLocks noChangeAspect="1"/>
          </p:cNvPicPr>
          <p:nvPr/>
        </p:nvPicPr>
        <p:blipFill>
          <a:blip r:embed="rId5"/>
          <a:srcRect l="-881" r="-881"/>
          <a:stretch/>
        </p:blipFill>
        <p:spPr>
          <a:xfrm>
            <a:off x="476402" y="3486607"/>
            <a:ext cx="237744" cy="267005"/>
          </a:xfrm>
          <a:prstGeom prst="rect">
            <a:avLst/>
          </a:prstGeom>
        </p:spPr>
      </p:pic>
      <p:sp>
        <p:nvSpPr>
          <p:cNvPr id="13" name="Shape 8"/>
          <p:cNvSpPr/>
          <p:nvPr/>
        </p:nvSpPr>
        <p:spPr>
          <a:xfrm>
            <a:off x="476402" y="3905402"/>
            <a:ext cx="5429707" cy="2000707"/>
          </a:xfrm>
          <a:prstGeom prst="roundRect">
            <a:avLst>
              <a:gd name="adj" fmla="val 1741"/>
            </a:avLst>
          </a:prstGeom>
          <a:solidFill>
            <a:srgbClr val="FFFFFF"/>
          </a:solidFill>
          <a:ln/>
          <a:effectLst>
            <a:outerShdw blurRad="76200" dist="25400" dir="16200000" algn="bl" rotWithShape="0">
              <a:srgbClr val="000000">
                <a:alpha val="8000"/>
              </a:srgbClr>
            </a:outerShdw>
          </a:effectLst>
        </p:spPr>
      </p:sp>
      <p:sp>
        <p:nvSpPr>
          <p:cNvPr id="14" name="Shape 9"/>
          <p:cNvSpPr/>
          <p:nvPr/>
        </p:nvSpPr>
        <p:spPr>
          <a:xfrm>
            <a:off x="476402" y="3905402"/>
            <a:ext cx="38405" cy="2000707"/>
          </a:xfrm>
          <a:prstGeom prst="roundRect">
            <a:avLst>
              <a:gd name="adj" fmla="val 90702"/>
            </a:avLst>
          </a:prstGeom>
          <a:solidFill>
            <a:srgbClr val="1A355B"/>
          </a:solidFill>
          <a:ln w="12700">
            <a:solidFill>
              <a:srgbClr val="1A355B">
                <a:alpha val="0"/>
              </a:srgbClr>
            </a:solidFill>
            <a:prstDash val="solid"/>
          </a:ln>
        </p:spPr>
      </p:sp>
      <p:sp>
        <p:nvSpPr>
          <p:cNvPr id="16" name="Text 10"/>
          <p:cNvSpPr txBox="1"/>
          <p:nvPr/>
        </p:nvSpPr>
        <p:spPr>
          <a:xfrm>
            <a:off x="732435" y="4180093"/>
            <a:ext cx="4819802" cy="457200"/>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비용과 시간</a:t>
            </a:r>
            <a:r>
              <a:rPr lang="en-US" sz="1400" dirty="0">
                <a:solidFill>
                  <a:srgbClr val="475569"/>
                </a:solidFill>
                <a:latin typeface="Noto Sans KR" pitchFamily="34" charset="0"/>
                <a:ea typeface="Noto Sans KR" pitchFamily="34" charset="-122"/>
                <a:cs typeface="Noto Sans KR" pitchFamily="34" charset="-120"/>
              </a:rPr>
              <a:t>: 대규모 화합물 라이브러리 스크리닝은 막대한 자원과 수개월 이상의 기간이 소요됩니다.</a:t>
            </a:r>
            <a:endParaRPr lang="en-US" sz="1400" dirty="0"/>
          </a:p>
        </p:txBody>
      </p:sp>
      <p:sp>
        <p:nvSpPr>
          <p:cNvPr id="18" name="Text 11"/>
          <p:cNvSpPr txBox="1"/>
          <p:nvPr/>
        </p:nvSpPr>
        <p:spPr>
          <a:xfrm>
            <a:off x="734263" y="4626553"/>
            <a:ext cx="4932274" cy="553213"/>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처리량 제약</a:t>
            </a:r>
            <a:r>
              <a:rPr lang="en-US" sz="1400" dirty="0">
                <a:solidFill>
                  <a:srgbClr val="475569"/>
                </a:solidFill>
                <a:latin typeface="Noto Sans KR" pitchFamily="34" charset="0"/>
                <a:ea typeface="Noto Sans KR" pitchFamily="34" charset="-122"/>
                <a:cs typeface="Noto Sans KR" pitchFamily="34" charset="-120"/>
              </a:rPr>
              <a:t>: 전통적 실험 방법은 동시에 처리할 수 있는 화합물 수가 제한적입니다.</a:t>
            </a:r>
            <a:endParaRPr lang="en-US" sz="1400" dirty="0"/>
          </a:p>
        </p:txBody>
      </p:sp>
      <p:sp>
        <p:nvSpPr>
          <p:cNvPr id="20" name="Text 12"/>
          <p:cNvSpPr txBox="1"/>
          <p:nvPr/>
        </p:nvSpPr>
        <p:spPr>
          <a:xfrm>
            <a:off x="734263" y="5220309"/>
            <a:ext cx="4781397" cy="457200"/>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작용기전 불명확</a:t>
            </a:r>
            <a:r>
              <a:rPr lang="en-US" sz="1400" dirty="0">
                <a:solidFill>
                  <a:srgbClr val="475569"/>
                </a:solidFill>
                <a:latin typeface="Noto Sans KR" pitchFamily="34" charset="0"/>
                <a:ea typeface="Noto Sans KR" pitchFamily="34" charset="-122"/>
                <a:cs typeface="Noto Sans KR" pitchFamily="34" charset="-120"/>
              </a:rPr>
              <a:t>: 활성 화합물을 발견해도 정확한 작용 메커니즘 규명에 추가 연구가 필요합니다.</a:t>
            </a:r>
            <a:endParaRPr lang="en-US" sz="1400" dirty="0"/>
          </a:p>
        </p:txBody>
      </p:sp>
      <p:sp>
        <p:nvSpPr>
          <p:cNvPr id="21" name="Shape 13"/>
          <p:cNvSpPr/>
          <p:nvPr/>
        </p:nvSpPr>
        <p:spPr>
          <a:xfrm>
            <a:off x="6286500" y="1218895"/>
            <a:ext cx="5429707" cy="761695"/>
          </a:xfrm>
          <a:prstGeom prst="roundRect">
            <a:avLst>
              <a:gd name="adj" fmla="val 9004"/>
            </a:avLst>
          </a:prstGeom>
          <a:solidFill>
            <a:srgbClr val="FFFFFF"/>
          </a:solidFill>
          <a:ln w="12700">
            <a:solidFill>
              <a:srgbClr val="FFFFFF">
                <a:alpha val="0"/>
              </a:srgbClr>
            </a:solidFill>
            <a:prstDash val="solid"/>
          </a:ln>
        </p:spPr>
      </p:sp>
      <p:pic>
        <p:nvPicPr>
          <p:cNvPr id="22" name="Image 6" descr="preencoded.png"/>
          <p:cNvPicPr>
            <a:picLocks noChangeAspect="1"/>
          </p:cNvPicPr>
          <p:nvPr/>
        </p:nvPicPr>
        <p:blipFill>
          <a:blip r:embed="rId6"/>
          <a:srcRect l="-50" r="-50"/>
          <a:stretch/>
        </p:blipFill>
        <p:spPr>
          <a:xfrm>
            <a:off x="6505956" y="1466698"/>
            <a:ext cx="342900" cy="304495"/>
          </a:xfrm>
          <a:prstGeom prst="rect">
            <a:avLst/>
          </a:prstGeom>
        </p:spPr>
      </p:pic>
      <p:sp>
        <p:nvSpPr>
          <p:cNvPr id="23" name="Text 14"/>
          <p:cNvSpPr txBox="1"/>
          <p:nvPr/>
        </p:nvSpPr>
        <p:spPr>
          <a:xfrm>
            <a:off x="7067398" y="1374343"/>
            <a:ext cx="4686300" cy="19111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스크리닝 대상</a:t>
            </a:r>
            <a:endParaRPr lang="en-US" sz="1050" dirty="0"/>
          </a:p>
        </p:txBody>
      </p:sp>
      <p:sp>
        <p:nvSpPr>
          <p:cNvPr id="24" name="Text 15"/>
          <p:cNvSpPr txBox="1"/>
          <p:nvPr/>
        </p:nvSpPr>
        <p:spPr>
          <a:xfrm>
            <a:off x="7067398" y="1597457"/>
            <a:ext cx="4610405"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47,272개 화합물 × 152개 변이균주</a:t>
            </a:r>
            <a:endParaRPr lang="en-US" sz="1600" dirty="0"/>
          </a:p>
        </p:txBody>
      </p:sp>
      <p:sp>
        <p:nvSpPr>
          <p:cNvPr id="25" name="Shape 16"/>
          <p:cNvSpPr/>
          <p:nvPr/>
        </p:nvSpPr>
        <p:spPr>
          <a:xfrm>
            <a:off x="6286500" y="2030992"/>
            <a:ext cx="5429707" cy="761695"/>
          </a:xfrm>
          <a:prstGeom prst="roundRect">
            <a:avLst>
              <a:gd name="adj" fmla="val 9004"/>
            </a:avLst>
          </a:prstGeom>
          <a:solidFill>
            <a:srgbClr val="FFFFFF"/>
          </a:solidFill>
          <a:ln w="12700">
            <a:solidFill>
              <a:srgbClr val="FFFFFF">
                <a:alpha val="0"/>
              </a:srgbClr>
            </a:solidFill>
            <a:prstDash val="solid"/>
          </a:ln>
        </p:spPr>
      </p:sp>
      <p:pic>
        <p:nvPicPr>
          <p:cNvPr id="26" name="Image 7" descr="preencoded.png"/>
          <p:cNvPicPr>
            <a:picLocks noChangeAspect="1"/>
          </p:cNvPicPr>
          <p:nvPr/>
        </p:nvPicPr>
        <p:blipFill>
          <a:blip r:embed="rId7"/>
          <a:srcRect l="-107" r="-107"/>
          <a:stretch/>
        </p:blipFill>
        <p:spPr>
          <a:xfrm>
            <a:off x="6543446" y="2278794"/>
            <a:ext cx="267005" cy="304495"/>
          </a:xfrm>
          <a:prstGeom prst="rect">
            <a:avLst/>
          </a:prstGeom>
        </p:spPr>
      </p:pic>
      <p:sp>
        <p:nvSpPr>
          <p:cNvPr id="27" name="Text 17"/>
          <p:cNvSpPr txBox="1"/>
          <p:nvPr/>
        </p:nvSpPr>
        <p:spPr>
          <a:xfrm>
            <a:off x="7067398" y="2185525"/>
            <a:ext cx="4686300" cy="19111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분석 데이터 포인트</a:t>
            </a:r>
            <a:endParaRPr lang="en-US" sz="1050" dirty="0"/>
          </a:p>
        </p:txBody>
      </p:sp>
      <p:sp>
        <p:nvSpPr>
          <p:cNvPr id="28" name="Text 18"/>
          <p:cNvSpPr txBox="1"/>
          <p:nvPr/>
        </p:nvSpPr>
        <p:spPr>
          <a:xfrm>
            <a:off x="7067398" y="2409553"/>
            <a:ext cx="4610405"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700만 개 이상의 CGIP 데이터</a:t>
            </a:r>
            <a:endParaRPr lang="en-US" sz="1600" dirty="0"/>
          </a:p>
        </p:txBody>
      </p:sp>
      <p:sp>
        <p:nvSpPr>
          <p:cNvPr id="29" name="Text 19"/>
          <p:cNvSpPr txBox="1"/>
          <p:nvPr/>
        </p:nvSpPr>
        <p:spPr>
          <a:xfrm>
            <a:off x="6667805" y="2889314"/>
            <a:ext cx="5162702"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CGIP의 중요성</a:t>
            </a:r>
            <a:endParaRPr lang="en-US" sz="2400" dirty="0"/>
          </a:p>
        </p:txBody>
      </p:sp>
      <p:pic>
        <p:nvPicPr>
          <p:cNvPr id="30" name="Image 8" descr="preencoded.png"/>
          <p:cNvPicPr>
            <a:picLocks noChangeAspect="1"/>
          </p:cNvPicPr>
          <p:nvPr/>
        </p:nvPicPr>
        <p:blipFill>
          <a:blip r:embed="rId8"/>
          <a:srcRect/>
          <a:stretch/>
        </p:blipFill>
        <p:spPr>
          <a:xfrm>
            <a:off x="6286500" y="2927719"/>
            <a:ext cx="267005" cy="267005"/>
          </a:xfrm>
          <a:prstGeom prst="rect">
            <a:avLst/>
          </a:prstGeom>
        </p:spPr>
      </p:pic>
      <p:sp>
        <p:nvSpPr>
          <p:cNvPr id="31" name="Shape 20"/>
          <p:cNvSpPr/>
          <p:nvPr/>
        </p:nvSpPr>
        <p:spPr>
          <a:xfrm>
            <a:off x="6286500" y="3346515"/>
            <a:ext cx="5429707" cy="1187996"/>
          </a:xfrm>
          <a:prstGeom prst="roundRect">
            <a:avLst>
              <a:gd name="adj" fmla="val 3325"/>
            </a:avLst>
          </a:prstGeom>
          <a:solidFill>
            <a:srgbClr val="EFF6FF"/>
          </a:solidFill>
          <a:ln w="25400">
            <a:solidFill>
              <a:srgbClr val="3B82F6"/>
            </a:solidFill>
            <a:prstDash val="solid"/>
          </a:ln>
        </p:spPr>
      </p:sp>
      <p:sp>
        <p:nvSpPr>
          <p:cNvPr id="32" name="Text 21"/>
          <p:cNvSpPr txBox="1"/>
          <p:nvPr/>
        </p:nvSpPr>
        <p:spPr>
          <a:xfrm>
            <a:off x="6553505" y="3507818"/>
            <a:ext cx="4937455" cy="908769"/>
          </a:xfrm>
          <a:prstGeom prst="rect">
            <a:avLst/>
          </a:prstGeom>
          <a:noFill/>
          <a:ln/>
        </p:spPr>
        <p:txBody>
          <a:bodyPr wrap="square" lIns="0" tIns="0" rIns="0" bIns="0" rtlCol="0" anchor="t"/>
          <a:lstStyle/>
          <a:p>
            <a:pPr marL="0" indent="0" algn="l">
              <a:buNone/>
            </a:pPr>
            <a:r>
              <a:rPr lang="en-US" sz="1400" b="1" dirty="0" err="1">
                <a:solidFill>
                  <a:srgbClr val="334155"/>
                </a:solidFill>
                <a:latin typeface="Noto Sans KR" pitchFamily="34" charset="0"/>
                <a:ea typeface="Noto Sans KR" pitchFamily="34" charset="-122"/>
                <a:cs typeface="Noto Sans KR" pitchFamily="34" charset="-120"/>
              </a:rPr>
              <a:t>화학-유전학적</a:t>
            </a:r>
            <a:r>
              <a:rPr lang="en-US" sz="1400" b="1" dirty="0">
                <a:solidFill>
                  <a:srgbClr val="334155"/>
                </a:solidFill>
                <a:latin typeface="Noto Sans KR" pitchFamily="34" charset="0"/>
                <a:ea typeface="Noto Sans KR" pitchFamily="34" charset="-122"/>
                <a:cs typeface="Noto Sans KR" pitchFamily="34" charset="-120"/>
              </a:rPr>
              <a:t> 상호작용 프로파일(CGIP)</a:t>
            </a:r>
            <a:r>
              <a:rPr lang="en-US" sz="1400" dirty="0">
                <a:solidFill>
                  <a:srgbClr val="334155"/>
                </a:solidFill>
                <a:latin typeface="Noto Sans KR" pitchFamily="34" charset="0"/>
                <a:ea typeface="Noto Sans KR" pitchFamily="34" charset="-122"/>
                <a:cs typeface="Noto Sans KR" pitchFamily="34" charset="-120"/>
              </a:rPr>
              <a:t>은 특정 유전자가 결핍된 변이균주에서 </a:t>
            </a:r>
            <a:r>
              <a:rPr lang="en-US" sz="1400" b="1" dirty="0">
                <a:solidFill>
                  <a:srgbClr val="FF0000"/>
                </a:solidFill>
                <a:latin typeface="Noto Sans KR" pitchFamily="34" charset="0"/>
                <a:ea typeface="Noto Sans KR" pitchFamily="34" charset="-122"/>
                <a:cs typeface="Noto Sans KR" pitchFamily="34" charset="-120"/>
              </a:rPr>
              <a:t>화합물의 성장 억제 효과를 정량화</a:t>
            </a:r>
            <a:r>
              <a:rPr lang="en-US" sz="1400" dirty="0">
                <a:solidFill>
                  <a:srgbClr val="334155"/>
                </a:solidFill>
                <a:latin typeface="Noto Sans KR" pitchFamily="34" charset="0"/>
                <a:ea typeface="Noto Sans KR" pitchFamily="34" charset="-122"/>
                <a:cs typeface="Noto Sans KR" pitchFamily="34" charset="-120"/>
              </a:rPr>
              <a:t>합니다. 이는 화합물의 </a:t>
            </a:r>
            <a:r>
              <a:rPr lang="en-US" sz="1400" b="1" dirty="0">
                <a:solidFill>
                  <a:srgbClr val="FF0000"/>
                </a:solidFill>
                <a:latin typeface="Noto Sans KR" pitchFamily="34" charset="0"/>
                <a:ea typeface="Noto Sans KR" pitchFamily="34" charset="-122"/>
                <a:cs typeface="Noto Sans KR" pitchFamily="34" charset="-120"/>
              </a:rPr>
              <a:t>작용기전(Mechanism of Action)</a:t>
            </a:r>
            <a:r>
              <a:rPr lang="en-US" sz="1400" dirty="0">
                <a:solidFill>
                  <a:srgbClr val="334155"/>
                </a:solidFill>
                <a:latin typeface="Noto Sans KR" pitchFamily="34" charset="0"/>
                <a:ea typeface="Noto Sans KR" pitchFamily="34" charset="-122"/>
                <a:cs typeface="Noto Sans KR" pitchFamily="34" charset="-120"/>
              </a:rPr>
              <a:t>을 추론하는 핵심 데이터로, 표적 기반 </a:t>
            </a:r>
            <a:r>
              <a:rPr lang="en-US" sz="1400" b="1" dirty="0">
                <a:solidFill>
                  <a:srgbClr val="FF0000"/>
                </a:solidFill>
                <a:latin typeface="Noto Sans KR" pitchFamily="34" charset="0"/>
                <a:ea typeface="Noto Sans KR" pitchFamily="34" charset="-122"/>
                <a:cs typeface="Noto Sans KR" pitchFamily="34" charset="-120"/>
              </a:rPr>
              <a:t>약물 개발의 초기 단계에서 방향성을 제시</a:t>
            </a:r>
            <a:r>
              <a:rPr lang="en-US" sz="1400" dirty="0">
                <a:solidFill>
                  <a:srgbClr val="334155"/>
                </a:solidFill>
                <a:latin typeface="Noto Sans KR" pitchFamily="34" charset="0"/>
                <a:ea typeface="Noto Sans KR" pitchFamily="34" charset="-122"/>
                <a:cs typeface="Noto Sans KR" pitchFamily="34" charset="-120"/>
              </a:rPr>
              <a:t>합니다. </a:t>
            </a:r>
            <a:endParaRPr lang="en-US" sz="1400" dirty="0"/>
          </a:p>
        </p:txBody>
      </p:sp>
      <p:sp>
        <p:nvSpPr>
          <p:cNvPr id="33" name="Text 22"/>
          <p:cNvSpPr txBox="1"/>
          <p:nvPr/>
        </p:nvSpPr>
        <p:spPr>
          <a:xfrm>
            <a:off x="6667805" y="4664390"/>
            <a:ext cx="523859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AI 기반 솔루션의 필요성</a:t>
            </a:r>
            <a:endParaRPr lang="en-US" sz="2400" dirty="0"/>
          </a:p>
        </p:txBody>
      </p:sp>
      <p:pic>
        <p:nvPicPr>
          <p:cNvPr id="34" name="Image 9" descr="preencoded.png"/>
          <p:cNvPicPr>
            <a:picLocks noChangeAspect="1"/>
          </p:cNvPicPr>
          <p:nvPr/>
        </p:nvPicPr>
        <p:blipFill>
          <a:blip r:embed="rId9"/>
          <a:srcRect/>
          <a:stretch/>
        </p:blipFill>
        <p:spPr>
          <a:xfrm>
            <a:off x="6286500" y="4702795"/>
            <a:ext cx="267005" cy="267005"/>
          </a:xfrm>
          <a:prstGeom prst="rect">
            <a:avLst/>
          </a:prstGeom>
        </p:spPr>
      </p:pic>
      <p:sp>
        <p:nvSpPr>
          <p:cNvPr id="35" name="Shape 23"/>
          <p:cNvSpPr/>
          <p:nvPr/>
        </p:nvSpPr>
        <p:spPr>
          <a:xfrm>
            <a:off x="6286500" y="5121590"/>
            <a:ext cx="5429707" cy="1236044"/>
          </a:xfrm>
          <a:prstGeom prst="roundRect">
            <a:avLst>
              <a:gd name="adj" fmla="val 3156"/>
            </a:avLst>
          </a:prstGeom>
          <a:solidFill>
            <a:srgbClr val="FFFFFF"/>
          </a:solidFill>
          <a:ln/>
          <a:effectLst>
            <a:outerShdw blurRad="76200" dist="25400" dir="16200000" algn="bl" rotWithShape="0">
              <a:srgbClr val="000000">
                <a:alpha val="8000"/>
              </a:srgbClr>
            </a:outerShdw>
          </a:effectLst>
        </p:spPr>
      </p:sp>
      <p:sp>
        <p:nvSpPr>
          <p:cNvPr id="36" name="Shape 24"/>
          <p:cNvSpPr/>
          <p:nvPr/>
        </p:nvSpPr>
        <p:spPr>
          <a:xfrm>
            <a:off x="6286500" y="5121590"/>
            <a:ext cx="38405" cy="1236044"/>
          </a:xfrm>
          <a:prstGeom prst="roundRect">
            <a:avLst>
              <a:gd name="adj" fmla="val 122099"/>
            </a:avLst>
          </a:prstGeom>
          <a:solidFill>
            <a:srgbClr val="1A355B"/>
          </a:solidFill>
          <a:ln w="12700">
            <a:solidFill>
              <a:srgbClr val="1A355B">
                <a:alpha val="0"/>
              </a:srgbClr>
            </a:solidFill>
            <a:prstDash val="solid"/>
          </a:ln>
        </p:spPr>
      </p:sp>
      <p:sp>
        <p:nvSpPr>
          <p:cNvPr id="37" name="Text 25"/>
          <p:cNvSpPr txBox="1"/>
          <p:nvPr/>
        </p:nvSpPr>
        <p:spPr>
          <a:xfrm>
            <a:off x="6505956" y="5340001"/>
            <a:ext cx="5209337" cy="1028700"/>
          </a:xfrm>
          <a:prstGeom prst="rect">
            <a:avLst/>
          </a:prstGeom>
          <a:noFill/>
          <a:ln/>
        </p:spPr>
        <p:txBody>
          <a:bodyPr wrap="square" lIns="0" tIns="0" rIns="0" bIns="0" rtlCol="0" anchor="t"/>
          <a:lstStyle/>
          <a:p>
            <a:pPr marL="0" indent="0" algn="l">
              <a:buNone/>
            </a:pPr>
            <a:r>
              <a:rPr lang="en-US" sz="1400" b="1" dirty="0" err="1">
                <a:solidFill>
                  <a:srgbClr val="334155"/>
                </a:solidFill>
                <a:latin typeface="Noto Sans KR" pitchFamily="34" charset="0"/>
                <a:ea typeface="Noto Sans KR" pitchFamily="34" charset="-122"/>
                <a:cs typeface="Noto Sans KR" pitchFamily="34" charset="-120"/>
              </a:rPr>
              <a:t>딥러닝</a:t>
            </a:r>
            <a:r>
              <a:rPr lang="en-US" sz="1400" b="1" dirty="0">
                <a:solidFill>
                  <a:srgbClr val="334155"/>
                </a:solidFill>
                <a:latin typeface="Noto Sans KR" pitchFamily="34" charset="0"/>
                <a:ea typeface="Noto Sans KR" pitchFamily="34" charset="-122"/>
                <a:cs typeface="Noto Sans KR" pitchFamily="34" charset="-120"/>
              </a:rPr>
              <a:t> 모델</a:t>
            </a:r>
            <a:r>
              <a:rPr lang="en-US" sz="1400" dirty="0">
                <a:solidFill>
                  <a:srgbClr val="334155"/>
                </a:solidFill>
                <a:latin typeface="Noto Sans KR" pitchFamily="34" charset="0"/>
                <a:ea typeface="Noto Sans KR" pitchFamily="34" charset="-122"/>
                <a:cs typeface="Noto Sans KR" pitchFamily="34" charset="-120"/>
              </a:rPr>
              <a:t>은 대규모 CGIP 데이터로부터 </a:t>
            </a:r>
            <a:r>
              <a:rPr lang="en-US" sz="1400" b="1" dirty="0">
                <a:solidFill>
                  <a:srgbClr val="334155"/>
                </a:solidFill>
                <a:latin typeface="Noto Sans KR" pitchFamily="34" charset="0"/>
                <a:ea typeface="Noto Sans KR" pitchFamily="34" charset="-122"/>
                <a:cs typeface="Noto Sans KR" pitchFamily="34" charset="-120"/>
              </a:rPr>
              <a:t>화합물-유전자 상호작용 패턴을 학습</a:t>
            </a:r>
            <a:r>
              <a:rPr lang="en-US" sz="1400" dirty="0">
                <a:solidFill>
                  <a:srgbClr val="334155"/>
                </a:solidFill>
                <a:latin typeface="Noto Sans KR" pitchFamily="34" charset="0"/>
                <a:ea typeface="Noto Sans KR" pitchFamily="34" charset="-122"/>
                <a:cs typeface="Noto Sans KR" pitchFamily="34" charset="-120"/>
              </a:rPr>
              <a:t>하여, </a:t>
            </a:r>
            <a:r>
              <a:rPr lang="en-US" sz="1400" b="1" dirty="0">
                <a:solidFill>
                  <a:srgbClr val="FF0000"/>
                </a:solidFill>
                <a:latin typeface="Noto Sans KR" pitchFamily="34" charset="0"/>
                <a:ea typeface="Noto Sans KR" pitchFamily="34" charset="-122"/>
                <a:cs typeface="Noto Sans KR" pitchFamily="34" charset="-120"/>
              </a:rPr>
              <a:t>미지의 화합물에 대한 작용기전을 예측</a:t>
            </a:r>
            <a:r>
              <a:rPr lang="en-US" sz="1400" dirty="0">
                <a:solidFill>
                  <a:srgbClr val="334155"/>
                </a:solidFill>
                <a:latin typeface="Noto Sans KR" pitchFamily="34" charset="0"/>
                <a:ea typeface="Noto Sans KR" pitchFamily="34" charset="-122"/>
                <a:cs typeface="Noto Sans KR" pitchFamily="34" charset="-120"/>
              </a:rPr>
              <a:t>할 수 있습니다. 이를 통해 </a:t>
            </a:r>
            <a:r>
              <a:rPr lang="en-US" sz="1400" b="1" dirty="0">
                <a:solidFill>
                  <a:srgbClr val="FF0000"/>
                </a:solidFill>
                <a:latin typeface="Noto Sans KR" pitchFamily="34" charset="0"/>
                <a:ea typeface="Noto Sans KR" pitchFamily="34" charset="-122"/>
                <a:cs typeface="Noto Sans KR" pitchFamily="34" charset="-120"/>
              </a:rPr>
              <a:t>실험 전 가상 스크리닝</a:t>
            </a:r>
            <a:r>
              <a:rPr lang="en-US" sz="1400" dirty="0">
                <a:solidFill>
                  <a:srgbClr val="334155"/>
                </a:solidFill>
                <a:latin typeface="Noto Sans KR" pitchFamily="34" charset="0"/>
                <a:ea typeface="Noto Sans KR" pitchFamily="34" charset="-122"/>
                <a:cs typeface="Noto Sans KR" pitchFamily="34" charset="-120"/>
              </a:rPr>
              <a:t>으로 후보 화합물을 </a:t>
            </a:r>
            <a:r>
              <a:rPr lang="en-US" sz="1400" dirty="0" err="1">
                <a:solidFill>
                  <a:srgbClr val="334155"/>
                </a:solidFill>
                <a:latin typeface="Noto Sans KR" pitchFamily="34" charset="0"/>
                <a:ea typeface="Noto Sans KR" pitchFamily="34" charset="-122"/>
                <a:cs typeface="Noto Sans KR" pitchFamily="34" charset="-120"/>
              </a:rPr>
              <a:t>선별하고</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우선순위를</a:t>
            </a:r>
            <a:r>
              <a:rPr lang="en-US" sz="1400" dirty="0">
                <a:solidFill>
                  <a:srgbClr val="334155"/>
                </a:solidFill>
                <a:latin typeface="Noto Sans KR" pitchFamily="34" charset="0"/>
                <a:ea typeface="Noto Sans KR" pitchFamily="34" charset="-122"/>
                <a:cs typeface="Noto Sans KR" pitchFamily="34" charset="-120"/>
              </a:rPr>
              <a:t/>
            </a:r>
            <a:br>
              <a:rPr lang="en-US" sz="1400" dirty="0">
                <a:solidFill>
                  <a:srgbClr val="334155"/>
                </a:solidFill>
                <a:latin typeface="Noto Sans KR" pitchFamily="34" charset="0"/>
                <a:ea typeface="Noto Sans KR" pitchFamily="34" charset="-122"/>
                <a:cs typeface="Noto Sans KR" pitchFamily="34" charset="-120"/>
              </a:rPr>
            </a:br>
            <a:r>
              <a:rPr lang="en-US" sz="1400" dirty="0" err="1">
                <a:solidFill>
                  <a:srgbClr val="334155"/>
                </a:solidFill>
                <a:latin typeface="Noto Sans KR" pitchFamily="34" charset="0"/>
                <a:ea typeface="Noto Sans KR" pitchFamily="34" charset="-122"/>
                <a:cs typeface="Noto Sans KR" pitchFamily="34" charset="-120"/>
              </a:rPr>
              <a:t>정하여</a:t>
            </a:r>
            <a:r>
              <a:rPr lang="en-US" sz="1400" dirty="0">
                <a:solidFill>
                  <a:srgbClr val="334155"/>
                </a:solidFill>
                <a:latin typeface="Noto Sans KR" pitchFamily="34" charset="0"/>
                <a:ea typeface="Noto Sans KR" pitchFamily="34" charset="-122"/>
                <a:cs typeface="Noto Sans KR" pitchFamily="34" charset="-120"/>
              </a:rPr>
              <a:t>, </a:t>
            </a:r>
            <a:r>
              <a:rPr lang="en-US" sz="1400" b="1" dirty="0">
                <a:solidFill>
                  <a:srgbClr val="FF0000"/>
                </a:solidFill>
                <a:latin typeface="Noto Sans KR" pitchFamily="34" charset="0"/>
                <a:ea typeface="Noto Sans KR" pitchFamily="34" charset="-122"/>
                <a:cs typeface="Noto Sans KR" pitchFamily="34" charset="-120"/>
              </a:rPr>
              <a:t>실험 비용과 시간을 획기적으로 절감</a:t>
            </a:r>
            <a:r>
              <a:rPr lang="en-US" sz="1400" dirty="0">
                <a:solidFill>
                  <a:srgbClr val="334155"/>
                </a:solidFill>
                <a:latin typeface="Noto Sans KR" pitchFamily="34" charset="0"/>
                <a:ea typeface="Noto Sans KR" pitchFamily="34" charset="-122"/>
                <a:cs typeface="Noto Sans KR" pitchFamily="34" charset="-120"/>
              </a:rPr>
              <a:t>할 수 있습니다.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30520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적용 기술 개요</a:t>
            </a:r>
            <a:endParaRPr lang="en-US" sz="2400" dirty="0"/>
          </a:p>
        </p:txBody>
      </p:sp>
      <p:pic>
        <p:nvPicPr>
          <p:cNvPr id="5" name="Image 0" descr="preencoded.png"/>
          <p:cNvPicPr>
            <a:picLocks noChangeAspect="1"/>
          </p:cNvPicPr>
          <p:nvPr/>
        </p:nvPicPr>
        <p:blipFill>
          <a:blip r:embed="rId3"/>
          <a:srcRect l="-90" r="-90"/>
          <a:stretch/>
        </p:blipFill>
        <p:spPr>
          <a:xfrm>
            <a:off x="11334902" y="286207"/>
            <a:ext cx="381305" cy="304495"/>
          </a:xfrm>
          <a:prstGeom prst="rect">
            <a:avLst/>
          </a:prstGeom>
        </p:spPr>
      </p:pic>
      <p:sp>
        <p:nvSpPr>
          <p:cNvPr id="6" name="Text 3"/>
          <p:cNvSpPr txBox="1"/>
          <p:nvPr/>
        </p:nvSpPr>
        <p:spPr>
          <a:xfrm>
            <a:off x="895198" y="1218895"/>
            <a:ext cx="5125212"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D-MPNN 아키텍처</a:t>
            </a:r>
            <a:endParaRPr lang="en-US" sz="2400" dirty="0"/>
          </a:p>
        </p:txBody>
      </p:sp>
      <p:pic>
        <p:nvPicPr>
          <p:cNvPr id="7" name="Image 1" descr="preencoded.png"/>
          <p:cNvPicPr>
            <a:picLocks noChangeAspect="1"/>
          </p:cNvPicPr>
          <p:nvPr/>
        </p:nvPicPr>
        <p:blipFill>
          <a:blip r:embed="rId4"/>
          <a:srcRect l="-685" r="-685"/>
          <a:stretch/>
        </p:blipFill>
        <p:spPr>
          <a:xfrm>
            <a:off x="476402" y="1257300"/>
            <a:ext cx="304495" cy="267005"/>
          </a:xfrm>
          <a:prstGeom prst="rect">
            <a:avLst/>
          </a:prstGeom>
        </p:spPr>
      </p:pic>
      <p:sp>
        <p:nvSpPr>
          <p:cNvPr id="8" name="Shape 4"/>
          <p:cNvSpPr/>
          <p:nvPr/>
        </p:nvSpPr>
        <p:spPr>
          <a:xfrm>
            <a:off x="476402" y="1676095"/>
            <a:ext cx="5429707" cy="1485900"/>
          </a:xfrm>
          <a:prstGeom prst="roundRect">
            <a:avLst>
              <a:gd name="adj" fmla="val 3156"/>
            </a:avLst>
          </a:prstGeom>
          <a:solidFill>
            <a:srgbClr val="FFFFFF"/>
          </a:solidFill>
          <a:ln/>
          <a:effectLst>
            <a:outerShdw blurRad="76200" dist="25400" dir="16200000" algn="bl" rotWithShape="0">
              <a:srgbClr val="000000">
                <a:alpha val="8000"/>
              </a:srgbClr>
            </a:outerShdw>
          </a:effectLst>
        </p:spPr>
      </p:sp>
      <p:sp>
        <p:nvSpPr>
          <p:cNvPr id="9" name="Shape 5"/>
          <p:cNvSpPr/>
          <p:nvPr/>
        </p:nvSpPr>
        <p:spPr>
          <a:xfrm>
            <a:off x="476402" y="1676095"/>
            <a:ext cx="38405" cy="1485900"/>
          </a:xfrm>
          <a:prstGeom prst="roundRect">
            <a:avLst>
              <a:gd name="adj" fmla="val 122099"/>
            </a:avLst>
          </a:prstGeom>
          <a:solidFill>
            <a:srgbClr val="1A355B"/>
          </a:solidFill>
          <a:ln w="12700">
            <a:solidFill>
              <a:srgbClr val="1A355B">
                <a:alpha val="0"/>
              </a:srgbClr>
            </a:solidFill>
            <a:prstDash val="solid"/>
          </a:ln>
        </p:spPr>
      </p:sp>
      <p:sp>
        <p:nvSpPr>
          <p:cNvPr id="10" name="Text 6"/>
          <p:cNvSpPr txBox="1"/>
          <p:nvPr/>
        </p:nvSpPr>
        <p:spPr>
          <a:xfrm>
            <a:off x="695401" y="1942643"/>
            <a:ext cx="5067605" cy="1028700"/>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Directed Message Passing Neural Network (D-MPNN)</a:t>
            </a:r>
            <a:r>
              <a:rPr lang="en-US" sz="1400" dirty="0">
                <a:solidFill>
                  <a:srgbClr val="334155"/>
                </a:solidFill>
                <a:latin typeface="Noto Sans KR" pitchFamily="34" charset="0"/>
                <a:ea typeface="Noto Sans KR" pitchFamily="34" charset="-122"/>
                <a:cs typeface="Noto Sans KR" pitchFamily="34" charset="-120"/>
              </a:rPr>
              <a:t>은 분자의 그래프 구조를 직접 학습하는 그래프 신경망입니다. 기존 MPNN과 달리 원자가 아닌 </a:t>
            </a:r>
            <a:r>
              <a:rPr lang="en-US" sz="1400" b="1" dirty="0">
                <a:solidFill>
                  <a:srgbClr val="FF0000"/>
                </a:solidFill>
                <a:latin typeface="Noto Sans KR" pitchFamily="34" charset="0"/>
                <a:ea typeface="Noto Sans KR" pitchFamily="34" charset="-122"/>
                <a:cs typeface="Noto Sans KR" pitchFamily="34" charset="-120"/>
              </a:rPr>
              <a:t>화학 결합(bond)</a:t>
            </a:r>
            <a:r>
              <a:rPr lang="en-US" sz="1400" dirty="0">
                <a:solidFill>
                  <a:srgbClr val="334155"/>
                </a:solidFill>
                <a:latin typeface="Noto Sans KR" pitchFamily="34" charset="0"/>
                <a:ea typeface="Noto Sans KR" pitchFamily="34" charset="-122"/>
                <a:cs typeface="Noto Sans KR" pitchFamily="34" charset="-120"/>
              </a:rPr>
              <a:t>을 중심으로 </a:t>
            </a:r>
            <a:r>
              <a:rPr lang="en-US" sz="1400" b="1" dirty="0">
                <a:solidFill>
                  <a:srgbClr val="334155"/>
                </a:solidFill>
                <a:latin typeface="Noto Sans KR" pitchFamily="34" charset="0"/>
                <a:ea typeface="Noto Sans KR" pitchFamily="34" charset="-122"/>
                <a:cs typeface="Noto Sans KR" pitchFamily="34" charset="-120"/>
              </a:rPr>
              <a:t>메시지를 전달</a:t>
            </a:r>
            <a:r>
              <a:rPr lang="en-US" sz="1400" dirty="0">
                <a:solidFill>
                  <a:srgbClr val="334155"/>
                </a:solidFill>
                <a:latin typeface="Noto Sans KR" pitchFamily="34" charset="0"/>
                <a:ea typeface="Noto Sans KR" pitchFamily="34" charset="-122"/>
                <a:cs typeface="Noto Sans KR" pitchFamily="34" charset="-120"/>
              </a:rPr>
              <a:t>하여, </a:t>
            </a:r>
            <a:r>
              <a:rPr lang="en-US" sz="1400" b="1" dirty="0">
                <a:solidFill>
                  <a:srgbClr val="334155"/>
                </a:solidFill>
                <a:latin typeface="Noto Sans KR" pitchFamily="34" charset="0"/>
                <a:ea typeface="Noto Sans KR" pitchFamily="34" charset="-122"/>
                <a:cs typeface="Noto Sans KR" pitchFamily="34" charset="-120"/>
              </a:rPr>
              <a:t>불필요한 루프를 회피</a:t>
            </a:r>
            <a:r>
              <a:rPr lang="en-US" sz="1400" dirty="0">
                <a:solidFill>
                  <a:srgbClr val="334155"/>
                </a:solidFill>
                <a:latin typeface="Noto Sans KR" pitchFamily="34" charset="0"/>
                <a:ea typeface="Noto Sans KR" pitchFamily="34" charset="-122"/>
                <a:cs typeface="Noto Sans KR" pitchFamily="34" charset="-120"/>
              </a:rPr>
              <a:t>하고 더 </a:t>
            </a:r>
            <a:r>
              <a:rPr lang="en-US" sz="1400" b="1" dirty="0">
                <a:solidFill>
                  <a:srgbClr val="334155"/>
                </a:solidFill>
                <a:latin typeface="Noto Sans KR" pitchFamily="34" charset="0"/>
                <a:ea typeface="Noto Sans KR" pitchFamily="34" charset="-122"/>
                <a:cs typeface="Noto Sans KR" pitchFamily="34" charset="-120"/>
              </a:rPr>
              <a:t>효율적인 분자 표현을 구축</a:t>
            </a:r>
            <a:r>
              <a:rPr lang="en-US" sz="1400" dirty="0">
                <a:solidFill>
                  <a:srgbClr val="334155"/>
                </a:solidFill>
                <a:latin typeface="Noto Sans KR" pitchFamily="34" charset="0"/>
                <a:ea typeface="Noto Sans KR" pitchFamily="34" charset="-122"/>
                <a:cs typeface="Noto Sans KR" pitchFamily="34" charset="-120"/>
              </a:rPr>
              <a:t>합니다. </a:t>
            </a:r>
            <a:endParaRPr lang="en-US" sz="1400" dirty="0"/>
          </a:p>
        </p:txBody>
      </p:sp>
      <p:sp>
        <p:nvSpPr>
          <p:cNvPr id="11" name="Shape 7"/>
          <p:cNvSpPr/>
          <p:nvPr/>
        </p:nvSpPr>
        <p:spPr>
          <a:xfrm>
            <a:off x="476402" y="3161995"/>
            <a:ext cx="5429707" cy="1152144"/>
          </a:xfrm>
          <a:prstGeom prst="roundRect">
            <a:avLst>
              <a:gd name="adj" fmla="val 3935"/>
            </a:avLst>
          </a:prstGeom>
          <a:solidFill>
            <a:srgbClr val="FFF7ED"/>
          </a:solidFill>
          <a:ln w="25400">
            <a:solidFill>
              <a:srgbClr val="FB923C"/>
            </a:solidFill>
            <a:prstDash val="solid"/>
          </a:ln>
        </p:spPr>
      </p:sp>
      <p:sp>
        <p:nvSpPr>
          <p:cNvPr id="12" name="Text 8"/>
          <p:cNvSpPr txBox="1"/>
          <p:nvPr/>
        </p:nvSpPr>
        <p:spPr>
          <a:xfrm>
            <a:off x="695401" y="3400667"/>
            <a:ext cx="5125212" cy="771754"/>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핵심 장점:</a:t>
            </a:r>
            <a:r>
              <a:rPr lang="en-US" sz="1400" dirty="0">
                <a:solidFill>
                  <a:srgbClr val="334155"/>
                </a:solidFill>
                <a:latin typeface="Noto Sans KR" pitchFamily="34" charset="0"/>
                <a:ea typeface="Noto Sans KR" pitchFamily="34" charset="-122"/>
                <a:cs typeface="Noto Sans KR" pitchFamily="34" charset="-120"/>
              </a:rPr>
              <a:t> 분자 구조를 SMILES 문자열로부터 직접 학습하며, 고정된 분자 지문(fingerprint) 없이도 강력한 예측 성능을 발휘합니다. Chemprop 프레임워크(PyTorch 기반)로 구현되었습니다. </a:t>
            </a:r>
            <a:endParaRPr lang="en-US" sz="1400" dirty="0"/>
          </a:p>
        </p:txBody>
      </p:sp>
      <p:sp>
        <p:nvSpPr>
          <p:cNvPr id="13" name="Text 9"/>
          <p:cNvSpPr txBox="1"/>
          <p:nvPr/>
        </p:nvSpPr>
        <p:spPr>
          <a:xfrm>
            <a:off x="857707" y="4733849"/>
            <a:ext cx="5162702"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RDKit 분자 기술자</a:t>
            </a:r>
            <a:endParaRPr lang="en-US" sz="2400" dirty="0"/>
          </a:p>
        </p:txBody>
      </p:sp>
      <p:pic>
        <p:nvPicPr>
          <p:cNvPr id="14" name="Image 2" descr="preencoded.png"/>
          <p:cNvPicPr>
            <a:picLocks noChangeAspect="1"/>
          </p:cNvPicPr>
          <p:nvPr/>
        </p:nvPicPr>
        <p:blipFill>
          <a:blip r:embed="rId5"/>
          <a:srcRect/>
          <a:stretch/>
        </p:blipFill>
        <p:spPr>
          <a:xfrm>
            <a:off x="476402" y="4772254"/>
            <a:ext cx="267005" cy="267005"/>
          </a:xfrm>
          <a:prstGeom prst="rect">
            <a:avLst/>
          </a:prstGeom>
        </p:spPr>
      </p:pic>
      <p:sp>
        <p:nvSpPr>
          <p:cNvPr id="15" name="Shape 10"/>
          <p:cNvSpPr/>
          <p:nvPr/>
        </p:nvSpPr>
        <p:spPr>
          <a:xfrm>
            <a:off x="476402" y="5191049"/>
            <a:ext cx="5429707" cy="1228954"/>
          </a:xfrm>
          <a:prstGeom prst="roundRect">
            <a:avLst>
              <a:gd name="adj" fmla="val 4614"/>
            </a:avLst>
          </a:prstGeom>
          <a:solidFill>
            <a:srgbClr val="FFFFFF"/>
          </a:solidFill>
          <a:ln/>
          <a:effectLst>
            <a:outerShdw blurRad="76200" dist="25400" dir="16200000" algn="bl" rotWithShape="0">
              <a:srgbClr val="000000">
                <a:alpha val="8000"/>
              </a:srgbClr>
            </a:outerShdw>
          </a:effectLst>
        </p:spPr>
      </p:sp>
      <p:sp>
        <p:nvSpPr>
          <p:cNvPr id="16" name="Shape 11"/>
          <p:cNvSpPr/>
          <p:nvPr/>
        </p:nvSpPr>
        <p:spPr>
          <a:xfrm>
            <a:off x="476402" y="5191049"/>
            <a:ext cx="38405" cy="1228954"/>
          </a:xfrm>
          <a:prstGeom prst="roundRect">
            <a:avLst>
              <a:gd name="adj" fmla="val 147655"/>
            </a:avLst>
          </a:prstGeom>
          <a:solidFill>
            <a:srgbClr val="1A355B"/>
          </a:solidFill>
          <a:ln w="12700">
            <a:solidFill>
              <a:srgbClr val="1A355B">
                <a:alpha val="0"/>
              </a:srgbClr>
            </a:solidFill>
            <a:prstDash val="solid"/>
          </a:ln>
        </p:spPr>
      </p:sp>
      <p:sp>
        <p:nvSpPr>
          <p:cNvPr id="17" name="Text 12"/>
          <p:cNvSpPr txBox="1"/>
          <p:nvPr/>
        </p:nvSpPr>
        <p:spPr>
          <a:xfrm>
            <a:off x="695401" y="5358384"/>
            <a:ext cx="4973879" cy="883310"/>
          </a:xfrm>
          <a:prstGeom prst="rect">
            <a:avLst/>
          </a:prstGeom>
          <a:noFill/>
          <a:ln/>
        </p:spPr>
        <p:txBody>
          <a:bodyPr wrap="square" lIns="0" tIns="0" rIns="0" bIns="0" rtlCol="0" anchor="t"/>
          <a:lstStyle/>
          <a:p>
            <a:pPr marL="0" indent="0" algn="l">
              <a:buNone/>
            </a:pPr>
            <a:r>
              <a:rPr lang="en-US" sz="1400" dirty="0">
                <a:solidFill>
                  <a:srgbClr val="334155"/>
                </a:solidFill>
                <a:latin typeface="Noto Sans KR" pitchFamily="34" charset="0"/>
                <a:ea typeface="Noto Sans KR" pitchFamily="34" charset="-122"/>
                <a:cs typeface="Noto Sans KR" pitchFamily="34" charset="-120"/>
              </a:rPr>
              <a:t>D-</a:t>
            </a:r>
            <a:r>
              <a:rPr lang="en-US" sz="1400" dirty="0" err="1">
                <a:solidFill>
                  <a:srgbClr val="334155"/>
                </a:solidFill>
                <a:latin typeface="Noto Sans KR" pitchFamily="34" charset="0"/>
                <a:ea typeface="Noto Sans KR" pitchFamily="34" charset="-122"/>
                <a:cs typeface="Noto Sans KR" pitchFamily="34" charset="-120"/>
              </a:rPr>
              <a:t>MPNN이</a:t>
            </a:r>
            <a:r>
              <a:rPr lang="en-US" sz="1400" dirty="0">
                <a:solidFill>
                  <a:srgbClr val="334155"/>
                </a:solidFill>
                <a:latin typeface="Noto Sans KR" pitchFamily="34" charset="0"/>
                <a:ea typeface="Noto Sans KR" pitchFamily="34" charset="-122"/>
                <a:cs typeface="Noto Sans KR" pitchFamily="34" charset="-120"/>
              </a:rPr>
              <a:t> 학습한 그래프 표현에 </a:t>
            </a:r>
            <a:r>
              <a:rPr lang="en-US" sz="1400" b="1" dirty="0">
                <a:solidFill>
                  <a:srgbClr val="FF0000"/>
                </a:solidFill>
                <a:latin typeface="Noto Sans KR" pitchFamily="34" charset="0"/>
                <a:ea typeface="Noto Sans KR" pitchFamily="34" charset="-122"/>
                <a:cs typeface="Noto Sans KR" pitchFamily="34" charset="-120"/>
              </a:rPr>
              <a:t>RDKit 200개 분자 기술자</a:t>
            </a:r>
            <a:r>
              <a:rPr lang="en-US" sz="1400" dirty="0">
                <a:solidFill>
                  <a:srgbClr val="334155"/>
                </a:solidFill>
                <a:latin typeface="Noto Sans KR" pitchFamily="34" charset="0"/>
                <a:ea typeface="Noto Sans KR" pitchFamily="34" charset="-122"/>
                <a:cs typeface="Noto Sans KR" pitchFamily="34" charset="-120"/>
              </a:rPr>
              <a:t>를 결합하여, 전역(global) 수준의 분자 특성을 </a:t>
            </a:r>
            <a:r>
              <a:rPr lang="en-US" sz="1400" dirty="0" err="1">
                <a:solidFill>
                  <a:srgbClr val="334155"/>
                </a:solidFill>
                <a:latin typeface="Noto Sans KR" pitchFamily="34" charset="0"/>
                <a:ea typeface="Noto Sans KR" pitchFamily="34" charset="-122"/>
                <a:cs typeface="Noto Sans KR" pitchFamily="34" charset="-120"/>
              </a:rPr>
              <a:t>추가로</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제공합니다</a:t>
            </a:r>
            <a:r>
              <a:rPr lang="en-US" sz="1400" dirty="0">
                <a:solidFill>
                  <a:srgbClr val="334155"/>
                </a:solidFill>
                <a:latin typeface="Noto Sans KR" pitchFamily="34" charset="0"/>
                <a:ea typeface="Noto Sans KR" pitchFamily="34" charset="-122"/>
                <a:cs typeface="Noto Sans KR" pitchFamily="34" charset="-120"/>
              </a:rPr>
              <a:t>.</a:t>
            </a:r>
          </a:p>
          <a:p>
            <a:pPr marL="0" indent="0" algn="l">
              <a:buNone/>
            </a:pPr>
            <a:r>
              <a:rPr lang="en-US" sz="1400" dirty="0" err="1" smtClean="0">
                <a:solidFill>
                  <a:srgbClr val="334155"/>
                </a:solidFill>
                <a:latin typeface="Noto Sans KR" pitchFamily="34" charset="0"/>
                <a:ea typeface="Noto Sans KR" pitchFamily="34" charset="-122"/>
                <a:cs typeface="Noto Sans KR" pitchFamily="34" charset="-120"/>
              </a:rPr>
              <a:t>이는</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err="1" smtClean="0">
                <a:solidFill>
                  <a:srgbClr val="334155"/>
                </a:solidFill>
                <a:latin typeface="Noto Sans KR" pitchFamily="34" charset="0"/>
                <a:ea typeface="Noto Sans KR" pitchFamily="34" charset="-122"/>
                <a:cs typeface="Noto Sans KR" pitchFamily="34" charset="-120"/>
              </a:rPr>
              <a:t>분자량</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err="1" smtClean="0">
                <a:solidFill>
                  <a:srgbClr val="334155"/>
                </a:solidFill>
                <a:latin typeface="Noto Sans KR" pitchFamily="34" charset="0"/>
                <a:ea typeface="Noto Sans KR" pitchFamily="34" charset="-122"/>
                <a:cs typeface="Noto Sans KR" pitchFamily="34" charset="-120"/>
              </a:rPr>
              <a:t>LogP</a:t>
            </a:r>
            <a:r>
              <a:rPr lang="en-US" sz="1400" dirty="0" smtClean="0">
                <a:solidFill>
                  <a:srgbClr val="334155"/>
                </a:solidFill>
                <a:latin typeface="Noto Sans KR" pitchFamily="34" charset="0"/>
                <a:ea typeface="Noto Sans KR" pitchFamily="34" charset="-122"/>
                <a:cs typeface="Noto Sans KR" pitchFamily="34" charset="-120"/>
              </a:rPr>
              <a:t>, TPSA, </a:t>
            </a:r>
            <a:r>
              <a:rPr lang="en-US" sz="1400" dirty="0" err="1" smtClean="0">
                <a:solidFill>
                  <a:srgbClr val="334155"/>
                </a:solidFill>
                <a:latin typeface="Noto Sans KR" pitchFamily="34" charset="0"/>
                <a:ea typeface="Noto Sans KR" pitchFamily="34" charset="-122"/>
                <a:cs typeface="Noto Sans KR" pitchFamily="34" charset="-120"/>
              </a:rPr>
              <a:t>회전</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err="1" smtClean="0">
                <a:solidFill>
                  <a:srgbClr val="334155"/>
                </a:solidFill>
                <a:latin typeface="Noto Sans KR" pitchFamily="34" charset="0"/>
                <a:ea typeface="Noto Sans KR" pitchFamily="34" charset="-122"/>
                <a:cs typeface="Noto Sans KR" pitchFamily="34" charset="-120"/>
              </a:rPr>
              <a:t>가능</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err="1" smtClean="0">
                <a:solidFill>
                  <a:srgbClr val="334155"/>
                </a:solidFill>
                <a:latin typeface="Noto Sans KR" pitchFamily="34" charset="0"/>
                <a:ea typeface="Noto Sans KR" pitchFamily="34" charset="-122"/>
                <a:cs typeface="Noto Sans KR" pitchFamily="34" charset="-120"/>
              </a:rPr>
              <a:t>결합</a:t>
            </a:r>
            <a:r>
              <a:rPr lang="en-US" sz="1400" dirty="0" smtClean="0">
                <a:solidFill>
                  <a:srgbClr val="334155"/>
                </a:solidFill>
                <a:latin typeface="Noto Sans KR" pitchFamily="34" charset="0"/>
                <a:ea typeface="Noto Sans KR" pitchFamily="34" charset="-122"/>
                <a:cs typeface="Noto Sans KR" pitchFamily="34" charset="-120"/>
              </a:rPr>
              <a:t> 수 등 </a:t>
            </a:r>
            <a:r>
              <a:rPr lang="en-US" sz="1400" b="1" dirty="0" err="1" smtClean="0">
                <a:solidFill>
                  <a:srgbClr val="FF0000"/>
                </a:solidFill>
                <a:latin typeface="Noto Sans KR" pitchFamily="34" charset="0"/>
                <a:ea typeface="Noto Sans KR" pitchFamily="34" charset="-122"/>
                <a:cs typeface="Noto Sans KR" pitchFamily="34" charset="-120"/>
              </a:rPr>
              <a:t>물리화학적</a:t>
            </a:r>
            <a:r>
              <a:rPr lang="en-US" sz="1400" b="1" dirty="0" smtClean="0">
                <a:solidFill>
                  <a:srgbClr val="FF0000"/>
                </a:solidFill>
                <a:latin typeface="Noto Sans KR" pitchFamily="34" charset="0"/>
                <a:ea typeface="Noto Sans KR" pitchFamily="34" charset="-122"/>
                <a:cs typeface="Noto Sans KR" pitchFamily="34" charset="-120"/>
              </a:rPr>
              <a:t> </a:t>
            </a:r>
            <a:r>
              <a:rPr lang="en-US" sz="1400" b="1" dirty="0" err="1" smtClean="0">
                <a:solidFill>
                  <a:srgbClr val="FF0000"/>
                </a:solidFill>
                <a:latin typeface="Noto Sans KR" pitchFamily="34" charset="0"/>
                <a:ea typeface="Noto Sans KR" pitchFamily="34" charset="-122"/>
                <a:cs typeface="Noto Sans KR" pitchFamily="34" charset="-120"/>
              </a:rPr>
              <a:t>특성</a:t>
            </a:r>
            <a:r>
              <a:rPr lang="en-US" sz="1400" dirty="0" err="1" smtClean="0">
                <a:solidFill>
                  <a:srgbClr val="334155"/>
                </a:solidFill>
                <a:latin typeface="Noto Sans KR" pitchFamily="34" charset="0"/>
                <a:ea typeface="Noto Sans KR" pitchFamily="34" charset="-122"/>
                <a:cs typeface="Noto Sans KR" pitchFamily="34" charset="-120"/>
              </a:rPr>
              <a:t>을</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err="1" smtClean="0">
                <a:solidFill>
                  <a:srgbClr val="334155"/>
                </a:solidFill>
                <a:latin typeface="Noto Sans KR" pitchFamily="34" charset="0"/>
                <a:ea typeface="Noto Sans KR" pitchFamily="34" charset="-122"/>
                <a:cs typeface="Noto Sans KR" pitchFamily="34" charset="-120"/>
              </a:rPr>
              <a:t>포함합니다</a:t>
            </a:r>
            <a:r>
              <a:rPr lang="en-US" sz="1400" dirty="0" smtClean="0">
                <a:solidFill>
                  <a:srgbClr val="334155"/>
                </a:solidFill>
                <a:latin typeface="Noto Sans KR" pitchFamily="34" charset="0"/>
                <a:ea typeface="Noto Sans KR" pitchFamily="34" charset="-122"/>
                <a:cs typeface="Noto Sans KR" pitchFamily="34" charset="-120"/>
              </a:rPr>
              <a:t>. </a:t>
            </a:r>
            <a:endParaRPr lang="en-US" sz="1400" dirty="0"/>
          </a:p>
        </p:txBody>
      </p:sp>
      <p:sp>
        <p:nvSpPr>
          <p:cNvPr id="18" name="Shape 13"/>
          <p:cNvSpPr/>
          <p:nvPr/>
        </p:nvSpPr>
        <p:spPr>
          <a:xfrm>
            <a:off x="6286500" y="1218895"/>
            <a:ext cx="5429707" cy="1059789"/>
          </a:xfrm>
          <a:prstGeom prst="roundRect">
            <a:avLst>
              <a:gd name="adj" fmla="val 3409"/>
            </a:avLst>
          </a:prstGeom>
          <a:solidFill>
            <a:srgbClr val="FFFFFF"/>
          </a:solidFill>
          <a:ln w="12700">
            <a:solidFill>
              <a:srgbClr val="FFFFFF">
                <a:alpha val="0"/>
              </a:srgbClr>
            </a:solidFill>
            <a:prstDash val="solid"/>
          </a:ln>
        </p:spPr>
      </p:sp>
      <p:pic>
        <p:nvPicPr>
          <p:cNvPr id="19" name="Image 3" descr="preencoded.png"/>
          <p:cNvPicPr>
            <a:picLocks noChangeAspect="1"/>
          </p:cNvPicPr>
          <p:nvPr/>
        </p:nvPicPr>
        <p:blipFill>
          <a:blip r:embed="rId6"/>
          <a:srcRect/>
          <a:stretch/>
        </p:blipFill>
        <p:spPr>
          <a:xfrm>
            <a:off x="6515100" y="1457554"/>
            <a:ext cx="228600" cy="228600"/>
          </a:xfrm>
          <a:prstGeom prst="rect">
            <a:avLst/>
          </a:prstGeom>
        </p:spPr>
      </p:pic>
      <p:sp>
        <p:nvSpPr>
          <p:cNvPr id="20" name="Text 14"/>
          <p:cNvSpPr txBox="1"/>
          <p:nvPr/>
        </p:nvSpPr>
        <p:spPr>
          <a:xfrm>
            <a:off x="6972300" y="1371600"/>
            <a:ext cx="4782312"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멀티라벨 이진 분류</a:t>
            </a:r>
            <a:endParaRPr lang="en-US" sz="1600" dirty="0"/>
          </a:p>
        </p:txBody>
      </p:sp>
      <p:sp>
        <p:nvSpPr>
          <p:cNvPr id="21" name="Text 15"/>
          <p:cNvSpPr txBox="1"/>
          <p:nvPr/>
        </p:nvSpPr>
        <p:spPr>
          <a:xfrm>
            <a:off x="6972300" y="1657807"/>
            <a:ext cx="4668012" cy="620877"/>
          </a:xfrm>
          <a:prstGeom prst="rect">
            <a:avLst/>
          </a:prstGeom>
          <a:noFill/>
          <a:ln/>
        </p:spPr>
        <p:txBody>
          <a:bodyPr wrap="square" lIns="0" tIns="0" rIns="0" bIns="0" rtlCol="0" anchor="t"/>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13개 유전자 클러스터(C1-C13)</a:t>
            </a:r>
            <a:r>
              <a:rPr lang="en-US" sz="1200" dirty="0">
                <a:solidFill>
                  <a:srgbClr val="475569"/>
                </a:solidFill>
                <a:latin typeface="Noto Sans KR" pitchFamily="34" charset="0"/>
                <a:ea typeface="Noto Sans KR" pitchFamily="34" charset="-122"/>
                <a:cs typeface="Noto Sans KR" pitchFamily="34" charset="-120"/>
              </a:rPr>
              <a:t>에 대한 </a:t>
            </a:r>
            <a:r>
              <a:rPr lang="en-US" sz="1200" b="1" dirty="0">
                <a:solidFill>
                  <a:srgbClr val="FF0000"/>
                </a:solidFill>
                <a:latin typeface="Noto Sans KR" pitchFamily="34" charset="0"/>
                <a:ea typeface="Noto Sans KR" pitchFamily="34" charset="-122"/>
                <a:cs typeface="Noto Sans KR" pitchFamily="34" charset="-120"/>
              </a:rPr>
              <a:t>성장 억제 활성을 독립적으로 예측</a:t>
            </a:r>
            <a:r>
              <a:rPr lang="en-US" sz="1200" dirty="0">
                <a:solidFill>
                  <a:srgbClr val="475569"/>
                </a:solidFill>
                <a:latin typeface="Noto Sans KR" pitchFamily="34" charset="0"/>
                <a:ea typeface="Noto Sans KR" pitchFamily="34" charset="-122"/>
                <a:cs typeface="Noto Sans KR" pitchFamily="34" charset="-120"/>
              </a:rPr>
              <a:t>합니다. 각 클러스터는 이진 분류 과제로 처리되며, Sigmoid 활성화 함수와 Binary Cross-Entropy Loss를 사용합니다.</a:t>
            </a:r>
            <a:endParaRPr lang="en-US" sz="1200" dirty="0"/>
          </a:p>
        </p:txBody>
      </p:sp>
      <p:sp>
        <p:nvSpPr>
          <p:cNvPr id="22" name="Shape 16"/>
          <p:cNvSpPr/>
          <p:nvPr/>
        </p:nvSpPr>
        <p:spPr>
          <a:xfrm>
            <a:off x="6286500" y="2359419"/>
            <a:ext cx="5429707" cy="1238098"/>
          </a:xfrm>
          <a:prstGeom prst="roundRect">
            <a:avLst>
              <a:gd name="adj" fmla="val 3409"/>
            </a:avLst>
          </a:prstGeom>
          <a:solidFill>
            <a:srgbClr val="FFFFFF"/>
          </a:solidFill>
          <a:ln w="12700">
            <a:solidFill>
              <a:srgbClr val="FFFFFF">
                <a:alpha val="0"/>
              </a:srgbClr>
            </a:solidFill>
            <a:prstDash val="solid"/>
          </a:ln>
        </p:spPr>
      </p:sp>
      <p:pic>
        <p:nvPicPr>
          <p:cNvPr id="23" name="Image 4" descr="preencoded.png"/>
          <p:cNvPicPr>
            <a:picLocks noChangeAspect="1"/>
          </p:cNvPicPr>
          <p:nvPr/>
        </p:nvPicPr>
        <p:blipFill>
          <a:blip r:embed="rId7"/>
          <a:srcRect/>
          <a:stretch/>
        </p:blipFill>
        <p:spPr>
          <a:xfrm>
            <a:off x="6515100" y="2598077"/>
            <a:ext cx="228600" cy="228600"/>
          </a:xfrm>
          <a:prstGeom prst="rect">
            <a:avLst/>
          </a:prstGeom>
        </p:spPr>
      </p:pic>
      <p:sp>
        <p:nvSpPr>
          <p:cNvPr id="24" name="Text 17"/>
          <p:cNvSpPr txBox="1"/>
          <p:nvPr/>
        </p:nvSpPr>
        <p:spPr>
          <a:xfrm>
            <a:off x="6972300" y="2512124"/>
            <a:ext cx="4705502"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Scaffold Split (80/10/10)</a:t>
            </a:r>
            <a:endParaRPr lang="en-US" sz="1600" dirty="0"/>
          </a:p>
        </p:txBody>
      </p:sp>
      <p:sp>
        <p:nvSpPr>
          <p:cNvPr id="25" name="Text 18"/>
          <p:cNvSpPr txBox="1"/>
          <p:nvPr/>
        </p:nvSpPr>
        <p:spPr>
          <a:xfrm>
            <a:off x="6972299" y="2797417"/>
            <a:ext cx="4524299" cy="648310"/>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RDKit의 Murcko scaffold 점수로 분자를 분할하여, </a:t>
            </a:r>
            <a:r>
              <a:rPr lang="en-US" sz="1200" b="1" dirty="0">
                <a:solidFill>
                  <a:srgbClr val="FF0000"/>
                </a:solidFill>
                <a:latin typeface="Noto Sans KR" pitchFamily="34" charset="0"/>
                <a:ea typeface="Noto Sans KR" pitchFamily="34" charset="-122"/>
                <a:cs typeface="Noto Sans KR" pitchFamily="34" charset="-120"/>
              </a:rPr>
              <a:t>훈련/검증/테스트 세트 간 분자 구조 다양성을 </a:t>
            </a:r>
            <a:r>
              <a:rPr lang="en-US" sz="1200" b="1" dirty="0" err="1">
                <a:solidFill>
                  <a:srgbClr val="FF0000"/>
                </a:solidFill>
                <a:latin typeface="Noto Sans KR" pitchFamily="34" charset="0"/>
                <a:ea typeface="Noto Sans KR" pitchFamily="34" charset="-122"/>
                <a:cs typeface="Noto Sans KR" pitchFamily="34" charset="-120"/>
              </a:rPr>
              <a:t>확보</a:t>
            </a:r>
            <a:r>
              <a:rPr lang="en-US" sz="1200" dirty="0" err="1">
                <a:solidFill>
                  <a:srgbClr val="475569"/>
                </a:solidFill>
                <a:latin typeface="Noto Sans KR" pitchFamily="34" charset="0"/>
                <a:ea typeface="Noto Sans KR" pitchFamily="34" charset="-122"/>
                <a:cs typeface="Noto Sans KR" pitchFamily="34" charset="-120"/>
              </a:rPr>
              <a:t>합니다</a:t>
            </a:r>
            <a:r>
              <a:rPr lang="en-US" sz="1200" dirty="0" smtClean="0">
                <a:solidFill>
                  <a:srgbClr val="475569"/>
                </a:solidFill>
                <a:latin typeface="Noto Sans KR" pitchFamily="34" charset="0"/>
                <a:ea typeface="Noto Sans KR" pitchFamily="34" charset="-122"/>
                <a:cs typeface="Noto Sans KR" pitchFamily="34" charset="-120"/>
              </a:rPr>
              <a:t>.</a:t>
            </a:r>
          </a:p>
          <a:p>
            <a:pPr marL="0" indent="0" algn="l">
              <a:buNone/>
            </a:pPr>
            <a:r>
              <a:rPr lang="en-US" sz="1200" dirty="0" err="1" smtClean="0">
                <a:solidFill>
                  <a:srgbClr val="475569"/>
                </a:solidFill>
                <a:latin typeface="Noto Sans KR" pitchFamily="34" charset="0"/>
                <a:ea typeface="Noto Sans KR" pitchFamily="34" charset="-122"/>
                <a:cs typeface="Noto Sans KR" pitchFamily="34" charset="-120"/>
              </a:rPr>
              <a:t>이는</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모델의 일반화 성능을 엄격히 평가하는 현실적인 시나리오입니다.</a:t>
            </a:r>
            <a:endParaRPr lang="en-US" sz="1200" dirty="0"/>
          </a:p>
        </p:txBody>
      </p:sp>
      <p:sp>
        <p:nvSpPr>
          <p:cNvPr id="26" name="Shape 19"/>
          <p:cNvSpPr/>
          <p:nvPr/>
        </p:nvSpPr>
        <p:spPr>
          <a:xfrm>
            <a:off x="6287065" y="3674327"/>
            <a:ext cx="5429707" cy="1238098"/>
          </a:xfrm>
          <a:prstGeom prst="roundRect">
            <a:avLst>
              <a:gd name="adj" fmla="val 3409"/>
            </a:avLst>
          </a:prstGeom>
          <a:solidFill>
            <a:srgbClr val="FFFFFF"/>
          </a:solidFill>
          <a:ln w="12700">
            <a:solidFill>
              <a:srgbClr val="FFFFFF">
                <a:alpha val="0"/>
              </a:srgbClr>
            </a:solidFill>
            <a:prstDash val="solid"/>
          </a:ln>
        </p:spPr>
      </p:sp>
      <p:pic>
        <p:nvPicPr>
          <p:cNvPr id="27" name="Image 5" descr="preencoded.png"/>
          <p:cNvPicPr>
            <a:picLocks noChangeAspect="1"/>
          </p:cNvPicPr>
          <p:nvPr/>
        </p:nvPicPr>
        <p:blipFill>
          <a:blip r:embed="rId8"/>
          <a:srcRect/>
          <a:stretch/>
        </p:blipFill>
        <p:spPr>
          <a:xfrm>
            <a:off x="6515665" y="3912071"/>
            <a:ext cx="228600" cy="228600"/>
          </a:xfrm>
          <a:prstGeom prst="rect">
            <a:avLst/>
          </a:prstGeom>
        </p:spPr>
      </p:pic>
      <p:sp>
        <p:nvSpPr>
          <p:cNvPr id="28" name="Text 20"/>
          <p:cNvSpPr txBox="1"/>
          <p:nvPr/>
        </p:nvSpPr>
        <p:spPr>
          <a:xfrm>
            <a:off x="6972865" y="3827032"/>
            <a:ext cx="4705502"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임계값 튜닝 (Youden's J)</a:t>
            </a:r>
            <a:endParaRPr lang="en-US" sz="1600" dirty="0"/>
          </a:p>
        </p:txBody>
      </p:sp>
      <p:sp>
        <p:nvSpPr>
          <p:cNvPr id="29" name="Text 21"/>
          <p:cNvSpPr txBox="1"/>
          <p:nvPr/>
        </p:nvSpPr>
        <p:spPr>
          <a:xfrm>
            <a:off x="6972865" y="4112324"/>
            <a:ext cx="4668012" cy="648310"/>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검증 세트의 ROC 곡선에서 </a:t>
            </a:r>
            <a:r>
              <a:rPr lang="en-US" sz="1200" b="1" dirty="0">
                <a:solidFill>
                  <a:srgbClr val="FF0000"/>
                </a:solidFill>
                <a:latin typeface="Noto Sans KR" pitchFamily="34" charset="0"/>
                <a:ea typeface="Noto Sans KR" pitchFamily="34" charset="-122"/>
                <a:cs typeface="Noto Sans KR" pitchFamily="34" charset="-120"/>
              </a:rPr>
              <a:t>Youden's J 통계(민감도 + 특이도 - 1 최대화)</a:t>
            </a:r>
            <a:r>
              <a:rPr lang="en-US" sz="1200" dirty="0">
                <a:solidFill>
                  <a:srgbClr val="475569"/>
                </a:solidFill>
                <a:latin typeface="Noto Sans KR" pitchFamily="34" charset="0"/>
                <a:ea typeface="Noto Sans KR" pitchFamily="34" charset="-122"/>
                <a:cs typeface="Noto Sans KR" pitchFamily="34" charset="-120"/>
              </a:rPr>
              <a:t>로 </a:t>
            </a:r>
            <a:r>
              <a:rPr lang="en-US" sz="1200" b="1" dirty="0">
                <a:solidFill>
                  <a:srgbClr val="FF0000"/>
                </a:solidFill>
                <a:latin typeface="Noto Sans KR" pitchFamily="34" charset="0"/>
                <a:ea typeface="Noto Sans KR" pitchFamily="34" charset="-122"/>
                <a:cs typeface="Noto Sans KR" pitchFamily="34" charset="-120"/>
              </a:rPr>
              <a:t>클러스터별 최적 임계값을 결정</a:t>
            </a:r>
            <a:r>
              <a:rPr lang="en-US" sz="1200" dirty="0">
                <a:solidFill>
                  <a:srgbClr val="475569"/>
                </a:solidFill>
                <a:latin typeface="Noto Sans KR" pitchFamily="34" charset="0"/>
                <a:ea typeface="Noto Sans KR" pitchFamily="34" charset="-122"/>
                <a:cs typeface="Noto Sans KR" pitchFamily="34" charset="-120"/>
              </a:rPr>
              <a:t>합니다. 평균 임계값은 0.05로, 기본 0.5 대비 민감도를 향상시킵니다.</a:t>
            </a:r>
            <a:endParaRPr lang="en-US" sz="1200" dirty="0"/>
          </a:p>
        </p:txBody>
      </p:sp>
      <p:sp>
        <p:nvSpPr>
          <p:cNvPr id="30" name="Text 22"/>
          <p:cNvSpPr txBox="1"/>
          <p:nvPr/>
        </p:nvSpPr>
        <p:spPr>
          <a:xfrm>
            <a:off x="6667196" y="4999939"/>
            <a:ext cx="523859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모델 최적화 전략</a:t>
            </a:r>
            <a:endParaRPr lang="en-US" sz="2400" dirty="0"/>
          </a:p>
        </p:txBody>
      </p:sp>
      <p:pic>
        <p:nvPicPr>
          <p:cNvPr id="31" name="Image 6" descr="preencoded.png"/>
          <p:cNvPicPr>
            <a:picLocks noChangeAspect="1"/>
          </p:cNvPicPr>
          <p:nvPr/>
        </p:nvPicPr>
        <p:blipFill>
          <a:blip r:embed="rId9"/>
          <a:srcRect/>
          <a:stretch/>
        </p:blipFill>
        <p:spPr>
          <a:xfrm>
            <a:off x="6285891" y="5038343"/>
            <a:ext cx="267005" cy="267005"/>
          </a:xfrm>
          <a:prstGeom prst="rect">
            <a:avLst/>
          </a:prstGeom>
        </p:spPr>
      </p:pic>
      <p:sp>
        <p:nvSpPr>
          <p:cNvPr id="32" name="Shape 23"/>
          <p:cNvSpPr/>
          <p:nvPr/>
        </p:nvSpPr>
        <p:spPr>
          <a:xfrm>
            <a:off x="6285891" y="5457140"/>
            <a:ext cx="5429707" cy="1138712"/>
          </a:xfrm>
          <a:prstGeom prst="roundRect">
            <a:avLst>
              <a:gd name="adj" fmla="val 2596"/>
            </a:avLst>
          </a:prstGeom>
          <a:solidFill>
            <a:srgbClr val="FFFFFF"/>
          </a:solidFill>
          <a:ln/>
          <a:effectLst>
            <a:outerShdw blurRad="76200" dist="25400" dir="16200000" algn="bl" rotWithShape="0">
              <a:srgbClr val="000000">
                <a:alpha val="8000"/>
              </a:srgbClr>
            </a:outerShdw>
          </a:effectLst>
        </p:spPr>
      </p:sp>
      <p:sp>
        <p:nvSpPr>
          <p:cNvPr id="33" name="Shape 24"/>
          <p:cNvSpPr/>
          <p:nvPr/>
        </p:nvSpPr>
        <p:spPr>
          <a:xfrm>
            <a:off x="6285891" y="5457140"/>
            <a:ext cx="38405" cy="1138712"/>
          </a:xfrm>
          <a:prstGeom prst="roundRect">
            <a:avLst>
              <a:gd name="adj" fmla="val 110741"/>
            </a:avLst>
          </a:prstGeom>
          <a:solidFill>
            <a:srgbClr val="1A355B"/>
          </a:solidFill>
          <a:ln w="12700">
            <a:solidFill>
              <a:srgbClr val="1A355B">
                <a:alpha val="0"/>
              </a:srgbClr>
            </a:solidFill>
            <a:prstDash val="solid"/>
          </a:ln>
        </p:spPr>
      </p:sp>
      <p:sp>
        <p:nvSpPr>
          <p:cNvPr id="35" name="Text 25"/>
          <p:cNvSpPr txBox="1"/>
          <p:nvPr/>
        </p:nvSpPr>
        <p:spPr>
          <a:xfrm>
            <a:off x="6552895" y="5650136"/>
            <a:ext cx="4972202" cy="457200"/>
          </a:xfrm>
          <a:prstGeom prst="rect">
            <a:avLst/>
          </a:prstGeom>
          <a:noFill/>
          <a:ln/>
        </p:spPr>
        <p:txBody>
          <a:bodyPr wrap="square" lIns="0" tIns="0" rIns="0" bIns="0" rtlCol="0" anchor="t"/>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Bayesian Optimization:</a:t>
            </a:r>
            <a:r>
              <a:rPr lang="en-US" sz="1200" dirty="0">
                <a:solidFill>
                  <a:srgbClr val="475569"/>
                </a:solidFill>
                <a:latin typeface="Noto Sans KR" pitchFamily="34" charset="0"/>
                <a:ea typeface="Noto Sans KR" pitchFamily="34" charset="-122"/>
                <a:cs typeface="Noto Sans KR" pitchFamily="34" charset="-120"/>
              </a:rPr>
              <a:t> 드롭아웃 확률, 메시지 전달 반복 횟수, 은닉층 크기, 피드포워드 레이어 수를 30 </a:t>
            </a:r>
            <a:r>
              <a:rPr lang="en-US" sz="1200" dirty="0" smtClean="0">
                <a:solidFill>
                  <a:srgbClr val="475569"/>
                </a:solidFill>
                <a:latin typeface="Noto Sans KR" pitchFamily="34" charset="0"/>
                <a:ea typeface="Noto Sans KR" pitchFamily="34" charset="-122"/>
                <a:cs typeface="Noto Sans KR" pitchFamily="34" charset="-120"/>
              </a:rPr>
              <a:t>에</a:t>
            </a:r>
            <a:r>
              <a:rPr lang="ko-KR" altLang="en-US" sz="1200" dirty="0" smtClean="0">
                <a:solidFill>
                  <a:srgbClr val="475569"/>
                </a:solidFill>
                <a:latin typeface="Noto Sans KR" pitchFamily="34" charset="0"/>
                <a:ea typeface="Noto Sans KR" pitchFamily="34" charset="-122"/>
                <a:cs typeface="Noto Sans KR" pitchFamily="34" charset="-120"/>
              </a:rPr>
              <a:t>포크</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 20회 반복으로 최적화</a:t>
            </a:r>
            <a:endParaRPr lang="en-US" sz="1200" dirty="0"/>
          </a:p>
        </p:txBody>
      </p:sp>
      <p:sp>
        <p:nvSpPr>
          <p:cNvPr id="37" name="Text 26"/>
          <p:cNvSpPr txBox="1"/>
          <p:nvPr/>
        </p:nvSpPr>
        <p:spPr>
          <a:xfrm>
            <a:off x="6552895" y="6138652"/>
            <a:ext cx="4943703" cy="457200"/>
          </a:xfrm>
          <a:prstGeom prst="rect">
            <a:avLst/>
          </a:prstGeom>
          <a:noFill/>
          <a:ln/>
        </p:spPr>
        <p:txBody>
          <a:bodyPr wrap="square" lIns="0" tIns="0" rIns="0" bIns="0" rtlCol="0" anchor="t"/>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앙상블 (n=5):</a:t>
            </a:r>
            <a:r>
              <a:rPr lang="en-US" sz="1200" dirty="0">
                <a:solidFill>
                  <a:srgbClr val="475569"/>
                </a:solidFill>
                <a:latin typeface="Noto Sans KR" pitchFamily="34" charset="0"/>
                <a:ea typeface="Noto Sans KR" pitchFamily="34" charset="-122"/>
                <a:cs typeface="Noto Sans KR" pitchFamily="34" charset="-120"/>
              </a:rPr>
              <a:t> 서로 다른 초기 가중치로 5개 모델을 학습하고 예측을 평균하여 강건성 향상</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307946"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연구 목적/설정</a:t>
            </a:r>
            <a:endParaRPr lang="en-US" sz="2400" dirty="0"/>
          </a:p>
        </p:txBody>
      </p:sp>
      <p:pic>
        <p:nvPicPr>
          <p:cNvPr id="5" name="Image 0" descr="preencoded.png"/>
          <p:cNvPicPr>
            <a:picLocks noChangeAspect="1"/>
          </p:cNvPicPr>
          <p:nvPr/>
        </p:nvPicPr>
        <p:blipFill>
          <a:blip r:embed="rId3"/>
          <a:srcRect/>
          <a:stretch/>
        </p:blipFill>
        <p:spPr>
          <a:xfrm>
            <a:off x="11410798" y="286207"/>
            <a:ext cx="304495" cy="304495"/>
          </a:xfrm>
          <a:prstGeom prst="rect">
            <a:avLst/>
          </a:prstGeom>
        </p:spPr>
      </p:pic>
      <p:sp>
        <p:nvSpPr>
          <p:cNvPr id="6" name="Text 3"/>
          <p:cNvSpPr txBox="1"/>
          <p:nvPr/>
        </p:nvSpPr>
        <p:spPr>
          <a:xfrm>
            <a:off x="857707" y="1030355"/>
            <a:ext cx="523859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연구 목표</a:t>
            </a:r>
            <a:endParaRPr lang="en-US" sz="2400" dirty="0"/>
          </a:p>
        </p:txBody>
      </p:sp>
      <p:pic>
        <p:nvPicPr>
          <p:cNvPr id="7" name="Image 1" descr="preencoded.png"/>
          <p:cNvPicPr>
            <a:picLocks noChangeAspect="1"/>
          </p:cNvPicPr>
          <p:nvPr/>
        </p:nvPicPr>
        <p:blipFill>
          <a:blip r:embed="rId4"/>
          <a:srcRect/>
          <a:stretch/>
        </p:blipFill>
        <p:spPr>
          <a:xfrm>
            <a:off x="476402" y="1068760"/>
            <a:ext cx="267005" cy="267005"/>
          </a:xfrm>
          <a:prstGeom prst="rect">
            <a:avLst/>
          </a:prstGeom>
        </p:spPr>
      </p:pic>
      <p:sp>
        <p:nvSpPr>
          <p:cNvPr id="8" name="Shape 4"/>
          <p:cNvSpPr/>
          <p:nvPr/>
        </p:nvSpPr>
        <p:spPr>
          <a:xfrm>
            <a:off x="476402" y="1487555"/>
            <a:ext cx="5429707" cy="1257300"/>
          </a:xfrm>
          <a:prstGeom prst="roundRect">
            <a:avLst>
              <a:gd name="adj" fmla="val 3156"/>
            </a:avLst>
          </a:prstGeom>
          <a:solidFill>
            <a:srgbClr val="FFFFFF"/>
          </a:solidFill>
          <a:ln/>
          <a:effectLst>
            <a:outerShdw blurRad="76200" dist="25400" dir="16200000" algn="bl" rotWithShape="0">
              <a:srgbClr val="000000">
                <a:alpha val="8000"/>
              </a:srgbClr>
            </a:outerShdw>
          </a:effectLst>
        </p:spPr>
      </p:sp>
      <p:sp>
        <p:nvSpPr>
          <p:cNvPr id="9" name="Shape 5"/>
          <p:cNvSpPr/>
          <p:nvPr/>
        </p:nvSpPr>
        <p:spPr>
          <a:xfrm>
            <a:off x="476402" y="1487555"/>
            <a:ext cx="38405" cy="1257300"/>
          </a:xfrm>
          <a:prstGeom prst="roundRect">
            <a:avLst>
              <a:gd name="adj" fmla="val 122099"/>
            </a:avLst>
          </a:prstGeom>
          <a:solidFill>
            <a:srgbClr val="1A355B"/>
          </a:solidFill>
          <a:ln w="12700">
            <a:solidFill>
              <a:srgbClr val="1A355B">
                <a:alpha val="0"/>
              </a:srgbClr>
            </a:solidFill>
            <a:prstDash val="solid"/>
          </a:ln>
        </p:spPr>
      </p:sp>
      <p:sp>
        <p:nvSpPr>
          <p:cNvPr id="10" name="Text 6"/>
          <p:cNvSpPr txBox="1"/>
          <p:nvPr/>
        </p:nvSpPr>
        <p:spPr>
          <a:xfrm>
            <a:off x="743407" y="1716155"/>
            <a:ext cx="5105096" cy="1028700"/>
          </a:xfrm>
          <a:prstGeom prst="rect">
            <a:avLst/>
          </a:prstGeom>
          <a:noFill/>
          <a:ln/>
        </p:spPr>
        <p:txBody>
          <a:bodyPr wrap="square" lIns="0" tIns="0" rIns="0" bIns="0" rtlCol="0" anchor="t"/>
          <a:lstStyle/>
          <a:p>
            <a:pPr marL="0" indent="0" algn="l">
              <a:buNone/>
            </a:pPr>
            <a:r>
              <a:rPr lang="en-US" sz="1400" dirty="0">
                <a:solidFill>
                  <a:srgbClr val="334155"/>
                </a:solidFill>
                <a:latin typeface="Noto Sans KR" pitchFamily="34" charset="0"/>
                <a:ea typeface="Noto Sans KR" pitchFamily="34" charset="-122"/>
                <a:cs typeface="Noto Sans KR" pitchFamily="34" charset="-120"/>
              </a:rPr>
              <a:t>본 연구는 대규모 화학-유전학적 상호작용 프로파일(CGIP)을 활용하여 </a:t>
            </a:r>
            <a:r>
              <a:rPr lang="en-US" sz="1400" b="1" dirty="0">
                <a:solidFill>
                  <a:srgbClr val="FF0000"/>
                </a:solidFill>
                <a:latin typeface="Noto Sans KR" pitchFamily="34" charset="0"/>
                <a:ea typeface="Noto Sans KR" pitchFamily="34" charset="-122"/>
                <a:cs typeface="Noto Sans KR" pitchFamily="34" charset="-120"/>
              </a:rPr>
              <a:t>클러스터 수준의 성장 억제 활성</a:t>
            </a:r>
            <a:r>
              <a:rPr lang="en-US" sz="1400" dirty="0">
                <a:solidFill>
                  <a:srgbClr val="334155"/>
                </a:solidFill>
                <a:latin typeface="Noto Sans KR" pitchFamily="34" charset="0"/>
                <a:ea typeface="Noto Sans KR" pitchFamily="34" charset="-122"/>
                <a:cs typeface="Noto Sans KR" pitchFamily="34" charset="-120"/>
              </a:rPr>
              <a:t>을 예측하는 딥러닝 모델을 개발하는 것을 목표로 합니다. 각 화합물이 13개의 유전자 클러스터(COG)에 대해 보이는 저해 효과를 </a:t>
            </a:r>
            <a:r>
              <a:rPr lang="en-US" sz="1400" b="1" dirty="0">
                <a:solidFill>
                  <a:srgbClr val="FF0000"/>
                </a:solidFill>
                <a:latin typeface="Noto Sans KR" pitchFamily="34" charset="0"/>
                <a:ea typeface="Noto Sans KR" pitchFamily="34" charset="-122"/>
                <a:cs typeface="Noto Sans KR" pitchFamily="34" charset="-120"/>
              </a:rPr>
              <a:t>활성/비활성 이진 분류</a:t>
            </a:r>
            <a:r>
              <a:rPr lang="en-US" sz="1400" dirty="0">
                <a:solidFill>
                  <a:srgbClr val="334155"/>
                </a:solidFill>
                <a:latin typeface="Noto Sans KR" pitchFamily="34" charset="0"/>
                <a:ea typeface="Noto Sans KR" pitchFamily="34" charset="-122"/>
                <a:cs typeface="Noto Sans KR" pitchFamily="34" charset="-120"/>
              </a:rPr>
              <a:t>로 예측합니다. </a:t>
            </a:r>
            <a:endParaRPr lang="en-US" sz="1400" dirty="0"/>
          </a:p>
        </p:txBody>
      </p:sp>
      <p:sp>
        <p:nvSpPr>
          <p:cNvPr id="11" name="Text 7"/>
          <p:cNvSpPr txBox="1"/>
          <p:nvPr/>
        </p:nvSpPr>
        <p:spPr>
          <a:xfrm>
            <a:off x="828446" y="2844889"/>
            <a:ext cx="526785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데이터셋 개요</a:t>
            </a:r>
            <a:endParaRPr lang="en-US" sz="2400" dirty="0"/>
          </a:p>
        </p:txBody>
      </p:sp>
      <p:pic>
        <p:nvPicPr>
          <p:cNvPr id="12" name="Image 2" descr="preencoded.png"/>
          <p:cNvPicPr>
            <a:picLocks noChangeAspect="1"/>
          </p:cNvPicPr>
          <p:nvPr/>
        </p:nvPicPr>
        <p:blipFill>
          <a:blip r:embed="rId5"/>
          <a:srcRect l="-881" r="-881"/>
          <a:stretch/>
        </p:blipFill>
        <p:spPr>
          <a:xfrm>
            <a:off x="476402" y="2883294"/>
            <a:ext cx="237744" cy="267005"/>
          </a:xfrm>
          <a:prstGeom prst="rect">
            <a:avLst/>
          </a:prstGeom>
        </p:spPr>
      </p:pic>
      <p:sp>
        <p:nvSpPr>
          <p:cNvPr id="13" name="Shape 8"/>
          <p:cNvSpPr/>
          <p:nvPr/>
        </p:nvSpPr>
        <p:spPr>
          <a:xfrm>
            <a:off x="476402" y="3302089"/>
            <a:ext cx="5429707" cy="1616953"/>
          </a:xfrm>
          <a:prstGeom prst="roundRect">
            <a:avLst>
              <a:gd name="adj" fmla="val 1531"/>
            </a:avLst>
          </a:prstGeom>
          <a:solidFill>
            <a:srgbClr val="FFFFFF"/>
          </a:solidFill>
          <a:ln/>
          <a:effectLst>
            <a:outerShdw blurRad="76200" dist="25400" dir="16200000" algn="bl" rotWithShape="0">
              <a:srgbClr val="000000">
                <a:alpha val="8000"/>
              </a:srgbClr>
            </a:outerShdw>
          </a:effectLst>
        </p:spPr>
      </p:sp>
      <p:sp>
        <p:nvSpPr>
          <p:cNvPr id="14" name="Shape 9"/>
          <p:cNvSpPr/>
          <p:nvPr/>
        </p:nvSpPr>
        <p:spPr>
          <a:xfrm>
            <a:off x="476402" y="3302089"/>
            <a:ext cx="38405" cy="1616953"/>
          </a:xfrm>
          <a:prstGeom prst="roundRect">
            <a:avLst>
              <a:gd name="adj" fmla="val 85034"/>
            </a:avLst>
          </a:prstGeom>
          <a:solidFill>
            <a:srgbClr val="1A355B"/>
          </a:solidFill>
          <a:ln w="12700">
            <a:solidFill>
              <a:srgbClr val="1A355B">
                <a:alpha val="0"/>
              </a:srgbClr>
            </a:solidFill>
            <a:prstDash val="solid"/>
          </a:ln>
        </p:spPr>
      </p:sp>
      <p:grpSp>
        <p:nvGrpSpPr>
          <p:cNvPr id="62" name="그룹 61">
            <a:extLst>
              <a:ext uri="{FF2B5EF4-FFF2-40B4-BE49-F238E27FC236}">
                <a16:creationId xmlns:a16="http://schemas.microsoft.com/office/drawing/2014/main" id="{4CCC8458-D13B-4DAC-A1B3-7AD905C29335}"/>
              </a:ext>
            </a:extLst>
          </p:cNvPr>
          <p:cNvGrpSpPr/>
          <p:nvPr/>
        </p:nvGrpSpPr>
        <p:grpSpPr>
          <a:xfrm>
            <a:off x="743407" y="3438930"/>
            <a:ext cx="4819802" cy="1375760"/>
            <a:chOff x="933602" y="3448970"/>
            <a:chExt cx="4819802" cy="1375760"/>
          </a:xfrm>
        </p:grpSpPr>
        <p:sp>
          <p:nvSpPr>
            <p:cNvPr id="16" name="Text 10"/>
            <p:cNvSpPr txBox="1"/>
            <p:nvPr/>
          </p:nvSpPr>
          <p:spPr>
            <a:xfrm>
              <a:off x="933602" y="3448970"/>
              <a:ext cx="4819802" cy="296267"/>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화합물 라이브러리</a:t>
              </a:r>
              <a:r>
                <a:rPr lang="en-US" sz="1400" dirty="0">
                  <a:solidFill>
                    <a:srgbClr val="475569"/>
                  </a:solidFill>
                  <a:latin typeface="Noto Sans KR" pitchFamily="34" charset="0"/>
                  <a:ea typeface="Noto Sans KR" pitchFamily="34" charset="-122"/>
                  <a:cs typeface="Noto Sans KR" pitchFamily="34" charset="-120"/>
                </a:rPr>
                <a:t>: 47,217개의 화학 구조 (SMILES 표현)</a:t>
              </a:r>
              <a:endParaRPr lang="en-US" sz="1400" dirty="0"/>
            </a:p>
          </p:txBody>
        </p:sp>
        <p:sp>
          <p:nvSpPr>
            <p:cNvPr id="18" name="Text 11"/>
            <p:cNvSpPr txBox="1"/>
            <p:nvPr/>
          </p:nvSpPr>
          <p:spPr>
            <a:xfrm>
              <a:off x="933602" y="3779041"/>
              <a:ext cx="4807322" cy="457200"/>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변이균주</a:t>
              </a:r>
              <a:r>
                <a:rPr lang="en-US" sz="1400" dirty="0">
                  <a:solidFill>
                    <a:srgbClr val="475569"/>
                  </a:solidFill>
                  <a:latin typeface="Noto Sans KR" pitchFamily="34" charset="0"/>
                  <a:ea typeface="Noto Sans KR" pitchFamily="34" charset="-122"/>
                  <a:cs typeface="Noto Sans KR" pitchFamily="34" charset="-120"/>
                </a:rPr>
                <a:t>: 152개 Mycobacterium tuberculosis H37Rv hypomorphs (필수 유전자 부분 결핍)</a:t>
              </a:r>
              <a:endParaRPr lang="en-US" sz="1400" dirty="0"/>
            </a:p>
          </p:txBody>
        </p:sp>
        <p:sp>
          <p:nvSpPr>
            <p:cNvPr id="20" name="Text 12"/>
            <p:cNvSpPr txBox="1"/>
            <p:nvPr/>
          </p:nvSpPr>
          <p:spPr>
            <a:xfrm>
              <a:off x="933602" y="4246848"/>
              <a:ext cx="4807322" cy="289865"/>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CGIP 측정</a:t>
              </a:r>
              <a:r>
                <a:rPr lang="en-US" sz="1400" dirty="0">
                  <a:solidFill>
                    <a:srgbClr val="475569"/>
                  </a:solidFill>
                  <a:latin typeface="Noto Sans KR" pitchFamily="34" charset="0"/>
                  <a:ea typeface="Noto Sans KR" pitchFamily="34" charset="-122"/>
                  <a:cs typeface="Noto Sans KR" pitchFamily="34" charset="-120"/>
                </a:rPr>
                <a:t>: Wald test Z-score로 정량화된 성장 억제 효과</a:t>
              </a:r>
              <a:endParaRPr lang="en-US" sz="1400" dirty="0"/>
            </a:p>
          </p:txBody>
        </p:sp>
        <p:sp>
          <p:nvSpPr>
            <p:cNvPr id="22" name="Text 13"/>
            <p:cNvSpPr txBox="1"/>
            <p:nvPr/>
          </p:nvSpPr>
          <p:spPr>
            <a:xfrm>
              <a:off x="933602" y="4528463"/>
              <a:ext cx="4807322" cy="296267"/>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활성 기준</a:t>
              </a:r>
              <a:r>
                <a:rPr lang="en-US" sz="1400" dirty="0">
                  <a:solidFill>
                    <a:srgbClr val="475569"/>
                  </a:solidFill>
                  <a:latin typeface="Noto Sans KR" pitchFamily="34" charset="0"/>
                  <a:ea typeface="Noto Sans KR" pitchFamily="34" charset="-122"/>
                  <a:cs typeface="Noto Sans KR" pitchFamily="34" charset="-120"/>
                </a:rPr>
                <a:t>: Z-score ≤ -4 → 활성(1), Z-score &gt; -4 → 비활성(0)</a:t>
              </a:r>
              <a:endParaRPr lang="en-US" sz="1400" dirty="0"/>
            </a:p>
          </p:txBody>
        </p:sp>
      </p:grpSp>
      <p:sp>
        <p:nvSpPr>
          <p:cNvPr id="23" name="Text 14"/>
          <p:cNvSpPr txBox="1"/>
          <p:nvPr/>
        </p:nvSpPr>
        <p:spPr>
          <a:xfrm>
            <a:off x="895198" y="5024005"/>
            <a:ext cx="5201107"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데이터 구조</a:t>
            </a:r>
            <a:endParaRPr lang="en-US" sz="2400" dirty="0"/>
          </a:p>
        </p:txBody>
      </p:sp>
      <p:pic>
        <p:nvPicPr>
          <p:cNvPr id="24" name="Image 7" descr="preencoded.png"/>
          <p:cNvPicPr>
            <a:picLocks noChangeAspect="1"/>
          </p:cNvPicPr>
          <p:nvPr/>
        </p:nvPicPr>
        <p:blipFill>
          <a:blip r:embed="rId6"/>
          <a:srcRect l="-685" r="-685"/>
          <a:stretch/>
        </p:blipFill>
        <p:spPr>
          <a:xfrm>
            <a:off x="476402" y="5061495"/>
            <a:ext cx="304495" cy="267005"/>
          </a:xfrm>
          <a:prstGeom prst="rect">
            <a:avLst/>
          </a:prstGeom>
        </p:spPr>
      </p:pic>
      <p:sp>
        <p:nvSpPr>
          <p:cNvPr id="25" name="Shape 15"/>
          <p:cNvSpPr/>
          <p:nvPr/>
        </p:nvSpPr>
        <p:spPr>
          <a:xfrm>
            <a:off x="476402" y="5481205"/>
            <a:ext cx="5429707" cy="1190549"/>
          </a:xfrm>
          <a:prstGeom prst="roundRect">
            <a:avLst>
              <a:gd name="adj" fmla="val 4916"/>
            </a:avLst>
          </a:prstGeom>
          <a:solidFill>
            <a:srgbClr val="EFF6FF"/>
          </a:solidFill>
          <a:ln w="25400">
            <a:solidFill>
              <a:srgbClr val="3B82F6"/>
            </a:solidFill>
            <a:prstDash val="solid"/>
          </a:ln>
        </p:spPr>
      </p:sp>
      <p:sp>
        <p:nvSpPr>
          <p:cNvPr id="26" name="Text 16"/>
          <p:cNvSpPr txBox="1"/>
          <p:nvPr/>
        </p:nvSpPr>
        <p:spPr>
          <a:xfrm>
            <a:off x="705459" y="5662879"/>
            <a:ext cx="5086807" cy="870001"/>
          </a:xfrm>
          <a:prstGeom prst="rect">
            <a:avLst/>
          </a:prstGeom>
          <a:noFill/>
          <a:ln/>
        </p:spPr>
        <p:txBody>
          <a:bodyPr wrap="square" lIns="0" tIns="0" rIns="0" bIns="0" rtlCol="0" anchor="t"/>
          <a:lstStyle/>
          <a:p>
            <a:pPr marL="0" indent="0" algn="l">
              <a:buNone/>
            </a:pPr>
            <a:r>
              <a:rPr lang="en-US" sz="1400" dirty="0" err="1">
                <a:solidFill>
                  <a:srgbClr val="334155"/>
                </a:solidFill>
                <a:latin typeface="Noto Sans KR" pitchFamily="34" charset="0"/>
                <a:ea typeface="Noto Sans KR" pitchFamily="34" charset="-122"/>
                <a:cs typeface="Noto Sans KR" pitchFamily="34" charset="-120"/>
              </a:rPr>
              <a:t>유전자</a:t>
            </a:r>
            <a:r>
              <a:rPr lang="en-US" sz="1400" dirty="0">
                <a:solidFill>
                  <a:srgbClr val="334155"/>
                </a:solidFill>
                <a:latin typeface="Noto Sans KR" pitchFamily="34" charset="0"/>
                <a:ea typeface="Noto Sans KR" pitchFamily="34" charset="-122"/>
                <a:cs typeface="Noto Sans KR" pitchFamily="34" charset="-120"/>
              </a:rPr>
              <a:t> 클러스터링을 통해 152개 변이균주를 </a:t>
            </a:r>
            <a:r>
              <a:rPr lang="en-US" sz="1400" b="1" dirty="0">
                <a:solidFill>
                  <a:srgbClr val="FF0000"/>
                </a:solidFill>
                <a:latin typeface="Noto Sans KR" pitchFamily="34" charset="0"/>
                <a:ea typeface="Noto Sans KR" pitchFamily="34" charset="-122"/>
                <a:cs typeface="Noto Sans KR" pitchFamily="34" charset="-120"/>
              </a:rPr>
              <a:t>13개의 기능적 클러스터(C1-C13)</a:t>
            </a:r>
            <a:r>
              <a:rPr lang="en-US" sz="1400" dirty="0">
                <a:solidFill>
                  <a:srgbClr val="334155"/>
                </a:solidFill>
                <a:latin typeface="Noto Sans KR" pitchFamily="34" charset="0"/>
                <a:ea typeface="Noto Sans KR" pitchFamily="34" charset="-122"/>
                <a:cs typeface="Noto Sans KR" pitchFamily="34" charset="-120"/>
              </a:rPr>
              <a:t>로 그룹화하고, </a:t>
            </a:r>
            <a:r>
              <a:rPr lang="en-US" sz="1400" b="1" dirty="0">
                <a:solidFill>
                  <a:srgbClr val="FF0000"/>
                </a:solidFill>
                <a:latin typeface="Noto Sans KR" pitchFamily="34" charset="0"/>
                <a:ea typeface="Noto Sans KR" pitchFamily="34" charset="-122"/>
                <a:cs typeface="Noto Sans KR" pitchFamily="34" charset="-120"/>
              </a:rPr>
              <a:t>각 클러스터별 Z-score 중앙값을 계산</a:t>
            </a:r>
            <a:r>
              <a:rPr lang="en-US" sz="1400" dirty="0">
                <a:solidFill>
                  <a:srgbClr val="334155"/>
                </a:solidFill>
                <a:latin typeface="Noto Sans KR" pitchFamily="34" charset="0"/>
                <a:ea typeface="Noto Sans KR" pitchFamily="34" charset="-122"/>
                <a:cs typeface="Noto Sans KR" pitchFamily="34" charset="-120"/>
              </a:rPr>
              <a:t>하여 클러스터 수준 타깃을 </a:t>
            </a:r>
            <a:r>
              <a:rPr lang="en-US" sz="1400" dirty="0" err="1">
                <a:solidFill>
                  <a:srgbClr val="334155"/>
                </a:solidFill>
                <a:latin typeface="Noto Sans KR" pitchFamily="34" charset="0"/>
                <a:ea typeface="Noto Sans KR" pitchFamily="34" charset="-122"/>
                <a:cs typeface="Noto Sans KR" pitchFamily="34" charset="-120"/>
              </a:rPr>
              <a:t>생성했습니다</a:t>
            </a:r>
            <a:r>
              <a:rPr lang="en-US" sz="1400" dirty="0" smtClean="0">
                <a:solidFill>
                  <a:srgbClr val="334155"/>
                </a:solidFill>
                <a:latin typeface="Noto Sans KR" pitchFamily="34" charset="0"/>
                <a:ea typeface="Noto Sans KR" pitchFamily="34" charset="-122"/>
                <a:cs typeface="Noto Sans KR" pitchFamily="34" charset="-120"/>
              </a:rPr>
              <a:t>.</a:t>
            </a:r>
          </a:p>
          <a:p>
            <a:pPr marL="0" indent="0" algn="l">
              <a:buNone/>
            </a:pPr>
            <a:r>
              <a:rPr lang="en-US" sz="1400" dirty="0" err="1" smtClean="0">
                <a:solidFill>
                  <a:srgbClr val="334155"/>
                </a:solidFill>
                <a:latin typeface="Noto Sans KR" pitchFamily="34" charset="0"/>
                <a:ea typeface="Noto Sans KR" pitchFamily="34" charset="-122"/>
                <a:cs typeface="Noto Sans KR" pitchFamily="34" charset="-120"/>
              </a:rPr>
              <a:t>이를</a:t>
            </a:r>
            <a:r>
              <a:rPr lang="en-US" sz="1400" dirty="0" smtClean="0">
                <a:solidFill>
                  <a:srgbClr val="334155"/>
                </a:solidFill>
                <a:latin typeface="Noto Sans KR" pitchFamily="34" charset="0"/>
                <a:ea typeface="Noto Sans KR" pitchFamily="34" charset="-122"/>
                <a:cs typeface="Noto Sans KR" pitchFamily="34" charset="-120"/>
              </a:rPr>
              <a:t> </a:t>
            </a:r>
            <a:r>
              <a:rPr lang="en-US" sz="1400" dirty="0">
                <a:solidFill>
                  <a:srgbClr val="334155"/>
                </a:solidFill>
                <a:latin typeface="Noto Sans KR" pitchFamily="34" charset="0"/>
                <a:ea typeface="Noto Sans KR" pitchFamily="34" charset="-122"/>
                <a:cs typeface="Noto Sans KR" pitchFamily="34" charset="-120"/>
              </a:rPr>
              <a:t>통해 </a:t>
            </a:r>
            <a:r>
              <a:rPr lang="en-US" sz="1400" b="1" dirty="0">
                <a:solidFill>
                  <a:srgbClr val="FF0000"/>
                </a:solidFill>
                <a:latin typeface="Noto Sans KR" pitchFamily="34" charset="0"/>
                <a:ea typeface="Noto Sans KR" pitchFamily="34" charset="-122"/>
                <a:cs typeface="Noto Sans KR" pitchFamily="34" charset="-120"/>
              </a:rPr>
              <a:t>멀티라벨 이진 분류</a:t>
            </a:r>
            <a:r>
              <a:rPr lang="en-US" sz="1400" dirty="0">
                <a:solidFill>
                  <a:srgbClr val="334155"/>
                </a:solidFill>
                <a:latin typeface="Noto Sans KR" pitchFamily="34" charset="0"/>
                <a:ea typeface="Noto Sans KR" pitchFamily="34" charset="-122"/>
                <a:cs typeface="Noto Sans KR" pitchFamily="34" charset="-120"/>
              </a:rPr>
              <a:t> 문제로 변환했습니다. </a:t>
            </a:r>
            <a:endParaRPr lang="en-US" sz="1400" dirty="0"/>
          </a:p>
        </p:txBody>
      </p:sp>
      <p:sp>
        <p:nvSpPr>
          <p:cNvPr id="27" name="Shape 17"/>
          <p:cNvSpPr/>
          <p:nvPr/>
        </p:nvSpPr>
        <p:spPr>
          <a:xfrm>
            <a:off x="6286500" y="964369"/>
            <a:ext cx="5429707" cy="761695"/>
          </a:xfrm>
          <a:prstGeom prst="roundRect">
            <a:avLst>
              <a:gd name="adj" fmla="val 9004"/>
            </a:avLst>
          </a:prstGeom>
          <a:solidFill>
            <a:srgbClr val="FFFFFF"/>
          </a:solidFill>
          <a:ln w="12700">
            <a:solidFill>
              <a:srgbClr val="FFFFFF">
                <a:alpha val="0"/>
              </a:srgbClr>
            </a:solidFill>
            <a:prstDash val="solid"/>
          </a:ln>
        </p:spPr>
      </p:sp>
      <p:pic>
        <p:nvPicPr>
          <p:cNvPr id="28" name="Image 8" descr="preencoded.png"/>
          <p:cNvPicPr>
            <a:picLocks noChangeAspect="1"/>
          </p:cNvPicPr>
          <p:nvPr/>
        </p:nvPicPr>
        <p:blipFill>
          <a:blip r:embed="rId7"/>
          <a:srcRect/>
          <a:stretch/>
        </p:blipFill>
        <p:spPr>
          <a:xfrm>
            <a:off x="6524244" y="1212172"/>
            <a:ext cx="304495" cy="304495"/>
          </a:xfrm>
          <a:prstGeom prst="rect">
            <a:avLst/>
          </a:prstGeom>
        </p:spPr>
      </p:pic>
      <p:sp>
        <p:nvSpPr>
          <p:cNvPr id="29" name="Text 18"/>
          <p:cNvSpPr txBox="1"/>
          <p:nvPr/>
        </p:nvSpPr>
        <p:spPr>
          <a:xfrm>
            <a:off x="7067398" y="1119817"/>
            <a:ext cx="4686300" cy="19111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총 화합물 수</a:t>
            </a:r>
            <a:endParaRPr lang="en-US" sz="1050" dirty="0"/>
          </a:p>
        </p:txBody>
      </p:sp>
      <p:sp>
        <p:nvSpPr>
          <p:cNvPr id="30" name="Text 19"/>
          <p:cNvSpPr txBox="1"/>
          <p:nvPr/>
        </p:nvSpPr>
        <p:spPr>
          <a:xfrm>
            <a:off x="7067398" y="1342931"/>
            <a:ext cx="4610405"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47,217개 화학 구조</a:t>
            </a:r>
            <a:endParaRPr lang="en-US" sz="1600" dirty="0"/>
          </a:p>
        </p:txBody>
      </p:sp>
      <p:sp>
        <p:nvSpPr>
          <p:cNvPr id="31" name="Shape 20"/>
          <p:cNvSpPr/>
          <p:nvPr/>
        </p:nvSpPr>
        <p:spPr>
          <a:xfrm>
            <a:off x="6286500" y="1776466"/>
            <a:ext cx="5429707" cy="761695"/>
          </a:xfrm>
          <a:prstGeom prst="roundRect">
            <a:avLst>
              <a:gd name="adj" fmla="val 9004"/>
            </a:avLst>
          </a:prstGeom>
          <a:solidFill>
            <a:srgbClr val="FFFFFF"/>
          </a:solidFill>
          <a:ln w="12700">
            <a:solidFill>
              <a:srgbClr val="FFFFFF">
                <a:alpha val="0"/>
              </a:srgbClr>
            </a:solidFill>
            <a:prstDash val="solid"/>
          </a:ln>
        </p:spPr>
      </p:sp>
      <p:pic>
        <p:nvPicPr>
          <p:cNvPr id="32" name="Image 9" descr="preencoded.png"/>
          <p:cNvPicPr>
            <a:picLocks noChangeAspect="1"/>
          </p:cNvPicPr>
          <p:nvPr/>
        </p:nvPicPr>
        <p:blipFill>
          <a:blip r:embed="rId8"/>
          <a:srcRect l="-90" r="-90"/>
          <a:stretch/>
        </p:blipFill>
        <p:spPr>
          <a:xfrm>
            <a:off x="6486754" y="2024268"/>
            <a:ext cx="381305" cy="304495"/>
          </a:xfrm>
          <a:prstGeom prst="rect">
            <a:avLst/>
          </a:prstGeom>
        </p:spPr>
      </p:pic>
      <p:sp>
        <p:nvSpPr>
          <p:cNvPr id="33" name="Text 21"/>
          <p:cNvSpPr txBox="1"/>
          <p:nvPr/>
        </p:nvSpPr>
        <p:spPr>
          <a:xfrm>
            <a:off x="7067398" y="1930999"/>
            <a:ext cx="4610405" cy="19111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Mtb Hypomorphs</a:t>
            </a:r>
            <a:endParaRPr lang="en-US" sz="1050" dirty="0"/>
          </a:p>
        </p:txBody>
      </p:sp>
      <p:sp>
        <p:nvSpPr>
          <p:cNvPr id="34" name="Text 22"/>
          <p:cNvSpPr txBox="1"/>
          <p:nvPr/>
        </p:nvSpPr>
        <p:spPr>
          <a:xfrm>
            <a:off x="7067398" y="2155027"/>
            <a:ext cx="4686300"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152개 변이균주</a:t>
            </a:r>
            <a:endParaRPr lang="en-US" sz="1600" dirty="0"/>
          </a:p>
        </p:txBody>
      </p:sp>
      <p:sp>
        <p:nvSpPr>
          <p:cNvPr id="35" name="Shape 23"/>
          <p:cNvSpPr/>
          <p:nvPr/>
        </p:nvSpPr>
        <p:spPr>
          <a:xfrm>
            <a:off x="6286500" y="2568801"/>
            <a:ext cx="5429707" cy="761695"/>
          </a:xfrm>
          <a:prstGeom prst="roundRect">
            <a:avLst>
              <a:gd name="adj" fmla="val 9004"/>
            </a:avLst>
          </a:prstGeom>
          <a:solidFill>
            <a:srgbClr val="FFFFFF"/>
          </a:solidFill>
          <a:ln w="12700">
            <a:solidFill>
              <a:srgbClr val="FFFFFF">
                <a:alpha val="0"/>
              </a:srgbClr>
            </a:solidFill>
            <a:prstDash val="solid"/>
          </a:ln>
        </p:spPr>
      </p:sp>
      <p:pic>
        <p:nvPicPr>
          <p:cNvPr id="36" name="Image 10" descr="preencoded.png"/>
          <p:cNvPicPr>
            <a:picLocks noChangeAspect="1"/>
          </p:cNvPicPr>
          <p:nvPr/>
        </p:nvPicPr>
        <p:blipFill>
          <a:blip r:embed="rId9"/>
          <a:srcRect l="-50" r="-50"/>
          <a:stretch/>
        </p:blipFill>
        <p:spPr>
          <a:xfrm>
            <a:off x="6505956" y="2816603"/>
            <a:ext cx="342900" cy="304495"/>
          </a:xfrm>
          <a:prstGeom prst="rect">
            <a:avLst/>
          </a:prstGeom>
        </p:spPr>
      </p:pic>
      <p:sp>
        <p:nvSpPr>
          <p:cNvPr id="37" name="Text 24"/>
          <p:cNvSpPr txBox="1"/>
          <p:nvPr/>
        </p:nvSpPr>
        <p:spPr>
          <a:xfrm>
            <a:off x="7067398" y="2723335"/>
            <a:ext cx="4610405" cy="19111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유전자 클러스터 (COG)</a:t>
            </a:r>
            <a:endParaRPr lang="en-US" sz="1050" dirty="0"/>
          </a:p>
        </p:txBody>
      </p:sp>
      <p:sp>
        <p:nvSpPr>
          <p:cNvPr id="38" name="Text 25"/>
          <p:cNvSpPr txBox="1"/>
          <p:nvPr/>
        </p:nvSpPr>
        <p:spPr>
          <a:xfrm>
            <a:off x="7067398" y="2947363"/>
            <a:ext cx="4686300" cy="228600"/>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13개 기능적 그룹</a:t>
            </a:r>
            <a:endParaRPr lang="en-US" sz="1600" dirty="0"/>
          </a:p>
        </p:txBody>
      </p:sp>
      <p:sp>
        <p:nvSpPr>
          <p:cNvPr id="39" name="Text 26"/>
          <p:cNvSpPr txBox="1"/>
          <p:nvPr/>
        </p:nvSpPr>
        <p:spPr>
          <a:xfrm>
            <a:off x="6667805" y="3408268"/>
            <a:ext cx="5238598" cy="342900"/>
          </a:xfrm>
          <a:prstGeom prst="rect">
            <a:avLst/>
          </a:prstGeom>
          <a:noFill/>
          <a:ln/>
        </p:spPr>
        <p:txBody>
          <a:bodyPr wrap="square" lIns="0" tIns="0" rIns="0" bIns="0" rtlCol="0" anchor="ctr"/>
          <a:lstStyle/>
          <a:p>
            <a:pPr marL="0" indent="0" algn="l">
              <a:buNone/>
            </a:pPr>
            <a:r>
              <a:rPr lang="en-US" sz="2400" b="1" dirty="0" err="1">
                <a:solidFill>
                  <a:srgbClr val="1A355B"/>
                </a:solidFill>
                <a:latin typeface="Noto Sans KR" pitchFamily="34" charset="0"/>
                <a:ea typeface="Noto Sans KR" pitchFamily="34" charset="-122"/>
                <a:cs typeface="Noto Sans KR" pitchFamily="34" charset="-120"/>
              </a:rPr>
              <a:t>평가</a:t>
            </a:r>
            <a:r>
              <a:rPr lang="en-US" sz="2400" b="1" dirty="0">
                <a:solidFill>
                  <a:srgbClr val="1A355B"/>
                </a:solidFill>
                <a:latin typeface="Noto Sans KR" pitchFamily="34" charset="0"/>
                <a:ea typeface="Noto Sans KR" pitchFamily="34" charset="-122"/>
                <a:cs typeface="Noto Sans KR" pitchFamily="34" charset="-120"/>
              </a:rPr>
              <a:t> </a:t>
            </a:r>
            <a:r>
              <a:rPr lang="ko-KR" altLang="en-US" sz="2400" b="1" dirty="0" smtClean="0">
                <a:solidFill>
                  <a:srgbClr val="1A355B"/>
                </a:solidFill>
                <a:latin typeface="Noto Sans KR" pitchFamily="34" charset="0"/>
                <a:ea typeface="Noto Sans KR" pitchFamily="34" charset="-122"/>
                <a:cs typeface="Noto Sans KR" pitchFamily="34" charset="-120"/>
              </a:rPr>
              <a:t>지표</a:t>
            </a:r>
            <a:endParaRPr lang="en-US" sz="2400" dirty="0"/>
          </a:p>
        </p:txBody>
      </p:sp>
      <p:pic>
        <p:nvPicPr>
          <p:cNvPr id="40" name="Image 11" descr="preencoded.png"/>
          <p:cNvPicPr>
            <a:picLocks noChangeAspect="1"/>
          </p:cNvPicPr>
          <p:nvPr/>
        </p:nvPicPr>
        <p:blipFill>
          <a:blip r:embed="rId10"/>
          <a:srcRect/>
          <a:stretch/>
        </p:blipFill>
        <p:spPr>
          <a:xfrm>
            <a:off x="6286500" y="3446673"/>
            <a:ext cx="267005" cy="267005"/>
          </a:xfrm>
          <a:prstGeom prst="rect">
            <a:avLst/>
          </a:prstGeom>
        </p:spPr>
      </p:pic>
      <p:sp>
        <p:nvSpPr>
          <p:cNvPr id="41" name="Shape 27"/>
          <p:cNvSpPr/>
          <p:nvPr/>
        </p:nvSpPr>
        <p:spPr>
          <a:xfrm>
            <a:off x="6286500" y="3865468"/>
            <a:ext cx="2657246" cy="875995"/>
          </a:xfrm>
          <a:prstGeom prst="roundRect">
            <a:avLst>
              <a:gd name="adj" fmla="val 6808"/>
            </a:avLst>
          </a:prstGeom>
          <a:solidFill>
            <a:srgbClr val="FFFFFF"/>
          </a:solidFill>
          <a:ln/>
        </p:spPr>
      </p:sp>
      <p:sp>
        <p:nvSpPr>
          <p:cNvPr id="42" name="Shape 28"/>
          <p:cNvSpPr/>
          <p:nvPr/>
        </p:nvSpPr>
        <p:spPr>
          <a:xfrm>
            <a:off x="6286500" y="3865468"/>
            <a:ext cx="2657246" cy="28346"/>
          </a:xfrm>
          <a:prstGeom prst="roundRect">
            <a:avLst>
              <a:gd name="adj" fmla="val 210382"/>
            </a:avLst>
          </a:prstGeom>
          <a:solidFill>
            <a:srgbClr val="3B82F6"/>
          </a:solidFill>
          <a:ln w="12700">
            <a:solidFill>
              <a:srgbClr val="3B82F6">
                <a:alpha val="0"/>
              </a:srgbClr>
            </a:solidFill>
            <a:prstDash val="solid"/>
          </a:ln>
        </p:spPr>
      </p:sp>
      <p:sp>
        <p:nvSpPr>
          <p:cNvPr id="43" name="Text 29"/>
          <p:cNvSpPr txBox="1"/>
          <p:nvPr/>
        </p:nvSpPr>
        <p:spPr>
          <a:xfrm>
            <a:off x="6439205" y="4046519"/>
            <a:ext cx="2446934" cy="171907"/>
          </a:xfrm>
          <a:prstGeom prst="rect">
            <a:avLst/>
          </a:prstGeom>
          <a:noFill/>
          <a:ln/>
        </p:spPr>
        <p:txBody>
          <a:bodyPr wrap="square" lIns="0" tIns="0" rIns="0" bIns="0" rtlCol="0" anchor="ctr"/>
          <a:lstStyle/>
          <a:p>
            <a:pPr marL="0" indent="0" algn="l">
              <a:buNone/>
            </a:pPr>
            <a:r>
              <a:rPr lang="en-US" sz="1600" b="1" dirty="0">
                <a:solidFill>
                  <a:srgbClr val="FF0000"/>
                </a:solidFill>
                <a:latin typeface="Noto Sans KR" pitchFamily="34" charset="0"/>
                <a:ea typeface="Noto Sans KR" pitchFamily="34" charset="-122"/>
                <a:cs typeface="Noto Sans KR" pitchFamily="34" charset="-120"/>
              </a:rPr>
              <a:t>AUROC</a:t>
            </a:r>
            <a:endParaRPr lang="en-US" sz="1600" b="1" dirty="0">
              <a:solidFill>
                <a:srgbClr val="FF0000"/>
              </a:solidFill>
            </a:endParaRPr>
          </a:p>
        </p:txBody>
      </p:sp>
      <p:sp>
        <p:nvSpPr>
          <p:cNvPr id="44" name="Text 30"/>
          <p:cNvSpPr txBox="1"/>
          <p:nvPr/>
        </p:nvSpPr>
        <p:spPr>
          <a:xfrm>
            <a:off x="6439205" y="4275119"/>
            <a:ext cx="2541118" cy="416005"/>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ROC 곡선 아래 </a:t>
            </a:r>
            <a:r>
              <a:rPr lang="en-US" sz="1200" dirty="0" err="1">
                <a:solidFill>
                  <a:srgbClr val="475569"/>
                </a:solidFill>
                <a:latin typeface="Noto Sans KR" pitchFamily="34" charset="0"/>
                <a:ea typeface="Noto Sans KR" pitchFamily="34" charset="-122"/>
                <a:cs typeface="Noto Sans KR" pitchFamily="34" charset="-120"/>
              </a:rPr>
              <a:t>면적</a:t>
            </a:r>
            <a:r>
              <a:rPr lang="en-US" sz="1200" dirty="0" smtClean="0">
                <a:solidFill>
                  <a:srgbClr val="475569"/>
                </a:solidFill>
                <a:latin typeface="Noto Sans KR" pitchFamily="34" charset="0"/>
                <a:ea typeface="Noto Sans KR" pitchFamily="34" charset="-122"/>
                <a:cs typeface="Noto Sans KR" pitchFamily="34" charset="-120"/>
              </a:rPr>
              <a:t>.</a:t>
            </a:r>
          </a:p>
          <a:p>
            <a:pPr marL="0" indent="0" algn="l">
              <a:buNone/>
            </a:pPr>
            <a:r>
              <a:rPr lang="en-US" sz="1200" dirty="0" err="1" smtClean="0">
                <a:solidFill>
                  <a:srgbClr val="475569"/>
                </a:solidFill>
                <a:latin typeface="Noto Sans KR" pitchFamily="34" charset="0"/>
                <a:ea typeface="Noto Sans KR" pitchFamily="34" charset="-122"/>
                <a:cs typeface="Noto Sans KR" pitchFamily="34" charset="-120"/>
              </a:rPr>
              <a:t>분류</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성능의 종합 지표</a:t>
            </a:r>
            <a:endParaRPr lang="en-US" sz="1200" dirty="0"/>
          </a:p>
        </p:txBody>
      </p:sp>
      <p:sp>
        <p:nvSpPr>
          <p:cNvPr id="45" name="Shape 31"/>
          <p:cNvSpPr/>
          <p:nvPr/>
        </p:nvSpPr>
        <p:spPr>
          <a:xfrm>
            <a:off x="9058046" y="3865468"/>
            <a:ext cx="2657246" cy="875995"/>
          </a:xfrm>
          <a:prstGeom prst="roundRect">
            <a:avLst>
              <a:gd name="adj" fmla="val 6808"/>
            </a:avLst>
          </a:prstGeom>
          <a:solidFill>
            <a:srgbClr val="FFFFFF"/>
          </a:solidFill>
          <a:ln/>
        </p:spPr>
      </p:sp>
      <p:sp>
        <p:nvSpPr>
          <p:cNvPr id="46" name="Shape 32"/>
          <p:cNvSpPr/>
          <p:nvPr/>
        </p:nvSpPr>
        <p:spPr>
          <a:xfrm>
            <a:off x="9058046" y="3865468"/>
            <a:ext cx="2657246" cy="28346"/>
          </a:xfrm>
          <a:prstGeom prst="roundRect">
            <a:avLst>
              <a:gd name="adj" fmla="val 210382"/>
            </a:avLst>
          </a:prstGeom>
          <a:solidFill>
            <a:srgbClr val="3B82F6"/>
          </a:solidFill>
          <a:ln w="12700">
            <a:solidFill>
              <a:srgbClr val="3B82F6">
                <a:alpha val="0"/>
              </a:srgbClr>
            </a:solidFill>
            <a:prstDash val="solid"/>
          </a:ln>
        </p:spPr>
      </p:sp>
      <p:sp>
        <p:nvSpPr>
          <p:cNvPr id="47" name="Text 33"/>
          <p:cNvSpPr txBox="1"/>
          <p:nvPr/>
        </p:nvSpPr>
        <p:spPr>
          <a:xfrm>
            <a:off x="9210751" y="4046519"/>
            <a:ext cx="2446934" cy="171907"/>
          </a:xfrm>
          <a:prstGeom prst="rect">
            <a:avLst/>
          </a:prstGeom>
          <a:noFill/>
          <a:ln/>
        </p:spPr>
        <p:txBody>
          <a:bodyPr wrap="square" lIns="0" tIns="0" rIns="0" bIns="0" rtlCol="0" anchor="ctr"/>
          <a:lstStyle/>
          <a:p>
            <a:pPr marL="0" indent="0" algn="l">
              <a:buNone/>
            </a:pPr>
            <a:r>
              <a:rPr lang="en-US" sz="1600" b="1" dirty="0">
                <a:solidFill>
                  <a:srgbClr val="FF0000"/>
                </a:solidFill>
                <a:latin typeface="Noto Sans KR" pitchFamily="34" charset="0"/>
                <a:ea typeface="Noto Sans KR" pitchFamily="34" charset="-122"/>
                <a:cs typeface="Noto Sans KR" pitchFamily="34" charset="-120"/>
              </a:rPr>
              <a:t>AUPRC</a:t>
            </a:r>
            <a:endParaRPr lang="en-US" sz="1600" dirty="0">
              <a:solidFill>
                <a:srgbClr val="FF0000"/>
              </a:solidFill>
            </a:endParaRPr>
          </a:p>
        </p:txBody>
      </p:sp>
      <p:sp>
        <p:nvSpPr>
          <p:cNvPr id="48" name="Text 34"/>
          <p:cNvSpPr txBox="1"/>
          <p:nvPr/>
        </p:nvSpPr>
        <p:spPr>
          <a:xfrm>
            <a:off x="9210751" y="4275118"/>
            <a:ext cx="2505456" cy="440365"/>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Precision-Recall 곡선 아래 </a:t>
            </a:r>
            <a:r>
              <a:rPr lang="en-US" sz="1200" dirty="0" err="1">
                <a:solidFill>
                  <a:srgbClr val="475569"/>
                </a:solidFill>
                <a:latin typeface="Noto Sans KR" pitchFamily="34" charset="0"/>
                <a:ea typeface="Noto Sans KR" pitchFamily="34" charset="-122"/>
                <a:cs typeface="Noto Sans KR" pitchFamily="34" charset="-120"/>
              </a:rPr>
              <a:t>면적</a:t>
            </a:r>
            <a:r>
              <a:rPr lang="en-US" sz="1200" dirty="0" smtClean="0">
                <a:solidFill>
                  <a:srgbClr val="475569"/>
                </a:solidFill>
                <a:latin typeface="Noto Sans KR" pitchFamily="34" charset="0"/>
                <a:ea typeface="Noto Sans KR" pitchFamily="34" charset="-122"/>
                <a:cs typeface="Noto Sans KR" pitchFamily="34" charset="-120"/>
              </a:rPr>
              <a:t>.</a:t>
            </a:r>
            <a:br>
              <a:rPr lang="en-US" sz="1200" dirty="0" smtClean="0">
                <a:solidFill>
                  <a:srgbClr val="475569"/>
                </a:solidFill>
                <a:latin typeface="Noto Sans KR" pitchFamily="34" charset="0"/>
                <a:ea typeface="Noto Sans KR" pitchFamily="34" charset="-122"/>
                <a:cs typeface="Noto Sans KR" pitchFamily="34" charset="-120"/>
              </a:rPr>
            </a:br>
            <a:r>
              <a:rPr lang="en-US" sz="1200" dirty="0" err="1" smtClean="0">
                <a:solidFill>
                  <a:srgbClr val="475569"/>
                </a:solidFill>
                <a:latin typeface="Noto Sans KR" pitchFamily="34" charset="0"/>
                <a:ea typeface="Noto Sans KR" pitchFamily="34" charset="-122"/>
                <a:cs typeface="Noto Sans KR" pitchFamily="34" charset="-120"/>
              </a:rPr>
              <a:t>불균형</a:t>
            </a:r>
            <a:r>
              <a:rPr lang="en-US" sz="1200" dirty="0" smtClean="0">
                <a:solidFill>
                  <a:srgbClr val="475569"/>
                </a:solidFill>
                <a:latin typeface="Noto Sans KR" pitchFamily="34" charset="0"/>
                <a:ea typeface="Noto Sans KR" pitchFamily="34" charset="-122"/>
                <a:cs typeface="Noto Sans KR" pitchFamily="34" charset="-120"/>
              </a:rPr>
              <a:t> </a:t>
            </a:r>
            <a:r>
              <a:rPr lang="en-US" sz="1200" dirty="0">
                <a:solidFill>
                  <a:srgbClr val="475569"/>
                </a:solidFill>
                <a:latin typeface="Noto Sans KR" pitchFamily="34" charset="0"/>
                <a:ea typeface="Noto Sans KR" pitchFamily="34" charset="-122"/>
                <a:cs typeface="Noto Sans KR" pitchFamily="34" charset="-120"/>
              </a:rPr>
              <a:t>데이터에 효과적</a:t>
            </a:r>
            <a:endParaRPr lang="en-US" sz="1200" dirty="0"/>
          </a:p>
        </p:txBody>
      </p:sp>
      <p:sp>
        <p:nvSpPr>
          <p:cNvPr id="49" name="Shape 35"/>
          <p:cNvSpPr/>
          <p:nvPr/>
        </p:nvSpPr>
        <p:spPr>
          <a:xfrm>
            <a:off x="6286500" y="4856678"/>
            <a:ext cx="2657246" cy="724205"/>
          </a:xfrm>
          <a:prstGeom prst="roundRect">
            <a:avLst>
              <a:gd name="adj" fmla="val 9968"/>
            </a:avLst>
          </a:prstGeom>
          <a:solidFill>
            <a:srgbClr val="FFFFFF"/>
          </a:solidFill>
          <a:ln/>
        </p:spPr>
      </p:sp>
      <p:sp>
        <p:nvSpPr>
          <p:cNvPr id="50" name="Shape 36"/>
          <p:cNvSpPr/>
          <p:nvPr/>
        </p:nvSpPr>
        <p:spPr>
          <a:xfrm>
            <a:off x="6286500" y="4856678"/>
            <a:ext cx="2657246" cy="28346"/>
          </a:xfrm>
          <a:prstGeom prst="roundRect">
            <a:avLst>
              <a:gd name="adj" fmla="val 254673"/>
            </a:avLst>
          </a:prstGeom>
          <a:solidFill>
            <a:srgbClr val="3B82F6"/>
          </a:solidFill>
          <a:ln w="12700">
            <a:solidFill>
              <a:srgbClr val="3B82F6">
                <a:alpha val="0"/>
              </a:srgbClr>
            </a:solidFill>
            <a:prstDash val="solid"/>
          </a:ln>
        </p:spPr>
      </p:sp>
      <p:sp>
        <p:nvSpPr>
          <p:cNvPr id="51" name="Text 37"/>
          <p:cNvSpPr txBox="1"/>
          <p:nvPr/>
        </p:nvSpPr>
        <p:spPr>
          <a:xfrm>
            <a:off x="6439205" y="5037729"/>
            <a:ext cx="2446934" cy="171907"/>
          </a:xfrm>
          <a:prstGeom prst="rect">
            <a:avLst/>
          </a:prstGeom>
          <a:noFill/>
          <a:ln/>
        </p:spPr>
        <p:txBody>
          <a:bodyPr wrap="square" lIns="0" tIns="0" rIns="0" bIns="0" rtlCol="0" anchor="ctr"/>
          <a:lstStyle/>
          <a:p>
            <a:pPr marL="0" indent="0" algn="l">
              <a:buNone/>
            </a:pPr>
            <a:r>
              <a:rPr lang="en-US" sz="1600" b="1" dirty="0">
                <a:solidFill>
                  <a:srgbClr val="64748B"/>
                </a:solidFill>
                <a:latin typeface="Noto Sans KR" pitchFamily="34" charset="0"/>
                <a:ea typeface="Noto Sans KR" pitchFamily="34" charset="-122"/>
                <a:cs typeface="Noto Sans KR" pitchFamily="34" charset="-120"/>
              </a:rPr>
              <a:t>Accuracy</a:t>
            </a:r>
            <a:endParaRPr lang="en-US" sz="1600" dirty="0"/>
          </a:p>
        </p:txBody>
      </p:sp>
      <p:sp>
        <p:nvSpPr>
          <p:cNvPr id="52" name="Text 38"/>
          <p:cNvSpPr txBox="1"/>
          <p:nvPr/>
        </p:nvSpPr>
        <p:spPr>
          <a:xfrm>
            <a:off x="6439205" y="5266329"/>
            <a:ext cx="2541118" cy="248740"/>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전체 예측 중 정확히 분류된 비율</a:t>
            </a:r>
            <a:endParaRPr lang="en-US" sz="1200" dirty="0"/>
          </a:p>
        </p:txBody>
      </p:sp>
      <p:sp>
        <p:nvSpPr>
          <p:cNvPr id="53" name="Shape 39"/>
          <p:cNvSpPr/>
          <p:nvPr/>
        </p:nvSpPr>
        <p:spPr>
          <a:xfrm>
            <a:off x="9058046" y="4856678"/>
            <a:ext cx="2657246" cy="724205"/>
          </a:xfrm>
          <a:prstGeom prst="roundRect">
            <a:avLst>
              <a:gd name="adj" fmla="val 9968"/>
            </a:avLst>
          </a:prstGeom>
          <a:solidFill>
            <a:srgbClr val="FFFFFF"/>
          </a:solidFill>
          <a:ln/>
        </p:spPr>
      </p:sp>
      <p:sp>
        <p:nvSpPr>
          <p:cNvPr id="54" name="Shape 40"/>
          <p:cNvSpPr/>
          <p:nvPr/>
        </p:nvSpPr>
        <p:spPr>
          <a:xfrm>
            <a:off x="9058046" y="4856678"/>
            <a:ext cx="2657246" cy="28346"/>
          </a:xfrm>
          <a:prstGeom prst="roundRect">
            <a:avLst>
              <a:gd name="adj" fmla="val 254673"/>
            </a:avLst>
          </a:prstGeom>
          <a:solidFill>
            <a:srgbClr val="3B82F6"/>
          </a:solidFill>
          <a:ln w="12700">
            <a:solidFill>
              <a:srgbClr val="3B82F6">
                <a:alpha val="0"/>
              </a:srgbClr>
            </a:solidFill>
            <a:prstDash val="solid"/>
          </a:ln>
        </p:spPr>
      </p:sp>
      <p:sp>
        <p:nvSpPr>
          <p:cNvPr id="55" name="Text 41"/>
          <p:cNvSpPr txBox="1"/>
          <p:nvPr/>
        </p:nvSpPr>
        <p:spPr>
          <a:xfrm>
            <a:off x="9210751" y="5037729"/>
            <a:ext cx="2446934" cy="171907"/>
          </a:xfrm>
          <a:prstGeom prst="rect">
            <a:avLst/>
          </a:prstGeom>
          <a:noFill/>
          <a:ln/>
        </p:spPr>
        <p:txBody>
          <a:bodyPr wrap="square" lIns="0" tIns="0" rIns="0" bIns="0" rtlCol="0" anchor="ctr"/>
          <a:lstStyle/>
          <a:p>
            <a:pPr marL="0" indent="0" algn="l">
              <a:buNone/>
            </a:pPr>
            <a:r>
              <a:rPr lang="en-US" sz="1600" b="1" dirty="0">
                <a:solidFill>
                  <a:srgbClr val="64748B"/>
                </a:solidFill>
                <a:latin typeface="Noto Sans KR" pitchFamily="34" charset="0"/>
                <a:ea typeface="Noto Sans KR" pitchFamily="34" charset="-122"/>
                <a:cs typeface="Noto Sans KR" pitchFamily="34" charset="-120"/>
              </a:rPr>
              <a:t>F1 Score</a:t>
            </a:r>
            <a:endParaRPr lang="en-US" sz="1600" dirty="0"/>
          </a:p>
        </p:txBody>
      </p:sp>
      <p:sp>
        <p:nvSpPr>
          <p:cNvPr id="56" name="Text 42"/>
          <p:cNvSpPr txBox="1"/>
          <p:nvPr/>
        </p:nvSpPr>
        <p:spPr>
          <a:xfrm>
            <a:off x="9210751" y="5266329"/>
            <a:ext cx="2446934" cy="248740"/>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Precision과 Recall의 조화 평균</a:t>
            </a:r>
            <a:endParaRPr lang="en-US" sz="1200" dirty="0"/>
          </a:p>
        </p:txBody>
      </p:sp>
      <p:sp>
        <p:nvSpPr>
          <p:cNvPr id="57" name="Text 43"/>
          <p:cNvSpPr txBox="1"/>
          <p:nvPr/>
        </p:nvSpPr>
        <p:spPr>
          <a:xfrm>
            <a:off x="6667805" y="5615462"/>
            <a:ext cx="5238598" cy="342900"/>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데이터 분할</a:t>
            </a:r>
            <a:endParaRPr lang="en-US" sz="2400" dirty="0"/>
          </a:p>
        </p:txBody>
      </p:sp>
      <p:pic>
        <p:nvPicPr>
          <p:cNvPr id="58" name="Image 12" descr="preencoded.png"/>
          <p:cNvPicPr>
            <a:picLocks noChangeAspect="1"/>
          </p:cNvPicPr>
          <p:nvPr/>
        </p:nvPicPr>
        <p:blipFill>
          <a:blip r:embed="rId11"/>
          <a:srcRect/>
          <a:stretch/>
        </p:blipFill>
        <p:spPr>
          <a:xfrm>
            <a:off x="6286500" y="5653867"/>
            <a:ext cx="267005" cy="267005"/>
          </a:xfrm>
          <a:prstGeom prst="rect">
            <a:avLst/>
          </a:prstGeom>
        </p:spPr>
      </p:pic>
      <p:sp>
        <p:nvSpPr>
          <p:cNvPr id="59" name="Shape 44"/>
          <p:cNvSpPr/>
          <p:nvPr/>
        </p:nvSpPr>
        <p:spPr>
          <a:xfrm>
            <a:off x="6286500" y="6072663"/>
            <a:ext cx="5429707" cy="616138"/>
          </a:xfrm>
          <a:prstGeom prst="roundRect">
            <a:avLst>
              <a:gd name="adj" fmla="val 7378"/>
            </a:avLst>
          </a:prstGeom>
          <a:solidFill>
            <a:srgbClr val="FFFFFF"/>
          </a:solidFill>
          <a:ln/>
          <a:effectLst>
            <a:outerShdw blurRad="76200" dist="25400" dir="16200000" algn="bl" rotWithShape="0">
              <a:srgbClr val="000000">
                <a:alpha val="8000"/>
              </a:srgbClr>
            </a:outerShdw>
          </a:effectLst>
        </p:spPr>
      </p:sp>
      <p:sp>
        <p:nvSpPr>
          <p:cNvPr id="60" name="Shape 45"/>
          <p:cNvSpPr/>
          <p:nvPr/>
        </p:nvSpPr>
        <p:spPr>
          <a:xfrm>
            <a:off x="6286500" y="6072663"/>
            <a:ext cx="38405" cy="616138"/>
          </a:xfrm>
          <a:prstGeom prst="roundRect">
            <a:avLst>
              <a:gd name="adj" fmla="val 186740"/>
            </a:avLst>
          </a:prstGeom>
          <a:solidFill>
            <a:srgbClr val="1A355B"/>
          </a:solidFill>
          <a:ln w="12700">
            <a:solidFill>
              <a:srgbClr val="1A355B">
                <a:alpha val="0"/>
              </a:srgbClr>
            </a:solidFill>
            <a:prstDash val="solid"/>
          </a:ln>
        </p:spPr>
      </p:sp>
      <p:sp>
        <p:nvSpPr>
          <p:cNvPr id="61" name="Text 46"/>
          <p:cNvSpPr txBox="1"/>
          <p:nvPr/>
        </p:nvSpPr>
        <p:spPr>
          <a:xfrm>
            <a:off x="6468466" y="6174060"/>
            <a:ext cx="5104180" cy="431697"/>
          </a:xfrm>
          <a:prstGeom prst="rect">
            <a:avLst/>
          </a:prstGeom>
          <a:noFill/>
          <a:ln/>
        </p:spPr>
        <p:txBody>
          <a:bodyPr wrap="square" lIns="0" tIns="0" rIns="0" bIns="0" rtlCol="0" anchor="t"/>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Scaffold Splitting</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방식으로</a:t>
            </a:r>
            <a:r>
              <a:rPr lang="en-US" sz="1400" dirty="0">
                <a:solidFill>
                  <a:srgbClr val="334155"/>
                </a:solidFill>
                <a:latin typeface="Noto Sans KR" pitchFamily="34" charset="0"/>
                <a:ea typeface="Noto Sans KR" pitchFamily="34" charset="-122"/>
                <a:cs typeface="Noto Sans KR" pitchFamily="34" charset="-120"/>
              </a:rPr>
              <a:t> 분자 골격 </a:t>
            </a:r>
            <a:r>
              <a:rPr lang="en-US" sz="1400" dirty="0" err="1">
                <a:solidFill>
                  <a:srgbClr val="334155"/>
                </a:solidFill>
                <a:latin typeface="Noto Sans KR" pitchFamily="34" charset="0"/>
                <a:ea typeface="Noto Sans KR" pitchFamily="34" charset="-122"/>
                <a:cs typeface="Noto Sans KR" pitchFamily="34" charset="-120"/>
              </a:rPr>
              <a:t>다양성을</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보장</a:t>
            </a:r>
            <a:endParaRPr lang="en-US" sz="1400" dirty="0">
              <a:solidFill>
                <a:srgbClr val="334155"/>
              </a:solidFill>
              <a:latin typeface="Noto Sans KR" pitchFamily="34" charset="0"/>
              <a:ea typeface="Noto Sans KR" pitchFamily="34" charset="-122"/>
              <a:cs typeface="Noto Sans KR" pitchFamily="34" charset="-120"/>
            </a:endParaRPr>
          </a:p>
          <a:p>
            <a:pPr marL="0" indent="0" algn="l">
              <a:buNone/>
            </a:pPr>
            <a:r>
              <a:rPr lang="en-US" sz="1400" dirty="0" err="1">
                <a:solidFill>
                  <a:srgbClr val="334155"/>
                </a:solidFill>
                <a:latin typeface="Noto Sans KR" pitchFamily="34" charset="0"/>
                <a:ea typeface="Noto Sans KR" pitchFamily="34" charset="-122"/>
                <a:cs typeface="Noto Sans KR" pitchFamily="34" charset="-120"/>
              </a:rPr>
              <a:t>훈련:검증:테스트</a:t>
            </a:r>
            <a:r>
              <a:rPr lang="en-US" sz="1400" dirty="0">
                <a:solidFill>
                  <a:srgbClr val="334155"/>
                </a:solidFill>
                <a:latin typeface="Noto Sans KR" pitchFamily="34" charset="0"/>
                <a:ea typeface="Noto Sans KR" pitchFamily="34" charset="-122"/>
                <a:cs typeface="Noto Sans KR" pitchFamily="34" charset="-120"/>
              </a:rPr>
              <a:t> = </a:t>
            </a:r>
            <a:r>
              <a:rPr lang="en-US" sz="1400" b="1" dirty="0">
                <a:solidFill>
                  <a:srgbClr val="FF0000"/>
                </a:solidFill>
                <a:latin typeface="Noto Sans KR" pitchFamily="34" charset="0"/>
                <a:ea typeface="Noto Sans KR" pitchFamily="34" charset="-122"/>
                <a:cs typeface="Noto Sans KR" pitchFamily="34" charset="-120"/>
              </a:rPr>
              <a:t>80:10:10</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비율로</a:t>
            </a:r>
            <a:r>
              <a:rPr lang="en-US" sz="1400" dirty="0">
                <a:solidFill>
                  <a:srgbClr val="334155"/>
                </a:solidFill>
                <a:latin typeface="Noto Sans KR" pitchFamily="34" charset="0"/>
                <a:ea typeface="Noto Sans KR" pitchFamily="34" charset="-122"/>
                <a:cs typeface="Noto Sans KR" pitchFamily="34" charset="-120"/>
              </a:rPr>
              <a:t> </a:t>
            </a:r>
            <a:r>
              <a:rPr lang="en-US" sz="1400" dirty="0" err="1">
                <a:solidFill>
                  <a:srgbClr val="334155"/>
                </a:solidFill>
                <a:latin typeface="Noto Sans KR" pitchFamily="34" charset="0"/>
                <a:ea typeface="Noto Sans KR" pitchFamily="34" charset="-122"/>
                <a:cs typeface="Noto Sans KR" pitchFamily="34" charset="-120"/>
              </a:rPr>
              <a:t>분할</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Shape 2"/>
          <p:cNvSpPr/>
          <p:nvPr/>
        </p:nvSpPr>
        <p:spPr>
          <a:xfrm>
            <a:off x="476402" y="228600"/>
            <a:ext cx="886054" cy="381305"/>
          </a:xfrm>
          <a:prstGeom prst="roundRect">
            <a:avLst>
              <a:gd name="adj" fmla="val 119904"/>
            </a:avLst>
          </a:prstGeom>
          <a:solidFill>
            <a:srgbClr val="3B82F6"/>
          </a:solidFill>
          <a:ln w="12700">
            <a:solidFill>
              <a:srgbClr val="FFFFFF">
                <a:alpha val="0"/>
              </a:srgbClr>
            </a:solidFill>
            <a:prstDash val="solid"/>
          </a:ln>
        </p:spPr>
      </p:sp>
      <p:sp>
        <p:nvSpPr>
          <p:cNvPr id="5" name="Text 3"/>
          <p:cNvSpPr txBox="1"/>
          <p:nvPr/>
        </p:nvSpPr>
        <p:spPr>
          <a:xfrm>
            <a:off x="666598" y="304495"/>
            <a:ext cx="600761" cy="228600"/>
          </a:xfrm>
          <a:prstGeom prst="rect">
            <a:avLst/>
          </a:prstGeom>
          <a:noFill/>
          <a:ln/>
        </p:spPr>
        <p:txBody>
          <a:bodyPr wrap="square" lIns="0" tIns="0" rIns="0" bIns="0" rtlCol="0" anchor="ctr"/>
          <a:lstStyle/>
          <a:p>
            <a:pPr marL="0" indent="0" algn="l">
              <a:buNone/>
            </a:pPr>
            <a:r>
              <a:rPr lang="en-US" sz="1200" b="1" kern="0" spc="38" dirty="0">
                <a:solidFill>
                  <a:srgbClr val="FFFFFF"/>
                </a:solidFill>
                <a:latin typeface="Noto Sans KR" pitchFamily="34" charset="0"/>
                <a:ea typeface="Noto Sans KR" pitchFamily="34" charset="-122"/>
                <a:cs typeface="Noto Sans KR" pitchFamily="34" charset="-120"/>
              </a:rPr>
              <a:t>Step 1</a:t>
            </a:r>
            <a:endParaRPr lang="en-US" sz="1200" dirty="0"/>
          </a:p>
        </p:txBody>
      </p:sp>
      <p:sp>
        <p:nvSpPr>
          <p:cNvPr id="6" name="Text 4"/>
          <p:cNvSpPr txBox="1"/>
          <p:nvPr/>
        </p:nvSpPr>
        <p:spPr>
          <a:xfrm>
            <a:off x="1545336" y="190195"/>
            <a:ext cx="37243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종간 유전자 상동성 분석</a:t>
            </a:r>
            <a:endParaRPr lang="en-US" sz="2400" dirty="0"/>
          </a:p>
        </p:txBody>
      </p:sp>
      <p:pic>
        <p:nvPicPr>
          <p:cNvPr id="7" name="Image 0" descr="preencoded.png"/>
          <p:cNvPicPr>
            <a:picLocks noChangeAspect="1"/>
          </p:cNvPicPr>
          <p:nvPr/>
        </p:nvPicPr>
        <p:blipFill>
          <a:blip r:embed="rId3"/>
          <a:srcRect l="-107" r="-107"/>
          <a:stretch/>
        </p:blipFill>
        <p:spPr>
          <a:xfrm>
            <a:off x="11449202" y="286207"/>
            <a:ext cx="267005" cy="304495"/>
          </a:xfrm>
          <a:prstGeom prst="rect">
            <a:avLst/>
          </a:prstGeom>
        </p:spPr>
      </p:pic>
      <p:sp>
        <p:nvSpPr>
          <p:cNvPr id="8" name="Shape 5"/>
          <p:cNvSpPr/>
          <p:nvPr/>
        </p:nvSpPr>
        <p:spPr>
          <a:xfrm>
            <a:off x="4764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9" name="Shape 6"/>
          <p:cNvSpPr/>
          <p:nvPr/>
        </p:nvSpPr>
        <p:spPr>
          <a:xfrm>
            <a:off x="4764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0" name="Image 1" descr="preencoded.png"/>
          <p:cNvPicPr>
            <a:picLocks noChangeAspect="1"/>
          </p:cNvPicPr>
          <p:nvPr/>
        </p:nvPicPr>
        <p:blipFill>
          <a:blip r:embed="rId4"/>
          <a:srcRect l="-27" r="-27"/>
          <a:stretch/>
        </p:blipFill>
        <p:spPr>
          <a:xfrm>
            <a:off x="1423721" y="1595628"/>
            <a:ext cx="428854" cy="342900"/>
          </a:xfrm>
          <a:prstGeom prst="rect">
            <a:avLst/>
          </a:prstGeom>
        </p:spPr>
      </p:pic>
      <p:sp>
        <p:nvSpPr>
          <p:cNvPr id="11" name="Text 7"/>
          <p:cNvSpPr txBox="1"/>
          <p:nvPr/>
        </p:nvSpPr>
        <p:spPr>
          <a:xfrm>
            <a:off x="1137970" y="2093061"/>
            <a:ext cx="1012241" cy="265176"/>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Mtb 유전자</a:t>
            </a:r>
            <a:endParaRPr lang="en-US" sz="1600" dirty="0"/>
          </a:p>
        </p:txBody>
      </p:sp>
      <p:sp>
        <p:nvSpPr>
          <p:cNvPr id="12" name="Text 8"/>
          <p:cNvSpPr txBox="1"/>
          <p:nvPr/>
        </p:nvSpPr>
        <p:spPr>
          <a:xfrm>
            <a:off x="1060704" y="2419502"/>
            <a:ext cx="1163117"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152개 필수 유전자</a:t>
            </a:r>
            <a:endParaRPr lang="en-US" sz="1050" dirty="0"/>
          </a:p>
        </p:txBody>
      </p:sp>
      <p:pic>
        <p:nvPicPr>
          <p:cNvPr id="13" name="Image 2" descr="preencoded.png"/>
          <p:cNvPicPr>
            <a:picLocks noChangeAspect="1"/>
          </p:cNvPicPr>
          <p:nvPr/>
        </p:nvPicPr>
        <p:blipFill>
          <a:blip r:embed="rId5"/>
          <a:srcRect l="-107" r="-107"/>
          <a:stretch/>
        </p:blipFill>
        <p:spPr>
          <a:xfrm>
            <a:off x="2991002" y="1873606"/>
            <a:ext cx="267005" cy="304495"/>
          </a:xfrm>
          <a:prstGeom prst="rect">
            <a:avLst/>
          </a:prstGeom>
        </p:spPr>
      </p:pic>
      <p:sp>
        <p:nvSpPr>
          <p:cNvPr id="14" name="Shape 9"/>
          <p:cNvSpPr/>
          <p:nvPr/>
        </p:nvSpPr>
        <p:spPr>
          <a:xfrm>
            <a:off x="34482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15" name="Shape 10"/>
          <p:cNvSpPr/>
          <p:nvPr/>
        </p:nvSpPr>
        <p:spPr>
          <a:xfrm>
            <a:off x="34482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6" name="Image 3" descr="preencoded.png"/>
          <p:cNvPicPr>
            <a:picLocks noChangeAspect="1"/>
          </p:cNvPicPr>
          <p:nvPr/>
        </p:nvPicPr>
        <p:blipFill>
          <a:blip r:embed="rId6"/>
          <a:srcRect/>
          <a:stretch/>
        </p:blipFill>
        <p:spPr>
          <a:xfrm>
            <a:off x="4438498" y="1595628"/>
            <a:ext cx="342900" cy="342900"/>
          </a:xfrm>
          <a:prstGeom prst="rect">
            <a:avLst/>
          </a:prstGeom>
        </p:spPr>
      </p:pic>
      <p:sp>
        <p:nvSpPr>
          <p:cNvPr id="17" name="Text 11"/>
          <p:cNvSpPr txBox="1"/>
          <p:nvPr/>
        </p:nvSpPr>
        <p:spPr>
          <a:xfrm>
            <a:off x="3762880" y="2093061"/>
            <a:ext cx="1711210" cy="267004"/>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BLAST 상동성 검색</a:t>
            </a:r>
            <a:endParaRPr lang="en-US" sz="1600" dirty="0"/>
          </a:p>
        </p:txBody>
      </p:sp>
      <p:sp>
        <p:nvSpPr>
          <p:cNvPr id="18" name="Text 12"/>
          <p:cNvSpPr txBox="1"/>
          <p:nvPr/>
        </p:nvSpPr>
        <p:spPr>
          <a:xfrm>
            <a:off x="4118458" y="2419502"/>
            <a:ext cx="986638"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E-value &lt; 0.01</a:t>
            </a:r>
            <a:endParaRPr lang="en-US" sz="1050" dirty="0"/>
          </a:p>
        </p:txBody>
      </p:sp>
      <p:pic>
        <p:nvPicPr>
          <p:cNvPr id="19" name="Image 4" descr="preencoded.png"/>
          <p:cNvPicPr>
            <a:picLocks noChangeAspect="1"/>
          </p:cNvPicPr>
          <p:nvPr/>
        </p:nvPicPr>
        <p:blipFill>
          <a:blip r:embed="rId5"/>
          <a:srcRect l="-107" r="-107"/>
          <a:stretch/>
        </p:blipFill>
        <p:spPr>
          <a:xfrm>
            <a:off x="5962802" y="1873606"/>
            <a:ext cx="267005" cy="304495"/>
          </a:xfrm>
          <a:prstGeom prst="rect">
            <a:avLst/>
          </a:prstGeom>
        </p:spPr>
      </p:pic>
      <p:sp>
        <p:nvSpPr>
          <p:cNvPr id="20" name="Shape 13"/>
          <p:cNvSpPr/>
          <p:nvPr/>
        </p:nvSpPr>
        <p:spPr>
          <a:xfrm>
            <a:off x="64200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64200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2" name="Image 5" descr="preencoded.png"/>
          <p:cNvPicPr>
            <a:picLocks noChangeAspect="1"/>
          </p:cNvPicPr>
          <p:nvPr/>
        </p:nvPicPr>
        <p:blipFill>
          <a:blip r:embed="rId7"/>
          <a:srcRect l="-607" r="-607"/>
          <a:stretch/>
        </p:blipFill>
        <p:spPr>
          <a:xfrm>
            <a:off x="7386523" y="1595628"/>
            <a:ext cx="390449" cy="342900"/>
          </a:xfrm>
          <a:prstGeom prst="rect">
            <a:avLst/>
          </a:prstGeom>
        </p:spPr>
      </p:pic>
      <p:sp>
        <p:nvSpPr>
          <p:cNvPr id="23" name="Text 15"/>
          <p:cNvSpPr txBox="1"/>
          <p:nvPr/>
        </p:nvSpPr>
        <p:spPr>
          <a:xfrm>
            <a:off x="6592823" y="2096115"/>
            <a:ext cx="2068373"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E.coli K12 상동 유전자</a:t>
            </a:r>
            <a:endParaRPr lang="en-US" sz="1600" dirty="0"/>
          </a:p>
        </p:txBody>
      </p:sp>
      <p:sp>
        <p:nvSpPr>
          <p:cNvPr id="24" name="Text 16"/>
          <p:cNvSpPr txBox="1"/>
          <p:nvPr/>
        </p:nvSpPr>
        <p:spPr>
          <a:xfrm>
            <a:off x="7084771" y="2419502"/>
            <a:ext cx="1000354"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122개 매핑 완료</a:t>
            </a:r>
            <a:endParaRPr lang="en-US" sz="1050" dirty="0"/>
          </a:p>
        </p:txBody>
      </p:sp>
      <p:pic>
        <p:nvPicPr>
          <p:cNvPr id="25" name="Image 6" descr="preencoded.png"/>
          <p:cNvPicPr>
            <a:picLocks noChangeAspect="1"/>
          </p:cNvPicPr>
          <p:nvPr/>
        </p:nvPicPr>
        <p:blipFill>
          <a:blip r:embed="rId5"/>
          <a:srcRect l="-107" r="-107"/>
          <a:stretch/>
        </p:blipFill>
        <p:spPr>
          <a:xfrm>
            <a:off x="8934602" y="1873606"/>
            <a:ext cx="267005" cy="304495"/>
          </a:xfrm>
          <a:prstGeom prst="rect">
            <a:avLst/>
          </a:prstGeom>
        </p:spPr>
      </p:pic>
      <p:sp>
        <p:nvSpPr>
          <p:cNvPr id="26" name="Shape 17"/>
          <p:cNvSpPr/>
          <p:nvPr/>
        </p:nvSpPr>
        <p:spPr>
          <a:xfrm>
            <a:off x="93918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7" name="Shape 18"/>
          <p:cNvSpPr/>
          <p:nvPr/>
        </p:nvSpPr>
        <p:spPr>
          <a:xfrm>
            <a:off x="93918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8" name="Image 7" descr="preencoded.png"/>
          <p:cNvPicPr>
            <a:picLocks noChangeAspect="1"/>
          </p:cNvPicPr>
          <p:nvPr/>
        </p:nvPicPr>
        <p:blipFill>
          <a:blip r:embed="rId8"/>
          <a:srcRect t="-45" b="-45"/>
          <a:stretch/>
        </p:blipFill>
        <p:spPr>
          <a:xfrm>
            <a:off x="10425074" y="1595628"/>
            <a:ext cx="256946" cy="342900"/>
          </a:xfrm>
          <a:prstGeom prst="rect">
            <a:avLst/>
          </a:prstGeom>
        </p:spPr>
      </p:pic>
      <p:sp>
        <p:nvSpPr>
          <p:cNvPr id="29" name="Text 19"/>
          <p:cNvSpPr txBox="1"/>
          <p:nvPr/>
        </p:nvSpPr>
        <p:spPr>
          <a:xfrm>
            <a:off x="9784465" y="2086339"/>
            <a:ext cx="1549201" cy="245058"/>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의미론적 유사도</a:t>
            </a:r>
            <a:endParaRPr lang="en-US" sz="1600" dirty="0"/>
          </a:p>
        </p:txBody>
      </p:sp>
      <p:sp>
        <p:nvSpPr>
          <p:cNvPr id="30" name="Text 20"/>
          <p:cNvSpPr txBox="1"/>
          <p:nvPr/>
        </p:nvSpPr>
        <p:spPr>
          <a:xfrm>
            <a:off x="10157155" y="2419502"/>
            <a:ext cx="801929"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GO 기반 계산</a:t>
            </a:r>
            <a:endParaRPr lang="en-US" sz="1050" dirty="0"/>
          </a:p>
        </p:txBody>
      </p:sp>
      <p:sp>
        <p:nvSpPr>
          <p:cNvPr id="31" name="Shape 21"/>
          <p:cNvSpPr/>
          <p:nvPr/>
        </p:nvSpPr>
        <p:spPr>
          <a:xfrm>
            <a:off x="476402"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32" name="Shape 22"/>
          <p:cNvSpPr/>
          <p:nvPr/>
        </p:nvSpPr>
        <p:spPr>
          <a:xfrm>
            <a:off x="476402"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33" name="Image 8" descr="preencoded.png"/>
          <p:cNvPicPr>
            <a:picLocks noChangeAspect="1"/>
          </p:cNvPicPr>
          <p:nvPr/>
        </p:nvPicPr>
        <p:blipFill>
          <a:blip r:embed="rId9"/>
          <a:srcRect l="-57" r="-57"/>
          <a:stretch/>
        </p:blipFill>
        <p:spPr>
          <a:xfrm>
            <a:off x="743407" y="3510382"/>
            <a:ext cx="200254" cy="228600"/>
          </a:xfrm>
          <a:prstGeom prst="rect">
            <a:avLst/>
          </a:prstGeom>
        </p:spPr>
      </p:pic>
      <p:sp>
        <p:nvSpPr>
          <p:cNvPr id="34" name="Text 23"/>
          <p:cNvSpPr txBox="1"/>
          <p:nvPr/>
        </p:nvSpPr>
        <p:spPr>
          <a:xfrm>
            <a:off x="1057046" y="3486607"/>
            <a:ext cx="2113178"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BLAST 단백질 서열 정렬</a:t>
            </a:r>
            <a:endParaRPr lang="en-US" sz="1600" dirty="0"/>
          </a:p>
        </p:txBody>
      </p:sp>
      <p:pic>
        <p:nvPicPr>
          <p:cNvPr id="35" name="Image 9" descr="preencoded.png"/>
          <p:cNvPicPr>
            <a:picLocks noChangeAspect="1"/>
          </p:cNvPicPr>
          <p:nvPr/>
        </p:nvPicPr>
        <p:blipFill>
          <a:blip r:embed="rId10"/>
          <a:srcRect t="-194579" b="-194579"/>
          <a:stretch/>
        </p:blipFill>
        <p:spPr>
          <a:xfrm>
            <a:off x="743407" y="3995928"/>
            <a:ext cx="75895" cy="371246"/>
          </a:xfrm>
          <a:prstGeom prst="rect">
            <a:avLst/>
          </a:prstGeom>
        </p:spPr>
      </p:pic>
      <p:sp>
        <p:nvSpPr>
          <p:cNvPr id="36" name="Text 24"/>
          <p:cNvSpPr txBox="1"/>
          <p:nvPr/>
        </p:nvSpPr>
        <p:spPr>
          <a:xfrm>
            <a:off x="914400" y="3938321"/>
            <a:ext cx="455969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M. tuberculosis와 E. coli 간의 진화적 </a:t>
            </a:r>
            <a:r>
              <a:rPr lang="en-US" sz="1100" b="1" dirty="0">
                <a:solidFill>
                  <a:srgbClr val="FF0000"/>
                </a:solidFill>
                <a:latin typeface="Noto Sans KR" pitchFamily="34" charset="0"/>
                <a:ea typeface="Noto Sans KR" pitchFamily="34" charset="-122"/>
                <a:cs typeface="Noto Sans KR" pitchFamily="34" charset="-120"/>
              </a:rPr>
              <a:t>상동성(Homology) 분석</a:t>
            </a:r>
            <a:r>
              <a:rPr lang="en-US" sz="1100" dirty="0">
                <a:solidFill>
                  <a:srgbClr val="475569"/>
                </a:solidFill>
                <a:latin typeface="Noto Sans KR" pitchFamily="34" charset="0"/>
                <a:ea typeface="Noto Sans KR" pitchFamily="34" charset="-122"/>
                <a:cs typeface="Noto Sans KR" pitchFamily="34" charset="-120"/>
              </a:rPr>
              <a:t>을 통해 유전적 민감도 데이터의 교차 활용 기반 마련</a:t>
            </a:r>
            <a:endParaRPr lang="en-US" sz="1100" dirty="0"/>
          </a:p>
        </p:txBody>
      </p:sp>
      <p:pic>
        <p:nvPicPr>
          <p:cNvPr id="37" name="Image 10" descr="preencoded.png"/>
          <p:cNvPicPr>
            <a:picLocks noChangeAspect="1"/>
          </p:cNvPicPr>
          <p:nvPr/>
        </p:nvPicPr>
        <p:blipFill>
          <a:blip r:embed="rId10"/>
          <a:srcRect t="-194579" b="-194579"/>
          <a:stretch/>
        </p:blipFill>
        <p:spPr>
          <a:xfrm>
            <a:off x="743407" y="4519879"/>
            <a:ext cx="75895" cy="371246"/>
          </a:xfrm>
          <a:prstGeom prst="rect">
            <a:avLst/>
          </a:prstGeom>
        </p:spPr>
      </p:pic>
      <p:sp>
        <p:nvSpPr>
          <p:cNvPr id="38" name="Text 25"/>
          <p:cNvSpPr txBox="1"/>
          <p:nvPr/>
        </p:nvSpPr>
        <p:spPr>
          <a:xfrm>
            <a:off x="914400" y="4462272"/>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방법</a:t>
            </a:r>
            <a:r>
              <a:rPr lang="en-US" sz="1100" dirty="0">
                <a:solidFill>
                  <a:srgbClr val="475569"/>
                </a:solidFill>
                <a:latin typeface="Noto Sans KR" pitchFamily="34" charset="0"/>
                <a:ea typeface="Noto Sans KR" pitchFamily="34" charset="-122"/>
                <a:cs typeface="Noto Sans KR" pitchFamily="34" charset="-120"/>
              </a:rPr>
              <a:t>: NCBI BLAST를 활용한 단백질 서열 비교 분석 (RefSeq: NC_000962.3 vs NC_000913.3)</a:t>
            </a:r>
            <a:endParaRPr lang="en-US" sz="1100" dirty="0"/>
          </a:p>
        </p:txBody>
      </p:sp>
      <p:pic>
        <p:nvPicPr>
          <p:cNvPr id="39" name="Image 11" descr="preencoded.png"/>
          <p:cNvPicPr>
            <a:picLocks noChangeAspect="1"/>
          </p:cNvPicPr>
          <p:nvPr/>
        </p:nvPicPr>
        <p:blipFill>
          <a:blip r:embed="rId10"/>
          <a:srcRect t="-194579" b="-194579"/>
          <a:stretch/>
        </p:blipFill>
        <p:spPr>
          <a:xfrm>
            <a:off x="743407" y="5043830"/>
            <a:ext cx="75895" cy="371246"/>
          </a:xfrm>
          <a:prstGeom prst="rect">
            <a:avLst/>
          </a:prstGeom>
        </p:spPr>
      </p:pic>
      <p:sp>
        <p:nvSpPr>
          <p:cNvPr id="40" name="Text 26"/>
          <p:cNvSpPr txBox="1"/>
          <p:nvPr/>
        </p:nvSpPr>
        <p:spPr>
          <a:xfrm>
            <a:off x="914400" y="4986223"/>
            <a:ext cx="455969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임계값</a:t>
            </a:r>
            <a:r>
              <a:rPr lang="en-US" sz="1100" dirty="0">
                <a:solidFill>
                  <a:srgbClr val="475569"/>
                </a:solidFill>
                <a:latin typeface="Noto Sans KR" pitchFamily="34" charset="0"/>
                <a:ea typeface="Noto Sans KR" pitchFamily="34" charset="-122"/>
                <a:cs typeface="Noto Sans KR" pitchFamily="34" charset="-120"/>
              </a:rPr>
              <a:t>: Expectation value (E-value) &lt; 0.01로 설정하여 </a:t>
            </a:r>
            <a:r>
              <a:rPr lang="en-US" sz="1100" b="1" dirty="0">
                <a:solidFill>
                  <a:srgbClr val="FF0000"/>
                </a:solidFill>
                <a:latin typeface="Noto Sans KR" pitchFamily="34" charset="0"/>
                <a:ea typeface="Noto Sans KR" pitchFamily="34" charset="-122"/>
                <a:cs typeface="Noto Sans KR" pitchFamily="34" charset="-120"/>
              </a:rPr>
              <a:t>통계적으로 유의한 상동성 관계만 선별</a:t>
            </a:r>
            <a:endParaRPr lang="en-US" sz="1100" b="1" dirty="0">
              <a:solidFill>
                <a:srgbClr val="FF0000"/>
              </a:solidFill>
            </a:endParaRPr>
          </a:p>
        </p:txBody>
      </p:sp>
      <p:sp>
        <p:nvSpPr>
          <p:cNvPr id="41" name="Shape 27"/>
          <p:cNvSpPr/>
          <p:nvPr/>
        </p:nvSpPr>
        <p:spPr>
          <a:xfrm>
            <a:off x="743407" y="5586070"/>
            <a:ext cx="5009998" cy="685800"/>
          </a:xfrm>
          <a:prstGeom prst="roundRect">
            <a:avLst>
              <a:gd name="adj" fmla="val 11111"/>
            </a:avLst>
          </a:prstGeom>
          <a:solidFill>
            <a:srgbClr val="EFF6FF"/>
          </a:solidFill>
          <a:ln w="12700">
            <a:solidFill>
              <a:srgbClr val="BFDBFE"/>
            </a:solidFill>
            <a:prstDash val="solid"/>
          </a:ln>
        </p:spPr>
      </p:sp>
      <p:sp>
        <p:nvSpPr>
          <p:cNvPr id="42" name="Text 28"/>
          <p:cNvSpPr txBox="1"/>
          <p:nvPr/>
        </p:nvSpPr>
        <p:spPr>
          <a:xfrm>
            <a:off x="905256"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매핑 결과</a:t>
            </a:r>
            <a:endParaRPr lang="en-US" sz="1050" dirty="0"/>
          </a:p>
        </p:txBody>
      </p:sp>
      <p:sp>
        <p:nvSpPr>
          <p:cNvPr id="43" name="Text 29"/>
          <p:cNvSpPr txBox="1"/>
          <p:nvPr/>
        </p:nvSpPr>
        <p:spPr>
          <a:xfrm>
            <a:off x="905256"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152개 Mtb 유전자 → 122개 E.coli 상동 유전자</a:t>
            </a:r>
            <a:endParaRPr lang="en-US" sz="1600" dirty="0"/>
          </a:p>
        </p:txBody>
      </p:sp>
      <p:sp>
        <p:nvSpPr>
          <p:cNvPr id="44" name="Shape 30"/>
          <p:cNvSpPr/>
          <p:nvPr/>
        </p:nvSpPr>
        <p:spPr>
          <a:xfrm>
            <a:off x="6210605"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45" name="Shape 31"/>
          <p:cNvSpPr/>
          <p:nvPr/>
        </p:nvSpPr>
        <p:spPr>
          <a:xfrm>
            <a:off x="6210605"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46" name="Image 12" descr="preencoded.png"/>
          <p:cNvPicPr>
            <a:picLocks noChangeAspect="1"/>
          </p:cNvPicPr>
          <p:nvPr/>
        </p:nvPicPr>
        <p:blipFill>
          <a:blip r:embed="rId11"/>
          <a:srcRect t="-45" b="-45"/>
          <a:stretch/>
        </p:blipFill>
        <p:spPr>
          <a:xfrm>
            <a:off x="6476695" y="3510382"/>
            <a:ext cx="256946" cy="228600"/>
          </a:xfrm>
          <a:prstGeom prst="rect">
            <a:avLst/>
          </a:prstGeom>
        </p:spPr>
      </p:pic>
      <p:sp>
        <p:nvSpPr>
          <p:cNvPr id="47" name="Text 32"/>
          <p:cNvSpPr txBox="1"/>
          <p:nvPr/>
        </p:nvSpPr>
        <p:spPr>
          <a:xfrm>
            <a:off x="6848855" y="3486607"/>
            <a:ext cx="2662091"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GOSemSim 의미론적 유사도</a:t>
            </a:r>
            <a:endParaRPr lang="en-US" sz="1600" dirty="0"/>
          </a:p>
        </p:txBody>
      </p:sp>
      <p:pic>
        <p:nvPicPr>
          <p:cNvPr id="48" name="Image 13" descr="preencoded.png"/>
          <p:cNvPicPr>
            <a:picLocks noChangeAspect="1"/>
          </p:cNvPicPr>
          <p:nvPr/>
        </p:nvPicPr>
        <p:blipFill>
          <a:blip r:embed="rId10"/>
          <a:srcRect t="-194579" b="-194579"/>
          <a:stretch/>
        </p:blipFill>
        <p:spPr>
          <a:xfrm>
            <a:off x="6476695" y="3995928"/>
            <a:ext cx="75895" cy="371246"/>
          </a:xfrm>
          <a:prstGeom prst="rect">
            <a:avLst/>
          </a:prstGeom>
        </p:spPr>
      </p:pic>
      <p:sp>
        <p:nvSpPr>
          <p:cNvPr id="49" name="Text 33"/>
          <p:cNvSpPr txBox="1"/>
          <p:nvPr/>
        </p:nvSpPr>
        <p:spPr>
          <a:xfrm>
            <a:off x="6648602" y="3938321"/>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Gene Ontology (GO) 기반으로 </a:t>
            </a:r>
            <a:r>
              <a:rPr lang="en-US" sz="1100" b="1" dirty="0">
                <a:solidFill>
                  <a:srgbClr val="FF0000"/>
                </a:solidFill>
                <a:latin typeface="Noto Sans KR" pitchFamily="34" charset="0"/>
                <a:ea typeface="Noto Sans KR" pitchFamily="34" charset="-122"/>
                <a:cs typeface="Noto Sans KR" pitchFamily="34" charset="-120"/>
              </a:rPr>
              <a:t>유전자 간 기능적 유사도를 정량화</a:t>
            </a:r>
            <a:r>
              <a:rPr lang="en-US" sz="1100" dirty="0">
                <a:solidFill>
                  <a:srgbClr val="475569"/>
                </a:solidFill>
                <a:latin typeface="Noto Sans KR" pitchFamily="34" charset="0"/>
                <a:ea typeface="Noto Sans KR" pitchFamily="34" charset="-122"/>
                <a:cs typeface="Noto Sans KR" pitchFamily="34" charset="-120"/>
              </a:rPr>
              <a:t>하여 생물학적으로 의미 있는 군집화 준비</a:t>
            </a:r>
            <a:endParaRPr lang="en-US" sz="1100" dirty="0"/>
          </a:p>
        </p:txBody>
      </p:sp>
      <p:pic>
        <p:nvPicPr>
          <p:cNvPr id="50" name="Image 14" descr="preencoded.png"/>
          <p:cNvPicPr>
            <a:picLocks noChangeAspect="1"/>
          </p:cNvPicPr>
          <p:nvPr/>
        </p:nvPicPr>
        <p:blipFill>
          <a:blip r:embed="rId10"/>
          <a:srcRect t="-194579" b="-194579"/>
          <a:stretch/>
        </p:blipFill>
        <p:spPr>
          <a:xfrm>
            <a:off x="6476695" y="4519879"/>
            <a:ext cx="75895" cy="371246"/>
          </a:xfrm>
          <a:prstGeom prst="rect">
            <a:avLst/>
          </a:prstGeom>
        </p:spPr>
      </p:pic>
      <p:sp>
        <p:nvSpPr>
          <p:cNvPr id="51" name="Text 34"/>
          <p:cNvSpPr txBox="1"/>
          <p:nvPr/>
        </p:nvSpPr>
        <p:spPr>
          <a:xfrm>
            <a:off x="6648602" y="4462272"/>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데이터</a:t>
            </a:r>
            <a:r>
              <a:rPr lang="en-US" sz="1100" dirty="0">
                <a:solidFill>
                  <a:srgbClr val="475569"/>
                </a:solidFill>
                <a:latin typeface="Noto Sans KR" pitchFamily="34" charset="0"/>
                <a:ea typeface="Noto Sans KR" pitchFamily="34" charset="-122"/>
                <a:cs typeface="Noto Sans KR" pitchFamily="34" charset="-120"/>
              </a:rPr>
              <a:t>: Biological Process (BP) 카테고리의 GO </a:t>
            </a:r>
            <a:r>
              <a:rPr lang="en-US" sz="1100" dirty="0" err="1">
                <a:solidFill>
                  <a:srgbClr val="475569"/>
                </a:solidFill>
                <a:latin typeface="Noto Sans KR" pitchFamily="34" charset="0"/>
                <a:ea typeface="Noto Sans KR" pitchFamily="34" charset="-122"/>
                <a:cs typeface="Noto Sans KR" pitchFamily="34" charset="-120"/>
              </a:rPr>
              <a:t>주석</a:t>
            </a:r>
            <a:r>
              <a:rPr lang="en-US" sz="1100" dirty="0">
                <a:solidFill>
                  <a:srgbClr val="475569"/>
                </a:solidFill>
                <a:latin typeface="Noto Sans KR" pitchFamily="34" charset="0"/>
                <a:ea typeface="Noto Sans KR" pitchFamily="34" charset="-122"/>
                <a:cs typeface="Noto Sans KR" pitchFamily="34" charset="-120"/>
              </a:rPr>
              <a:t> </a:t>
            </a:r>
            <a:r>
              <a:rPr lang="en-US" sz="1100" dirty="0" err="1" smtClean="0">
                <a:solidFill>
                  <a:srgbClr val="475569"/>
                </a:solidFill>
                <a:latin typeface="Noto Sans KR" pitchFamily="34" charset="0"/>
                <a:ea typeface="Noto Sans KR" pitchFamily="34" charset="-122"/>
                <a:cs typeface="Noto Sans KR" pitchFamily="34" charset="-120"/>
              </a:rPr>
              <a:t>활용</a:t>
            </a:r>
            <a:endParaRPr lang="en-US" sz="1100" dirty="0" smtClean="0">
              <a:solidFill>
                <a:srgbClr val="475569"/>
              </a:solidFill>
              <a:latin typeface="Noto Sans KR" pitchFamily="34" charset="0"/>
              <a:ea typeface="Noto Sans KR" pitchFamily="34" charset="-122"/>
              <a:cs typeface="Noto Sans KR" pitchFamily="34" charset="-120"/>
            </a:endParaRPr>
          </a:p>
          <a:p>
            <a:pPr marL="0" indent="0" algn="l">
              <a:buNone/>
            </a:pPr>
            <a:r>
              <a:rPr lang="en-US" sz="1100" dirty="0" smtClean="0">
                <a:solidFill>
                  <a:srgbClr val="475569"/>
                </a:solidFill>
                <a:latin typeface="Noto Sans KR" pitchFamily="34" charset="0"/>
                <a:ea typeface="Noto Sans KR" pitchFamily="34" charset="-122"/>
                <a:cs typeface="Noto Sans KR" pitchFamily="34" charset="-120"/>
              </a:rPr>
              <a:t>(</a:t>
            </a:r>
            <a:r>
              <a:rPr lang="en-US" sz="1100" dirty="0">
                <a:solidFill>
                  <a:srgbClr val="475569"/>
                </a:solidFill>
                <a:latin typeface="Noto Sans KR" pitchFamily="34" charset="0"/>
                <a:ea typeface="Noto Sans KR" pitchFamily="34" charset="-122"/>
                <a:cs typeface="Noto Sans KR" pitchFamily="34" charset="-120"/>
              </a:rPr>
              <a:t>E. coli K12 OrgDb 패키지)</a:t>
            </a:r>
            <a:endParaRPr lang="en-US" sz="1100" dirty="0"/>
          </a:p>
        </p:txBody>
      </p:sp>
      <p:pic>
        <p:nvPicPr>
          <p:cNvPr id="52" name="Image 15" descr="preencoded.png"/>
          <p:cNvPicPr>
            <a:picLocks noChangeAspect="1"/>
          </p:cNvPicPr>
          <p:nvPr/>
        </p:nvPicPr>
        <p:blipFill>
          <a:blip r:embed="rId10"/>
          <a:srcRect t="-194579" b="-194579"/>
          <a:stretch/>
        </p:blipFill>
        <p:spPr>
          <a:xfrm>
            <a:off x="6476695" y="5043830"/>
            <a:ext cx="75895" cy="371246"/>
          </a:xfrm>
          <a:prstGeom prst="rect">
            <a:avLst/>
          </a:prstGeom>
        </p:spPr>
      </p:pic>
      <p:sp>
        <p:nvSpPr>
          <p:cNvPr id="53" name="Text 35"/>
          <p:cNvSpPr txBox="1"/>
          <p:nvPr/>
        </p:nvSpPr>
        <p:spPr>
          <a:xfrm>
            <a:off x="6648602" y="4986223"/>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알고리즘</a:t>
            </a:r>
            <a:r>
              <a:rPr lang="en-US" sz="1100" dirty="0">
                <a:solidFill>
                  <a:srgbClr val="475569"/>
                </a:solidFill>
                <a:latin typeface="Noto Sans KR" pitchFamily="34" charset="0"/>
                <a:ea typeface="Noto Sans KR" pitchFamily="34" charset="-122"/>
                <a:cs typeface="Noto Sans KR" pitchFamily="34" charset="-120"/>
              </a:rPr>
              <a:t>: Wang et al. 그래프 기반 의미론적 측정 방법으로 유전자 쌍 간 유사도 행렬 계산</a:t>
            </a:r>
            <a:endParaRPr lang="en-US" sz="1100" dirty="0"/>
          </a:p>
        </p:txBody>
      </p:sp>
      <p:sp>
        <p:nvSpPr>
          <p:cNvPr id="54" name="Shape 36"/>
          <p:cNvSpPr/>
          <p:nvPr/>
        </p:nvSpPr>
        <p:spPr>
          <a:xfrm>
            <a:off x="6476695" y="5586070"/>
            <a:ext cx="5009998" cy="685800"/>
          </a:xfrm>
          <a:prstGeom prst="roundRect">
            <a:avLst>
              <a:gd name="adj" fmla="val 11111"/>
            </a:avLst>
          </a:prstGeom>
          <a:solidFill>
            <a:srgbClr val="EFF6FF"/>
          </a:solidFill>
          <a:ln w="12700">
            <a:solidFill>
              <a:srgbClr val="BFDBFE"/>
            </a:solidFill>
            <a:prstDash val="solid"/>
          </a:ln>
        </p:spPr>
      </p:sp>
      <p:sp>
        <p:nvSpPr>
          <p:cNvPr id="55" name="Text 37"/>
          <p:cNvSpPr txBox="1"/>
          <p:nvPr/>
        </p:nvSpPr>
        <p:spPr>
          <a:xfrm>
            <a:off x="6638544"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군집화 대상</a:t>
            </a:r>
            <a:endParaRPr lang="en-US" sz="1050" dirty="0"/>
          </a:p>
        </p:txBody>
      </p:sp>
      <p:sp>
        <p:nvSpPr>
          <p:cNvPr id="56" name="Text 38"/>
          <p:cNvSpPr txBox="1"/>
          <p:nvPr/>
        </p:nvSpPr>
        <p:spPr>
          <a:xfrm>
            <a:off x="6638544"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107개 E.coli 상동 유전자 (GO 데이터 보유)</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Shape 2"/>
          <p:cNvSpPr/>
          <p:nvPr/>
        </p:nvSpPr>
        <p:spPr>
          <a:xfrm>
            <a:off x="476402" y="228600"/>
            <a:ext cx="886054" cy="381305"/>
          </a:xfrm>
          <a:prstGeom prst="roundRect">
            <a:avLst>
              <a:gd name="adj" fmla="val 119904"/>
            </a:avLst>
          </a:prstGeom>
          <a:solidFill>
            <a:srgbClr val="3B82F6"/>
          </a:solidFill>
          <a:ln w="12700">
            <a:solidFill>
              <a:srgbClr val="FFFFFF">
                <a:alpha val="0"/>
              </a:srgbClr>
            </a:solidFill>
            <a:prstDash val="solid"/>
          </a:ln>
        </p:spPr>
      </p:sp>
      <p:sp>
        <p:nvSpPr>
          <p:cNvPr id="5" name="Text 3"/>
          <p:cNvSpPr txBox="1"/>
          <p:nvPr/>
        </p:nvSpPr>
        <p:spPr>
          <a:xfrm>
            <a:off x="666598" y="304495"/>
            <a:ext cx="600761" cy="228600"/>
          </a:xfrm>
          <a:prstGeom prst="rect">
            <a:avLst/>
          </a:prstGeom>
          <a:noFill/>
          <a:ln/>
        </p:spPr>
        <p:txBody>
          <a:bodyPr wrap="square" lIns="0" tIns="0" rIns="0" bIns="0" rtlCol="0" anchor="ctr"/>
          <a:lstStyle/>
          <a:p>
            <a:pPr marL="0" indent="0" algn="l">
              <a:buNone/>
            </a:pPr>
            <a:r>
              <a:rPr lang="en-US" sz="1200" b="1" kern="0" spc="38" dirty="0">
                <a:solidFill>
                  <a:srgbClr val="FFFFFF"/>
                </a:solidFill>
                <a:latin typeface="Noto Sans KR" pitchFamily="34" charset="0"/>
                <a:ea typeface="Noto Sans KR" pitchFamily="34" charset="-122"/>
                <a:cs typeface="Noto Sans KR" pitchFamily="34" charset="-120"/>
              </a:rPr>
              <a:t>Step 2</a:t>
            </a:r>
            <a:endParaRPr lang="en-US" sz="1200" dirty="0"/>
          </a:p>
        </p:txBody>
      </p:sp>
      <p:sp>
        <p:nvSpPr>
          <p:cNvPr id="6" name="Text 4"/>
          <p:cNvSpPr txBox="1"/>
          <p:nvPr/>
        </p:nvSpPr>
        <p:spPr>
          <a:xfrm>
            <a:off x="1545336" y="190195"/>
            <a:ext cx="4206240"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계층적 군집화 및 기전 정의</a:t>
            </a:r>
            <a:endParaRPr lang="en-US" sz="2400" dirty="0"/>
          </a:p>
        </p:txBody>
      </p:sp>
      <p:pic>
        <p:nvPicPr>
          <p:cNvPr id="7" name="Image 0" descr="preencoded.png"/>
          <p:cNvPicPr>
            <a:picLocks noChangeAspect="1"/>
          </p:cNvPicPr>
          <p:nvPr/>
        </p:nvPicPr>
        <p:blipFill>
          <a:blip r:embed="rId3"/>
          <a:srcRect l="-50" r="-50"/>
          <a:stretch/>
        </p:blipFill>
        <p:spPr>
          <a:xfrm>
            <a:off x="11373307" y="286207"/>
            <a:ext cx="342900" cy="304495"/>
          </a:xfrm>
          <a:prstGeom prst="rect">
            <a:avLst/>
          </a:prstGeom>
        </p:spPr>
      </p:pic>
      <p:sp>
        <p:nvSpPr>
          <p:cNvPr id="8" name="Shape 5"/>
          <p:cNvSpPr/>
          <p:nvPr/>
        </p:nvSpPr>
        <p:spPr>
          <a:xfrm>
            <a:off x="4764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9" name="Shape 6"/>
          <p:cNvSpPr/>
          <p:nvPr/>
        </p:nvSpPr>
        <p:spPr>
          <a:xfrm>
            <a:off x="4764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0" name="Image 1" descr="preencoded.png"/>
          <p:cNvPicPr>
            <a:picLocks noChangeAspect="1"/>
          </p:cNvPicPr>
          <p:nvPr/>
        </p:nvPicPr>
        <p:blipFill>
          <a:blip r:embed="rId4"/>
          <a:srcRect/>
          <a:stretch/>
        </p:blipFill>
        <p:spPr>
          <a:xfrm>
            <a:off x="1466698" y="1595628"/>
            <a:ext cx="342900" cy="342900"/>
          </a:xfrm>
          <a:prstGeom prst="rect">
            <a:avLst/>
          </a:prstGeom>
        </p:spPr>
      </p:pic>
      <p:sp>
        <p:nvSpPr>
          <p:cNvPr id="11" name="Text 7"/>
          <p:cNvSpPr txBox="1"/>
          <p:nvPr/>
        </p:nvSpPr>
        <p:spPr>
          <a:xfrm>
            <a:off x="1114654" y="2077517"/>
            <a:ext cx="1016507" cy="265176"/>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유사도 행렬</a:t>
            </a:r>
            <a:endParaRPr lang="en-US" sz="1600" dirty="0"/>
          </a:p>
        </p:txBody>
      </p:sp>
      <p:sp>
        <p:nvSpPr>
          <p:cNvPr id="12" name="Text 8"/>
          <p:cNvSpPr txBox="1"/>
          <p:nvPr/>
        </p:nvSpPr>
        <p:spPr>
          <a:xfrm>
            <a:off x="899770" y="2419502"/>
            <a:ext cx="1478585"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107개 유전자 GO 유사도</a:t>
            </a:r>
            <a:endParaRPr lang="en-US" sz="1050" dirty="0"/>
          </a:p>
        </p:txBody>
      </p:sp>
      <p:pic>
        <p:nvPicPr>
          <p:cNvPr id="13" name="Image 2" descr="preencoded.png"/>
          <p:cNvPicPr>
            <a:picLocks noChangeAspect="1"/>
          </p:cNvPicPr>
          <p:nvPr/>
        </p:nvPicPr>
        <p:blipFill>
          <a:blip r:embed="rId5"/>
          <a:srcRect l="-107" r="-107"/>
          <a:stretch/>
        </p:blipFill>
        <p:spPr>
          <a:xfrm>
            <a:off x="2991002" y="1873606"/>
            <a:ext cx="267005" cy="304495"/>
          </a:xfrm>
          <a:prstGeom prst="rect">
            <a:avLst/>
          </a:prstGeom>
        </p:spPr>
      </p:pic>
      <p:sp>
        <p:nvSpPr>
          <p:cNvPr id="14" name="Shape 9"/>
          <p:cNvSpPr/>
          <p:nvPr/>
        </p:nvSpPr>
        <p:spPr>
          <a:xfrm>
            <a:off x="34482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15" name="Shape 10"/>
          <p:cNvSpPr/>
          <p:nvPr/>
        </p:nvSpPr>
        <p:spPr>
          <a:xfrm>
            <a:off x="34482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6" name="Image 3" descr="preencoded.png"/>
          <p:cNvPicPr>
            <a:picLocks noChangeAspect="1"/>
          </p:cNvPicPr>
          <p:nvPr/>
        </p:nvPicPr>
        <p:blipFill>
          <a:blip r:embed="rId6"/>
          <a:srcRect/>
          <a:stretch/>
        </p:blipFill>
        <p:spPr>
          <a:xfrm>
            <a:off x="4438498" y="1595628"/>
            <a:ext cx="342900" cy="342900"/>
          </a:xfrm>
          <a:prstGeom prst="rect">
            <a:avLst/>
          </a:prstGeom>
        </p:spPr>
      </p:pic>
      <p:sp>
        <p:nvSpPr>
          <p:cNvPr id="17" name="Text 11"/>
          <p:cNvSpPr txBox="1"/>
          <p:nvPr/>
        </p:nvSpPr>
        <p:spPr>
          <a:xfrm>
            <a:off x="3989070" y="2115007"/>
            <a:ext cx="1241755"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계층적 군집화</a:t>
            </a:r>
            <a:endParaRPr lang="en-US" sz="1600" dirty="0"/>
          </a:p>
        </p:txBody>
      </p:sp>
      <p:sp>
        <p:nvSpPr>
          <p:cNvPr id="18" name="Text 12"/>
          <p:cNvSpPr txBox="1"/>
          <p:nvPr/>
        </p:nvSpPr>
        <p:spPr>
          <a:xfrm>
            <a:off x="4049878" y="2419502"/>
            <a:ext cx="1122883"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Average-linkage</a:t>
            </a:r>
            <a:endParaRPr lang="en-US" sz="1050" dirty="0"/>
          </a:p>
        </p:txBody>
      </p:sp>
      <p:pic>
        <p:nvPicPr>
          <p:cNvPr id="19" name="Image 4" descr="preencoded.png"/>
          <p:cNvPicPr>
            <a:picLocks noChangeAspect="1"/>
          </p:cNvPicPr>
          <p:nvPr/>
        </p:nvPicPr>
        <p:blipFill>
          <a:blip r:embed="rId5"/>
          <a:srcRect l="-107" r="-107"/>
          <a:stretch/>
        </p:blipFill>
        <p:spPr>
          <a:xfrm>
            <a:off x="5962802" y="1873606"/>
            <a:ext cx="267005" cy="304495"/>
          </a:xfrm>
          <a:prstGeom prst="rect">
            <a:avLst/>
          </a:prstGeom>
        </p:spPr>
      </p:pic>
      <p:sp>
        <p:nvSpPr>
          <p:cNvPr id="20" name="Shape 13"/>
          <p:cNvSpPr/>
          <p:nvPr/>
        </p:nvSpPr>
        <p:spPr>
          <a:xfrm>
            <a:off x="64200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64200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2" name="Image 5" descr="preencoded.png"/>
          <p:cNvPicPr>
            <a:picLocks noChangeAspect="1"/>
          </p:cNvPicPr>
          <p:nvPr/>
        </p:nvPicPr>
        <p:blipFill>
          <a:blip r:embed="rId7"/>
          <a:srcRect/>
          <a:stretch/>
        </p:blipFill>
        <p:spPr>
          <a:xfrm>
            <a:off x="7410298" y="1595628"/>
            <a:ext cx="342900" cy="342900"/>
          </a:xfrm>
          <a:prstGeom prst="rect">
            <a:avLst/>
          </a:prstGeom>
        </p:spPr>
      </p:pic>
      <p:sp>
        <p:nvSpPr>
          <p:cNvPr id="23" name="Text 15"/>
          <p:cNvSpPr txBox="1"/>
          <p:nvPr/>
        </p:nvSpPr>
        <p:spPr>
          <a:xfrm>
            <a:off x="6705295" y="2086661"/>
            <a:ext cx="1890065" cy="285293"/>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Dynamic Tree Cut</a:t>
            </a:r>
            <a:endParaRPr lang="en-US" sz="1600" dirty="0"/>
          </a:p>
        </p:txBody>
      </p:sp>
      <p:sp>
        <p:nvSpPr>
          <p:cNvPr id="24" name="Text 16"/>
          <p:cNvSpPr txBox="1"/>
          <p:nvPr/>
        </p:nvSpPr>
        <p:spPr>
          <a:xfrm>
            <a:off x="7034479" y="2419502"/>
            <a:ext cx="1100023"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최소 크기 5, PAM</a:t>
            </a:r>
            <a:endParaRPr lang="en-US" sz="1050" dirty="0"/>
          </a:p>
        </p:txBody>
      </p:sp>
      <p:pic>
        <p:nvPicPr>
          <p:cNvPr id="25" name="Image 6" descr="preencoded.png"/>
          <p:cNvPicPr>
            <a:picLocks noChangeAspect="1"/>
          </p:cNvPicPr>
          <p:nvPr/>
        </p:nvPicPr>
        <p:blipFill>
          <a:blip r:embed="rId5"/>
          <a:srcRect l="-107" r="-107"/>
          <a:stretch/>
        </p:blipFill>
        <p:spPr>
          <a:xfrm>
            <a:off x="8934602" y="1873606"/>
            <a:ext cx="267005" cy="304495"/>
          </a:xfrm>
          <a:prstGeom prst="rect">
            <a:avLst/>
          </a:prstGeom>
        </p:spPr>
      </p:pic>
      <p:sp>
        <p:nvSpPr>
          <p:cNvPr id="26" name="Shape 17"/>
          <p:cNvSpPr/>
          <p:nvPr/>
        </p:nvSpPr>
        <p:spPr>
          <a:xfrm>
            <a:off x="93918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7" name="Shape 18"/>
          <p:cNvSpPr/>
          <p:nvPr/>
        </p:nvSpPr>
        <p:spPr>
          <a:xfrm>
            <a:off x="93918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8" name="Image 7" descr="preencoded.png"/>
          <p:cNvPicPr>
            <a:picLocks noChangeAspect="1"/>
          </p:cNvPicPr>
          <p:nvPr/>
        </p:nvPicPr>
        <p:blipFill>
          <a:blip r:embed="rId8"/>
          <a:srcRect l="-607" r="-607"/>
          <a:stretch/>
        </p:blipFill>
        <p:spPr>
          <a:xfrm>
            <a:off x="10358323" y="1595628"/>
            <a:ext cx="390449" cy="342900"/>
          </a:xfrm>
          <a:prstGeom prst="rect">
            <a:avLst/>
          </a:prstGeom>
        </p:spPr>
      </p:pic>
      <p:sp>
        <p:nvSpPr>
          <p:cNvPr id="29" name="Text 19"/>
          <p:cNvSpPr txBox="1"/>
          <p:nvPr/>
        </p:nvSpPr>
        <p:spPr>
          <a:xfrm>
            <a:off x="9865461" y="2115007"/>
            <a:ext cx="1376172"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13개 클러스터</a:t>
            </a:r>
            <a:endParaRPr lang="en-US" sz="1600" dirty="0"/>
          </a:p>
        </p:txBody>
      </p:sp>
      <p:sp>
        <p:nvSpPr>
          <p:cNvPr id="30" name="Text 20"/>
          <p:cNvSpPr txBox="1"/>
          <p:nvPr/>
        </p:nvSpPr>
        <p:spPr>
          <a:xfrm>
            <a:off x="10115093" y="2419502"/>
            <a:ext cx="878738"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COG 기반 명명</a:t>
            </a:r>
            <a:endParaRPr lang="en-US" sz="1050" dirty="0"/>
          </a:p>
        </p:txBody>
      </p:sp>
      <p:sp>
        <p:nvSpPr>
          <p:cNvPr id="31" name="Shape 21"/>
          <p:cNvSpPr/>
          <p:nvPr/>
        </p:nvSpPr>
        <p:spPr>
          <a:xfrm>
            <a:off x="476402"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32" name="Shape 22"/>
          <p:cNvSpPr/>
          <p:nvPr/>
        </p:nvSpPr>
        <p:spPr>
          <a:xfrm>
            <a:off x="476402"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33" name="Image 8" descr="preencoded.png"/>
          <p:cNvPicPr>
            <a:picLocks noChangeAspect="1"/>
          </p:cNvPicPr>
          <p:nvPr/>
        </p:nvPicPr>
        <p:blipFill>
          <a:blip r:embed="rId9"/>
          <a:srcRect t="-45" b="-45"/>
          <a:stretch/>
        </p:blipFill>
        <p:spPr>
          <a:xfrm>
            <a:off x="743407" y="3510382"/>
            <a:ext cx="256946" cy="228600"/>
          </a:xfrm>
          <a:prstGeom prst="rect">
            <a:avLst/>
          </a:prstGeom>
        </p:spPr>
      </p:pic>
      <p:sp>
        <p:nvSpPr>
          <p:cNvPr id="34" name="Text 23"/>
          <p:cNvSpPr txBox="1"/>
          <p:nvPr/>
        </p:nvSpPr>
        <p:spPr>
          <a:xfrm>
            <a:off x="1114654" y="3486607"/>
            <a:ext cx="2856586"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Average-linkage 계층적 군집화</a:t>
            </a:r>
            <a:endParaRPr lang="en-US" sz="1600" dirty="0"/>
          </a:p>
        </p:txBody>
      </p:sp>
      <p:pic>
        <p:nvPicPr>
          <p:cNvPr id="35" name="Image 9" descr="preencoded.png"/>
          <p:cNvPicPr>
            <a:picLocks noChangeAspect="1"/>
          </p:cNvPicPr>
          <p:nvPr/>
        </p:nvPicPr>
        <p:blipFill>
          <a:blip r:embed="rId10"/>
          <a:srcRect t="-194579" b="-194579"/>
          <a:stretch/>
        </p:blipFill>
        <p:spPr>
          <a:xfrm>
            <a:off x="743407" y="3995928"/>
            <a:ext cx="75895" cy="371246"/>
          </a:xfrm>
          <a:prstGeom prst="rect">
            <a:avLst/>
          </a:prstGeom>
        </p:spPr>
      </p:pic>
      <p:sp>
        <p:nvSpPr>
          <p:cNvPr id="36" name="Text 24"/>
          <p:cNvSpPr txBox="1"/>
          <p:nvPr/>
        </p:nvSpPr>
        <p:spPr>
          <a:xfrm>
            <a:off x="914400" y="3938321"/>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유전자 간 의미론적 유사도를 기반으로 생물학적으로 연관된 유전자들을 그룹화하여 작용기전(MoA) 클러스터 형성</a:t>
            </a:r>
            <a:endParaRPr lang="en-US" sz="1100" dirty="0"/>
          </a:p>
        </p:txBody>
      </p:sp>
      <p:pic>
        <p:nvPicPr>
          <p:cNvPr id="37" name="Image 10" descr="preencoded.png"/>
          <p:cNvPicPr>
            <a:picLocks noChangeAspect="1"/>
          </p:cNvPicPr>
          <p:nvPr/>
        </p:nvPicPr>
        <p:blipFill>
          <a:blip r:embed="rId10"/>
          <a:srcRect t="-194579" b="-194579"/>
          <a:stretch/>
        </p:blipFill>
        <p:spPr>
          <a:xfrm>
            <a:off x="743407" y="4519879"/>
            <a:ext cx="75895" cy="371246"/>
          </a:xfrm>
          <a:prstGeom prst="rect">
            <a:avLst/>
          </a:prstGeom>
        </p:spPr>
      </p:pic>
      <p:sp>
        <p:nvSpPr>
          <p:cNvPr id="38" name="Text 25"/>
          <p:cNvSpPr txBox="1"/>
          <p:nvPr/>
        </p:nvSpPr>
        <p:spPr>
          <a:xfrm>
            <a:off x="914400" y="4462272"/>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방법</a:t>
            </a:r>
            <a:r>
              <a:rPr lang="en-US" sz="1100" dirty="0">
                <a:solidFill>
                  <a:srgbClr val="475569"/>
                </a:solidFill>
                <a:latin typeface="Noto Sans KR" pitchFamily="34" charset="0"/>
                <a:ea typeface="Noto Sans KR" pitchFamily="34" charset="-122"/>
                <a:cs typeface="Noto Sans KR" pitchFamily="34" charset="-120"/>
              </a:rPr>
              <a:t>: R hclust 함수를 사용하여 </a:t>
            </a:r>
            <a:r>
              <a:rPr lang="en-US" sz="1100" b="1" dirty="0">
                <a:solidFill>
                  <a:srgbClr val="FF0000"/>
                </a:solidFill>
                <a:latin typeface="Noto Sans KR" pitchFamily="34" charset="0"/>
                <a:ea typeface="Noto Sans KR" pitchFamily="34" charset="-122"/>
                <a:cs typeface="Noto Sans KR" pitchFamily="34" charset="-120"/>
              </a:rPr>
              <a:t>계층적 군집 트리(dendrogram) 구축</a:t>
            </a:r>
            <a:r>
              <a:rPr lang="en-US" sz="1100" dirty="0">
                <a:solidFill>
                  <a:srgbClr val="475569"/>
                </a:solidFill>
                <a:latin typeface="Noto Sans KR" pitchFamily="34" charset="0"/>
                <a:ea typeface="Noto Sans KR" pitchFamily="34" charset="-122"/>
                <a:cs typeface="Noto Sans KR" pitchFamily="34" charset="-120"/>
              </a:rPr>
              <a:t>. Average-linkage 옵션으로 클러스터 간 평균 거리 기반 병합</a:t>
            </a:r>
            <a:endParaRPr lang="en-US" sz="1100" dirty="0"/>
          </a:p>
        </p:txBody>
      </p:sp>
      <p:pic>
        <p:nvPicPr>
          <p:cNvPr id="39" name="Image 11" descr="preencoded.png"/>
          <p:cNvPicPr>
            <a:picLocks noChangeAspect="1"/>
          </p:cNvPicPr>
          <p:nvPr/>
        </p:nvPicPr>
        <p:blipFill>
          <a:blip r:embed="rId10"/>
          <a:srcRect t="-194579" b="-194579"/>
          <a:stretch/>
        </p:blipFill>
        <p:spPr>
          <a:xfrm>
            <a:off x="743407" y="5043830"/>
            <a:ext cx="75895" cy="371246"/>
          </a:xfrm>
          <a:prstGeom prst="rect">
            <a:avLst/>
          </a:prstGeom>
        </p:spPr>
      </p:pic>
      <p:sp>
        <p:nvSpPr>
          <p:cNvPr id="40" name="Text 26"/>
          <p:cNvSpPr txBox="1"/>
          <p:nvPr/>
        </p:nvSpPr>
        <p:spPr>
          <a:xfrm>
            <a:off x="914400" y="4986223"/>
            <a:ext cx="5048402"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시각화</a:t>
            </a:r>
            <a:r>
              <a:rPr lang="en-US" sz="1100" dirty="0">
                <a:solidFill>
                  <a:srgbClr val="475569"/>
                </a:solidFill>
                <a:latin typeface="Noto Sans KR" pitchFamily="34" charset="0"/>
                <a:ea typeface="Noto Sans KR" pitchFamily="34" charset="-122"/>
                <a:cs typeface="Noto Sans KR" pitchFamily="34" charset="-120"/>
              </a:rPr>
              <a:t>: 덴드로그램과 히트맵을 통해 </a:t>
            </a:r>
            <a:r>
              <a:rPr lang="en-US" sz="1100" b="1" dirty="0">
                <a:solidFill>
                  <a:srgbClr val="FF0000"/>
                </a:solidFill>
                <a:latin typeface="Noto Sans KR" pitchFamily="34" charset="0"/>
                <a:ea typeface="Noto Sans KR" pitchFamily="34" charset="-122"/>
                <a:cs typeface="Noto Sans KR" pitchFamily="34" charset="-120"/>
              </a:rPr>
              <a:t>유전자 간 유사도 패턴 </a:t>
            </a:r>
            <a:r>
              <a:rPr lang="en-US" sz="1100" b="1" dirty="0" err="1">
                <a:solidFill>
                  <a:srgbClr val="FF0000"/>
                </a:solidFill>
                <a:latin typeface="Noto Sans KR" pitchFamily="34" charset="0"/>
                <a:ea typeface="Noto Sans KR" pitchFamily="34" charset="-122"/>
                <a:cs typeface="Noto Sans KR" pitchFamily="34" charset="-120"/>
              </a:rPr>
              <a:t>확인</a:t>
            </a:r>
            <a:r>
              <a:rPr lang="en-US" sz="1100" dirty="0" smtClean="0">
                <a:solidFill>
                  <a:srgbClr val="475569"/>
                </a:solidFill>
                <a:latin typeface="Noto Sans KR" pitchFamily="34" charset="0"/>
                <a:ea typeface="Noto Sans KR" pitchFamily="34" charset="-122"/>
                <a:cs typeface="Noto Sans KR" pitchFamily="34" charset="-120"/>
              </a:rPr>
              <a:t>. </a:t>
            </a:r>
            <a:r>
              <a:rPr lang="en-US" sz="1100" dirty="0" err="1" smtClean="0">
                <a:solidFill>
                  <a:srgbClr val="475569"/>
                </a:solidFill>
                <a:latin typeface="Noto Sans KR" pitchFamily="34" charset="0"/>
                <a:ea typeface="Noto Sans KR" pitchFamily="34" charset="-122"/>
                <a:cs typeface="Noto Sans KR" pitchFamily="34" charset="-120"/>
              </a:rPr>
              <a:t>체커보드</a:t>
            </a:r>
            <a:r>
              <a:rPr lang="en-US" sz="1100" dirty="0" smtClean="0">
                <a:solidFill>
                  <a:srgbClr val="475569"/>
                </a:solidFill>
                <a:latin typeface="Noto Sans KR" pitchFamily="34" charset="0"/>
                <a:ea typeface="Noto Sans KR" pitchFamily="34" charset="-122"/>
                <a:cs typeface="Noto Sans KR" pitchFamily="34" charset="-120"/>
              </a:rPr>
              <a:t> </a:t>
            </a:r>
            <a:r>
              <a:rPr lang="en-US" sz="1100" dirty="0">
                <a:solidFill>
                  <a:srgbClr val="475569"/>
                </a:solidFill>
                <a:latin typeface="Noto Sans KR" pitchFamily="34" charset="0"/>
                <a:ea typeface="Noto Sans KR" pitchFamily="34" charset="-122"/>
                <a:cs typeface="Noto Sans KR" pitchFamily="34" charset="-120"/>
              </a:rPr>
              <a:t>블록 형태로 높은 유사도 그룹 식별</a:t>
            </a:r>
            <a:endParaRPr lang="en-US" sz="1100" dirty="0"/>
          </a:p>
        </p:txBody>
      </p:sp>
      <p:sp>
        <p:nvSpPr>
          <p:cNvPr id="41" name="Shape 27"/>
          <p:cNvSpPr/>
          <p:nvPr/>
        </p:nvSpPr>
        <p:spPr>
          <a:xfrm>
            <a:off x="743407" y="5586070"/>
            <a:ext cx="5009998" cy="685800"/>
          </a:xfrm>
          <a:prstGeom prst="roundRect">
            <a:avLst>
              <a:gd name="adj" fmla="val 11111"/>
            </a:avLst>
          </a:prstGeom>
          <a:solidFill>
            <a:srgbClr val="EFF6FF"/>
          </a:solidFill>
          <a:ln w="12700">
            <a:solidFill>
              <a:srgbClr val="BFDBFE"/>
            </a:solidFill>
            <a:prstDash val="solid"/>
          </a:ln>
        </p:spPr>
      </p:sp>
      <p:sp>
        <p:nvSpPr>
          <p:cNvPr id="42" name="Text 28"/>
          <p:cNvSpPr txBox="1"/>
          <p:nvPr/>
        </p:nvSpPr>
        <p:spPr>
          <a:xfrm>
            <a:off x="905256"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군집화 대상</a:t>
            </a:r>
            <a:endParaRPr lang="en-US" sz="1050" dirty="0"/>
          </a:p>
        </p:txBody>
      </p:sp>
      <p:sp>
        <p:nvSpPr>
          <p:cNvPr id="43" name="Text 29"/>
          <p:cNvSpPr txBox="1"/>
          <p:nvPr/>
        </p:nvSpPr>
        <p:spPr>
          <a:xfrm>
            <a:off x="905256"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107개 E.coli 상동 유전자 → 덴드로그램 생성</a:t>
            </a:r>
            <a:endParaRPr lang="en-US" sz="1600" dirty="0"/>
          </a:p>
        </p:txBody>
      </p:sp>
      <p:sp>
        <p:nvSpPr>
          <p:cNvPr id="44" name="Shape 30"/>
          <p:cNvSpPr/>
          <p:nvPr/>
        </p:nvSpPr>
        <p:spPr>
          <a:xfrm>
            <a:off x="6210605"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45" name="Shape 31"/>
          <p:cNvSpPr/>
          <p:nvPr/>
        </p:nvSpPr>
        <p:spPr>
          <a:xfrm>
            <a:off x="6210605"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46" name="Image 12" descr="preencoded.png"/>
          <p:cNvPicPr>
            <a:picLocks noChangeAspect="1"/>
          </p:cNvPicPr>
          <p:nvPr/>
        </p:nvPicPr>
        <p:blipFill>
          <a:blip r:embed="rId11"/>
          <a:srcRect/>
          <a:stretch/>
        </p:blipFill>
        <p:spPr>
          <a:xfrm>
            <a:off x="6476695" y="3510382"/>
            <a:ext cx="228600" cy="228600"/>
          </a:xfrm>
          <a:prstGeom prst="rect">
            <a:avLst/>
          </a:prstGeom>
        </p:spPr>
      </p:pic>
      <p:sp>
        <p:nvSpPr>
          <p:cNvPr id="47" name="Text 32"/>
          <p:cNvSpPr txBox="1"/>
          <p:nvPr/>
        </p:nvSpPr>
        <p:spPr>
          <a:xfrm>
            <a:off x="6819595" y="3486607"/>
            <a:ext cx="2574950"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Dynamic Tree Cut 알고리즘</a:t>
            </a:r>
            <a:endParaRPr lang="en-US" sz="1600" dirty="0"/>
          </a:p>
        </p:txBody>
      </p:sp>
      <p:pic>
        <p:nvPicPr>
          <p:cNvPr id="48" name="Image 13" descr="preencoded.png"/>
          <p:cNvPicPr>
            <a:picLocks noChangeAspect="1"/>
          </p:cNvPicPr>
          <p:nvPr/>
        </p:nvPicPr>
        <p:blipFill>
          <a:blip r:embed="rId10"/>
          <a:srcRect t="-194579" b="-194579"/>
          <a:stretch/>
        </p:blipFill>
        <p:spPr>
          <a:xfrm>
            <a:off x="6476695" y="3995928"/>
            <a:ext cx="75895" cy="371246"/>
          </a:xfrm>
          <a:prstGeom prst="rect">
            <a:avLst/>
          </a:prstGeom>
        </p:spPr>
      </p:pic>
      <p:sp>
        <p:nvSpPr>
          <p:cNvPr id="49" name="Text 33"/>
          <p:cNvSpPr txBox="1"/>
          <p:nvPr/>
        </p:nvSpPr>
        <p:spPr>
          <a:xfrm>
            <a:off x="6648602" y="3938321"/>
            <a:ext cx="4724705"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고정 높이 절단의 한계를 극복하고 중첩된 복잡한 클러스터 구조에서 최적의 유전자 그룹 결정</a:t>
            </a:r>
            <a:endParaRPr lang="en-US" sz="1100" dirty="0"/>
          </a:p>
        </p:txBody>
      </p:sp>
      <p:pic>
        <p:nvPicPr>
          <p:cNvPr id="50" name="Image 14" descr="preencoded.png"/>
          <p:cNvPicPr>
            <a:picLocks noChangeAspect="1"/>
          </p:cNvPicPr>
          <p:nvPr/>
        </p:nvPicPr>
        <p:blipFill>
          <a:blip r:embed="rId10"/>
          <a:srcRect t="-194579" b="-194579"/>
          <a:stretch/>
        </p:blipFill>
        <p:spPr>
          <a:xfrm>
            <a:off x="6476695" y="4519879"/>
            <a:ext cx="75895" cy="371246"/>
          </a:xfrm>
          <a:prstGeom prst="rect">
            <a:avLst/>
          </a:prstGeom>
        </p:spPr>
      </p:pic>
      <p:sp>
        <p:nvSpPr>
          <p:cNvPr id="51" name="Text 34"/>
          <p:cNvSpPr txBox="1"/>
          <p:nvPr/>
        </p:nvSpPr>
        <p:spPr>
          <a:xfrm>
            <a:off x="6648602" y="4462272"/>
            <a:ext cx="4724705"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파라미터</a:t>
            </a:r>
            <a:r>
              <a:rPr lang="en-US" sz="1100" dirty="0">
                <a:solidFill>
                  <a:srgbClr val="475569"/>
                </a:solidFill>
                <a:latin typeface="Noto Sans KR" pitchFamily="34" charset="0"/>
                <a:ea typeface="Noto Sans KR" pitchFamily="34" charset="-122"/>
                <a:cs typeface="Noto Sans KR" pitchFamily="34" charset="-120"/>
              </a:rPr>
              <a:t>: 최소 클러스터 크기 5, PAM(Partitioning Around Medoids) 활성화로 이상치를 클러스터에 재할당</a:t>
            </a:r>
            <a:endParaRPr lang="en-US" sz="1100" dirty="0"/>
          </a:p>
        </p:txBody>
      </p:sp>
      <p:pic>
        <p:nvPicPr>
          <p:cNvPr id="52" name="Image 15" descr="preencoded.png"/>
          <p:cNvPicPr>
            <a:picLocks noChangeAspect="1"/>
          </p:cNvPicPr>
          <p:nvPr/>
        </p:nvPicPr>
        <p:blipFill>
          <a:blip r:embed="rId10"/>
          <a:srcRect t="-194579" b="-194579"/>
          <a:stretch/>
        </p:blipFill>
        <p:spPr>
          <a:xfrm>
            <a:off x="6476695" y="5043830"/>
            <a:ext cx="75895" cy="371246"/>
          </a:xfrm>
          <a:prstGeom prst="rect">
            <a:avLst/>
          </a:prstGeom>
        </p:spPr>
      </p:pic>
      <p:sp>
        <p:nvSpPr>
          <p:cNvPr id="53" name="Text 35"/>
          <p:cNvSpPr txBox="1"/>
          <p:nvPr/>
        </p:nvSpPr>
        <p:spPr>
          <a:xfrm>
            <a:off x="6648602" y="4986223"/>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명명</a:t>
            </a:r>
            <a:r>
              <a:rPr lang="en-US" sz="1100" dirty="0">
                <a:solidFill>
                  <a:srgbClr val="475569"/>
                </a:solidFill>
                <a:latin typeface="Noto Sans KR" pitchFamily="34" charset="0"/>
                <a:ea typeface="Noto Sans KR" pitchFamily="34" charset="-122"/>
                <a:cs typeface="Noto Sans KR" pitchFamily="34" charset="-120"/>
              </a:rPr>
              <a:t>: eggNOG-mapper를 통해 COG 카테고리 주석 확인 후 </a:t>
            </a:r>
            <a:r>
              <a:rPr lang="en-US" sz="1100" b="1" dirty="0">
                <a:solidFill>
                  <a:srgbClr val="FF0000"/>
                </a:solidFill>
                <a:latin typeface="Noto Sans KR" pitchFamily="34" charset="0"/>
                <a:ea typeface="Noto Sans KR" pitchFamily="34" charset="-122"/>
                <a:cs typeface="Noto Sans KR" pitchFamily="34" charset="-120"/>
              </a:rPr>
              <a:t>각 클러스터에 생물학적 기능명 부여</a:t>
            </a:r>
            <a:r>
              <a:rPr lang="en-US" sz="1100" dirty="0">
                <a:solidFill>
                  <a:srgbClr val="475569"/>
                </a:solidFill>
                <a:latin typeface="Noto Sans KR" pitchFamily="34" charset="0"/>
                <a:ea typeface="Noto Sans KR" pitchFamily="34" charset="-122"/>
                <a:cs typeface="Noto Sans KR" pitchFamily="34" charset="-120"/>
              </a:rPr>
              <a:t> (예: C1 TCA 회로, C2 번역)</a:t>
            </a:r>
            <a:endParaRPr lang="en-US" sz="1100" dirty="0"/>
          </a:p>
        </p:txBody>
      </p:sp>
      <p:sp>
        <p:nvSpPr>
          <p:cNvPr id="54" name="Shape 36"/>
          <p:cNvSpPr/>
          <p:nvPr/>
        </p:nvSpPr>
        <p:spPr>
          <a:xfrm>
            <a:off x="6476695" y="5586070"/>
            <a:ext cx="5009998" cy="685800"/>
          </a:xfrm>
          <a:prstGeom prst="roundRect">
            <a:avLst>
              <a:gd name="adj" fmla="val 11111"/>
            </a:avLst>
          </a:prstGeom>
          <a:solidFill>
            <a:srgbClr val="EFF6FF"/>
          </a:solidFill>
          <a:ln w="12700">
            <a:solidFill>
              <a:srgbClr val="BFDBFE"/>
            </a:solidFill>
            <a:prstDash val="solid"/>
          </a:ln>
        </p:spPr>
      </p:sp>
      <p:sp>
        <p:nvSpPr>
          <p:cNvPr id="55" name="Text 37"/>
          <p:cNvSpPr txBox="1"/>
          <p:nvPr/>
        </p:nvSpPr>
        <p:spPr>
          <a:xfrm>
            <a:off x="6638544"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최종 결과</a:t>
            </a:r>
            <a:endParaRPr lang="en-US" sz="1050" dirty="0"/>
          </a:p>
        </p:txBody>
      </p:sp>
      <p:sp>
        <p:nvSpPr>
          <p:cNvPr id="56" name="Text 38"/>
          <p:cNvSpPr txBox="1"/>
          <p:nvPr/>
        </p:nvSpPr>
        <p:spPr>
          <a:xfrm>
            <a:off x="6638544"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13개 기능 클러스터 (C1~C13) 정의 완료</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Shape 2"/>
          <p:cNvSpPr/>
          <p:nvPr/>
        </p:nvSpPr>
        <p:spPr>
          <a:xfrm>
            <a:off x="476402" y="228600"/>
            <a:ext cx="886054" cy="381305"/>
          </a:xfrm>
          <a:prstGeom prst="roundRect">
            <a:avLst>
              <a:gd name="adj" fmla="val 119904"/>
            </a:avLst>
          </a:prstGeom>
          <a:solidFill>
            <a:srgbClr val="3B82F6"/>
          </a:solidFill>
          <a:ln w="12700">
            <a:solidFill>
              <a:srgbClr val="FFFFFF">
                <a:alpha val="0"/>
              </a:srgbClr>
            </a:solidFill>
            <a:prstDash val="solid"/>
          </a:ln>
        </p:spPr>
      </p:sp>
      <p:sp>
        <p:nvSpPr>
          <p:cNvPr id="5" name="Text 3"/>
          <p:cNvSpPr txBox="1"/>
          <p:nvPr/>
        </p:nvSpPr>
        <p:spPr>
          <a:xfrm>
            <a:off x="666598" y="304495"/>
            <a:ext cx="600761" cy="228600"/>
          </a:xfrm>
          <a:prstGeom prst="rect">
            <a:avLst/>
          </a:prstGeom>
          <a:noFill/>
          <a:ln/>
        </p:spPr>
        <p:txBody>
          <a:bodyPr wrap="square" lIns="0" tIns="0" rIns="0" bIns="0" rtlCol="0" anchor="ctr"/>
          <a:lstStyle/>
          <a:p>
            <a:pPr marL="0" indent="0" algn="l">
              <a:buNone/>
            </a:pPr>
            <a:r>
              <a:rPr lang="en-US" sz="1200" b="1" kern="0" spc="38" dirty="0">
                <a:solidFill>
                  <a:srgbClr val="FFFFFF"/>
                </a:solidFill>
                <a:latin typeface="Noto Sans KR" pitchFamily="34" charset="0"/>
                <a:ea typeface="Noto Sans KR" pitchFamily="34" charset="-122"/>
                <a:cs typeface="Noto Sans KR" pitchFamily="34" charset="-120"/>
              </a:rPr>
              <a:t>Step 3</a:t>
            </a:r>
            <a:endParaRPr lang="en-US" sz="1200" dirty="0"/>
          </a:p>
        </p:txBody>
      </p:sp>
      <p:sp>
        <p:nvSpPr>
          <p:cNvPr id="6" name="Text 4"/>
          <p:cNvSpPr txBox="1"/>
          <p:nvPr/>
        </p:nvSpPr>
        <p:spPr>
          <a:xfrm>
            <a:off x="1545336" y="190195"/>
            <a:ext cx="3384194"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CGIP 피처 엔지니어링</a:t>
            </a:r>
            <a:endParaRPr lang="en-US" sz="2400" dirty="0"/>
          </a:p>
        </p:txBody>
      </p:sp>
      <p:pic>
        <p:nvPicPr>
          <p:cNvPr id="7" name="Image 0" descr="preencoded.png"/>
          <p:cNvPicPr>
            <a:picLocks noChangeAspect="1"/>
          </p:cNvPicPr>
          <p:nvPr/>
        </p:nvPicPr>
        <p:blipFill>
          <a:blip r:embed="rId3"/>
          <a:srcRect/>
          <a:stretch/>
        </p:blipFill>
        <p:spPr>
          <a:xfrm>
            <a:off x="11410798" y="286207"/>
            <a:ext cx="304495" cy="304495"/>
          </a:xfrm>
          <a:prstGeom prst="rect">
            <a:avLst/>
          </a:prstGeom>
        </p:spPr>
      </p:pic>
      <p:sp>
        <p:nvSpPr>
          <p:cNvPr id="8" name="Shape 5"/>
          <p:cNvSpPr/>
          <p:nvPr/>
        </p:nvSpPr>
        <p:spPr>
          <a:xfrm>
            <a:off x="4764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9" name="Shape 6"/>
          <p:cNvSpPr/>
          <p:nvPr/>
        </p:nvSpPr>
        <p:spPr>
          <a:xfrm>
            <a:off x="4764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0" name="Image 1" descr="preencoded.png"/>
          <p:cNvPicPr>
            <a:picLocks noChangeAspect="1"/>
          </p:cNvPicPr>
          <p:nvPr/>
        </p:nvPicPr>
        <p:blipFill>
          <a:blip r:embed="rId4"/>
          <a:srcRect l="-743" r="-743"/>
          <a:stretch/>
        </p:blipFill>
        <p:spPr>
          <a:xfrm>
            <a:off x="1485900" y="1595628"/>
            <a:ext cx="304495" cy="342900"/>
          </a:xfrm>
          <a:prstGeom prst="rect">
            <a:avLst/>
          </a:prstGeom>
        </p:spPr>
      </p:pic>
      <p:sp>
        <p:nvSpPr>
          <p:cNvPr id="11" name="Text 7"/>
          <p:cNvSpPr txBox="1"/>
          <p:nvPr/>
        </p:nvSpPr>
        <p:spPr>
          <a:xfrm>
            <a:off x="849934" y="2044692"/>
            <a:ext cx="1576426" cy="285293"/>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CGIP 원본 데이터</a:t>
            </a:r>
            <a:endParaRPr lang="en-US" sz="1600" dirty="0"/>
          </a:p>
        </p:txBody>
      </p:sp>
      <p:sp>
        <p:nvSpPr>
          <p:cNvPr id="12" name="Text 8"/>
          <p:cNvSpPr txBox="1"/>
          <p:nvPr/>
        </p:nvSpPr>
        <p:spPr>
          <a:xfrm>
            <a:off x="911657" y="2419502"/>
            <a:ext cx="1463040"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47K 화합물 × 152 균주</a:t>
            </a:r>
            <a:endParaRPr lang="en-US" sz="1050" dirty="0"/>
          </a:p>
        </p:txBody>
      </p:sp>
      <p:pic>
        <p:nvPicPr>
          <p:cNvPr id="13" name="Image 2" descr="preencoded.png"/>
          <p:cNvPicPr>
            <a:picLocks noChangeAspect="1"/>
          </p:cNvPicPr>
          <p:nvPr/>
        </p:nvPicPr>
        <p:blipFill>
          <a:blip r:embed="rId5"/>
          <a:srcRect l="-107" r="-107"/>
          <a:stretch/>
        </p:blipFill>
        <p:spPr>
          <a:xfrm>
            <a:off x="2991002" y="1873606"/>
            <a:ext cx="267005" cy="304495"/>
          </a:xfrm>
          <a:prstGeom prst="rect">
            <a:avLst/>
          </a:prstGeom>
        </p:spPr>
      </p:pic>
      <p:sp>
        <p:nvSpPr>
          <p:cNvPr id="14" name="Shape 9"/>
          <p:cNvSpPr/>
          <p:nvPr/>
        </p:nvSpPr>
        <p:spPr>
          <a:xfrm>
            <a:off x="34482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15" name="Shape 10"/>
          <p:cNvSpPr/>
          <p:nvPr/>
        </p:nvSpPr>
        <p:spPr>
          <a:xfrm>
            <a:off x="34482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6" name="Image 3" descr="preencoded.png"/>
          <p:cNvPicPr>
            <a:picLocks noChangeAspect="1"/>
          </p:cNvPicPr>
          <p:nvPr/>
        </p:nvPicPr>
        <p:blipFill>
          <a:blip r:embed="rId6"/>
          <a:srcRect l="-607" r="-607"/>
          <a:stretch/>
        </p:blipFill>
        <p:spPr>
          <a:xfrm>
            <a:off x="4414723" y="1595628"/>
            <a:ext cx="390449" cy="342900"/>
          </a:xfrm>
          <a:prstGeom prst="rect">
            <a:avLst/>
          </a:prstGeom>
        </p:spPr>
      </p:pic>
      <p:sp>
        <p:nvSpPr>
          <p:cNvPr id="17" name="Text 11"/>
          <p:cNvSpPr txBox="1"/>
          <p:nvPr/>
        </p:nvSpPr>
        <p:spPr>
          <a:xfrm>
            <a:off x="3579876" y="2048257"/>
            <a:ext cx="2002536" cy="267004"/>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클러스터별 중앙값 계산</a:t>
            </a:r>
            <a:endParaRPr lang="en-US" sz="1600" dirty="0"/>
          </a:p>
        </p:txBody>
      </p:sp>
      <p:sp>
        <p:nvSpPr>
          <p:cNvPr id="18" name="Text 12"/>
          <p:cNvSpPr txBox="1"/>
          <p:nvPr/>
        </p:nvSpPr>
        <p:spPr>
          <a:xfrm>
            <a:off x="4175150" y="2419502"/>
            <a:ext cx="877824"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13개 클러스터</a:t>
            </a:r>
            <a:endParaRPr lang="en-US" sz="1050" dirty="0"/>
          </a:p>
        </p:txBody>
      </p:sp>
      <p:pic>
        <p:nvPicPr>
          <p:cNvPr id="19" name="Image 4" descr="preencoded.png"/>
          <p:cNvPicPr>
            <a:picLocks noChangeAspect="1"/>
          </p:cNvPicPr>
          <p:nvPr/>
        </p:nvPicPr>
        <p:blipFill>
          <a:blip r:embed="rId5"/>
          <a:srcRect l="-107" r="-107"/>
          <a:stretch/>
        </p:blipFill>
        <p:spPr>
          <a:xfrm>
            <a:off x="5962802" y="1873606"/>
            <a:ext cx="267005" cy="304495"/>
          </a:xfrm>
          <a:prstGeom prst="rect">
            <a:avLst/>
          </a:prstGeom>
        </p:spPr>
      </p:pic>
      <p:sp>
        <p:nvSpPr>
          <p:cNvPr id="20" name="Shape 13"/>
          <p:cNvSpPr/>
          <p:nvPr/>
        </p:nvSpPr>
        <p:spPr>
          <a:xfrm>
            <a:off x="64200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64200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2" name="Image 5" descr="preencoded.png"/>
          <p:cNvPicPr>
            <a:picLocks noChangeAspect="1"/>
          </p:cNvPicPr>
          <p:nvPr/>
        </p:nvPicPr>
        <p:blipFill>
          <a:blip r:embed="rId7"/>
          <a:srcRect/>
          <a:stretch/>
        </p:blipFill>
        <p:spPr>
          <a:xfrm>
            <a:off x="7410298" y="1595628"/>
            <a:ext cx="342900" cy="342900"/>
          </a:xfrm>
          <a:prstGeom prst="rect">
            <a:avLst/>
          </a:prstGeom>
        </p:spPr>
      </p:pic>
      <p:sp>
        <p:nvSpPr>
          <p:cNvPr id="23" name="Text 15"/>
          <p:cNvSpPr txBox="1"/>
          <p:nvPr/>
        </p:nvSpPr>
        <p:spPr>
          <a:xfrm>
            <a:off x="7036223" y="2076602"/>
            <a:ext cx="1093622"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이진 라벨링</a:t>
            </a:r>
            <a:endParaRPr lang="en-US" sz="1600" dirty="0"/>
          </a:p>
        </p:txBody>
      </p:sp>
      <p:sp>
        <p:nvSpPr>
          <p:cNvPr id="24" name="Text 16"/>
          <p:cNvSpPr txBox="1"/>
          <p:nvPr/>
        </p:nvSpPr>
        <p:spPr>
          <a:xfrm>
            <a:off x="6943039" y="2419502"/>
            <a:ext cx="1281074"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Z-score 임계값 적용</a:t>
            </a:r>
            <a:endParaRPr lang="en-US" sz="1050" dirty="0"/>
          </a:p>
        </p:txBody>
      </p:sp>
      <p:pic>
        <p:nvPicPr>
          <p:cNvPr id="25" name="Image 6" descr="preencoded.png"/>
          <p:cNvPicPr>
            <a:picLocks noChangeAspect="1"/>
          </p:cNvPicPr>
          <p:nvPr/>
        </p:nvPicPr>
        <p:blipFill>
          <a:blip r:embed="rId5"/>
          <a:srcRect l="-107" r="-107"/>
          <a:stretch/>
        </p:blipFill>
        <p:spPr>
          <a:xfrm>
            <a:off x="8934602" y="1873606"/>
            <a:ext cx="267005" cy="304495"/>
          </a:xfrm>
          <a:prstGeom prst="rect">
            <a:avLst/>
          </a:prstGeom>
        </p:spPr>
      </p:pic>
      <p:sp>
        <p:nvSpPr>
          <p:cNvPr id="26" name="Shape 17"/>
          <p:cNvSpPr/>
          <p:nvPr/>
        </p:nvSpPr>
        <p:spPr>
          <a:xfrm>
            <a:off x="93918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7" name="Shape 18"/>
          <p:cNvSpPr/>
          <p:nvPr/>
        </p:nvSpPr>
        <p:spPr>
          <a:xfrm>
            <a:off x="93918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8" name="Image 7" descr="preencoded.png"/>
          <p:cNvPicPr>
            <a:picLocks noChangeAspect="1"/>
          </p:cNvPicPr>
          <p:nvPr/>
        </p:nvPicPr>
        <p:blipFill>
          <a:blip r:embed="rId8"/>
          <a:srcRect/>
          <a:stretch/>
        </p:blipFill>
        <p:spPr>
          <a:xfrm>
            <a:off x="10382098" y="1595628"/>
            <a:ext cx="342900" cy="342900"/>
          </a:xfrm>
          <a:prstGeom prst="rect">
            <a:avLst/>
          </a:prstGeom>
        </p:spPr>
      </p:pic>
      <p:sp>
        <p:nvSpPr>
          <p:cNvPr id="29" name="Text 19"/>
          <p:cNvSpPr txBox="1"/>
          <p:nvPr/>
        </p:nvSpPr>
        <p:spPr>
          <a:xfrm>
            <a:off x="9775634" y="2040969"/>
            <a:ext cx="1679753" cy="267004"/>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학습 데이터셋 완성</a:t>
            </a:r>
            <a:endParaRPr lang="en-US" sz="1600" dirty="0"/>
          </a:p>
        </p:txBody>
      </p:sp>
      <p:sp>
        <p:nvSpPr>
          <p:cNvPr id="30" name="Text 20"/>
          <p:cNvSpPr txBox="1"/>
          <p:nvPr/>
        </p:nvSpPr>
        <p:spPr>
          <a:xfrm>
            <a:off x="10133381" y="2419502"/>
            <a:ext cx="845820"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멀티라벨 분류</a:t>
            </a:r>
            <a:endParaRPr lang="en-US" sz="1050" dirty="0"/>
          </a:p>
        </p:txBody>
      </p:sp>
      <p:sp>
        <p:nvSpPr>
          <p:cNvPr id="31" name="Shape 21"/>
          <p:cNvSpPr/>
          <p:nvPr/>
        </p:nvSpPr>
        <p:spPr>
          <a:xfrm>
            <a:off x="476402"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32" name="Shape 22"/>
          <p:cNvSpPr/>
          <p:nvPr/>
        </p:nvSpPr>
        <p:spPr>
          <a:xfrm>
            <a:off x="476402"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33" name="Image 8" descr="preencoded.png"/>
          <p:cNvPicPr>
            <a:picLocks noChangeAspect="1"/>
          </p:cNvPicPr>
          <p:nvPr/>
        </p:nvPicPr>
        <p:blipFill>
          <a:blip r:embed="rId9"/>
          <a:srcRect/>
          <a:stretch/>
        </p:blipFill>
        <p:spPr>
          <a:xfrm>
            <a:off x="743407" y="3510382"/>
            <a:ext cx="228600" cy="228600"/>
          </a:xfrm>
          <a:prstGeom prst="rect">
            <a:avLst/>
          </a:prstGeom>
        </p:spPr>
      </p:pic>
      <p:sp>
        <p:nvSpPr>
          <p:cNvPr id="34" name="Text 23"/>
          <p:cNvSpPr txBox="1"/>
          <p:nvPr/>
        </p:nvSpPr>
        <p:spPr>
          <a:xfrm>
            <a:off x="1086307" y="3486607"/>
            <a:ext cx="2048256"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클러스터별 중앙값 계산</a:t>
            </a:r>
            <a:endParaRPr lang="en-US" sz="1600" dirty="0"/>
          </a:p>
        </p:txBody>
      </p:sp>
      <p:pic>
        <p:nvPicPr>
          <p:cNvPr id="35" name="Image 9" descr="preencoded.png"/>
          <p:cNvPicPr>
            <a:picLocks noChangeAspect="1"/>
          </p:cNvPicPr>
          <p:nvPr/>
        </p:nvPicPr>
        <p:blipFill>
          <a:blip r:embed="rId10"/>
          <a:srcRect t="-194579" b="-194579"/>
          <a:stretch/>
        </p:blipFill>
        <p:spPr>
          <a:xfrm>
            <a:off x="743407" y="3995928"/>
            <a:ext cx="75895" cy="371246"/>
          </a:xfrm>
          <a:prstGeom prst="rect">
            <a:avLst/>
          </a:prstGeom>
        </p:spPr>
      </p:pic>
      <p:sp>
        <p:nvSpPr>
          <p:cNvPr id="36" name="Text 24"/>
          <p:cNvSpPr txBox="1"/>
          <p:nvPr/>
        </p:nvSpPr>
        <p:spPr>
          <a:xfrm>
            <a:off x="914400" y="3938321"/>
            <a:ext cx="4668012"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각 </a:t>
            </a:r>
            <a:r>
              <a:rPr lang="en-US" sz="1100" b="1" dirty="0">
                <a:solidFill>
                  <a:srgbClr val="FF0000"/>
                </a:solidFill>
                <a:latin typeface="Noto Sans KR" pitchFamily="34" charset="0"/>
                <a:ea typeface="Noto Sans KR" pitchFamily="34" charset="-122"/>
                <a:cs typeface="Noto Sans KR" pitchFamily="34" charset="-120"/>
              </a:rPr>
              <a:t>화합물의 클러스터 수준 성장 억제 효과</a:t>
            </a:r>
            <a:r>
              <a:rPr lang="en-US" sz="1100" dirty="0">
                <a:solidFill>
                  <a:srgbClr val="475569"/>
                </a:solidFill>
                <a:latin typeface="Noto Sans KR" pitchFamily="34" charset="0"/>
                <a:ea typeface="Noto Sans KR" pitchFamily="34" charset="-122"/>
                <a:cs typeface="Noto Sans KR" pitchFamily="34" charset="-120"/>
              </a:rPr>
              <a:t>를 대표하는 단일 값으로 집계하여 모델 학습을 위한 타깃 생성</a:t>
            </a:r>
            <a:endParaRPr lang="en-US" sz="1100" dirty="0"/>
          </a:p>
        </p:txBody>
      </p:sp>
      <p:pic>
        <p:nvPicPr>
          <p:cNvPr id="37" name="Image 10" descr="preencoded.png"/>
          <p:cNvPicPr>
            <a:picLocks noChangeAspect="1"/>
          </p:cNvPicPr>
          <p:nvPr/>
        </p:nvPicPr>
        <p:blipFill>
          <a:blip r:embed="rId10"/>
          <a:srcRect t="-194579" b="-194579"/>
          <a:stretch/>
        </p:blipFill>
        <p:spPr>
          <a:xfrm>
            <a:off x="743407" y="4519879"/>
            <a:ext cx="75895" cy="371246"/>
          </a:xfrm>
          <a:prstGeom prst="rect">
            <a:avLst/>
          </a:prstGeom>
        </p:spPr>
      </p:pic>
      <p:sp>
        <p:nvSpPr>
          <p:cNvPr id="38" name="Text 25"/>
          <p:cNvSpPr txBox="1"/>
          <p:nvPr/>
        </p:nvSpPr>
        <p:spPr>
          <a:xfrm>
            <a:off x="914400" y="4462272"/>
            <a:ext cx="459232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방법</a:t>
            </a:r>
            <a:r>
              <a:rPr lang="en-US" sz="1100" dirty="0">
                <a:solidFill>
                  <a:srgbClr val="475569"/>
                </a:solidFill>
                <a:latin typeface="Noto Sans KR" pitchFamily="34" charset="0"/>
                <a:ea typeface="Noto Sans KR" pitchFamily="34" charset="-122"/>
                <a:cs typeface="Noto Sans KR" pitchFamily="34" charset="-120"/>
              </a:rPr>
              <a:t>: 각 클러스터(C1-C13)에 속한 균주들의 </a:t>
            </a:r>
            <a:r>
              <a:rPr lang="en-US" sz="1100" b="1" dirty="0">
                <a:solidFill>
                  <a:srgbClr val="FF0000"/>
                </a:solidFill>
                <a:latin typeface="Noto Sans KR" pitchFamily="34" charset="0"/>
                <a:ea typeface="Noto Sans KR" pitchFamily="34" charset="-122"/>
                <a:cs typeface="Noto Sans KR" pitchFamily="34" charset="-120"/>
              </a:rPr>
              <a:t>Z-score 중앙값(Median)을 해당 클러스터의 대표 값</a:t>
            </a:r>
            <a:r>
              <a:rPr lang="en-US" sz="1100" dirty="0">
                <a:solidFill>
                  <a:srgbClr val="475569"/>
                </a:solidFill>
                <a:latin typeface="Noto Sans KR" pitchFamily="34" charset="0"/>
                <a:ea typeface="Noto Sans KR" pitchFamily="34" charset="-122"/>
                <a:cs typeface="Noto Sans KR" pitchFamily="34" charset="-120"/>
              </a:rPr>
              <a:t>으로 사용</a:t>
            </a:r>
            <a:endParaRPr lang="en-US" sz="1100" dirty="0"/>
          </a:p>
        </p:txBody>
      </p:sp>
      <p:pic>
        <p:nvPicPr>
          <p:cNvPr id="39" name="Image 11" descr="preencoded.png"/>
          <p:cNvPicPr>
            <a:picLocks noChangeAspect="1"/>
          </p:cNvPicPr>
          <p:nvPr/>
        </p:nvPicPr>
        <p:blipFill>
          <a:blip r:embed="rId10"/>
          <a:srcRect t="-194579" b="-194579"/>
          <a:stretch/>
        </p:blipFill>
        <p:spPr>
          <a:xfrm>
            <a:off x="743407" y="5043830"/>
            <a:ext cx="75895" cy="371246"/>
          </a:xfrm>
          <a:prstGeom prst="rect">
            <a:avLst/>
          </a:prstGeom>
        </p:spPr>
      </p:pic>
      <p:sp>
        <p:nvSpPr>
          <p:cNvPr id="40" name="Text 26"/>
          <p:cNvSpPr txBox="1"/>
          <p:nvPr/>
        </p:nvSpPr>
        <p:spPr>
          <a:xfrm>
            <a:off x="914400" y="4986223"/>
            <a:ext cx="4791456"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데이터 정규화</a:t>
            </a:r>
            <a:r>
              <a:rPr lang="en-US" sz="1100" dirty="0">
                <a:solidFill>
                  <a:srgbClr val="475569"/>
                </a:solidFill>
                <a:latin typeface="Noto Sans KR" pitchFamily="34" charset="0"/>
                <a:ea typeface="Noto Sans KR" pitchFamily="34" charset="-122"/>
                <a:cs typeface="Noto Sans KR" pitchFamily="34" charset="-120"/>
              </a:rPr>
              <a:t>: Z-score는 이미 표준화된 값으로, 중앙값 사용으로 이상치(outlier)의 영향을 최소화</a:t>
            </a:r>
            <a:endParaRPr lang="en-US" sz="1100" dirty="0"/>
          </a:p>
        </p:txBody>
      </p:sp>
      <p:sp>
        <p:nvSpPr>
          <p:cNvPr id="41" name="Shape 27"/>
          <p:cNvSpPr/>
          <p:nvPr/>
        </p:nvSpPr>
        <p:spPr>
          <a:xfrm>
            <a:off x="743407" y="5586070"/>
            <a:ext cx="5009998" cy="685800"/>
          </a:xfrm>
          <a:prstGeom prst="roundRect">
            <a:avLst>
              <a:gd name="adj" fmla="val 11111"/>
            </a:avLst>
          </a:prstGeom>
          <a:solidFill>
            <a:srgbClr val="EFF6FF"/>
          </a:solidFill>
          <a:ln w="12700">
            <a:solidFill>
              <a:srgbClr val="BFDBFE"/>
            </a:solidFill>
            <a:prstDash val="solid"/>
          </a:ln>
        </p:spPr>
      </p:sp>
      <p:sp>
        <p:nvSpPr>
          <p:cNvPr id="42" name="Text 28"/>
          <p:cNvSpPr txBox="1"/>
          <p:nvPr/>
        </p:nvSpPr>
        <p:spPr>
          <a:xfrm>
            <a:off x="905256"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변환 결과</a:t>
            </a:r>
            <a:endParaRPr lang="en-US" sz="1050" dirty="0"/>
          </a:p>
        </p:txBody>
      </p:sp>
      <p:sp>
        <p:nvSpPr>
          <p:cNvPr id="43" name="Text 29"/>
          <p:cNvSpPr txBox="1"/>
          <p:nvPr/>
        </p:nvSpPr>
        <p:spPr>
          <a:xfrm>
            <a:off x="905256"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47,217 화합물 × 13 클러스터 타깃 행렬</a:t>
            </a:r>
            <a:endParaRPr lang="en-US" sz="1600" dirty="0"/>
          </a:p>
        </p:txBody>
      </p:sp>
      <p:sp>
        <p:nvSpPr>
          <p:cNvPr id="44" name="Shape 30"/>
          <p:cNvSpPr/>
          <p:nvPr/>
        </p:nvSpPr>
        <p:spPr>
          <a:xfrm>
            <a:off x="6210605"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45" name="Shape 31"/>
          <p:cNvSpPr/>
          <p:nvPr/>
        </p:nvSpPr>
        <p:spPr>
          <a:xfrm>
            <a:off x="6210605"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46" name="Image 12" descr="preencoded.png"/>
          <p:cNvPicPr>
            <a:picLocks noChangeAspect="1"/>
          </p:cNvPicPr>
          <p:nvPr/>
        </p:nvPicPr>
        <p:blipFill>
          <a:blip r:embed="rId11"/>
          <a:srcRect l="-57" r="-57"/>
          <a:stretch/>
        </p:blipFill>
        <p:spPr>
          <a:xfrm>
            <a:off x="6476695" y="3510382"/>
            <a:ext cx="200254" cy="228600"/>
          </a:xfrm>
          <a:prstGeom prst="rect">
            <a:avLst/>
          </a:prstGeom>
        </p:spPr>
      </p:pic>
      <p:sp>
        <p:nvSpPr>
          <p:cNvPr id="47" name="Text 32"/>
          <p:cNvSpPr txBox="1"/>
          <p:nvPr/>
        </p:nvSpPr>
        <p:spPr>
          <a:xfrm>
            <a:off x="6791249" y="3486607"/>
            <a:ext cx="1499616"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이진 라벨링 전략</a:t>
            </a:r>
            <a:endParaRPr lang="en-US" sz="1600" dirty="0"/>
          </a:p>
        </p:txBody>
      </p:sp>
      <p:pic>
        <p:nvPicPr>
          <p:cNvPr id="48" name="Image 13" descr="preencoded.png"/>
          <p:cNvPicPr>
            <a:picLocks noChangeAspect="1"/>
          </p:cNvPicPr>
          <p:nvPr/>
        </p:nvPicPr>
        <p:blipFill>
          <a:blip r:embed="rId10"/>
          <a:srcRect t="-194579" b="-194579"/>
          <a:stretch/>
        </p:blipFill>
        <p:spPr>
          <a:xfrm>
            <a:off x="6476695" y="3995928"/>
            <a:ext cx="75895" cy="371246"/>
          </a:xfrm>
          <a:prstGeom prst="rect">
            <a:avLst/>
          </a:prstGeom>
        </p:spPr>
      </p:pic>
      <p:sp>
        <p:nvSpPr>
          <p:cNvPr id="49" name="Text 33"/>
          <p:cNvSpPr txBox="1"/>
          <p:nvPr/>
        </p:nvSpPr>
        <p:spPr>
          <a:xfrm>
            <a:off x="6648601" y="3938321"/>
            <a:ext cx="4537559"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연속형 Z-score 값을 이진 분류 라벨(활성/비활성)로 </a:t>
            </a:r>
            <a:r>
              <a:rPr lang="en-US" sz="1100" b="1" dirty="0">
                <a:solidFill>
                  <a:srgbClr val="FF0000"/>
                </a:solidFill>
                <a:latin typeface="Noto Sans KR" pitchFamily="34" charset="0"/>
                <a:ea typeface="Noto Sans KR" pitchFamily="34" charset="-122"/>
                <a:cs typeface="Noto Sans KR" pitchFamily="34" charset="-120"/>
              </a:rPr>
              <a:t>변환하여 멀티라벨 이진 분류 문제</a:t>
            </a:r>
            <a:r>
              <a:rPr lang="en-US" sz="1100" dirty="0">
                <a:solidFill>
                  <a:srgbClr val="475569"/>
                </a:solidFill>
                <a:latin typeface="Noto Sans KR" pitchFamily="34" charset="0"/>
                <a:ea typeface="Noto Sans KR" pitchFamily="34" charset="-122"/>
                <a:cs typeface="Noto Sans KR" pitchFamily="34" charset="-120"/>
              </a:rPr>
              <a:t>로 정식화</a:t>
            </a:r>
            <a:endParaRPr lang="en-US" sz="1100" dirty="0"/>
          </a:p>
        </p:txBody>
      </p:sp>
      <p:pic>
        <p:nvPicPr>
          <p:cNvPr id="50" name="Image 14" descr="preencoded.png"/>
          <p:cNvPicPr>
            <a:picLocks noChangeAspect="1"/>
          </p:cNvPicPr>
          <p:nvPr/>
        </p:nvPicPr>
        <p:blipFill>
          <a:blip r:embed="rId10"/>
          <a:srcRect t="-194579" b="-194579"/>
          <a:stretch/>
        </p:blipFill>
        <p:spPr>
          <a:xfrm>
            <a:off x="6476695" y="4519879"/>
            <a:ext cx="75895" cy="371246"/>
          </a:xfrm>
          <a:prstGeom prst="rect">
            <a:avLst/>
          </a:prstGeom>
        </p:spPr>
      </p:pic>
      <p:sp>
        <p:nvSpPr>
          <p:cNvPr id="51" name="Text 34"/>
          <p:cNvSpPr txBox="1"/>
          <p:nvPr/>
        </p:nvSpPr>
        <p:spPr>
          <a:xfrm>
            <a:off x="6648602" y="4462272"/>
            <a:ext cx="4838091"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임계값 설정</a:t>
            </a:r>
            <a:r>
              <a:rPr lang="en-US" sz="1100" dirty="0">
                <a:solidFill>
                  <a:srgbClr val="475569"/>
                </a:solidFill>
                <a:latin typeface="Noto Sans KR" pitchFamily="34" charset="0"/>
                <a:ea typeface="Noto Sans KR" pitchFamily="34" charset="-122"/>
                <a:cs typeface="Noto Sans KR" pitchFamily="34" charset="-120"/>
              </a:rPr>
              <a:t>: Z-score ≤ -4를 활성(1), Z-score &gt; -4를 비활성(0)</a:t>
            </a:r>
            <a:r>
              <a:rPr lang="en-US" sz="1100" dirty="0" err="1">
                <a:solidFill>
                  <a:srgbClr val="475569"/>
                </a:solidFill>
                <a:latin typeface="Noto Sans KR" pitchFamily="34" charset="0"/>
                <a:ea typeface="Noto Sans KR" pitchFamily="34" charset="-122"/>
                <a:cs typeface="Noto Sans KR" pitchFamily="34" charset="-120"/>
              </a:rPr>
              <a:t>으로</a:t>
            </a:r>
            <a:r>
              <a:rPr lang="en-US" sz="1100" dirty="0">
                <a:solidFill>
                  <a:srgbClr val="475569"/>
                </a:solidFill>
                <a:latin typeface="Noto Sans KR" pitchFamily="34" charset="0"/>
                <a:ea typeface="Noto Sans KR" pitchFamily="34" charset="-122"/>
                <a:cs typeface="Noto Sans KR" pitchFamily="34" charset="-120"/>
              </a:rPr>
              <a:t> </a:t>
            </a:r>
            <a:r>
              <a:rPr lang="en-US" sz="1100" dirty="0" err="1" smtClean="0">
                <a:solidFill>
                  <a:srgbClr val="475569"/>
                </a:solidFill>
                <a:latin typeface="Noto Sans KR" pitchFamily="34" charset="0"/>
                <a:ea typeface="Noto Sans KR" pitchFamily="34" charset="-122"/>
                <a:cs typeface="Noto Sans KR" pitchFamily="34" charset="-120"/>
              </a:rPr>
              <a:t>정의</a:t>
            </a:r>
            <a:endParaRPr lang="en-US" sz="1100" dirty="0" smtClean="0">
              <a:solidFill>
                <a:srgbClr val="475569"/>
              </a:solidFill>
              <a:latin typeface="Noto Sans KR" pitchFamily="34" charset="0"/>
              <a:ea typeface="Noto Sans KR" pitchFamily="34" charset="-122"/>
              <a:cs typeface="Noto Sans KR" pitchFamily="34" charset="-120"/>
            </a:endParaRPr>
          </a:p>
          <a:p>
            <a:pPr marL="0" indent="0" algn="l">
              <a:buNone/>
            </a:pPr>
            <a:r>
              <a:rPr lang="en-US" sz="1100" dirty="0" smtClean="0">
                <a:solidFill>
                  <a:srgbClr val="475569"/>
                </a:solidFill>
                <a:latin typeface="Noto Sans KR" pitchFamily="34" charset="0"/>
                <a:ea typeface="Noto Sans KR" pitchFamily="34" charset="-122"/>
                <a:cs typeface="Noto Sans KR" pitchFamily="34" charset="-120"/>
              </a:rPr>
              <a:t>(</a:t>
            </a:r>
            <a:r>
              <a:rPr lang="en-US" sz="1100" dirty="0">
                <a:solidFill>
                  <a:srgbClr val="475569"/>
                </a:solidFill>
                <a:latin typeface="Noto Sans KR" pitchFamily="34" charset="0"/>
                <a:ea typeface="Noto Sans KR" pitchFamily="34" charset="-122"/>
                <a:cs typeface="Noto Sans KR" pitchFamily="34" charset="-120"/>
              </a:rPr>
              <a:t>통계적 유의성 기준)</a:t>
            </a:r>
            <a:endParaRPr lang="en-US" sz="1100" dirty="0"/>
          </a:p>
        </p:txBody>
      </p:sp>
      <p:pic>
        <p:nvPicPr>
          <p:cNvPr id="52" name="Image 15" descr="preencoded.png"/>
          <p:cNvPicPr>
            <a:picLocks noChangeAspect="1"/>
          </p:cNvPicPr>
          <p:nvPr/>
        </p:nvPicPr>
        <p:blipFill>
          <a:blip r:embed="rId10"/>
          <a:srcRect t="-194579" b="-194579"/>
          <a:stretch/>
        </p:blipFill>
        <p:spPr>
          <a:xfrm>
            <a:off x="6476695" y="5043830"/>
            <a:ext cx="75895" cy="371246"/>
          </a:xfrm>
          <a:prstGeom prst="rect">
            <a:avLst/>
          </a:prstGeom>
        </p:spPr>
      </p:pic>
      <p:sp>
        <p:nvSpPr>
          <p:cNvPr id="53" name="Text 35"/>
          <p:cNvSpPr txBox="1"/>
          <p:nvPr/>
        </p:nvSpPr>
        <p:spPr>
          <a:xfrm>
            <a:off x="6648603" y="4986223"/>
            <a:ext cx="4537558"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클래스 불균형</a:t>
            </a:r>
            <a:r>
              <a:rPr lang="en-US" sz="1100" dirty="0">
                <a:solidFill>
                  <a:srgbClr val="475569"/>
                </a:solidFill>
                <a:latin typeface="Noto Sans KR" pitchFamily="34" charset="0"/>
                <a:ea typeface="Noto Sans KR" pitchFamily="34" charset="-122"/>
                <a:cs typeface="Noto Sans KR" pitchFamily="34" charset="-120"/>
              </a:rPr>
              <a:t>: 전체 데이터의 평균 4%가 활성 클래스로 분류되어 불균형 분류 문제 대응 필요</a:t>
            </a:r>
            <a:endParaRPr lang="en-US" sz="1100" dirty="0"/>
          </a:p>
        </p:txBody>
      </p:sp>
      <p:sp>
        <p:nvSpPr>
          <p:cNvPr id="54" name="Shape 36"/>
          <p:cNvSpPr/>
          <p:nvPr/>
        </p:nvSpPr>
        <p:spPr>
          <a:xfrm>
            <a:off x="6476695" y="5586070"/>
            <a:ext cx="5009998" cy="685800"/>
          </a:xfrm>
          <a:prstGeom prst="roundRect">
            <a:avLst>
              <a:gd name="adj" fmla="val 11111"/>
            </a:avLst>
          </a:prstGeom>
          <a:solidFill>
            <a:srgbClr val="EFF6FF"/>
          </a:solidFill>
          <a:ln w="12700">
            <a:solidFill>
              <a:srgbClr val="BFDBFE"/>
            </a:solidFill>
            <a:prstDash val="solid"/>
          </a:ln>
        </p:spPr>
      </p:sp>
      <p:sp>
        <p:nvSpPr>
          <p:cNvPr id="55" name="Text 37"/>
          <p:cNvSpPr txBox="1"/>
          <p:nvPr/>
        </p:nvSpPr>
        <p:spPr>
          <a:xfrm>
            <a:off x="6638544" y="5710428"/>
            <a:ext cx="480060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데이터 분할 (Scaffold Split)</a:t>
            </a:r>
            <a:endParaRPr lang="en-US" sz="1050" dirty="0"/>
          </a:p>
        </p:txBody>
      </p:sp>
      <p:sp>
        <p:nvSpPr>
          <p:cNvPr id="56" name="Text 38"/>
          <p:cNvSpPr txBox="1"/>
          <p:nvPr/>
        </p:nvSpPr>
        <p:spPr>
          <a:xfrm>
            <a:off x="6638544"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훈련 80% / 검증 10% / 테스트 10%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Shape 2"/>
          <p:cNvSpPr/>
          <p:nvPr/>
        </p:nvSpPr>
        <p:spPr>
          <a:xfrm>
            <a:off x="476402" y="228600"/>
            <a:ext cx="886054" cy="381305"/>
          </a:xfrm>
          <a:prstGeom prst="roundRect">
            <a:avLst>
              <a:gd name="adj" fmla="val 119904"/>
            </a:avLst>
          </a:prstGeom>
          <a:solidFill>
            <a:srgbClr val="3B82F6"/>
          </a:solidFill>
          <a:ln w="12700">
            <a:solidFill>
              <a:srgbClr val="FFFFFF">
                <a:alpha val="0"/>
              </a:srgbClr>
            </a:solidFill>
            <a:prstDash val="solid"/>
          </a:ln>
        </p:spPr>
      </p:sp>
      <p:sp>
        <p:nvSpPr>
          <p:cNvPr id="5" name="Text 3"/>
          <p:cNvSpPr txBox="1"/>
          <p:nvPr/>
        </p:nvSpPr>
        <p:spPr>
          <a:xfrm>
            <a:off x="666598" y="304495"/>
            <a:ext cx="600761" cy="228600"/>
          </a:xfrm>
          <a:prstGeom prst="rect">
            <a:avLst/>
          </a:prstGeom>
          <a:noFill/>
          <a:ln/>
        </p:spPr>
        <p:txBody>
          <a:bodyPr wrap="square" lIns="0" tIns="0" rIns="0" bIns="0" rtlCol="0" anchor="ctr"/>
          <a:lstStyle/>
          <a:p>
            <a:pPr marL="0" indent="0" algn="l">
              <a:buNone/>
            </a:pPr>
            <a:r>
              <a:rPr lang="en-US" sz="1200" b="1" kern="0" spc="38" dirty="0">
                <a:solidFill>
                  <a:srgbClr val="FFFFFF"/>
                </a:solidFill>
                <a:latin typeface="Noto Sans KR" pitchFamily="34" charset="0"/>
                <a:ea typeface="Noto Sans KR" pitchFamily="34" charset="-122"/>
                <a:cs typeface="Noto Sans KR" pitchFamily="34" charset="-120"/>
              </a:rPr>
              <a:t>Step 4</a:t>
            </a:r>
            <a:endParaRPr lang="en-US" sz="1200" dirty="0"/>
          </a:p>
        </p:txBody>
      </p:sp>
      <p:sp>
        <p:nvSpPr>
          <p:cNvPr id="6" name="Text 4"/>
          <p:cNvSpPr txBox="1"/>
          <p:nvPr/>
        </p:nvSpPr>
        <p:spPr>
          <a:xfrm>
            <a:off x="1545336" y="190195"/>
            <a:ext cx="2768803"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D-MPNN 모델 구축</a:t>
            </a:r>
            <a:endParaRPr lang="en-US" sz="2400" dirty="0"/>
          </a:p>
        </p:txBody>
      </p:sp>
      <p:pic>
        <p:nvPicPr>
          <p:cNvPr id="7" name="Image 0" descr="preencoded.png"/>
          <p:cNvPicPr>
            <a:picLocks noChangeAspect="1"/>
          </p:cNvPicPr>
          <p:nvPr/>
        </p:nvPicPr>
        <p:blipFill>
          <a:blip r:embed="rId3"/>
          <a:srcRect/>
          <a:stretch/>
        </p:blipFill>
        <p:spPr>
          <a:xfrm>
            <a:off x="11410798" y="286207"/>
            <a:ext cx="304495" cy="304495"/>
          </a:xfrm>
          <a:prstGeom prst="rect">
            <a:avLst/>
          </a:prstGeom>
        </p:spPr>
      </p:pic>
      <p:sp>
        <p:nvSpPr>
          <p:cNvPr id="8" name="Shape 5"/>
          <p:cNvSpPr/>
          <p:nvPr/>
        </p:nvSpPr>
        <p:spPr>
          <a:xfrm>
            <a:off x="4764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9" name="Shape 6"/>
          <p:cNvSpPr/>
          <p:nvPr/>
        </p:nvSpPr>
        <p:spPr>
          <a:xfrm>
            <a:off x="4764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0" name="Image 1" descr="preencoded.png"/>
          <p:cNvPicPr>
            <a:picLocks noChangeAspect="1"/>
          </p:cNvPicPr>
          <p:nvPr/>
        </p:nvPicPr>
        <p:blipFill>
          <a:blip r:embed="rId4"/>
          <a:srcRect l="-607" r="-607"/>
          <a:stretch/>
        </p:blipFill>
        <p:spPr>
          <a:xfrm>
            <a:off x="1442923" y="1595628"/>
            <a:ext cx="390449" cy="342900"/>
          </a:xfrm>
          <a:prstGeom prst="rect">
            <a:avLst/>
          </a:prstGeom>
        </p:spPr>
      </p:pic>
      <p:sp>
        <p:nvSpPr>
          <p:cNvPr id="11" name="Text 7"/>
          <p:cNvSpPr txBox="1"/>
          <p:nvPr/>
        </p:nvSpPr>
        <p:spPr>
          <a:xfrm>
            <a:off x="892453" y="2039112"/>
            <a:ext cx="1491387" cy="285293"/>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분자 그래프 입력</a:t>
            </a:r>
            <a:endParaRPr lang="en-US" sz="1600" dirty="0"/>
          </a:p>
        </p:txBody>
      </p:sp>
      <p:sp>
        <p:nvSpPr>
          <p:cNvPr id="12" name="Text 8"/>
          <p:cNvSpPr txBox="1"/>
          <p:nvPr/>
        </p:nvSpPr>
        <p:spPr>
          <a:xfrm>
            <a:off x="1178662" y="2419502"/>
            <a:ext cx="923544"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원자/결합 특징</a:t>
            </a:r>
            <a:endParaRPr lang="en-US" sz="1050" dirty="0"/>
          </a:p>
        </p:txBody>
      </p:sp>
      <p:pic>
        <p:nvPicPr>
          <p:cNvPr id="13" name="Image 2" descr="preencoded.png"/>
          <p:cNvPicPr>
            <a:picLocks noChangeAspect="1"/>
          </p:cNvPicPr>
          <p:nvPr/>
        </p:nvPicPr>
        <p:blipFill>
          <a:blip r:embed="rId5"/>
          <a:srcRect l="-107" r="-107"/>
          <a:stretch/>
        </p:blipFill>
        <p:spPr>
          <a:xfrm>
            <a:off x="2991002" y="1873606"/>
            <a:ext cx="267005" cy="304495"/>
          </a:xfrm>
          <a:prstGeom prst="rect">
            <a:avLst/>
          </a:prstGeom>
        </p:spPr>
      </p:pic>
      <p:sp>
        <p:nvSpPr>
          <p:cNvPr id="14" name="Shape 9"/>
          <p:cNvSpPr/>
          <p:nvPr/>
        </p:nvSpPr>
        <p:spPr>
          <a:xfrm>
            <a:off x="34482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15" name="Shape 10"/>
          <p:cNvSpPr/>
          <p:nvPr/>
        </p:nvSpPr>
        <p:spPr>
          <a:xfrm>
            <a:off x="34482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6" name="Image 3" descr="preencoded.png"/>
          <p:cNvPicPr>
            <a:picLocks noChangeAspect="1"/>
          </p:cNvPicPr>
          <p:nvPr/>
        </p:nvPicPr>
        <p:blipFill>
          <a:blip r:embed="rId6"/>
          <a:srcRect/>
          <a:stretch/>
        </p:blipFill>
        <p:spPr>
          <a:xfrm>
            <a:off x="4438498" y="1595628"/>
            <a:ext cx="342900" cy="342900"/>
          </a:xfrm>
          <a:prstGeom prst="rect">
            <a:avLst/>
          </a:prstGeom>
        </p:spPr>
      </p:pic>
      <p:sp>
        <p:nvSpPr>
          <p:cNvPr id="17" name="Text 11"/>
          <p:cNvSpPr txBox="1"/>
          <p:nvPr/>
        </p:nvSpPr>
        <p:spPr>
          <a:xfrm>
            <a:off x="3802217" y="2039112"/>
            <a:ext cx="1615462" cy="304495"/>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메시지 전달 단계</a:t>
            </a:r>
            <a:endParaRPr lang="en-US" sz="1600" dirty="0"/>
          </a:p>
        </p:txBody>
      </p:sp>
      <p:sp>
        <p:nvSpPr>
          <p:cNvPr id="18" name="Text 12"/>
          <p:cNvSpPr txBox="1"/>
          <p:nvPr/>
        </p:nvSpPr>
        <p:spPr>
          <a:xfrm>
            <a:off x="4153205" y="2419502"/>
            <a:ext cx="923544"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결합 중심 학습</a:t>
            </a:r>
            <a:endParaRPr lang="en-US" sz="1050" dirty="0"/>
          </a:p>
        </p:txBody>
      </p:sp>
      <p:pic>
        <p:nvPicPr>
          <p:cNvPr id="19" name="Image 4" descr="preencoded.png"/>
          <p:cNvPicPr>
            <a:picLocks noChangeAspect="1"/>
          </p:cNvPicPr>
          <p:nvPr/>
        </p:nvPicPr>
        <p:blipFill>
          <a:blip r:embed="rId5"/>
          <a:srcRect l="-107" r="-107"/>
          <a:stretch/>
        </p:blipFill>
        <p:spPr>
          <a:xfrm>
            <a:off x="5962802" y="1873606"/>
            <a:ext cx="267005" cy="304495"/>
          </a:xfrm>
          <a:prstGeom prst="rect">
            <a:avLst/>
          </a:prstGeom>
        </p:spPr>
      </p:pic>
      <p:sp>
        <p:nvSpPr>
          <p:cNvPr id="20" name="Shape 13"/>
          <p:cNvSpPr/>
          <p:nvPr/>
        </p:nvSpPr>
        <p:spPr>
          <a:xfrm>
            <a:off x="64200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64200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2" name="Image 5" descr="preencoded.png"/>
          <p:cNvPicPr>
            <a:picLocks noChangeAspect="1"/>
          </p:cNvPicPr>
          <p:nvPr/>
        </p:nvPicPr>
        <p:blipFill>
          <a:blip r:embed="rId7"/>
          <a:srcRect l="-607" r="-607"/>
          <a:stretch/>
        </p:blipFill>
        <p:spPr>
          <a:xfrm>
            <a:off x="7386523" y="1595628"/>
            <a:ext cx="390449" cy="342900"/>
          </a:xfrm>
          <a:prstGeom prst="rect">
            <a:avLst/>
          </a:prstGeom>
        </p:spPr>
      </p:pic>
      <p:sp>
        <p:nvSpPr>
          <p:cNvPr id="23" name="Text 15"/>
          <p:cNvSpPr txBox="1"/>
          <p:nvPr/>
        </p:nvSpPr>
        <p:spPr>
          <a:xfrm>
            <a:off x="6944151" y="2065629"/>
            <a:ext cx="1277219"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Readout 단계</a:t>
            </a:r>
            <a:endParaRPr lang="en-US" sz="1600" dirty="0"/>
          </a:p>
        </p:txBody>
      </p:sp>
      <p:sp>
        <p:nvSpPr>
          <p:cNvPr id="24" name="Text 16"/>
          <p:cNvSpPr txBox="1"/>
          <p:nvPr/>
        </p:nvSpPr>
        <p:spPr>
          <a:xfrm>
            <a:off x="7060997" y="2419502"/>
            <a:ext cx="1051560"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그래프 표현 생성</a:t>
            </a:r>
            <a:endParaRPr lang="en-US" sz="1050" dirty="0"/>
          </a:p>
        </p:txBody>
      </p:sp>
      <p:pic>
        <p:nvPicPr>
          <p:cNvPr id="25" name="Image 6" descr="preencoded.png"/>
          <p:cNvPicPr>
            <a:picLocks noChangeAspect="1"/>
          </p:cNvPicPr>
          <p:nvPr/>
        </p:nvPicPr>
        <p:blipFill>
          <a:blip r:embed="rId5"/>
          <a:srcRect l="-107" r="-107"/>
          <a:stretch/>
        </p:blipFill>
        <p:spPr>
          <a:xfrm>
            <a:off x="8934602" y="1873606"/>
            <a:ext cx="267005" cy="304495"/>
          </a:xfrm>
          <a:prstGeom prst="rect">
            <a:avLst/>
          </a:prstGeom>
        </p:spPr>
      </p:pic>
      <p:sp>
        <p:nvSpPr>
          <p:cNvPr id="26" name="Shape 17"/>
          <p:cNvSpPr/>
          <p:nvPr/>
        </p:nvSpPr>
        <p:spPr>
          <a:xfrm>
            <a:off x="93918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7" name="Shape 18"/>
          <p:cNvSpPr/>
          <p:nvPr/>
        </p:nvSpPr>
        <p:spPr>
          <a:xfrm>
            <a:off x="93918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8" name="Image 7" descr="preencoded.png"/>
          <p:cNvPicPr>
            <a:picLocks noChangeAspect="1"/>
          </p:cNvPicPr>
          <p:nvPr/>
        </p:nvPicPr>
        <p:blipFill>
          <a:blip r:embed="rId8"/>
          <a:srcRect l="-743" r="-743"/>
          <a:stretch/>
        </p:blipFill>
        <p:spPr>
          <a:xfrm>
            <a:off x="10401300" y="1595628"/>
            <a:ext cx="304495" cy="342900"/>
          </a:xfrm>
          <a:prstGeom prst="rect">
            <a:avLst/>
          </a:prstGeom>
        </p:spPr>
      </p:pic>
      <p:sp>
        <p:nvSpPr>
          <p:cNvPr id="29" name="Text 19"/>
          <p:cNvSpPr txBox="1"/>
          <p:nvPr/>
        </p:nvSpPr>
        <p:spPr>
          <a:xfrm>
            <a:off x="9976104" y="2068749"/>
            <a:ext cx="1163116"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RDKit 결합</a:t>
            </a:r>
            <a:endParaRPr lang="en-US" sz="1600" dirty="0"/>
          </a:p>
        </p:txBody>
      </p:sp>
      <p:sp>
        <p:nvSpPr>
          <p:cNvPr id="30" name="Text 20"/>
          <p:cNvSpPr txBox="1"/>
          <p:nvPr/>
        </p:nvSpPr>
        <p:spPr>
          <a:xfrm>
            <a:off x="9976104" y="2419502"/>
            <a:ext cx="1163117"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200개 분자 기술자</a:t>
            </a:r>
            <a:endParaRPr lang="en-US" sz="1050" dirty="0"/>
          </a:p>
        </p:txBody>
      </p:sp>
      <p:sp>
        <p:nvSpPr>
          <p:cNvPr id="31" name="Shape 21"/>
          <p:cNvSpPr/>
          <p:nvPr/>
        </p:nvSpPr>
        <p:spPr>
          <a:xfrm>
            <a:off x="476402"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32" name="Shape 22"/>
          <p:cNvSpPr/>
          <p:nvPr/>
        </p:nvSpPr>
        <p:spPr>
          <a:xfrm>
            <a:off x="476402"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33" name="Image 8" descr="preencoded.png"/>
          <p:cNvPicPr>
            <a:picLocks noChangeAspect="1"/>
          </p:cNvPicPr>
          <p:nvPr/>
        </p:nvPicPr>
        <p:blipFill>
          <a:blip r:embed="rId9"/>
          <a:srcRect l="-80" r="-80"/>
          <a:stretch/>
        </p:blipFill>
        <p:spPr>
          <a:xfrm>
            <a:off x="743407" y="3510382"/>
            <a:ext cx="286207" cy="228600"/>
          </a:xfrm>
          <a:prstGeom prst="rect">
            <a:avLst/>
          </a:prstGeom>
        </p:spPr>
      </p:pic>
      <p:sp>
        <p:nvSpPr>
          <p:cNvPr id="34" name="Text 23"/>
          <p:cNvSpPr txBox="1"/>
          <p:nvPr/>
        </p:nvSpPr>
        <p:spPr>
          <a:xfrm>
            <a:off x="1142999" y="3486607"/>
            <a:ext cx="1765705"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D-MPNN 아키텍처</a:t>
            </a:r>
            <a:endParaRPr lang="en-US" sz="1600" dirty="0"/>
          </a:p>
        </p:txBody>
      </p:sp>
      <p:pic>
        <p:nvPicPr>
          <p:cNvPr id="35" name="Image 9" descr="preencoded.png"/>
          <p:cNvPicPr>
            <a:picLocks noChangeAspect="1"/>
          </p:cNvPicPr>
          <p:nvPr/>
        </p:nvPicPr>
        <p:blipFill>
          <a:blip r:embed="rId10"/>
          <a:srcRect t="-194579" b="-194579"/>
          <a:stretch/>
        </p:blipFill>
        <p:spPr>
          <a:xfrm>
            <a:off x="743407" y="3995928"/>
            <a:ext cx="75895" cy="371246"/>
          </a:xfrm>
          <a:prstGeom prst="rect">
            <a:avLst/>
          </a:prstGeom>
        </p:spPr>
      </p:pic>
      <p:sp>
        <p:nvSpPr>
          <p:cNvPr id="36" name="Text 24"/>
          <p:cNvSpPr txBox="1"/>
          <p:nvPr/>
        </p:nvSpPr>
        <p:spPr>
          <a:xfrm>
            <a:off x="914400" y="3938321"/>
            <a:ext cx="4839005"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핵심 개념</a:t>
            </a:r>
            <a:r>
              <a:rPr lang="en-US" sz="1100" dirty="0">
                <a:solidFill>
                  <a:srgbClr val="475569"/>
                </a:solidFill>
                <a:latin typeface="Noto Sans KR" pitchFamily="34" charset="0"/>
                <a:ea typeface="Noto Sans KR" pitchFamily="34" charset="-122"/>
                <a:cs typeface="Noto Sans KR" pitchFamily="34" charset="-120"/>
              </a:rPr>
              <a:t>: 기존 MPNN과 달리 원자가 아닌 </a:t>
            </a:r>
            <a:r>
              <a:rPr lang="en-US" sz="1100" b="1" dirty="0">
                <a:solidFill>
                  <a:srgbClr val="FF0000"/>
                </a:solidFill>
                <a:latin typeface="Noto Sans KR" pitchFamily="34" charset="0"/>
                <a:ea typeface="Noto Sans KR" pitchFamily="34" charset="-122"/>
                <a:cs typeface="Noto Sans KR" pitchFamily="34" charset="-120"/>
              </a:rPr>
              <a:t>결합(Bond)을 중심으로 메시지 전달</a:t>
            </a:r>
            <a:r>
              <a:rPr lang="en-US" sz="1100" dirty="0">
                <a:solidFill>
                  <a:srgbClr val="475569"/>
                </a:solidFill>
                <a:latin typeface="Noto Sans KR" pitchFamily="34" charset="0"/>
                <a:ea typeface="Noto Sans KR" pitchFamily="34" charset="-122"/>
                <a:cs typeface="Noto Sans KR" pitchFamily="34" charset="-120"/>
              </a:rPr>
              <a:t>을 수행하여 더 효율적인 분자 표현 학습</a:t>
            </a:r>
            <a:endParaRPr lang="en-US" sz="1100" dirty="0"/>
          </a:p>
        </p:txBody>
      </p:sp>
      <p:pic>
        <p:nvPicPr>
          <p:cNvPr id="37" name="Image 10" descr="preencoded.png"/>
          <p:cNvPicPr>
            <a:picLocks noChangeAspect="1"/>
          </p:cNvPicPr>
          <p:nvPr/>
        </p:nvPicPr>
        <p:blipFill>
          <a:blip r:embed="rId10"/>
          <a:srcRect t="-194579" b="-194579"/>
          <a:stretch/>
        </p:blipFill>
        <p:spPr>
          <a:xfrm>
            <a:off x="743407" y="4519879"/>
            <a:ext cx="75895" cy="371246"/>
          </a:xfrm>
          <a:prstGeom prst="rect">
            <a:avLst/>
          </a:prstGeom>
        </p:spPr>
      </p:pic>
      <p:sp>
        <p:nvSpPr>
          <p:cNvPr id="38" name="Text 25"/>
          <p:cNvSpPr txBox="1"/>
          <p:nvPr/>
        </p:nvSpPr>
        <p:spPr>
          <a:xfrm>
            <a:off x="914400" y="4462272"/>
            <a:ext cx="472562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루프 회피</a:t>
            </a:r>
            <a:r>
              <a:rPr lang="en-US" sz="1100" dirty="0">
                <a:solidFill>
                  <a:srgbClr val="475569"/>
                </a:solidFill>
                <a:latin typeface="Noto Sans KR" pitchFamily="34" charset="0"/>
                <a:ea typeface="Noto Sans KR" pitchFamily="34" charset="-122"/>
                <a:cs typeface="Noto Sans KR" pitchFamily="34" charset="-120"/>
              </a:rPr>
              <a:t>: Directed 방식으로 메시지를 전달하여 </a:t>
            </a:r>
            <a:r>
              <a:rPr lang="en-US" sz="1100" b="1" dirty="0">
                <a:solidFill>
                  <a:srgbClr val="FF0000"/>
                </a:solidFill>
                <a:latin typeface="Noto Sans KR" pitchFamily="34" charset="0"/>
                <a:ea typeface="Noto Sans KR" pitchFamily="34" charset="-122"/>
                <a:cs typeface="Noto Sans KR" pitchFamily="34" charset="-120"/>
              </a:rPr>
              <a:t>불필요한 순환 정보를 제거</a:t>
            </a:r>
            <a:r>
              <a:rPr lang="en-US" sz="1100" dirty="0">
                <a:solidFill>
                  <a:srgbClr val="475569"/>
                </a:solidFill>
                <a:latin typeface="Noto Sans KR" pitchFamily="34" charset="0"/>
                <a:ea typeface="Noto Sans KR" pitchFamily="34" charset="-122"/>
                <a:cs typeface="Noto Sans KR" pitchFamily="34" charset="-120"/>
              </a:rPr>
              <a:t>하고 계산 효율성 향상</a:t>
            </a:r>
            <a:endParaRPr lang="en-US" sz="1100" dirty="0"/>
          </a:p>
        </p:txBody>
      </p:sp>
      <p:pic>
        <p:nvPicPr>
          <p:cNvPr id="39" name="Image 11" descr="preencoded.png"/>
          <p:cNvPicPr>
            <a:picLocks noChangeAspect="1"/>
          </p:cNvPicPr>
          <p:nvPr/>
        </p:nvPicPr>
        <p:blipFill>
          <a:blip r:embed="rId10"/>
          <a:srcRect t="-194579" b="-194579"/>
          <a:stretch/>
        </p:blipFill>
        <p:spPr>
          <a:xfrm>
            <a:off x="743407" y="5043830"/>
            <a:ext cx="75895" cy="371246"/>
          </a:xfrm>
          <a:prstGeom prst="rect">
            <a:avLst/>
          </a:prstGeom>
        </p:spPr>
      </p:pic>
      <p:sp>
        <p:nvSpPr>
          <p:cNvPr id="40" name="Text 26"/>
          <p:cNvSpPr txBox="1"/>
          <p:nvPr/>
        </p:nvSpPr>
        <p:spPr>
          <a:xfrm>
            <a:off x="914400" y="4986223"/>
            <a:ext cx="460248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메시지 전달</a:t>
            </a:r>
            <a:r>
              <a:rPr lang="en-US" sz="1100" dirty="0">
                <a:solidFill>
                  <a:srgbClr val="475569"/>
                </a:solidFill>
                <a:latin typeface="Noto Sans KR" pitchFamily="34" charset="0"/>
                <a:ea typeface="Noto Sans KR" pitchFamily="34" charset="-122"/>
                <a:cs typeface="Noto Sans KR" pitchFamily="34" charset="-120"/>
              </a:rPr>
              <a:t>: 각 결합의 hidden state를 이웃 결합들로부터의 정보를 집계하여 반복적으로 업데이트</a:t>
            </a:r>
            <a:endParaRPr lang="en-US" sz="1100" dirty="0"/>
          </a:p>
        </p:txBody>
      </p:sp>
      <p:sp>
        <p:nvSpPr>
          <p:cNvPr id="41" name="Shape 27"/>
          <p:cNvSpPr/>
          <p:nvPr/>
        </p:nvSpPr>
        <p:spPr>
          <a:xfrm>
            <a:off x="743407" y="5586070"/>
            <a:ext cx="5009998" cy="685800"/>
          </a:xfrm>
          <a:prstGeom prst="roundRect">
            <a:avLst>
              <a:gd name="adj" fmla="val 11111"/>
            </a:avLst>
          </a:prstGeom>
          <a:solidFill>
            <a:srgbClr val="EFF6FF"/>
          </a:solidFill>
          <a:ln w="12700">
            <a:solidFill>
              <a:srgbClr val="BFDBFE"/>
            </a:solidFill>
            <a:prstDash val="solid"/>
          </a:ln>
        </p:spPr>
      </p:sp>
      <p:sp>
        <p:nvSpPr>
          <p:cNvPr id="42" name="Text 28"/>
          <p:cNvSpPr txBox="1"/>
          <p:nvPr/>
        </p:nvSpPr>
        <p:spPr>
          <a:xfrm>
            <a:off x="905256"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구현 프레임워크</a:t>
            </a:r>
            <a:endParaRPr lang="en-US" sz="1050" dirty="0"/>
          </a:p>
        </p:txBody>
      </p:sp>
      <p:sp>
        <p:nvSpPr>
          <p:cNvPr id="43" name="Text 29"/>
          <p:cNvSpPr txBox="1"/>
          <p:nvPr/>
        </p:nvSpPr>
        <p:spPr>
          <a:xfrm>
            <a:off x="905256"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Chemprop (PyTorch 기반)</a:t>
            </a:r>
            <a:endParaRPr lang="en-US" sz="1600" dirty="0"/>
          </a:p>
        </p:txBody>
      </p:sp>
      <p:sp>
        <p:nvSpPr>
          <p:cNvPr id="44" name="Shape 30"/>
          <p:cNvSpPr/>
          <p:nvPr/>
        </p:nvSpPr>
        <p:spPr>
          <a:xfrm>
            <a:off x="6210605"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45" name="Shape 31"/>
          <p:cNvSpPr/>
          <p:nvPr/>
        </p:nvSpPr>
        <p:spPr>
          <a:xfrm>
            <a:off x="6210605"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46" name="Image 12" descr="preencoded.png"/>
          <p:cNvPicPr>
            <a:picLocks noChangeAspect="1"/>
          </p:cNvPicPr>
          <p:nvPr/>
        </p:nvPicPr>
        <p:blipFill>
          <a:blip r:embed="rId11"/>
          <a:srcRect/>
          <a:stretch/>
        </p:blipFill>
        <p:spPr>
          <a:xfrm>
            <a:off x="6476695" y="3510382"/>
            <a:ext cx="228600" cy="228600"/>
          </a:xfrm>
          <a:prstGeom prst="rect">
            <a:avLst/>
          </a:prstGeom>
        </p:spPr>
      </p:pic>
      <p:sp>
        <p:nvSpPr>
          <p:cNvPr id="47" name="Text 32"/>
          <p:cNvSpPr txBox="1"/>
          <p:nvPr/>
        </p:nvSpPr>
        <p:spPr>
          <a:xfrm>
            <a:off x="6819595" y="3486607"/>
            <a:ext cx="1633118"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RDKit 기술자 통합</a:t>
            </a:r>
            <a:endParaRPr lang="en-US" sz="1600" dirty="0"/>
          </a:p>
        </p:txBody>
      </p:sp>
      <p:pic>
        <p:nvPicPr>
          <p:cNvPr id="48" name="Image 13" descr="preencoded.png"/>
          <p:cNvPicPr>
            <a:picLocks noChangeAspect="1"/>
          </p:cNvPicPr>
          <p:nvPr/>
        </p:nvPicPr>
        <p:blipFill>
          <a:blip r:embed="rId10"/>
          <a:srcRect t="-194579" b="-194579"/>
          <a:stretch/>
        </p:blipFill>
        <p:spPr>
          <a:xfrm>
            <a:off x="6476695" y="3995928"/>
            <a:ext cx="75895" cy="371246"/>
          </a:xfrm>
          <a:prstGeom prst="rect">
            <a:avLst/>
          </a:prstGeom>
        </p:spPr>
      </p:pic>
      <p:sp>
        <p:nvSpPr>
          <p:cNvPr id="49" name="Text 33"/>
          <p:cNvSpPr txBox="1"/>
          <p:nvPr/>
        </p:nvSpPr>
        <p:spPr>
          <a:xfrm>
            <a:off x="6648602" y="3938321"/>
            <a:ext cx="4762196"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그래프 표현만으로는 포착하기 어려운 </a:t>
            </a:r>
            <a:r>
              <a:rPr lang="en-US" sz="1100" b="1" dirty="0">
                <a:solidFill>
                  <a:srgbClr val="FF0000"/>
                </a:solidFill>
                <a:latin typeface="Noto Sans KR" pitchFamily="34" charset="0"/>
                <a:ea typeface="Noto Sans KR" pitchFamily="34" charset="-122"/>
                <a:cs typeface="Noto Sans KR" pitchFamily="34" charset="-120"/>
              </a:rPr>
              <a:t>전역적(Global) 분자 특성을 보완</a:t>
            </a:r>
            <a:r>
              <a:rPr lang="en-US" sz="1100" dirty="0">
                <a:solidFill>
                  <a:srgbClr val="475569"/>
                </a:solidFill>
                <a:latin typeface="Noto Sans KR" pitchFamily="34" charset="0"/>
                <a:ea typeface="Noto Sans KR" pitchFamily="34" charset="-122"/>
                <a:cs typeface="Noto Sans KR" pitchFamily="34" charset="-120"/>
              </a:rPr>
              <a:t>하여 예측 성능 향상</a:t>
            </a:r>
            <a:endParaRPr lang="en-US" sz="1100" dirty="0"/>
          </a:p>
        </p:txBody>
      </p:sp>
      <p:pic>
        <p:nvPicPr>
          <p:cNvPr id="50" name="Image 14" descr="preencoded.png"/>
          <p:cNvPicPr>
            <a:picLocks noChangeAspect="1"/>
          </p:cNvPicPr>
          <p:nvPr/>
        </p:nvPicPr>
        <p:blipFill>
          <a:blip r:embed="rId10"/>
          <a:srcRect t="-194579" b="-194579"/>
          <a:stretch/>
        </p:blipFill>
        <p:spPr>
          <a:xfrm>
            <a:off x="6476695" y="4519879"/>
            <a:ext cx="75895" cy="371246"/>
          </a:xfrm>
          <a:prstGeom prst="rect">
            <a:avLst/>
          </a:prstGeom>
        </p:spPr>
      </p:pic>
      <p:sp>
        <p:nvSpPr>
          <p:cNvPr id="51" name="Text 34"/>
          <p:cNvSpPr txBox="1"/>
          <p:nvPr/>
        </p:nvSpPr>
        <p:spPr>
          <a:xfrm>
            <a:off x="6648602" y="4462272"/>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통합 시점</a:t>
            </a:r>
            <a:r>
              <a:rPr lang="en-US" sz="1100" dirty="0">
                <a:solidFill>
                  <a:srgbClr val="475569"/>
                </a:solidFill>
                <a:latin typeface="Noto Sans KR" pitchFamily="34" charset="0"/>
                <a:ea typeface="Noto Sans KR" pitchFamily="34" charset="-122"/>
                <a:cs typeface="Noto Sans KR" pitchFamily="34" charset="-120"/>
              </a:rPr>
              <a:t>: Readout 단계에서 학습된 그래프 표현과 정규화된 RDKit 기술자를 연결(Concatenation)</a:t>
            </a:r>
            <a:endParaRPr lang="en-US" sz="1100" dirty="0"/>
          </a:p>
        </p:txBody>
      </p:sp>
      <p:pic>
        <p:nvPicPr>
          <p:cNvPr id="52" name="Image 15" descr="preencoded.png"/>
          <p:cNvPicPr>
            <a:picLocks noChangeAspect="1"/>
          </p:cNvPicPr>
          <p:nvPr/>
        </p:nvPicPr>
        <p:blipFill>
          <a:blip r:embed="rId10"/>
          <a:srcRect t="-194579" b="-194579"/>
          <a:stretch/>
        </p:blipFill>
        <p:spPr>
          <a:xfrm>
            <a:off x="6476695" y="5043830"/>
            <a:ext cx="75895" cy="371246"/>
          </a:xfrm>
          <a:prstGeom prst="rect">
            <a:avLst/>
          </a:prstGeom>
        </p:spPr>
      </p:pic>
      <p:sp>
        <p:nvSpPr>
          <p:cNvPr id="53" name="Text 35"/>
          <p:cNvSpPr txBox="1"/>
          <p:nvPr/>
        </p:nvSpPr>
        <p:spPr>
          <a:xfrm>
            <a:off x="6648602" y="4986223"/>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전처리</a:t>
            </a:r>
            <a:r>
              <a:rPr lang="en-US" sz="1100" dirty="0">
                <a:solidFill>
                  <a:srgbClr val="475569"/>
                </a:solidFill>
                <a:latin typeface="Noto Sans KR" pitchFamily="34" charset="0"/>
                <a:ea typeface="Noto Sans KR" pitchFamily="34" charset="-122"/>
                <a:cs typeface="Noto Sans KR" pitchFamily="34" charset="-120"/>
              </a:rPr>
              <a:t>: </a:t>
            </a:r>
            <a:r>
              <a:rPr lang="en-US" sz="1100" b="1" dirty="0">
                <a:solidFill>
                  <a:srgbClr val="FF0000"/>
                </a:solidFill>
                <a:latin typeface="Noto Sans KR" pitchFamily="34" charset="0"/>
                <a:ea typeface="Noto Sans KR" pitchFamily="34" charset="-122"/>
                <a:cs typeface="Noto Sans KR" pitchFamily="34" charset="-120"/>
              </a:rPr>
              <a:t>200개 분자 기술자</a:t>
            </a:r>
            <a:r>
              <a:rPr lang="en-US" sz="1100" dirty="0">
                <a:solidFill>
                  <a:srgbClr val="475569"/>
                </a:solidFill>
                <a:latin typeface="Noto Sans KR" pitchFamily="34" charset="0"/>
                <a:ea typeface="Noto Sans KR" pitchFamily="34" charset="-122"/>
                <a:cs typeface="Noto Sans KR" pitchFamily="34" charset="-120"/>
              </a:rPr>
              <a:t>를 누적 분포 함수(CDF)로 </a:t>
            </a:r>
            <a:r>
              <a:rPr lang="en-US" sz="1100" b="1" dirty="0">
                <a:solidFill>
                  <a:srgbClr val="FF0000"/>
                </a:solidFill>
                <a:latin typeface="Noto Sans KR" pitchFamily="34" charset="0"/>
                <a:ea typeface="Noto Sans KR" pitchFamily="34" charset="-122"/>
                <a:cs typeface="Noto Sans KR" pitchFamily="34" charset="-120"/>
              </a:rPr>
              <a:t>정규화하여 스케일 차이로 인한 편향 방지</a:t>
            </a:r>
            <a:endParaRPr lang="en-US" sz="1100" b="1" dirty="0">
              <a:solidFill>
                <a:srgbClr val="FF0000"/>
              </a:solidFill>
            </a:endParaRPr>
          </a:p>
        </p:txBody>
      </p:sp>
      <p:sp>
        <p:nvSpPr>
          <p:cNvPr id="54" name="Shape 36"/>
          <p:cNvSpPr/>
          <p:nvPr/>
        </p:nvSpPr>
        <p:spPr>
          <a:xfrm>
            <a:off x="6476695" y="5586070"/>
            <a:ext cx="5009998" cy="685800"/>
          </a:xfrm>
          <a:prstGeom prst="roundRect">
            <a:avLst>
              <a:gd name="adj" fmla="val 11111"/>
            </a:avLst>
          </a:prstGeom>
          <a:solidFill>
            <a:srgbClr val="EFF6FF"/>
          </a:solidFill>
          <a:ln w="12700">
            <a:solidFill>
              <a:srgbClr val="BFDBFE"/>
            </a:solidFill>
            <a:prstDash val="solid"/>
          </a:ln>
        </p:spPr>
      </p:sp>
      <p:sp>
        <p:nvSpPr>
          <p:cNvPr id="55" name="Text 37"/>
          <p:cNvSpPr txBox="1"/>
          <p:nvPr/>
        </p:nvSpPr>
        <p:spPr>
          <a:xfrm>
            <a:off x="6638544" y="5710428"/>
            <a:ext cx="4877410" cy="171907"/>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기술자 종류</a:t>
            </a:r>
            <a:endParaRPr lang="en-US" sz="1050" dirty="0"/>
          </a:p>
        </p:txBody>
      </p:sp>
      <p:sp>
        <p:nvSpPr>
          <p:cNvPr id="56" name="Text 38"/>
          <p:cNvSpPr txBox="1"/>
          <p:nvPr/>
        </p:nvSpPr>
        <p:spPr>
          <a:xfrm>
            <a:off x="6638544" y="5919826"/>
            <a:ext cx="4800600" cy="228600"/>
          </a:xfrm>
          <a:prstGeom prst="rect">
            <a:avLst/>
          </a:prstGeom>
          <a:noFill/>
          <a:ln/>
        </p:spPr>
        <p:txBody>
          <a:bodyPr wrap="square" lIns="0" tIns="0" rIns="0" bIns="0" rtlCol="0" anchor="ctr"/>
          <a:lstStyle/>
          <a:p>
            <a:pPr marL="0" indent="0" algn="l">
              <a:buNone/>
            </a:pPr>
            <a:r>
              <a:rPr lang="en-US" sz="1600" b="1" dirty="0">
                <a:solidFill>
                  <a:srgbClr val="1E40AF"/>
                </a:solidFill>
                <a:latin typeface="Noto Sans KR" pitchFamily="34" charset="0"/>
                <a:ea typeface="Noto Sans KR" pitchFamily="34" charset="-122"/>
                <a:cs typeface="Noto Sans KR" pitchFamily="34" charset="-120"/>
              </a:rPr>
              <a:t>분자량, LogP, TPSA, 회전 가능 결합 수 등 200개</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838505"/>
          </a:xfrm>
          <a:prstGeom prst="rect">
            <a:avLst/>
          </a:prstGeom>
          <a:solidFill>
            <a:srgbClr val="1A355B"/>
          </a:solidFill>
          <a:ln w="12700">
            <a:solidFill>
              <a:srgbClr val="FFFFFF">
                <a:alpha val="0"/>
              </a:srgbClr>
            </a:solidFill>
            <a:prstDash val="solid"/>
          </a:ln>
        </p:spPr>
      </p:sp>
      <p:sp>
        <p:nvSpPr>
          <p:cNvPr id="4" name="Shape 2"/>
          <p:cNvSpPr/>
          <p:nvPr/>
        </p:nvSpPr>
        <p:spPr>
          <a:xfrm>
            <a:off x="476402" y="228600"/>
            <a:ext cx="886054" cy="381305"/>
          </a:xfrm>
          <a:prstGeom prst="roundRect">
            <a:avLst>
              <a:gd name="adj" fmla="val 119904"/>
            </a:avLst>
          </a:prstGeom>
          <a:solidFill>
            <a:srgbClr val="3B82F6"/>
          </a:solidFill>
          <a:ln w="12700">
            <a:solidFill>
              <a:srgbClr val="FFFFFF">
                <a:alpha val="0"/>
              </a:srgbClr>
            </a:solidFill>
            <a:prstDash val="solid"/>
          </a:ln>
        </p:spPr>
      </p:sp>
      <p:sp>
        <p:nvSpPr>
          <p:cNvPr id="5" name="Text 3"/>
          <p:cNvSpPr txBox="1"/>
          <p:nvPr/>
        </p:nvSpPr>
        <p:spPr>
          <a:xfrm>
            <a:off x="666598" y="304495"/>
            <a:ext cx="600761" cy="228600"/>
          </a:xfrm>
          <a:prstGeom prst="rect">
            <a:avLst/>
          </a:prstGeom>
          <a:noFill/>
          <a:ln/>
        </p:spPr>
        <p:txBody>
          <a:bodyPr wrap="square" lIns="0" tIns="0" rIns="0" bIns="0" rtlCol="0" anchor="ctr"/>
          <a:lstStyle/>
          <a:p>
            <a:pPr marL="0" indent="0" algn="l">
              <a:buNone/>
            </a:pPr>
            <a:r>
              <a:rPr lang="en-US" sz="1200" b="1" kern="0" spc="38" dirty="0">
                <a:solidFill>
                  <a:srgbClr val="FFFFFF"/>
                </a:solidFill>
                <a:latin typeface="Noto Sans KR" pitchFamily="34" charset="0"/>
                <a:ea typeface="Noto Sans KR" pitchFamily="34" charset="-122"/>
                <a:cs typeface="Noto Sans KR" pitchFamily="34" charset="-120"/>
              </a:rPr>
              <a:t>Step 5</a:t>
            </a:r>
            <a:endParaRPr lang="en-US" sz="1200" dirty="0"/>
          </a:p>
        </p:txBody>
      </p:sp>
      <p:sp>
        <p:nvSpPr>
          <p:cNvPr id="6" name="Text 4"/>
          <p:cNvSpPr txBox="1"/>
          <p:nvPr/>
        </p:nvSpPr>
        <p:spPr>
          <a:xfrm>
            <a:off x="1545336" y="190195"/>
            <a:ext cx="3129077"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모델 학습 및 최적화</a:t>
            </a:r>
            <a:endParaRPr lang="en-US" sz="2400" dirty="0"/>
          </a:p>
        </p:txBody>
      </p:sp>
      <p:pic>
        <p:nvPicPr>
          <p:cNvPr id="7" name="Image 0" descr="preencoded.png"/>
          <p:cNvPicPr>
            <a:picLocks noChangeAspect="1"/>
          </p:cNvPicPr>
          <p:nvPr/>
        </p:nvPicPr>
        <p:blipFill>
          <a:blip r:embed="rId3"/>
          <a:srcRect l="-90" r="-90"/>
          <a:stretch/>
        </p:blipFill>
        <p:spPr>
          <a:xfrm>
            <a:off x="11334902" y="286207"/>
            <a:ext cx="381305" cy="304495"/>
          </a:xfrm>
          <a:prstGeom prst="rect">
            <a:avLst/>
          </a:prstGeom>
        </p:spPr>
      </p:pic>
      <p:sp>
        <p:nvSpPr>
          <p:cNvPr id="8" name="Shape 5"/>
          <p:cNvSpPr/>
          <p:nvPr/>
        </p:nvSpPr>
        <p:spPr>
          <a:xfrm>
            <a:off x="4764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9" name="Shape 6"/>
          <p:cNvSpPr/>
          <p:nvPr/>
        </p:nvSpPr>
        <p:spPr>
          <a:xfrm>
            <a:off x="4764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0" name="Image 1" descr="preencoded.png"/>
          <p:cNvPicPr>
            <a:picLocks noChangeAspect="1"/>
          </p:cNvPicPr>
          <p:nvPr/>
        </p:nvPicPr>
        <p:blipFill>
          <a:blip r:embed="rId4"/>
          <a:srcRect l="-743" r="-743"/>
          <a:stretch/>
        </p:blipFill>
        <p:spPr>
          <a:xfrm>
            <a:off x="1485900" y="1595628"/>
            <a:ext cx="304495" cy="342900"/>
          </a:xfrm>
          <a:prstGeom prst="rect">
            <a:avLst/>
          </a:prstGeom>
        </p:spPr>
      </p:pic>
      <p:sp>
        <p:nvSpPr>
          <p:cNvPr id="11" name="Text 7"/>
          <p:cNvSpPr txBox="1"/>
          <p:nvPr/>
        </p:nvSpPr>
        <p:spPr>
          <a:xfrm>
            <a:off x="1075334" y="2090318"/>
            <a:ext cx="1125626" cy="219456"/>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데이터 분할</a:t>
            </a:r>
            <a:endParaRPr lang="en-US" sz="1600" dirty="0"/>
          </a:p>
        </p:txBody>
      </p:sp>
      <p:sp>
        <p:nvSpPr>
          <p:cNvPr id="12" name="Text 8"/>
          <p:cNvSpPr txBox="1"/>
          <p:nvPr/>
        </p:nvSpPr>
        <p:spPr>
          <a:xfrm>
            <a:off x="836676" y="2419502"/>
            <a:ext cx="1610258"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Scaffold Split 80/10/10</a:t>
            </a:r>
            <a:endParaRPr lang="en-US" sz="1050" dirty="0"/>
          </a:p>
        </p:txBody>
      </p:sp>
      <p:pic>
        <p:nvPicPr>
          <p:cNvPr id="13" name="Image 2" descr="preencoded.png"/>
          <p:cNvPicPr>
            <a:picLocks noChangeAspect="1"/>
          </p:cNvPicPr>
          <p:nvPr/>
        </p:nvPicPr>
        <p:blipFill>
          <a:blip r:embed="rId5"/>
          <a:srcRect l="-107" r="-107"/>
          <a:stretch/>
        </p:blipFill>
        <p:spPr>
          <a:xfrm>
            <a:off x="2991002" y="1873606"/>
            <a:ext cx="267005" cy="304495"/>
          </a:xfrm>
          <a:prstGeom prst="rect">
            <a:avLst/>
          </a:prstGeom>
        </p:spPr>
      </p:pic>
      <p:sp>
        <p:nvSpPr>
          <p:cNvPr id="14" name="Shape 9"/>
          <p:cNvSpPr/>
          <p:nvPr/>
        </p:nvSpPr>
        <p:spPr>
          <a:xfrm>
            <a:off x="34482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15" name="Shape 10"/>
          <p:cNvSpPr/>
          <p:nvPr/>
        </p:nvSpPr>
        <p:spPr>
          <a:xfrm>
            <a:off x="34482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16" name="Image 3" descr="preencoded.png"/>
          <p:cNvPicPr>
            <a:picLocks noChangeAspect="1"/>
          </p:cNvPicPr>
          <p:nvPr/>
        </p:nvPicPr>
        <p:blipFill>
          <a:blip r:embed="rId6"/>
          <a:srcRect/>
          <a:stretch/>
        </p:blipFill>
        <p:spPr>
          <a:xfrm>
            <a:off x="4438498" y="1595628"/>
            <a:ext cx="342900" cy="342900"/>
          </a:xfrm>
          <a:prstGeom prst="rect">
            <a:avLst/>
          </a:prstGeom>
        </p:spPr>
      </p:pic>
      <p:sp>
        <p:nvSpPr>
          <p:cNvPr id="17" name="Text 11"/>
          <p:cNvSpPr txBox="1"/>
          <p:nvPr/>
        </p:nvSpPr>
        <p:spPr>
          <a:xfrm>
            <a:off x="3634740" y="2093976"/>
            <a:ext cx="2031797"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하이퍼파라미터 최적화</a:t>
            </a:r>
            <a:endParaRPr lang="en-US" sz="1600" dirty="0"/>
          </a:p>
        </p:txBody>
      </p:sp>
      <p:sp>
        <p:nvSpPr>
          <p:cNvPr id="18" name="Text 12"/>
          <p:cNvSpPr txBox="1"/>
          <p:nvPr/>
        </p:nvSpPr>
        <p:spPr>
          <a:xfrm>
            <a:off x="3813962" y="2419502"/>
            <a:ext cx="1598371"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Bayesian Optimization</a:t>
            </a:r>
            <a:endParaRPr lang="en-US" sz="1050" dirty="0"/>
          </a:p>
        </p:txBody>
      </p:sp>
      <p:pic>
        <p:nvPicPr>
          <p:cNvPr id="19" name="Image 4" descr="preencoded.png"/>
          <p:cNvPicPr>
            <a:picLocks noChangeAspect="1"/>
          </p:cNvPicPr>
          <p:nvPr/>
        </p:nvPicPr>
        <p:blipFill>
          <a:blip r:embed="rId5"/>
          <a:srcRect l="-107" r="-107"/>
          <a:stretch/>
        </p:blipFill>
        <p:spPr>
          <a:xfrm>
            <a:off x="5962802" y="1873606"/>
            <a:ext cx="267005" cy="304495"/>
          </a:xfrm>
          <a:prstGeom prst="rect">
            <a:avLst/>
          </a:prstGeom>
        </p:spPr>
      </p:pic>
      <p:sp>
        <p:nvSpPr>
          <p:cNvPr id="20" name="Shape 13"/>
          <p:cNvSpPr/>
          <p:nvPr/>
        </p:nvSpPr>
        <p:spPr>
          <a:xfrm>
            <a:off x="64200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64200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2" name="Image 5" descr="preencoded.png"/>
          <p:cNvPicPr>
            <a:picLocks noChangeAspect="1"/>
          </p:cNvPicPr>
          <p:nvPr/>
        </p:nvPicPr>
        <p:blipFill>
          <a:blip r:embed="rId7"/>
          <a:srcRect/>
          <a:stretch/>
        </p:blipFill>
        <p:spPr>
          <a:xfrm>
            <a:off x="7410298" y="1595628"/>
            <a:ext cx="342900" cy="342900"/>
          </a:xfrm>
          <a:prstGeom prst="rect">
            <a:avLst/>
          </a:prstGeom>
        </p:spPr>
      </p:pic>
      <p:sp>
        <p:nvSpPr>
          <p:cNvPr id="23" name="Text 15"/>
          <p:cNvSpPr txBox="1"/>
          <p:nvPr/>
        </p:nvSpPr>
        <p:spPr>
          <a:xfrm>
            <a:off x="7012554" y="2047798"/>
            <a:ext cx="1082650" cy="304495"/>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모델 학습</a:t>
            </a:r>
            <a:endParaRPr lang="en-US" sz="1600" dirty="0"/>
          </a:p>
        </p:txBody>
      </p:sp>
      <p:sp>
        <p:nvSpPr>
          <p:cNvPr id="24" name="Text 16"/>
          <p:cNvSpPr txBox="1"/>
          <p:nvPr/>
        </p:nvSpPr>
        <p:spPr>
          <a:xfrm>
            <a:off x="7006133" y="2419502"/>
            <a:ext cx="1155802"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D-MPNN Training</a:t>
            </a:r>
            <a:endParaRPr lang="en-US" sz="1050" dirty="0"/>
          </a:p>
        </p:txBody>
      </p:sp>
      <p:pic>
        <p:nvPicPr>
          <p:cNvPr id="25" name="Image 6" descr="preencoded.png"/>
          <p:cNvPicPr>
            <a:picLocks noChangeAspect="1"/>
          </p:cNvPicPr>
          <p:nvPr/>
        </p:nvPicPr>
        <p:blipFill>
          <a:blip r:embed="rId5"/>
          <a:srcRect l="-107" r="-107"/>
          <a:stretch/>
        </p:blipFill>
        <p:spPr>
          <a:xfrm>
            <a:off x="8934602" y="1873606"/>
            <a:ext cx="267005" cy="304495"/>
          </a:xfrm>
          <a:prstGeom prst="rect">
            <a:avLst/>
          </a:prstGeom>
        </p:spPr>
      </p:pic>
      <p:sp>
        <p:nvSpPr>
          <p:cNvPr id="26" name="Shape 17"/>
          <p:cNvSpPr/>
          <p:nvPr/>
        </p:nvSpPr>
        <p:spPr>
          <a:xfrm>
            <a:off x="9391802" y="1218895"/>
            <a:ext cx="2324405" cy="1619402"/>
          </a:xfrm>
          <a:prstGeom prst="roundRect">
            <a:avLst>
              <a:gd name="adj" fmla="val 2657"/>
            </a:avLst>
          </a:prstGeom>
          <a:solidFill>
            <a:srgbClr val="FFFFFF"/>
          </a:solidFill>
          <a:ln/>
          <a:effectLst>
            <a:outerShdw blurRad="76200" dist="25400" dir="16200000" algn="bl" rotWithShape="0">
              <a:srgbClr val="000000">
                <a:alpha val="8000"/>
              </a:srgbClr>
            </a:outerShdw>
          </a:effectLst>
        </p:spPr>
      </p:sp>
      <p:sp>
        <p:nvSpPr>
          <p:cNvPr id="27" name="Shape 18"/>
          <p:cNvSpPr/>
          <p:nvPr/>
        </p:nvSpPr>
        <p:spPr>
          <a:xfrm>
            <a:off x="9391802" y="1218895"/>
            <a:ext cx="2324405" cy="38405"/>
          </a:xfrm>
          <a:prstGeom prst="roundRect">
            <a:avLst>
              <a:gd name="adj" fmla="val 112044"/>
            </a:avLst>
          </a:prstGeom>
          <a:solidFill>
            <a:srgbClr val="1A355B"/>
          </a:solidFill>
          <a:ln w="12700">
            <a:solidFill>
              <a:srgbClr val="1A355B">
                <a:alpha val="0"/>
              </a:srgbClr>
            </a:solidFill>
            <a:prstDash val="solid"/>
          </a:ln>
        </p:spPr>
      </p:sp>
      <p:pic>
        <p:nvPicPr>
          <p:cNvPr id="28" name="Image 7" descr="preencoded.png"/>
          <p:cNvPicPr>
            <a:picLocks noChangeAspect="1"/>
          </p:cNvPicPr>
          <p:nvPr/>
        </p:nvPicPr>
        <p:blipFill>
          <a:blip r:embed="rId8"/>
          <a:srcRect l="-607" r="-607"/>
          <a:stretch/>
        </p:blipFill>
        <p:spPr>
          <a:xfrm>
            <a:off x="10358323" y="1595628"/>
            <a:ext cx="390449" cy="342900"/>
          </a:xfrm>
          <a:prstGeom prst="rect">
            <a:avLst/>
          </a:prstGeom>
        </p:spPr>
      </p:pic>
      <p:sp>
        <p:nvSpPr>
          <p:cNvPr id="29" name="Text 19"/>
          <p:cNvSpPr txBox="1"/>
          <p:nvPr/>
        </p:nvSpPr>
        <p:spPr>
          <a:xfrm>
            <a:off x="10194997" y="2100313"/>
            <a:ext cx="692201" cy="228600"/>
          </a:xfrm>
          <a:prstGeom prst="rect">
            <a:avLst/>
          </a:prstGeom>
          <a:noFill/>
          <a:ln/>
        </p:spPr>
        <p:txBody>
          <a:bodyPr wrap="square" lIns="0" tIns="0" rIns="0" bIns="0" rtlCol="0" anchor="ctr"/>
          <a:lstStyle/>
          <a:p>
            <a:pPr marL="0" indent="0" algn="ctr">
              <a:buNone/>
            </a:pPr>
            <a:r>
              <a:rPr lang="en-US" sz="1600" b="1" dirty="0">
                <a:solidFill>
                  <a:srgbClr val="1A355B"/>
                </a:solidFill>
                <a:latin typeface="Noto Sans KR" pitchFamily="34" charset="0"/>
                <a:ea typeface="Noto Sans KR" pitchFamily="34" charset="-122"/>
                <a:cs typeface="Noto Sans KR" pitchFamily="34" charset="-120"/>
              </a:rPr>
              <a:t>앙상블</a:t>
            </a:r>
            <a:endParaRPr lang="en-US" sz="1600" dirty="0"/>
          </a:p>
        </p:txBody>
      </p:sp>
      <p:sp>
        <p:nvSpPr>
          <p:cNvPr id="30" name="Text 20"/>
          <p:cNvSpPr txBox="1"/>
          <p:nvPr/>
        </p:nvSpPr>
        <p:spPr>
          <a:xfrm>
            <a:off x="10118750" y="2419502"/>
            <a:ext cx="875081" cy="191110"/>
          </a:xfrm>
          <a:prstGeom prst="rect">
            <a:avLst/>
          </a:prstGeom>
          <a:noFill/>
          <a:ln/>
        </p:spPr>
        <p:txBody>
          <a:bodyPr wrap="square" lIns="0" tIns="0" rIns="0" bIns="0" rtlCol="0" anchor="ctr"/>
          <a:lstStyle/>
          <a:p>
            <a:pPr marL="0" indent="0" algn="ctr">
              <a:buNone/>
            </a:pPr>
            <a:r>
              <a:rPr lang="en-US" sz="1050" dirty="0">
                <a:solidFill>
                  <a:srgbClr val="64748B"/>
                </a:solidFill>
                <a:latin typeface="Noto Sans KR" pitchFamily="34" charset="0"/>
                <a:ea typeface="Noto Sans KR" pitchFamily="34" charset="-122"/>
                <a:cs typeface="Noto Sans KR" pitchFamily="34" charset="-120"/>
              </a:rPr>
              <a:t>5개 모델 결합</a:t>
            </a:r>
            <a:endParaRPr lang="en-US" sz="1050" dirty="0"/>
          </a:p>
        </p:txBody>
      </p:sp>
      <p:sp>
        <p:nvSpPr>
          <p:cNvPr id="31" name="Shape 21"/>
          <p:cNvSpPr/>
          <p:nvPr/>
        </p:nvSpPr>
        <p:spPr>
          <a:xfrm>
            <a:off x="476402"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32" name="Shape 22"/>
          <p:cNvSpPr/>
          <p:nvPr/>
        </p:nvSpPr>
        <p:spPr>
          <a:xfrm>
            <a:off x="476402"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33" name="Image 8" descr="preencoded.png"/>
          <p:cNvPicPr>
            <a:picLocks noChangeAspect="1"/>
          </p:cNvPicPr>
          <p:nvPr/>
        </p:nvPicPr>
        <p:blipFill>
          <a:blip r:embed="rId9"/>
          <a:srcRect/>
          <a:stretch/>
        </p:blipFill>
        <p:spPr>
          <a:xfrm>
            <a:off x="743407" y="3510382"/>
            <a:ext cx="228600" cy="228600"/>
          </a:xfrm>
          <a:prstGeom prst="rect">
            <a:avLst/>
          </a:prstGeom>
        </p:spPr>
      </p:pic>
      <p:sp>
        <p:nvSpPr>
          <p:cNvPr id="34" name="Text 23"/>
          <p:cNvSpPr txBox="1"/>
          <p:nvPr/>
        </p:nvSpPr>
        <p:spPr>
          <a:xfrm>
            <a:off x="1086307" y="3486607"/>
            <a:ext cx="2709367"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Bayesian Optimization 전략</a:t>
            </a:r>
            <a:endParaRPr lang="en-US" sz="1600" dirty="0"/>
          </a:p>
        </p:txBody>
      </p:sp>
      <p:pic>
        <p:nvPicPr>
          <p:cNvPr id="35" name="Image 9" descr="preencoded.png"/>
          <p:cNvPicPr>
            <a:picLocks noChangeAspect="1"/>
          </p:cNvPicPr>
          <p:nvPr/>
        </p:nvPicPr>
        <p:blipFill>
          <a:blip r:embed="rId10"/>
          <a:srcRect t="-194579" b="-194579"/>
          <a:stretch/>
        </p:blipFill>
        <p:spPr>
          <a:xfrm>
            <a:off x="743407" y="3995928"/>
            <a:ext cx="75895" cy="371246"/>
          </a:xfrm>
          <a:prstGeom prst="rect">
            <a:avLst/>
          </a:prstGeom>
        </p:spPr>
      </p:pic>
      <p:sp>
        <p:nvSpPr>
          <p:cNvPr id="36" name="Text 24"/>
          <p:cNvSpPr txBox="1"/>
          <p:nvPr/>
        </p:nvSpPr>
        <p:spPr>
          <a:xfrm>
            <a:off x="914400" y="3938321"/>
            <a:ext cx="4675327"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확률 모델을 활용하여 </a:t>
            </a:r>
            <a:r>
              <a:rPr lang="en-US" sz="1100" b="1" dirty="0">
                <a:solidFill>
                  <a:srgbClr val="FF0000"/>
                </a:solidFill>
                <a:latin typeface="Noto Sans KR" pitchFamily="34" charset="0"/>
                <a:ea typeface="Noto Sans KR" pitchFamily="34" charset="-122"/>
                <a:cs typeface="Noto Sans KR" pitchFamily="34" charset="-120"/>
              </a:rPr>
              <a:t>최적의 하이퍼파라미터 조합을 효율적으로 탐색</a:t>
            </a:r>
            <a:r>
              <a:rPr lang="en-US" sz="1100" dirty="0">
                <a:solidFill>
                  <a:srgbClr val="475569"/>
                </a:solidFill>
                <a:latin typeface="Noto Sans KR" pitchFamily="34" charset="0"/>
                <a:ea typeface="Noto Sans KR" pitchFamily="34" charset="-122"/>
                <a:cs typeface="Noto Sans KR" pitchFamily="34" charset="-120"/>
              </a:rPr>
              <a:t>하고, 이전 정보를 반영하여 순차적 업데이트</a:t>
            </a:r>
            <a:endParaRPr lang="en-US" sz="1100" dirty="0"/>
          </a:p>
        </p:txBody>
      </p:sp>
      <p:pic>
        <p:nvPicPr>
          <p:cNvPr id="37" name="Image 10" descr="preencoded.png"/>
          <p:cNvPicPr>
            <a:picLocks noChangeAspect="1"/>
          </p:cNvPicPr>
          <p:nvPr/>
        </p:nvPicPr>
        <p:blipFill>
          <a:blip r:embed="rId10"/>
          <a:srcRect t="-194579" b="-194579"/>
          <a:stretch/>
        </p:blipFill>
        <p:spPr>
          <a:xfrm>
            <a:off x="743407" y="4519879"/>
            <a:ext cx="75895" cy="371246"/>
          </a:xfrm>
          <a:prstGeom prst="rect">
            <a:avLst/>
          </a:prstGeom>
        </p:spPr>
      </p:pic>
      <p:sp>
        <p:nvSpPr>
          <p:cNvPr id="38" name="Text 25"/>
          <p:cNvSpPr txBox="1"/>
          <p:nvPr/>
        </p:nvSpPr>
        <p:spPr>
          <a:xfrm>
            <a:off x="914400" y="4462272"/>
            <a:ext cx="4914900"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탐색 파라미터</a:t>
            </a:r>
            <a:r>
              <a:rPr lang="en-US" sz="1100" dirty="0">
                <a:solidFill>
                  <a:srgbClr val="475569"/>
                </a:solidFill>
                <a:latin typeface="Noto Sans KR" pitchFamily="34" charset="0"/>
                <a:ea typeface="Noto Sans KR" pitchFamily="34" charset="-122"/>
                <a:cs typeface="Noto Sans KR" pitchFamily="34" charset="-120"/>
              </a:rPr>
              <a:t>: Dropout 확률 [0-0.4, 0.05 간격], 메시지 전달 횟수 [2-6], Feed-forward 레이어 수 [1-3], Hidden size [300-2400, 100 간격]</a:t>
            </a:r>
            <a:endParaRPr lang="en-US" sz="1100" dirty="0"/>
          </a:p>
        </p:txBody>
      </p:sp>
      <p:pic>
        <p:nvPicPr>
          <p:cNvPr id="39" name="Image 11" descr="preencoded.png"/>
          <p:cNvPicPr>
            <a:picLocks noChangeAspect="1"/>
          </p:cNvPicPr>
          <p:nvPr/>
        </p:nvPicPr>
        <p:blipFill>
          <a:blip r:embed="rId10"/>
          <a:srcRect t="-194579" b="-194579"/>
          <a:stretch/>
        </p:blipFill>
        <p:spPr>
          <a:xfrm>
            <a:off x="743407" y="5043830"/>
            <a:ext cx="75895" cy="371246"/>
          </a:xfrm>
          <a:prstGeom prst="rect">
            <a:avLst/>
          </a:prstGeom>
        </p:spPr>
      </p:pic>
      <p:sp>
        <p:nvSpPr>
          <p:cNvPr id="40" name="Text 26"/>
          <p:cNvSpPr txBox="1"/>
          <p:nvPr/>
        </p:nvSpPr>
        <p:spPr>
          <a:xfrm>
            <a:off x="914400" y="4986223"/>
            <a:ext cx="4668013"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최적화 설정</a:t>
            </a:r>
            <a:r>
              <a:rPr lang="en-US" sz="1100" dirty="0">
                <a:solidFill>
                  <a:srgbClr val="475569"/>
                </a:solidFill>
                <a:latin typeface="Noto Sans KR" pitchFamily="34" charset="0"/>
                <a:ea typeface="Noto Sans KR" pitchFamily="34" charset="-122"/>
                <a:cs typeface="Noto Sans KR" pitchFamily="34" charset="-120"/>
              </a:rPr>
              <a:t>: Hyperopt 패키지 활용, 20회 반복으로 30 </a:t>
            </a:r>
            <a:r>
              <a:rPr lang="en-US" sz="1100" dirty="0" smtClean="0">
                <a:solidFill>
                  <a:srgbClr val="475569"/>
                </a:solidFill>
                <a:latin typeface="Noto Sans KR" pitchFamily="34" charset="0"/>
                <a:ea typeface="Noto Sans KR" pitchFamily="34" charset="-122"/>
                <a:cs typeface="Noto Sans KR" pitchFamily="34" charset="-120"/>
              </a:rPr>
              <a:t>에</a:t>
            </a:r>
            <a:r>
              <a:rPr lang="ko-KR" altLang="en-US" sz="1100" dirty="0" smtClean="0">
                <a:solidFill>
                  <a:srgbClr val="475569"/>
                </a:solidFill>
                <a:latin typeface="Noto Sans KR" pitchFamily="34" charset="0"/>
                <a:ea typeface="Noto Sans KR" pitchFamily="34" charset="-122"/>
                <a:cs typeface="Noto Sans KR" pitchFamily="34" charset="-120"/>
              </a:rPr>
              <a:t>포크</a:t>
            </a:r>
            <a:r>
              <a:rPr lang="en-US" sz="1100" dirty="0" smtClean="0">
                <a:solidFill>
                  <a:srgbClr val="475569"/>
                </a:solidFill>
                <a:latin typeface="Noto Sans KR" pitchFamily="34" charset="0"/>
                <a:ea typeface="Noto Sans KR" pitchFamily="34" charset="-122"/>
                <a:cs typeface="Noto Sans KR" pitchFamily="34" charset="-120"/>
              </a:rPr>
              <a:t>씩 </a:t>
            </a:r>
            <a:r>
              <a:rPr lang="en-US" sz="1100" dirty="0">
                <a:solidFill>
                  <a:srgbClr val="475569"/>
                </a:solidFill>
                <a:latin typeface="Noto Sans KR" pitchFamily="34" charset="0"/>
                <a:ea typeface="Noto Sans KR" pitchFamily="34" charset="-122"/>
                <a:cs typeface="Noto Sans KR" pitchFamily="34" charset="-120"/>
              </a:rPr>
              <a:t>실행하여 </a:t>
            </a:r>
            <a:r>
              <a:rPr lang="en-US" sz="1100" b="1" dirty="0">
                <a:solidFill>
                  <a:srgbClr val="FF0000"/>
                </a:solidFill>
                <a:latin typeface="Noto Sans KR" pitchFamily="34" charset="0"/>
                <a:ea typeface="Noto Sans KR" pitchFamily="34" charset="-122"/>
                <a:cs typeface="Noto Sans KR" pitchFamily="34" charset="-120"/>
              </a:rPr>
              <a:t>검증 세트 성능 기반 최적 조합 도출</a:t>
            </a:r>
            <a:endParaRPr lang="en-US" sz="1100" b="1" dirty="0">
              <a:solidFill>
                <a:srgbClr val="FF0000"/>
              </a:solidFill>
            </a:endParaRPr>
          </a:p>
        </p:txBody>
      </p:sp>
      <p:sp>
        <p:nvSpPr>
          <p:cNvPr id="41" name="Shape 27"/>
          <p:cNvSpPr/>
          <p:nvPr/>
        </p:nvSpPr>
        <p:spPr>
          <a:xfrm>
            <a:off x="743407" y="5586070"/>
            <a:ext cx="5009998" cy="685800"/>
          </a:xfrm>
          <a:prstGeom prst="roundRect">
            <a:avLst>
              <a:gd name="adj" fmla="val 11111"/>
            </a:avLst>
          </a:prstGeom>
          <a:solidFill>
            <a:srgbClr val="EFF6FF"/>
          </a:solidFill>
          <a:ln w="12700">
            <a:solidFill>
              <a:srgbClr val="BFDBFE"/>
            </a:solidFill>
            <a:prstDash val="solid"/>
          </a:ln>
        </p:spPr>
      </p:sp>
      <p:sp>
        <p:nvSpPr>
          <p:cNvPr id="42" name="Text 28"/>
          <p:cNvSpPr txBox="1"/>
          <p:nvPr/>
        </p:nvSpPr>
        <p:spPr>
          <a:xfrm>
            <a:off x="905256" y="5710428"/>
            <a:ext cx="4877410" cy="171907"/>
          </a:xfrm>
          <a:prstGeom prst="rect">
            <a:avLst/>
          </a:prstGeom>
          <a:noFill/>
          <a:ln/>
        </p:spPr>
        <p:txBody>
          <a:bodyPr wrap="square" lIns="0" tIns="0" rIns="0" bIns="0" rtlCol="0" anchor="ctr"/>
          <a:lstStyle/>
          <a:p>
            <a:pPr marL="0" indent="0" algn="l">
              <a:buNone/>
            </a:pPr>
            <a:r>
              <a:rPr lang="en-US" sz="1400" dirty="0">
                <a:solidFill>
                  <a:srgbClr val="64748B"/>
                </a:solidFill>
                <a:latin typeface="Noto Sans KR" pitchFamily="34" charset="0"/>
                <a:ea typeface="Noto Sans KR" pitchFamily="34" charset="-122"/>
                <a:cs typeface="Noto Sans KR" pitchFamily="34" charset="-120"/>
              </a:rPr>
              <a:t>데이터 분할 전략</a:t>
            </a:r>
            <a:endParaRPr lang="en-US" sz="1400" dirty="0"/>
          </a:p>
        </p:txBody>
      </p:sp>
      <p:sp>
        <p:nvSpPr>
          <p:cNvPr id="43" name="Text 29"/>
          <p:cNvSpPr txBox="1"/>
          <p:nvPr/>
        </p:nvSpPr>
        <p:spPr>
          <a:xfrm>
            <a:off x="905256" y="5919826"/>
            <a:ext cx="5216652"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KR" pitchFamily="34" charset="0"/>
                <a:ea typeface="Noto Sans KR" pitchFamily="34" charset="-122"/>
                <a:cs typeface="Noto Sans KR" pitchFamily="34" charset="-120"/>
              </a:rPr>
              <a:t>Scaffold Split - Train 80% / Validation 10</a:t>
            </a:r>
            <a:r>
              <a:rPr lang="en-US" sz="1200" b="1" dirty="0" smtClean="0">
                <a:solidFill>
                  <a:srgbClr val="1E40AF"/>
                </a:solidFill>
                <a:latin typeface="Noto Sans KR" pitchFamily="34" charset="0"/>
                <a:ea typeface="Noto Sans KR" pitchFamily="34" charset="-122"/>
                <a:cs typeface="Noto Sans KR" pitchFamily="34" charset="-120"/>
              </a:rPr>
              <a:t>% / </a:t>
            </a:r>
            <a:r>
              <a:rPr lang="en-US" sz="1200" b="1" dirty="0">
                <a:solidFill>
                  <a:srgbClr val="1E40AF"/>
                </a:solidFill>
                <a:latin typeface="Noto Sans KR" pitchFamily="34" charset="0"/>
                <a:ea typeface="Noto Sans KR" pitchFamily="34" charset="-122"/>
                <a:cs typeface="Noto Sans KR" pitchFamily="34" charset="-120"/>
              </a:rPr>
              <a:t>Test 10%</a:t>
            </a:r>
            <a:endParaRPr lang="en-US" sz="1200" dirty="0"/>
          </a:p>
        </p:txBody>
      </p:sp>
      <p:sp>
        <p:nvSpPr>
          <p:cNvPr id="44" name="Shape 30"/>
          <p:cNvSpPr/>
          <p:nvPr/>
        </p:nvSpPr>
        <p:spPr>
          <a:xfrm>
            <a:off x="6210605" y="3215030"/>
            <a:ext cx="5505602" cy="3286354"/>
          </a:xfrm>
          <a:prstGeom prst="roundRect">
            <a:avLst>
              <a:gd name="adj" fmla="val 645"/>
            </a:avLst>
          </a:prstGeom>
          <a:solidFill>
            <a:srgbClr val="FFFFFF"/>
          </a:solidFill>
          <a:ln/>
          <a:effectLst>
            <a:outerShdw blurRad="76200" dist="25400" dir="16200000" algn="bl" rotWithShape="0">
              <a:srgbClr val="000000">
                <a:alpha val="8000"/>
              </a:srgbClr>
            </a:outerShdw>
          </a:effectLst>
        </p:spPr>
      </p:sp>
      <p:sp>
        <p:nvSpPr>
          <p:cNvPr id="45" name="Shape 31"/>
          <p:cNvSpPr/>
          <p:nvPr/>
        </p:nvSpPr>
        <p:spPr>
          <a:xfrm>
            <a:off x="6210605" y="3215030"/>
            <a:ext cx="38405" cy="3286354"/>
          </a:xfrm>
          <a:prstGeom prst="roundRect">
            <a:avLst>
              <a:gd name="adj" fmla="val 55210"/>
            </a:avLst>
          </a:prstGeom>
          <a:solidFill>
            <a:srgbClr val="3B82F6"/>
          </a:solidFill>
          <a:ln w="12700">
            <a:solidFill>
              <a:srgbClr val="3B82F6">
                <a:alpha val="0"/>
              </a:srgbClr>
            </a:solidFill>
            <a:prstDash val="solid"/>
          </a:ln>
        </p:spPr>
      </p:sp>
      <p:pic>
        <p:nvPicPr>
          <p:cNvPr id="46" name="Image 12" descr="preencoded.png"/>
          <p:cNvPicPr>
            <a:picLocks noChangeAspect="1"/>
          </p:cNvPicPr>
          <p:nvPr/>
        </p:nvPicPr>
        <p:blipFill>
          <a:blip r:embed="rId11"/>
          <a:srcRect l="-80" r="-80"/>
          <a:stretch/>
        </p:blipFill>
        <p:spPr>
          <a:xfrm>
            <a:off x="6476695" y="3510382"/>
            <a:ext cx="286207" cy="228600"/>
          </a:xfrm>
          <a:prstGeom prst="rect">
            <a:avLst/>
          </a:prstGeom>
        </p:spPr>
      </p:pic>
      <p:sp>
        <p:nvSpPr>
          <p:cNvPr id="47" name="Text 32"/>
          <p:cNvSpPr txBox="1"/>
          <p:nvPr/>
        </p:nvSpPr>
        <p:spPr>
          <a:xfrm>
            <a:off x="6877202" y="3486607"/>
            <a:ext cx="2451506" cy="257861"/>
          </a:xfrm>
          <a:prstGeom prst="rect">
            <a:avLst/>
          </a:prstGeom>
          <a:noFill/>
          <a:ln/>
        </p:spPr>
        <p:txBody>
          <a:bodyPr wrap="square" lIns="0" tIns="0" rIns="0" bIns="0" rtlCol="0" anchor="ctr"/>
          <a:lstStyle/>
          <a:p>
            <a:pPr marL="0" indent="0" algn="l">
              <a:buNone/>
            </a:pPr>
            <a:r>
              <a:rPr lang="en-US" sz="1600" b="1" dirty="0">
                <a:solidFill>
                  <a:srgbClr val="1A355B"/>
                </a:solidFill>
                <a:latin typeface="Noto Sans KR" pitchFamily="34" charset="0"/>
                <a:ea typeface="Noto Sans KR" pitchFamily="34" charset="-122"/>
                <a:cs typeface="Noto Sans KR" pitchFamily="34" charset="-120"/>
              </a:rPr>
              <a:t>앙상블 전략 및 강건성 향상</a:t>
            </a:r>
            <a:endParaRPr lang="en-US" sz="1600" dirty="0"/>
          </a:p>
        </p:txBody>
      </p:sp>
      <p:pic>
        <p:nvPicPr>
          <p:cNvPr id="48" name="Image 13" descr="preencoded.png"/>
          <p:cNvPicPr>
            <a:picLocks noChangeAspect="1"/>
          </p:cNvPicPr>
          <p:nvPr/>
        </p:nvPicPr>
        <p:blipFill>
          <a:blip r:embed="rId10"/>
          <a:srcRect t="-194579" b="-194579"/>
          <a:stretch/>
        </p:blipFill>
        <p:spPr>
          <a:xfrm>
            <a:off x="6476695" y="3995928"/>
            <a:ext cx="75895" cy="371246"/>
          </a:xfrm>
          <a:prstGeom prst="rect">
            <a:avLst/>
          </a:prstGeom>
        </p:spPr>
      </p:pic>
      <p:sp>
        <p:nvSpPr>
          <p:cNvPr id="49" name="Text 33"/>
          <p:cNvSpPr txBox="1"/>
          <p:nvPr/>
        </p:nvSpPr>
        <p:spPr>
          <a:xfrm>
            <a:off x="6648602" y="3938321"/>
            <a:ext cx="4799991"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a:t>
            </a:r>
            <a:r>
              <a:rPr lang="en-US" sz="1100" b="1" dirty="0">
                <a:solidFill>
                  <a:srgbClr val="FF0000"/>
                </a:solidFill>
                <a:latin typeface="Noto Sans KR" pitchFamily="34" charset="0"/>
                <a:ea typeface="Noto Sans KR" pitchFamily="34" charset="-122"/>
                <a:cs typeface="Noto Sans KR" pitchFamily="34" charset="-120"/>
              </a:rPr>
              <a:t>서로 다른 초기 가중치로 학습된 여러 모델</a:t>
            </a:r>
            <a:r>
              <a:rPr lang="en-US" sz="1100" dirty="0">
                <a:solidFill>
                  <a:srgbClr val="475569"/>
                </a:solidFill>
                <a:latin typeface="Noto Sans KR" pitchFamily="34" charset="0"/>
                <a:ea typeface="Noto Sans KR" pitchFamily="34" charset="-122"/>
                <a:cs typeface="Noto Sans KR" pitchFamily="34" charset="-120"/>
              </a:rPr>
              <a:t>의 예측을 평균하여 </a:t>
            </a:r>
            <a:r>
              <a:rPr lang="en-US" sz="1100" b="1" dirty="0">
                <a:solidFill>
                  <a:srgbClr val="FF0000"/>
                </a:solidFill>
                <a:latin typeface="Noto Sans KR" pitchFamily="34" charset="0"/>
                <a:ea typeface="Noto Sans KR" pitchFamily="34" charset="-122"/>
                <a:cs typeface="Noto Sans KR" pitchFamily="34" charset="-120"/>
              </a:rPr>
              <a:t>과적합 방지 및 예측 안정성 극대화</a:t>
            </a:r>
            <a:endParaRPr lang="en-US" sz="1100" b="1" dirty="0">
              <a:solidFill>
                <a:srgbClr val="FF0000"/>
              </a:solidFill>
            </a:endParaRPr>
          </a:p>
        </p:txBody>
      </p:sp>
      <p:pic>
        <p:nvPicPr>
          <p:cNvPr id="50" name="Image 14" descr="preencoded.png"/>
          <p:cNvPicPr>
            <a:picLocks noChangeAspect="1"/>
          </p:cNvPicPr>
          <p:nvPr/>
        </p:nvPicPr>
        <p:blipFill>
          <a:blip r:embed="rId10"/>
          <a:srcRect t="-194579" b="-194579"/>
          <a:stretch/>
        </p:blipFill>
        <p:spPr>
          <a:xfrm>
            <a:off x="6476695" y="4519879"/>
            <a:ext cx="75895" cy="371246"/>
          </a:xfrm>
          <a:prstGeom prst="rect">
            <a:avLst/>
          </a:prstGeom>
        </p:spPr>
      </p:pic>
      <p:sp>
        <p:nvSpPr>
          <p:cNvPr id="51" name="Text 34"/>
          <p:cNvSpPr txBox="1"/>
          <p:nvPr/>
        </p:nvSpPr>
        <p:spPr>
          <a:xfrm>
            <a:off x="6648602" y="4419013"/>
            <a:ext cx="4838091" cy="682573"/>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구성</a:t>
            </a:r>
            <a:r>
              <a:rPr lang="en-US" sz="1100" dirty="0">
                <a:solidFill>
                  <a:srgbClr val="475569"/>
                </a:solidFill>
                <a:latin typeface="Noto Sans KR" pitchFamily="34" charset="0"/>
                <a:ea typeface="Noto Sans KR" pitchFamily="34" charset="-122"/>
                <a:cs typeface="Noto Sans KR" pitchFamily="34" charset="-120"/>
              </a:rPr>
              <a:t>: </a:t>
            </a:r>
            <a:r>
              <a:rPr lang="en-US" sz="1100" b="1" dirty="0">
                <a:solidFill>
                  <a:srgbClr val="FF0000"/>
                </a:solidFill>
                <a:latin typeface="Noto Sans KR" pitchFamily="34" charset="0"/>
                <a:ea typeface="Noto Sans KR" pitchFamily="34" charset="-122"/>
                <a:cs typeface="Noto Sans KR" pitchFamily="34" charset="-120"/>
              </a:rPr>
              <a:t>최적화된 하이퍼파라미터</a:t>
            </a:r>
            <a:r>
              <a:rPr lang="en-US" sz="1100" dirty="0">
                <a:solidFill>
                  <a:srgbClr val="475569"/>
                </a:solidFill>
                <a:latin typeface="Noto Sans KR" pitchFamily="34" charset="0"/>
                <a:ea typeface="Noto Sans KR" pitchFamily="34" charset="-122"/>
                <a:cs typeface="Noto Sans KR" pitchFamily="34" charset="-120"/>
              </a:rPr>
              <a:t>로 5개의 독립적 D-MPNN 모델 학습 후 예측 확률을 산술 평균하여 </a:t>
            </a:r>
            <a:r>
              <a:rPr lang="en-US" sz="1100" dirty="0" err="1">
                <a:solidFill>
                  <a:srgbClr val="475569"/>
                </a:solidFill>
                <a:latin typeface="Noto Sans KR" pitchFamily="34" charset="0"/>
                <a:ea typeface="Noto Sans KR" pitchFamily="34" charset="-122"/>
                <a:cs typeface="Noto Sans KR" pitchFamily="34" charset="-120"/>
              </a:rPr>
              <a:t>최종</a:t>
            </a:r>
            <a:r>
              <a:rPr lang="en-US" sz="1100" dirty="0">
                <a:solidFill>
                  <a:srgbClr val="475569"/>
                </a:solidFill>
                <a:latin typeface="Noto Sans KR" pitchFamily="34" charset="0"/>
                <a:ea typeface="Noto Sans KR" pitchFamily="34" charset="-122"/>
                <a:cs typeface="Noto Sans KR" pitchFamily="34" charset="-120"/>
              </a:rPr>
              <a:t> </a:t>
            </a:r>
            <a:r>
              <a:rPr lang="en-US" sz="1100" dirty="0" err="1" smtClean="0">
                <a:solidFill>
                  <a:srgbClr val="475569"/>
                </a:solidFill>
                <a:latin typeface="Noto Sans KR" pitchFamily="34" charset="0"/>
                <a:ea typeface="Noto Sans KR" pitchFamily="34" charset="-122"/>
                <a:cs typeface="Noto Sans KR" pitchFamily="34" charset="-120"/>
              </a:rPr>
              <a:t>예측</a:t>
            </a:r>
            <a:endParaRPr lang="en-US" sz="1100" dirty="0">
              <a:solidFill>
                <a:srgbClr val="475569"/>
              </a:solidFill>
              <a:latin typeface="Noto Sans KR" pitchFamily="34" charset="0"/>
              <a:ea typeface="Noto Sans KR" pitchFamily="34" charset="-122"/>
              <a:cs typeface="Noto Sans KR" pitchFamily="34" charset="-120"/>
            </a:endParaRPr>
          </a:p>
          <a:p>
            <a:pPr marL="0" indent="0" algn="l">
              <a:buNone/>
            </a:pPr>
            <a:r>
              <a:rPr lang="en-US" sz="1100" b="1" dirty="0">
                <a:solidFill>
                  <a:srgbClr val="FF0000"/>
                </a:solidFill>
                <a:latin typeface="Noto Sans KR" pitchFamily="34" charset="0"/>
                <a:ea typeface="Noto Sans KR" pitchFamily="34" charset="-122"/>
              </a:rPr>
              <a:t>→ Dropout </a:t>
            </a:r>
            <a:r>
              <a:rPr lang="ko-KR" altLang="en-US" sz="1100" b="1" dirty="0">
                <a:solidFill>
                  <a:srgbClr val="FF0000"/>
                </a:solidFill>
                <a:latin typeface="Noto Sans KR" pitchFamily="34" charset="0"/>
                <a:ea typeface="Noto Sans KR" pitchFamily="34" charset="-122"/>
              </a:rPr>
              <a:t>확률</a:t>
            </a:r>
            <a:r>
              <a:rPr lang="en-US" altLang="ko-KR" sz="1100" b="1" dirty="0">
                <a:solidFill>
                  <a:srgbClr val="FF0000"/>
                </a:solidFill>
                <a:latin typeface="Noto Sans KR" pitchFamily="34" charset="0"/>
                <a:ea typeface="Noto Sans KR" pitchFamily="34" charset="-122"/>
              </a:rPr>
              <a:t>: 0.35 / </a:t>
            </a:r>
            <a:r>
              <a:rPr lang="ko-KR" altLang="en-US" sz="1100" b="1" dirty="0">
                <a:solidFill>
                  <a:srgbClr val="FF0000"/>
                </a:solidFill>
                <a:latin typeface="Noto Sans KR" pitchFamily="34" charset="0"/>
                <a:ea typeface="Noto Sans KR" pitchFamily="34" charset="-122"/>
              </a:rPr>
              <a:t>메시지 전달 횟수</a:t>
            </a:r>
            <a:r>
              <a:rPr lang="en-US" altLang="ko-KR" sz="1100" b="1" dirty="0">
                <a:solidFill>
                  <a:srgbClr val="FF0000"/>
                </a:solidFill>
                <a:latin typeface="Noto Sans KR" pitchFamily="34" charset="0"/>
                <a:ea typeface="Noto Sans KR" pitchFamily="34" charset="-122"/>
              </a:rPr>
              <a:t>: 6</a:t>
            </a:r>
          </a:p>
          <a:p>
            <a:r>
              <a:rPr lang="en-US" altLang="ko-KR" sz="1100" b="1" dirty="0">
                <a:solidFill>
                  <a:srgbClr val="FF0000"/>
                </a:solidFill>
                <a:latin typeface="Noto Sans KR" pitchFamily="34" charset="0"/>
                <a:ea typeface="Noto Sans KR" pitchFamily="34" charset="-122"/>
              </a:rPr>
              <a:t>→ Feed-forward </a:t>
            </a:r>
            <a:r>
              <a:rPr lang="ko-KR" altLang="en-US" sz="1100" b="1" dirty="0">
                <a:solidFill>
                  <a:srgbClr val="FF0000"/>
                </a:solidFill>
                <a:latin typeface="Noto Sans KR" pitchFamily="34" charset="0"/>
                <a:ea typeface="Noto Sans KR" pitchFamily="34" charset="-122"/>
              </a:rPr>
              <a:t>레이어 수</a:t>
            </a:r>
            <a:r>
              <a:rPr lang="en-US" altLang="ko-KR" sz="1100" b="1" dirty="0">
                <a:solidFill>
                  <a:srgbClr val="FF0000"/>
                </a:solidFill>
                <a:latin typeface="Noto Sans KR" pitchFamily="34" charset="0"/>
                <a:ea typeface="Noto Sans KR" pitchFamily="34" charset="-122"/>
              </a:rPr>
              <a:t>: 1 / Hidden size: 1100</a:t>
            </a:r>
            <a:endParaRPr lang="en-US" sz="1100" b="1" dirty="0">
              <a:solidFill>
                <a:srgbClr val="FF0000"/>
              </a:solidFill>
            </a:endParaRPr>
          </a:p>
        </p:txBody>
      </p:sp>
      <p:pic>
        <p:nvPicPr>
          <p:cNvPr id="52" name="Image 15" descr="preencoded.png"/>
          <p:cNvPicPr>
            <a:picLocks noChangeAspect="1"/>
          </p:cNvPicPr>
          <p:nvPr/>
        </p:nvPicPr>
        <p:blipFill>
          <a:blip r:embed="rId10"/>
          <a:srcRect t="-194579" b="-194579"/>
          <a:stretch/>
        </p:blipFill>
        <p:spPr>
          <a:xfrm>
            <a:off x="6476695" y="5277749"/>
            <a:ext cx="75895" cy="371246"/>
          </a:xfrm>
          <a:prstGeom prst="rect">
            <a:avLst/>
          </a:prstGeom>
        </p:spPr>
      </p:pic>
      <p:sp>
        <p:nvSpPr>
          <p:cNvPr id="53" name="Text 35"/>
          <p:cNvSpPr txBox="1"/>
          <p:nvPr/>
        </p:nvSpPr>
        <p:spPr>
          <a:xfrm>
            <a:off x="6648602" y="5220142"/>
            <a:ext cx="4867352" cy="428854"/>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손실 함수</a:t>
            </a:r>
            <a:r>
              <a:rPr lang="en-US" sz="1100" dirty="0">
                <a:solidFill>
                  <a:srgbClr val="475569"/>
                </a:solidFill>
                <a:latin typeface="Noto Sans KR" pitchFamily="34" charset="0"/>
                <a:ea typeface="Noto Sans KR" pitchFamily="34" charset="-122"/>
                <a:cs typeface="Noto Sans KR" pitchFamily="34" charset="-120"/>
              </a:rPr>
              <a:t>: </a:t>
            </a:r>
            <a:r>
              <a:rPr lang="en-US" sz="1100" b="1" dirty="0">
                <a:solidFill>
                  <a:srgbClr val="FF0000"/>
                </a:solidFill>
                <a:latin typeface="Noto Sans KR" pitchFamily="34" charset="0"/>
                <a:ea typeface="Noto Sans KR" pitchFamily="34" charset="-122"/>
                <a:cs typeface="Noto Sans KR" pitchFamily="34" charset="-120"/>
              </a:rPr>
              <a:t>Binary Cross-Entropy Loss 적용</a:t>
            </a:r>
            <a:r>
              <a:rPr lang="en-US" sz="1100" dirty="0">
                <a:solidFill>
                  <a:srgbClr val="475569"/>
                </a:solidFill>
                <a:latin typeface="Noto Sans KR" pitchFamily="34" charset="0"/>
                <a:ea typeface="Noto Sans KR" pitchFamily="34" charset="-122"/>
                <a:cs typeface="Noto Sans KR" pitchFamily="34" charset="-120"/>
              </a:rPr>
              <a:t>하여 각 클러스터에 대한 </a:t>
            </a:r>
            <a:r>
              <a:rPr lang="en-US" sz="1100" b="1" dirty="0">
                <a:solidFill>
                  <a:srgbClr val="FF0000"/>
                </a:solidFill>
                <a:latin typeface="Noto Sans KR" pitchFamily="34" charset="0"/>
                <a:ea typeface="Noto Sans KR" pitchFamily="34" charset="-122"/>
                <a:cs typeface="Noto Sans KR" pitchFamily="34" charset="-120"/>
              </a:rPr>
              <a:t>활성/비활성 이진 분류 수행</a:t>
            </a:r>
            <a:endParaRPr lang="en-US" sz="1100" b="1" dirty="0">
              <a:solidFill>
                <a:srgbClr val="FF0000"/>
              </a:solidFill>
            </a:endParaRPr>
          </a:p>
        </p:txBody>
      </p:sp>
      <p:sp>
        <p:nvSpPr>
          <p:cNvPr id="54" name="Shape 36"/>
          <p:cNvSpPr/>
          <p:nvPr/>
        </p:nvSpPr>
        <p:spPr>
          <a:xfrm>
            <a:off x="6476695" y="5724293"/>
            <a:ext cx="5009998" cy="685800"/>
          </a:xfrm>
          <a:prstGeom prst="roundRect">
            <a:avLst>
              <a:gd name="adj" fmla="val 11111"/>
            </a:avLst>
          </a:prstGeom>
          <a:solidFill>
            <a:srgbClr val="EFF6FF"/>
          </a:solidFill>
          <a:ln w="12700">
            <a:solidFill>
              <a:srgbClr val="BFDBFE"/>
            </a:solidFill>
            <a:prstDash val="solid"/>
          </a:ln>
        </p:spPr>
      </p:sp>
      <p:sp>
        <p:nvSpPr>
          <p:cNvPr id="55" name="Text 37"/>
          <p:cNvSpPr txBox="1"/>
          <p:nvPr/>
        </p:nvSpPr>
        <p:spPr>
          <a:xfrm>
            <a:off x="6638544" y="5848651"/>
            <a:ext cx="4877410" cy="171907"/>
          </a:xfrm>
          <a:prstGeom prst="rect">
            <a:avLst/>
          </a:prstGeom>
          <a:noFill/>
          <a:ln/>
        </p:spPr>
        <p:txBody>
          <a:bodyPr wrap="square" lIns="0" tIns="0" rIns="0" bIns="0" rtlCol="0" anchor="ctr"/>
          <a:lstStyle/>
          <a:p>
            <a:pPr marL="0" indent="0" algn="l">
              <a:buNone/>
            </a:pPr>
            <a:r>
              <a:rPr lang="en-US" sz="1400" dirty="0">
                <a:solidFill>
                  <a:srgbClr val="64748B"/>
                </a:solidFill>
                <a:latin typeface="Noto Sans KR" pitchFamily="34" charset="0"/>
                <a:ea typeface="Noto Sans KR" pitchFamily="34" charset="-122"/>
                <a:cs typeface="Noto Sans KR" pitchFamily="34" charset="-120"/>
              </a:rPr>
              <a:t>최종 모델 구성</a:t>
            </a:r>
            <a:endParaRPr lang="en-US" sz="1400" dirty="0"/>
          </a:p>
        </p:txBody>
      </p:sp>
      <p:sp>
        <p:nvSpPr>
          <p:cNvPr id="56" name="Text 38"/>
          <p:cNvSpPr txBox="1"/>
          <p:nvPr/>
        </p:nvSpPr>
        <p:spPr>
          <a:xfrm>
            <a:off x="6638544" y="6058049"/>
            <a:ext cx="4877410"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KR" pitchFamily="34" charset="0"/>
                <a:ea typeface="Noto Sans KR" pitchFamily="34" charset="-122"/>
                <a:cs typeface="Noto Sans KR" pitchFamily="34" charset="-120"/>
              </a:rPr>
              <a:t>앙상블 크기 5개 + </a:t>
            </a:r>
            <a:r>
              <a:rPr lang="en-US" sz="1200" b="1" dirty="0" err="1">
                <a:solidFill>
                  <a:srgbClr val="1E40AF"/>
                </a:solidFill>
                <a:latin typeface="Noto Sans KR" pitchFamily="34" charset="0"/>
                <a:ea typeface="Noto Sans KR" pitchFamily="34" charset="-122"/>
                <a:cs typeface="Noto Sans KR" pitchFamily="34" charset="-120"/>
              </a:rPr>
              <a:t>최적화된</a:t>
            </a:r>
            <a:r>
              <a:rPr lang="en-US" sz="1200" b="1" dirty="0">
                <a:solidFill>
                  <a:srgbClr val="1E40AF"/>
                </a:solidFill>
                <a:latin typeface="Noto Sans KR" pitchFamily="34" charset="0"/>
                <a:ea typeface="Noto Sans KR" pitchFamily="34" charset="-122"/>
                <a:cs typeface="Noto Sans KR" pitchFamily="34" charset="-120"/>
              </a:rPr>
              <a:t> </a:t>
            </a:r>
            <a:r>
              <a:rPr lang="en-US" sz="1200" b="1" dirty="0" err="1">
                <a:solidFill>
                  <a:srgbClr val="1E40AF"/>
                </a:solidFill>
                <a:latin typeface="Noto Sans KR" pitchFamily="34" charset="0"/>
                <a:ea typeface="Noto Sans KR" pitchFamily="34" charset="-122"/>
                <a:cs typeface="Noto Sans KR" pitchFamily="34" charset="-120"/>
              </a:rPr>
              <a:t>하이퍼파라미터</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56250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결과: 예측 성능 요약</a:t>
            </a:r>
            <a:endParaRPr lang="en-US" sz="2400" dirty="0"/>
          </a:p>
        </p:txBody>
      </p:sp>
      <p:sp>
        <p:nvSpPr>
          <p:cNvPr id="5" name="Text 3"/>
          <p:cNvSpPr txBox="1"/>
          <p:nvPr/>
        </p:nvSpPr>
        <p:spPr>
          <a:xfrm>
            <a:off x="476402" y="685800"/>
            <a:ext cx="399227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D-MPNN + RDKit Descriptors 모델 성능 (Test Set)</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350520" y="1398352"/>
            <a:ext cx="2419502" cy="1628546"/>
          </a:xfrm>
          <a:prstGeom prst="roundRect">
            <a:avLst>
              <a:gd name="adj" fmla="val 2627"/>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350520" y="1398352"/>
            <a:ext cx="38405" cy="1628546"/>
          </a:xfrm>
          <a:prstGeom prst="roundRect">
            <a:avLst>
              <a:gd name="adj" fmla="val 111389"/>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579120" y="1655299"/>
            <a:ext cx="228600" cy="228600"/>
          </a:xfrm>
          <a:prstGeom prst="rect">
            <a:avLst/>
          </a:prstGeom>
        </p:spPr>
      </p:pic>
      <p:sp>
        <p:nvSpPr>
          <p:cNvPr id="10" name="Text 6"/>
          <p:cNvSpPr txBox="1"/>
          <p:nvPr/>
        </p:nvSpPr>
        <p:spPr>
          <a:xfrm>
            <a:off x="902818" y="1659871"/>
            <a:ext cx="924458" cy="200254"/>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Mean AUROC</a:t>
            </a:r>
            <a:endParaRPr lang="en-US" sz="1100" dirty="0"/>
          </a:p>
        </p:txBody>
      </p:sp>
      <p:sp>
        <p:nvSpPr>
          <p:cNvPr id="11" name="Text 7"/>
          <p:cNvSpPr txBox="1"/>
          <p:nvPr/>
        </p:nvSpPr>
        <p:spPr>
          <a:xfrm>
            <a:off x="579120" y="2045748"/>
            <a:ext cx="2160727" cy="400507"/>
          </a:xfrm>
          <a:prstGeom prst="rect">
            <a:avLst/>
          </a:prstGeom>
          <a:noFill/>
          <a:ln/>
        </p:spPr>
        <p:txBody>
          <a:bodyPr wrap="square" lIns="0" tIns="0" rIns="0" bIns="0" rtlCol="0" anchor="ctr"/>
          <a:lstStyle/>
          <a:p>
            <a:pPr marL="0" indent="0" algn="l">
              <a:buNone/>
            </a:pPr>
            <a:r>
              <a:rPr lang="en-US" sz="3600" b="1" dirty="0">
                <a:solidFill>
                  <a:srgbClr val="FF0000"/>
                </a:solidFill>
                <a:latin typeface="Noto Sans KR" pitchFamily="34" charset="0"/>
                <a:ea typeface="Noto Sans KR" pitchFamily="34" charset="-122"/>
                <a:cs typeface="Noto Sans KR" pitchFamily="34" charset="-120"/>
              </a:rPr>
              <a:t>0.82</a:t>
            </a:r>
            <a:endParaRPr lang="en-US" sz="3600" dirty="0">
              <a:solidFill>
                <a:srgbClr val="FF0000"/>
              </a:solidFill>
            </a:endParaRPr>
          </a:p>
        </p:txBody>
      </p:sp>
      <p:sp>
        <p:nvSpPr>
          <p:cNvPr id="12" name="Text 8"/>
          <p:cNvSpPr txBox="1"/>
          <p:nvPr/>
        </p:nvSpPr>
        <p:spPr>
          <a:xfrm>
            <a:off x="579120" y="2522149"/>
            <a:ext cx="2076602" cy="400507"/>
          </a:xfrm>
          <a:prstGeom prst="rect">
            <a:avLst/>
          </a:prstGeom>
          <a:noFill/>
          <a:ln/>
        </p:spPr>
        <p:txBody>
          <a:bodyPr wrap="square" lIns="0" tIns="0" rIns="0" bIns="0" rtlCol="0" anchor="t"/>
          <a:lstStyle/>
          <a:p>
            <a:pPr marL="0" indent="0" algn="l">
              <a:buNone/>
            </a:pPr>
            <a:r>
              <a:rPr lang="en-US" sz="1200" dirty="0">
                <a:solidFill>
                  <a:srgbClr val="94A3B8"/>
                </a:solidFill>
                <a:latin typeface="Noto Sans KR" pitchFamily="34" charset="0"/>
                <a:ea typeface="Noto Sans KR" pitchFamily="34" charset="-122"/>
                <a:cs typeface="Noto Sans KR" pitchFamily="34" charset="-120"/>
              </a:rPr>
              <a:t>Area Under ROC Curve</a:t>
            </a:r>
          </a:p>
          <a:p>
            <a:pPr marL="0" indent="0" algn="l">
              <a:buNone/>
            </a:pPr>
            <a:r>
              <a:rPr lang="en-US" sz="1200" dirty="0">
                <a:solidFill>
                  <a:srgbClr val="94A3B8"/>
                </a:solidFill>
                <a:latin typeface="Noto Sans KR" pitchFamily="34" charset="0"/>
                <a:ea typeface="Noto Sans KR" pitchFamily="34" charset="-122"/>
                <a:cs typeface="Noto Sans KR" pitchFamily="34" charset="-120"/>
              </a:rPr>
              <a:t>(13개 클러스터 평균)</a:t>
            </a:r>
            <a:endParaRPr lang="en-US" sz="1200" dirty="0"/>
          </a:p>
        </p:txBody>
      </p:sp>
      <p:sp>
        <p:nvSpPr>
          <p:cNvPr id="13" name="Shape 9"/>
          <p:cNvSpPr/>
          <p:nvPr/>
        </p:nvSpPr>
        <p:spPr>
          <a:xfrm>
            <a:off x="2915412" y="1398352"/>
            <a:ext cx="2419502" cy="1628546"/>
          </a:xfrm>
          <a:prstGeom prst="roundRect">
            <a:avLst>
              <a:gd name="adj" fmla="val 2627"/>
            </a:avLst>
          </a:prstGeom>
          <a:solidFill>
            <a:srgbClr val="FFFFFF"/>
          </a:solidFill>
          <a:ln/>
          <a:effectLst>
            <a:outerShdw blurRad="76200" dist="25400" dir="16200000" algn="bl" rotWithShape="0">
              <a:srgbClr val="000000">
                <a:alpha val="8000"/>
              </a:srgbClr>
            </a:outerShdw>
          </a:effectLst>
        </p:spPr>
      </p:sp>
      <p:sp>
        <p:nvSpPr>
          <p:cNvPr id="14" name="Shape 10"/>
          <p:cNvSpPr/>
          <p:nvPr/>
        </p:nvSpPr>
        <p:spPr>
          <a:xfrm>
            <a:off x="2915412" y="1398352"/>
            <a:ext cx="38405" cy="1628546"/>
          </a:xfrm>
          <a:prstGeom prst="roundRect">
            <a:avLst>
              <a:gd name="adj" fmla="val 111389"/>
            </a:avLst>
          </a:prstGeom>
          <a:solidFill>
            <a:srgbClr val="3B82F6"/>
          </a:solidFill>
          <a:ln w="12700">
            <a:solidFill>
              <a:srgbClr val="3B82F6">
                <a:alpha val="0"/>
              </a:srgbClr>
            </a:solidFill>
            <a:prstDash val="solid"/>
          </a:ln>
        </p:spPr>
      </p:sp>
      <p:pic>
        <p:nvPicPr>
          <p:cNvPr id="15" name="Image 2" descr="preencoded.png"/>
          <p:cNvPicPr>
            <a:picLocks noChangeAspect="1"/>
          </p:cNvPicPr>
          <p:nvPr/>
        </p:nvPicPr>
        <p:blipFill>
          <a:blip r:embed="rId5"/>
          <a:srcRect/>
          <a:stretch/>
        </p:blipFill>
        <p:spPr>
          <a:xfrm>
            <a:off x="3144012" y="1655299"/>
            <a:ext cx="228600" cy="228600"/>
          </a:xfrm>
          <a:prstGeom prst="rect">
            <a:avLst/>
          </a:prstGeom>
        </p:spPr>
      </p:pic>
      <p:sp>
        <p:nvSpPr>
          <p:cNvPr id="16" name="Text 11"/>
          <p:cNvSpPr txBox="1"/>
          <p:nvPr/>
        </p:nvSpPr>
        <p:spPr>
          <a:xfrm>
            <a:off x="3468624" y="1659871"/>
            <a:ext cx="684886" cy="200254"/>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Accuracy</a:t>
            </a:r>
            <a:endParaRPr lang="en-US" sz="1100" dirty="0"/>
          </a:p>
        </p:txBody>
      </p:sp>
      <p:sp>
        <p:nvSpPr>
          <p:cNvPr id="17" name="Text 12"/>
          <p:cNvSpPr txBox="1"/>
          <p:nvPr/>
        </p:nvSpPr>
        <p:spPr>
          <a:xfrm>
            <a:off x="3144012" y="2045748"/>
            <a:ext cx="2160727" cy="400507"/>
          </a:xfrm>
          <a:prstGeom prst="rect">
            <a:avLst/>
          </a:prstGeom>
          <a:noFill/>
          <a:ln/>
        </p:spPr>
        <p:txBody>
          <a:bodyPr wrap="square" lIns="0" tIns="0" rIns="0" bIns="0" rtlCol="0" anchor="ctr"/>
          <a:lstStyle/>
          <a:p>
            <a:pPr marL="0" indent="0" algn="l">
              <a:buNone/>
            </a:pPr>
            <a:r>
              <a:rPr lang="en-US" sz="3600" b="1" dirty="0">
                <a:solidFill>
                  <a:srgbClr val="1A355B"/>
                </a:solidFill>
                <a:latin typeface="Noto Sans KR" pitchFamily="34" charset="0"/>
                <a:ea typeface="Noto Sans KR" pitchFamily="34" charset="-122"/>
                <a:cs typeface="Noto Sans KR" pitchFamily="34" charset="-120"/>
              </a:rPr>
              <a:t>0.75</a:t>
            </a:r>
            <a:endParaRPr lang="en-US" sz="3600" dirty="0"/>
          </a:p>
        </p:txBody>
      </p:sp>
      <p:sp>
        <p:nvSpPr>
          <p:cNvPr id="18" name="Text 13"/>
          <p:cNvSpPr txBox="1"/>
          <p:nvPr/>
        </p:nvSpPr>
        <p:spPr>
          <a:xfrm>
            <a:off x="3144012" y="2522150"/>
            <a:ext cx="2092147" cy="400506"/>
          </a:xfrm>
          <a:prstGeom prst="rect">
            <a:avLst/>
          </a:prstGeom>
          <a:noFill/>
          <a:ln/>
        </p:spPr>
        <p:txBody>
          <a:bodyPr wrap="square" lIns="0" tIns="0" rIns="0" bIns="0" rtlCol="0" anchor="ctr"/>
          <a:lstStyle/>
          <a:p>
            <a:pPr marL="0" indent="0" algn="l">
              <a:buNone/>
            </a:pPr>
            <a:r>
              <a:rPr lang="en-US" sz="1200" dirty="0">
                <a:solidFill>
                  <a:srgbClr val="94A3B8"/>
                </a:solidFill>
                <a:latin typeface="Noto Sans KR" pitchFamily="34" charset="0"/>
                <a:ea typeface="Noto Sans KR" pitchFamily="34" charset="-122"/>
                <a:cs typeface="Noto Sans KR" pitchFamily="34" charset="-120"/>
              </a:rPr>
              <a:t>전체 </a:t>
            </a:r>
            <a:r>
              <a:rPr lang="en-US" sz="1200" dirty="0" err="1">
                <a:solidFill>
                  <a:srgbClr val="94A3B8"/>
                </a:solidFill>
                <a:latin typeface="Noto Sans KR" pitchFamily="34" charset="0"/>
                <a:ea typeface="Noto Sans KR" pitchFamily="34" charset="-122"/>
                <a:cs typeface="Noto Sans KR" pitchFamily="34" charset="-120"/>
              </a:rPr>
              <a:t>예측</a:t>
            </a:r>
            <a:r>
              <a:rPr lang="en-US" sz="1200" dirty="0">
                <a:solidFill>
                  <a:srgbClr val="94A3B8"/>
                </a:solidFill>
                <a:latin typeface="Noto Sans KR" pitchFamily="34" charset="0"/>
                <a:ea typeface="Noto Sans KR" pitchFamily="34" charset="-122"/>
                <a:cs typeface="Noto Sans KR" pitchFamily="34" charset="-120"/>
              </a:rPr>
              <a:t> </a:t>
            </a:r>
            <a:r>
              <a:rPr lang="en-US" sz="1200" dirty="0" err="1">
                <a:solidFill>
                  <a:srgbClr val="94A3B8"/>
                </a:solidFill>
                <a:latin typeface="Noto Sans KR" pitchFamily="34" charset="0"/>
                <a:ea typeface="Noto Sans KR" pitchFamily="34" charset="-122"/>
                <a:cs typeface="Noto Sans KR" pitchFamily="34" charset="-120"/>
              </a:rPr>
              <a:t>정확도</a:t>
            </a:r>
            <a:r>
              <a:rPr lang="en-US" sz="1200" dirty="0">
                <a:solidFill>
                  <a:srgbClr val="94A3B8"/>
                </a:solidFill>
                <a:latin typeface="Noto Sans KR" pitchFamily="34" charset="0"/>
                <a:ea typeface="Noto Sans KR" pitchFamily="34" charset="-122"/>
                <a:cs typeface="Noto Sans KR" pitchFamily="34" charset="-120"/>
              </a:rPr>
              <a:t/>
            </a:r>
            <a:br>
              <a:rPr lang="en-US" sz="1200" dirty="0">
                <a:solidFill>
                  <a:srgbClr val="94A3B8"/>
                </a:solidFill>
                <a:latin typeface="Noto Sans KR" pitchFamily="34" charset="0"/>
                <a:ea typeface="Noto Sans KR" pitchFamily="34" charset="-122"/>
                <a:cs typeface="Noto Sans KR" pitchFamily="34" charset="-120"/>
              </a:rPr>
            </a:br>
            <a:r>
              <a:rPr lang="en-US" sz="1200" dirty="0">
                <a:solidFill>
                  <a:srgbClr val="94A3B8"/>
                </a:solidFill>
                <a:latin typeface="Noto Sans KR" pitchFamily="34" charset="0"/>
                <a:ea typeface="Noto Sans KR" pitchFamily="34" charset="-122"/>
                <a:cs typeface="Noto Sans KR" pitchFamily="34" charset="-120"/>
              </a:rPr>
              <a:t>(Youden's J 임계값)</a:t>
            </a:r>
            <a:endParaRPr lang="en-US" sz="1200" dirty="0"/>
          </a:p>
        </p:txBody>
      </p:sp>
      <p:sp>
        <p:nvSpPr>
          <p:cNvPr id="19" name="Shape 14"/>
          <p:cNvSpPr/>
          <p:nvPr/>
        </p:nvSpPr>
        <p:spPr>
          <a:xfrm>
            <a:off x="350520" y="3179604"/>
            <a:ext cx="2419502" cy="1476756"/>
          </a:xfrm>
          <a:prstGeom prst="roundRect">
            <a:avLst>
              <a:gd name="adj" fmla="val 3196"/>
            </a:avLst>
          </a:prstGeom>
          <a:solidFill>
            <a:srgbClr val="FFFFFF"/>
          </a:solidFill>
          <a:ln/>
          <a:effectLst>
            <a:outerShdw blurRad="76200" dist="25400" dir="16200000" algn="bl" rotWithShape="0">
              <a:srgbClr val="000000">
                <a:alpha val="8000"/>
              </a:srgbClr>
            </a:outerShdw>
          </a:effectLst>
        </p:spPr>
      </p:sp>
      <p:sp>
        <p:nvSpPr>
          <p:cNvPr id="20" name="Shape 15"/>
          <p:cNvSpPr/>
          <p:nvPr/>
        </p:nvSpPr>
        <p:spPr>
          <a:xfrm>
            <a:off x="350520" y="3179604"/>
            <a:ext cx="38405" cy="1476756"/>
          </a:xfrm>
          <a:prstGeom prst="roundRect">
            <a:avLst>
              <a:gd name="adj" fmla="val 122887"/>
            </a:avLst>
          </a:prstGeom>
          <a:solidFill>
            <a:srgbClr val="3B82F6"/>
          </a:solidFill>
          <a:ln w="12700">
            <a:solidFill>
              <a:srgbClr val="3B82F6">
                <a:alpha val="0"/>
              </a:srgbClr>
            </a:solidFill>
            <a:prstDash val="solid"/>
          </a:ln>
        </p:spPr>
      </p:sp>
      <p:pic>
        <p:nvPicPr>
          <p:cNvPr id="21" name="Image 3" descr="preencoded.png"/>
          <p:cNvPicPr>
            <a:picLocks noChangeAspect="1"/>
          </p:cNvPicPr>
          <p:nvPr/>
        </p:nvPicPr>
        <p:blipFill>
          <a:blip r:embed="rId6"/>
          <a:srcRect/>
          <a:stretch/>
        </p:blipFill>
        <p:spPr>
          <a:xfrm>
            <a:off x="579120" y="3436550"/>
            <a:ext cx="228600" cy="228600"/>
          </a:xfrm>
          <a:prstGeom prst="rect">
            <a:avLst/>
          </a:prstGeom>
        </p:spPr>
      </p:pic>
      <p:sp>
        <p:nvSpPr>
          <p:cNvPr id="22" name="Text 16"/>
          <p:cNvSpPr txBox="1"/>
          <p:nvPr/>
        </p:nvSpPr>
        <p:spPr>
          <a:xfrm>
            <a:off x="902818" y="3441122"/>
            <a:ext cx="914400" cy="200254"/>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Mean AUPRC</a:t>
            </a:r>
            <a:endParaRPr lang="en-US" sz="1100" dirty="0"/>
          </a:p>
        </p:txBody>
      </p:sp>
      <p:sp>
        <p:nvSpPr>
          <p:cNvPr id="23" name="Text 17"/>
          <p:cNvSpPr txBox="1"/>
          <p:nvPr/>
        </p:nvSpPr>
        <p:spPr>
          <a:xfrm>
            <a:off x="579120" y="3826999"/>
            <a:ext cx="2160727" cy="400507"/>
          </a:xfrm>
          <a:prstGeom prst="rect">
            <a:avLst/>
          </a:prstGeom>
          <a:noFill/>
          <a:ln/>
        </p:spPr>
        <p:txBody>
          <a:bodyPr wrap="square" lIns="0" tIns="0" rIns="0" bIns="0" rtlCol="0" anchor="ctr"/>
          <a:lstStyle/>
          <a:p>
            <a:pPr marL="0" indent="0" algn="l">
              <a:buNone/>
            </a:pPr>
            <a:r>
              <a:rPr lang="en-US" sz="3600" b="1" dirty="0">
                <a:solidFill>
                  <a:srgbClr val="FF0000"/>
                </a:solidFill>
                <a:latin typeface="Noto Sans KR" pitchFamily="34" charset="0"/>
                <a:ea typeface="Noto Sans KR" pitchFamily="34" charset="-122"/>
                <a:cs typeface="Noto Sans KR" pitchFamily="34" charset="-120"/>
              </a:rPr>
              <a:t>0.30</a:t>
            </a:r>
            <a:endParaRPr lang="en-US" sz="3600" dirty="0">
              <a:solidFill>
                <a:srgbClr val="FF0000"/>
              </a:solidFill>
            </a:endParaRPr>
          </a:p>
        </p:txBody>
      </p:sp>
      <p:sp>
        <p:nvSpPr>
          <p:cNvPr id="24" name="Text 18"/>
          <p:cNvSpPr txBox="1"/>
          <p:nvPr/>
        </p:nvSpPr>
        <p:spPr>
          <a:xfrm>
            <a:off x="579120" y="4277391"/>
            <a:ext cx="2192731" cy="325290"/>
          </a:xfrm>
          <a:prstGeom prst="rect">
            <a:avLst/>
          </a:prstGeom>
          <a:noFill/>
          <a:ln/>
        </p:spPr>
        <p:txBody>
          <a:bodyPr wrap="square" lIns="0" tIns="0" rIns="0" bIns="0" rtlCol="0" anchor="ctr"/>
          <a:lstStyle/>
          <a:p>
            <a:pPr marL="0" indent="0" algn="l">
              <a:buNone/>
            </a:pPr>
            <a:r>
              <a:rPr lang="en-US" sz="1200" dirty="0">
                <a:solidFill>
                  <a:srgbClr val="94A3B8"/>
                </a:solidFill>
                <a:latin typeface="Noto Sans KR" pitchFamily="34" charset="0"/>
                <a:ea typeface="Noto Sans KR" pitchFamily="34" charset="-122"/>
                <a:cs typeface="Noto Sans KR" pitchFamily="34" charset="-120"/>
              </a:rPr>
              <a:t>Precision-Recall AUC</a:t>
            </a:r>
          </a:p>
          <a:p>
            <a:pPr marL="0" indent="0" algn="l">
              <a:buNone/>
            </a:pPr>
            <a:r>
              <a:rPr lang="en-US" sz="1200" dirty="0">
                <a:solidFill>
                  <a:srgbClr val="94A3B8"/>
                </a:solidFill>
                <a:latin typeface="Noto Sans KR" pitchFamily="34" charset="0"/>
                <a:ea typeface="Noto Sans KR" pitchFamily="34" charset="-122"/>
                <a:cs typeface="Noto Sans KR" pitchFamily="34" charset="-120"/>
              </a:rPr>
              <a:t>(불균형 데이터)</a:t>
            </a:r>
            <a:endParaRPr lang="en-US" sz="1200" dirty="0"/>
          </a:p>
        </p:txBody>
      </p:sp>
      <p:sp>
        <p:nvSpPr>
          <p:cNvPr id="25" name="Shape 19"/>
          <p:cNvSpPr/>
          <p:nvPr/>
        </p:nvSpPr>
        <p:spPr>
          <a:xfrm>
            <a:off x="2915412" y="3179604"/>
            <a:ext cx="2419502" cy="1476756"/>
          </a:xfrm>
          <a:prstGeom prst="roundRect">
            <a:avLst>
              <a:gd name="adj" fmla="val 3196"/>
            </a:avLst>
          </a:prstGeom>
          <a:solidFill>
            <a:srgbClr val="FFFFFF"/>
          </a:solidFill>
          <a:ln/>
          <a:effectLst>
            <a:outerShdw blurRad="76200" dist="25400" dir="16200000" algn="bl" rotWithShape="0">
              <a:srgbClr val="000000">
                <a:alpha val="8000"/>
              </a:srgbClr>
            </a:outerShdw>
          </a:effectLst>
        </p:spPr>
      </p:sp>
      <p:sp>
        <p:nvSpPr>
          <p:cNvPr id="26" name="Shape 20"/>
          <p:cNvSpPr/>
          <p:nvPr/>
        </p:nvSpPr>
        <p:spPr>
          <a:xfrm>
            <a:off x="2915412" y="3179604"/>
            <a:ext cx="38405" cy="1476756"/>
          </a:xfrm>
          <a:prstGeom prst="roundRect">
            <a:avLst>
              <a:gd name="adj" fmla="val 122887"/>
            </a:avLst>
          </a:prstGeom>
          <a:solidFill>
            <a:srgbClr val="3B82F6"/>
          </a:solidFill>
          <a:ln w="12700">
            <a:solidFill>
              <a:srgbClr val="3B82F6">
                <a:alpha val="0"/>
              </a:srgbClr>
            </a:solidFill>
            <a:prstDash val="solid"/>
          </a:ln>
        </p:spPr>
      </p:sp>
      <p:pic>
        <p:nvPicPr>
          <p:cNvPr id="27" name="Image 4" descr="preencoded.png"/>
          <p:cNvPicPr>
            <a:picLocks noChangeAspect="1"/>
          </p:cNvPicPr>
          <p:nvPr/>
        </p:nvPicPr>
        <p:blipFill>
          <a:blip r:embed="rId7"/>
          <a:srcRect l="-80" r="-80"/>
          <a:stretch/>
        </p:blipFill>
        <p:spPr>
          <a:xfrm>
            <a:off x="3144012" y="3436550"/>
            <a:ext cx="286207" cy="228600"/>
          </a:xfrm>
          <a:prstGeom prst="rect">
            <a:avLst/>
          </a:prstGeom>
        </p:spPr>
      </p:pic>
      <p:sp>
        <p:nvSpPr>
          <p:cNvPr id="28" name="Text 21"/>
          <p:cNvSpPr txBox="1"/>
          <p:nvPr/>
        </p:nvSpPr>
        <p:spPr>
          <a:xfrm>
            <a:off x="3525317" y="3441122"/>
            <a:ext cx="657454" cy="200254"/>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F1 Score</a:t>
            </a:r>
            <a:endParaRPr lang="en-US" sz="1100" dirty="0"/>
          </a:p>
        </p:txBody>
      </p:sp>
      <p:sp>
        <p:nvSpPr>
          <p:cNvPr id="29" name="Text 22"/>
          <p:cNvSpPr txBox="1"/>
          <p:nvPr/>
        </p:nvSpPr>
        <p:spPr>
          <a:xfrm>
            <a:off x="3144012" y="3826999"/>
            <a:ext cx="2160727" cy="400507"/>
          </a:xfrm>
          <a:prstGeom prst="rect">
            <a:avLst/>
          </a:prstGeom>
          <a:noFill/>
          <a:ln/>
        </p:spPr>
        <p:txBody>
          <a:bodyPr wrap="square" lIns="0" tIns="0" rIns="0" bIns="0" rtlCol="0" anchor="ctr"/>
          <a:lstStyle/>
          <a:p>
            <a:pPr marL="0" indent="0" algn="l">
              <a:buNone/>
            </a:pPr>
            <a:r>
              <a:rPr lang="en-US" sz="3600" b="1" dirty="0">
                <a:solidFill>
                  <a:srgbClr val="1A355B"/>
                </a:solidFill>
                <a:latin typeface="Noto Sans KR" pitchFamily="34" charset="0"/>
                <a:ea typeface="Noto Sans KR" pitchFamily="34" charset="-122"/>
                <a:cs typeface="Noto Sans KR" pitchFamily="34" charset="-120"/>
              </a:rPr>
              <a:t>0.19</a:t>
            </a:r>
            <a:endParaRPr lang="en-US" sz="3600" dirty="0"/>
          </a:p>
        </p:txBody>
      </p:sp>
      <p:sp>
        <p:nvSpPr>
          <p:cNvPr id="30" name="Text 23"/>
          <p:cNvSpPr txBox="1"/>
          <p:nvPr/>
        </p:nvSpPr>
        <p:spPr>
          <a:xfrm>
            <a:off x="3144012" y="4303401"/>
            <a:ext cx="2160727" cy="299280"/>
          </a:xfrm>
          <a:prstGeom prst="rect">
            <a:avLst/>
          </a:prstGeom>
          <a:noFill/>
          <a:ln/>
        </p:spPr>
        <p:txBody>
          <a:bodyPr wrap="square" lIns="0" tIns="0" rIns="0" bIns="0" rtlCol="0" anchor="ctr"/>
          <a:lstStyle/>
          <a:p>
            <a:pPr marL="0" indent="0" algn="l">
              <a:buNone/>
            </a:pPr>
            <a:r>
              <a:rPr lang="en-US" sz="1200" dirty="0">
                <a:solidFill>
                  <a:srgbClr val="94A3B8"/>
                </a:solidFill>
                <a:latin typeface="Noto Sans KR" pitchFamily="34" charset="0"/>
                <a:ea typeface="Noto Sans KR" pitchFamily="34" charset="-122"/>
                <a:cs typeface="Noto Sans KR" pitchFamily="34" charset="-120"/>
              </a:rPr>
              <a:t>정밀도-재현율 조화평균</a:t>
            </a:r>
            <a:endParaRPr lang="en-US" sz="1200" dirty="0"/>
          </a:p>
        </p:txBody>
      </p:sp>
      <p:sp>
        <p:nvSpPr>
          <p:cNvPr id="31" name="Shape 24"/>
          <p:cNvSpPr/>
          <p:nvPr/>
        </p:nvSpPr>
        <p:spPr>
          <a:xfrm>
            <a:off x="5568695" y="3876140"/>
            <a:ext cx="6476695" cy="2602901"/>
          </a:xfrm>
          <a:prstGeom prst="roundRect">
            <a:avLst>
              <a:gd name="adj" fmla="val 1725"/>
            </a:avLst>
          </a:prstGeom>
          <a:solidFill>
            <a:srgbClr val="FFFFFF"/>
          </a:solidFill>
          <a:ln/>
          <a:effectLst>
            <a:outerShdw blurRad="76200" dist="25400" dir="16200000" algn="bl" rotWithShape="0">
              <a:srgbClr val="000000">
                <a:alpha val="8000"/>
              </a:srgbClr>
            </a:outerShdw>
          </a:effectLst>
        </p:spPr>
      </p:sp>
      <p:sp>
        <p:nvSpPr>
          <p:cNvPr id="32" name="Shape 25"/>
          <p:cNvSpPr/>
          <p:nvPr/>
        </p:nvSpPr>
        <p:spPr>
          <a:xfrm>
            <a:off x="5568695" y="3876139"/>
            <a:ext cx="6476695" cy="45719"/>
          </a:xfrm>
          <a:prstGeom prst="roundRect">
            <a:avLst>
              <a:gd name="adj" fmla="val 122307"/>
            </a:avLst>
          </a:prstGeom>
          <a:solidFill>
            <a:srgbClr val="1A355B"/>
          </a:solidFill>
          <a:ln w="12700">
            <a:solidFill>
              <a:srgbClr val="1A355B">
                <a:alpha val="0"/>
              </a:srgbClr>
            </a:solidFill>
            <a:prstDash val="solid"/>
          </a:ln>
        </p:spPr>
      </p:sp>
      <p:sp>
        <p:nvSpPr>
          <p:cNvPr id="33" name="Text 26"/>
          <p:cNvSpPr txBox="1"/>
          <p:nvPr/>
        </p:nvSpPr>
        <p:spPr>
          <a:xfrm>
            <a:off x="6006693" y="4094682"/>
            <a:ext cx="4543654" cy="228600"/>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핵심 성과</a:t>
            </a:r>
            <a:endParaRPr lang="en-US" sz="2000" dirty="0"/>
          </a:p>
        </p:txBody>
      </p:sp>
      <p:pic>
        <p:nvPicPr>
          <p:cNvPr id="34" name="Image 5" descr="preencoded.png"/>
          <p:cNvPicPr>
            <a:picLocks noChangeAspect="1"/>
          </p:cNvPicPr>
          <p:nvPr/>
        </p:nvPicPr>
        <p:blipFill>
          <a:blip r:embed="rId8"/>
          <a:srcRect l="-33" r="-33"/>
          <a:stretch/>
        </p:blipFill>
        <p:spPr>
          <a:xfrm>
            <a:off x="5758891" y="4133086"/>
            <a:ext cx="171907" cy="152705"/>
          </a:xfrm>
          <a:prstGeom prst="rect">
            <a:avLst/>
          </a:prstGeom>
        </p:spPr>
      </p:pic>
      <p:grpSp>
        <p:nvGrpSpPr>
          <p:cNvPr id="63" name="그룹 62">
            <a:extLst>
              <a:ext uri="{FF2B5EF4-FFF2-40B4-BE49-F238E27FC236}">
                <a16:creationId xmlns:a16="http://schemas.microsoft.com/office/drawing/2014/main" id="{64780ECA-F4A6-4077-AA7C-57837F035AA3}"/>
              </a:ext>
            </a:extLst>
          </p:cNvPr>
          <p:cNvGrpSpPr/>
          <p:nvPr/>
        </p:nvGrpSpPr>
        <p:grpSpPr>
          <a:xfrm>
            <a:off x="5758890" y="4440036"/>
            <a:ext cx="6116421" cy="344379"/>
            <a:chOff x="5758891" y="4440036"/>
            <a:chExt cx="5449573" cy="233217"/>
          </a:xfrm>
        </p:grpSpPr>
        <p:pic>
          <p:nvPicPr>
            <p:cNvPr id="35" name="Image 6" descr="preencoded.png"/>
            <p:cNvPicPr>
              <a:picLocks noChangeAspect="1"/>
            </p:cNvPicPr>
            <p:nvPr/>
          </p:nvPicPr>
          <p:blipFill>
            <a:blip r:embed="rId9"/>
            <a:srcRect t="-37952" b="-37952"/>
            <a:stretch/>
          </p:blipFill>
          <p:spPr>
            <a:xfrm>
              <a:off x="5758891" y="4495189"/>
              <a:ext cx="75895" cy="133502"/>
            </a:xfrm>
            <a:prstGeom prst="rect">
              <a:avLst/>
            </a:prstGeom>
          </p:spPr>
        </p:pic>
        <p:sp>
          <p:nvSpPr>
            <p:cNvPr id="36" name="Text 27"/>
            <p:cNvSpPr txBox="1"/>
            <p:nvPr/>
          </p:nvSpPr>
          <p:spPr>
            <a:xfrm>
              <a:off x="5930797" y="4440036"/>
              <a:ext cx="5277667" cy="233217"/>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최고 성능</a:t>
              </a:r>
              <a:r>
                <a:rPr lang="en-US" sz="1400" dirty="0">
                  <a:solidFill>
                    <a:srgbClr val="475569"/>
                  </a:solidFill>
                  <a:latin typeface="Noto Sans KR" pitchFamily="34" charset="0"/>
                  <a:ea typeface="Noto Sans KR" pitchFamily="34" charset="-122"/>
                  <a:cs typeface="Noto Sans KR" pitchFamily="34" charset="-120"/>
                </a:rPr>
                <a:t>: </a:t>
              </a:r>
              <a:r>
                <a:rPr lang="en-US" sz="1400" b="1" dirty="0">
                  <a:solidFill>
                    <a:srgbClr val="FF0000"/>
                  </a:solidFill>
                  <a:latin typeface="Noto Sans KR" pitchFamily="34" charset="0"/>
                  <a:ea typeface="Noto Sans KR" pitchFamily="34" charset="-122"/>
                  <a:cs typeface="Noto Sans KR" pitchFamily="34" charset="-120"/>
                </a:rPr>
                <a:t>D-MPNN+RDKit</a:t>
              </a:r>
              <a:r>
                <a:rPr lang="en-US" sz="1400" dirty="0">
                  <a:solidFill>
                    <a:srgbClr val="475569"/>
                  </a:solidFill>
                  <a:latin typeface="Noto Sans KR" pitchFamily="34" charset="0"/>
                  <a:ea typeface="Noto Sans KR" pitchFamily="34" charset="-122"/>
                  <a:cs typeface="Noto Sans KR" pitchFamily="34" charset="-120"/>
                </a:rPr>
                <a:t>가 모든 베이스라인 모델 대비 </a:t>
              </a:r>
              <a:r>
                <a:rPr lang="en-US" sz="1400" b="1" dirty="0">
                  <a:solidFill>
                    <a:srgbClr val="FF0000"/>
                  </a:solidFill>
                  <a:latin typeface="Noto Sans KR" pitchFamily="34" charset="0"/>
                  <a:ea typeface="Noto Sans KR" pitchFamily="34" charset="-122"/>
                  <a:cs typeface="Noto Sans KR" pitchFamily="34" charset="-120"/>
                </a:rPr>
                <a:t>우수한 AUROC 달성</a:t>
              </a:r>
              <a:endParaRPr lang="en-US" sz="1400" b="1" dirty="0">
                <a:solidFill>
                  <a:srgbClr val="FF0000"/>
                </a:solidFill>
              </a:endParaRPr>
            </a:p>
          </p:txBody>
        </p:sp>
      </p:grpSp>
      <p:grpSp>
        <p:nvGrpSpPr>
          <p:cNvPr id="62" name="그룹 61">
            <a:extLst>
              <a:ext uri="{FF2B5EF4-FFF2-40B4-BE49-F238E27FC236}">
                <a16:creationId xmlns:a16="http://schemas.microsoft.com/office/drawing/2014/main" id="{2DE638FC-9579-4317-B2A2-58A4B15645D0}"/>
              </a:ext>
            </a:extLst>
          </p:cNvPr>
          <p:cNvGrpSpPr/>
          <p:nvPr/>
        </p:nvGrpSpPr>
        <p:grpSpPr>
          <a:xfrm>
            <a:off x="5758886" y="4801925"/>
            <a:ext cx="6006699" cy="307501"/>
            <a:chOff x="5758891" y="4713918"/>
            <a:chExt cx="5449575" cy="222659"/>
          </a:xfrm>
        </p:grpSpPr>
        <p:pic>
          <p:nvPicPr>
            <p:cNvPr id="37" name="Image 7" descr="preencoded.png"/>
            <p:cNvPicPr>
              <a:picLocks noChangeAspect="1"/>
            </p:cNvPicPr>
            <p:nvPr/>
          </p:nvPicPr>
          <p:blipFill>
            <a:blip r:embed="rId9"/>
            <a:srcRect t="-37952" b="-37952"/>
            <a:stretch/>
          </p:blipFill>
          <p:spPr>
            <a:xfrm>
              <a:off x="5758891" y="4762194"/>
              <a:ext cx="75895" cy="133502"/>
            </a:xfrm>
            <a:prstGeom prst="rect">
              <a:avLst/>
            </a:prstGeom>
          </p:spPr>
        </p:pic>
        <p:sp>
          <p:nvSpPr>
            <p:cNvPr id="38" name="Text 28"/>
            <p:cNvSpPr txBox="1"/>
            <p:nvPr/>
          </p:nvSpPr>
          <p:spPr>
            <a:xfrm>
              <a:off x="5930796" y="4713918"/>
              <a:ext cx="5277670" cy="222659"/>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Scaffold Split</a:t>
              </a:r>
              <a:r>
                <a:rPr lang="en-US" sz="1400" dirty="0">
                  <a:solidFill>
                    <a:srgbClr val="475569"/>
                  </a:solidFill>
                  <a:latin typeface="Noto Sans KR" pitchFamily="34" charset="0"/>
                  <a:ea typeface="Noto Sans KR" pitchFamily="34" charset="-122"/>
                  <a:cs typeface="Noto Sans KR" pitchFamily="34" charset="-120"/>
                </a:rPr>
                <a:t>: </a:t>
              </a:r>
              <a:r>
                <a:rPr lang="en-US" sz="1400" b="1" dirty="0">
                  <a:solidFill>
                    <a:srgbClr val="FF0000"/>
                  </a:solidFill>
                  <a:latin typeface="Noto Sans KR" pitchFamily="34" charset="0"/>
                  <a:ea typeface="Noto Sans KR" pitchFamily="34" charset="-122"/>
                  <a:cs typeface="Noto Sans KR" pitchFamily="34" charset="-120"/>
                </a:rPr>
                <a:t>분자 골격 다양성 보장</a:t>
              </a:r>
              <a:r>
                <a:rPr lang="en-US" sz="1400" dirty="0">
                  <a:solidFill>
                    <a:srgbClr val="475569"/>
                  </a:solidFill>
                  <a:latin typeface="Noto Sans KR" pitchFamily="34" charset="0"/>
                  <a:ea typeface="Noto Sans KR" pitchFamily="34" charset="-122"/>
                  <a:cs typeface="Noto Sans KR" pitchFamily="34" charset="-120"/>
                </a:rPr>
                <a:t>하는 80/10/10 분할로 </a:t>
              </a:r>
              <a:r>
                <a:rPr lang="en-US" sz="1400" b="1" dirty="0">
                  <a:solidFill>
                    <a:srgbClr val="FF0000"/>
                  </a:solidFill>
                  <a:latin typeface="Noto Sans KR" pitchFamily="34" charset="0"/>
                  <a:ea typeface="Noto Sans KR" pitchFamily="34" charset="-122"/>
                  <a:cs typeface="Noto Sans KR" pitchFamily="34" charset="-120"/>
                </a:rPr>
                <a:t>일반화 성능 검증</a:t>
              </a:r>
              <a:endParaRPr lang="en-US" sz="1400" b="1" dirty="0">
                <a:solidFill>
                  <a:srgbClr val="FF0000"/>
                </a:solidFill>
              </a:endParaRPr>
            </a:p>
          </p:txBody>
        </p:sp>
      </p:grpSp>
      <p:grpSp>
        <p:nvGrpSpPr>
          <p:cNvPr id="61" name="그룹 60">
            <a:extLst>
              <a:ext uri="{FF2B5EF4-FFF2-40B4-BE49-F238E27FC236}">
                <a16:creationId xmlns:a16="http://schemas.microsoft.com/office/drawing/2014/main" id="{CC7E76E5-2F5B-48BF-B29B-826E682F9D2C}"/>
              </a:ext>
            </a:extLst>
          </p:cNvPr>
          <p:cNvGrpSpPr/>
          <p:nvPr/>
        </p:nvGrpSpPr>
        <p:grpSpPr>
          <a:xfrm>
            <a:off x="5758886" y="5154844"/>
            <a:ext cx="6203728" cy="307032"/>
            <a:chOff x="5758891" y="4983705"/>
            <a:chExt cx="5449578" cy="222659"/>
          </a:xfrm>
        </p:grpSpPr>
        <p:pic>
          <p:nvPicPr>
            <p:cNvPr id="39" name="Image 8" descr="preencoded.png"/>
            <p:cNvPicPr>
              <a:picLocks noChangeAspect="1"/>
            </p:cNvPicPr>
            <p:nvPr/>
          </p:nvPicPr>
          <p:blipFill>
            <a:blip r:embed="rId9"/>
            <a:srcRect t="-37952" b="-37952"/>
            <a:stretch/>
          </p:blipFill>
          <p:spPr>
            <a:xfrm>
              <a:off x="5758891" y="5028284"/>
              <a:ext cx="75895" cy="133502"/>
            </a:xfrm>
            <a:prstGeom prst="rect">
              <a:avLst/>
            </a:prstGeom>
          </p:spPr>
        </p:pic>
        <p:sp>
          <p:nvSpPr>
            <p:cNvPr id="40" name="Text 29"/>
            <p:cNvSpPr txBox="1"/>
            <p:nvPr/>
          </p:nvSpPr>
          <p:spPr>
            <a:xfrm>
              <a:off x="5930797" y="4983705"/>
              <a:ext cx="5277672" cy="222659"/>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임계값 최적화</a:t>
              </a:r>
              <a:r>
                <a:rPr lang="en-US" sz="1400" dirty="0">
                  <a:solidFill>
                    <a:srgbClr val="475569"/>
                  </a:solidFill>
                  <a:latin typeface="Noto Sans KR" pitchFamily="34" charset="0"/>
                  <a:ea typeface="Noto Sans KR" pitchFamily="34" charset="-122"/>
                  <a:cs typeface="Noto Sans KR" pitchFamily="34" charset="-120"/>
                </a:rPr>
                <a:t>: Youden's J 통계로 </a:t>
              </a:r>
              <a:r>
                <a:rPr lang="en-US" sz="1400" b="1" dirty="0">
                  <a:solidFill>
                    <a:srgbClr val="FF0000"/>
                  </a:solidFill>
                  <a:latin typeface="Noto Sans KR" pitchFamily="34" charset="0"/>
                  <a:ea typeface="Noto Sans KR" pitchFamily="34" charset="-122"/>
                  <a:cs typeface="Noto Sans KR" pitchFamily="34" charset="-120"/>
                </a:rPr>
                <a:t>클러스터별 최적 결정 임계값 도출</a:t>
              </a:r>
              <a:r>
                <a:rPr lang="en-US" sz="1400" dirty="0">
                  <a:solidFill>
                    <a:srgbClr val="475569"/>
                  </a:solidFill>
                  <a:latin typeface="Noto Sans KR" pitchFamily="34" charset="0"/>
                  <a:ea typeface="Noto Sans KR" pitchFamily="34" charset="-122"/>
                  <a:cs typeface="Noto Sans KR" pitchFamily="34" charset="-120"/>
                </a:rPr>
                <a:t> (평균 0.05)</a:t>
              </a:r>
              <a:endParaRPr lang="en-US" sz="1400" dirty="0"/>
            </a:p>
          </p:txBody>
        </p:sp>
      </p:grpSp>
      <p:grpSp>
        <p:nvGrpSpPr>
          <p:cNvPr id="60" name="그룹 59">
            <a:extLst>
              <a:ext uri="{FF2B5EF4-FFF2-40B4-BE49-F238E27FC236}">
                <a16:creationId xmlns:a16="http://schemas.microsoft.com/office/drawing/2014/main" id="{39F4261C-E88B-4AE1-97D6-5FA133BC1EE5}"/>
              </a:ext>
            </a:extLst>
          </p:cNvPr>
          <p:cNvGrpSpPr/>
          <p:nvPr/>
        </p:nvGrpSpPr>
        <p:grpSpPr>
          <a:xfrm>
            <a:off x="5758886" y="5567419"/>
            <a:ext cx="4097427" cy="237699"/>
            <a:chOff x="5758891" y="5265196"/>
            <a:chExt cx="3364077" cy="191110"/>
          </a:xfrm>
        </p:grpSpPr>
        <p:pic>
          <p:nvPicPr>
            <p:cNvPr id="41" name="Image 9" descr="preencoded.png"/>
            <p:cNvPicPr>
              <a:picLocks noChangeAspect="1"/>
            </p:cNvPicPr>
            <p:nvPr/>
          </p:nvPicPr>
          <p:blipFill>
            <a:blip r:embed="rId9"/>
            <a:srcRect t="-37952" b="-37952"/>
            <a:stretch/>
          </p:blipFill>
          <p:spPr>
            <a:xfrm>
              <a:off x="5758891" y="5295289"/>
              <a:ext cx="75895" cy="133502"/>
            </a:xfrm>
            <a:prstGeom prst="rect">
              <a:avLst/>
            </a:prstGeom>
          </p:spPr>
        </p:pic>
        <p:sp>
          <p:nvSpPr>
            <p:cNvPr id="42" name="Text 30"/>
            <p:cNvSpPr txBox="1"/>
            <p:nvPr/>
          </p:nvSpPr>
          <p:spPr>
            <a:xfrm>
              <a:off x="5930798" y="5265196"/>
              <a:ext cx="3192170" cy="191110"/>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앙상블 효과</a:t>
              </a:r>
              <a:r>
                <a:rPr lang="en-US" sz="1400" dirty="0">
                  <a:solidFill>
                    <a:srgbClr val="475569"/>
                  </a:solidFill>
                  <a:latin typeface="Noto Sans KR" pitchFamily="34" charset="0"/>
                  <a:ea typeface="Noto Sans KR" pitchFamily="34" charset="-122"/>
                  <a:cs typeface="Noto Sans KR" pitchFamily="34" charset="-120"/>
                </a:rPr>
                <a:t>: 5개 모델 앙상블로 </a:t>
              </a:r>
              <a:r>
                <a:rPr lang="en-US" sz="1400" b="1" dirty="0">
                  <a:solidFill>
                    <a:srgbClr val="FF0000"/>
                  </a:solidFill>
                  <a:latin typeface="Noto Sans KR" pitchFamily="34" charset="0"/>
                  <a:ea typeface="Noto Sans KR" pitchFamily="34" charset="-122"/>
                  <a:cs typeface="Noto Sans KR" pitchFamily="34" charset="-120"/>
                </a:rPr>
                <a:t>예측 강건성 향상</a:t>
              </a:r>
              <a:endParaRPr lang="en-US" sz="1400" b="1" dirty="0">
                <a:solidFill>
                  <a:srgbClr val="FF0000"/>
                </a:solidFill>
              </a:endParaRPr>
            </a:p>
          </p:txBody>
        </p:sp>
      </p:grpSp>
      <p:grpSp>
        <p:nvGrpSpPr>
          <p:cNvPr id="59" name="그룹 58">
            <a:extLst>
              <a:ext uri="{FF2B5EF4-FFF2-40B4-BE49-F238E27FC236}">
                <a16:creationId xmlns:a16="http://schemas.microsoft.com/office/drawing/2014/main" id="{E3082EBD-7410-4A1C-AC80-ABB1A0E1DB4F}"/>
              </a:ext>
            </a:extLst>
          </p:cNvPr>
          <p:cNvGrpSpPr/>
          <p:nvPr/>
        </p:nvGrpSpPr>
        <p:grpSpPr>
          <a:xfrm>
            <a:off x="5758890" y="5893567"/>
            <a:ext cx="5430726" cy="307032"/>
            <a:chOff x="5758891" y="5537694"/>
            <a:chExt cx="4612233" cy="191110"/>
          </a:xfrm>
        </p:grpSpPr>
        <p:pic>
          <p:nvPicPr>
            <p:cNvPr id="43" name="Image 10" descr="preencoded.png"/>
            <p:cNvPicPr>
              <a:picLocks noChangeAspect="1"/>
            </p:cNvPicPr>
            <p:nvPr/>
          </p:nvPicPr>
          <p:blipFill>
            <a:blip r:embed="rId9"/>
            <a:srcRect t="-37952" b="-37952"/>
            <a:stretch/>
          </p:blipFill>
          <p:spPr>
            <a:xfrm>
              <a:off x="5758891" y="5562294"/>
              <a:ext cx="75895" cy="133502"/>
            </a:xfrm>
            <a:prstGeom prst="rect">
              <a:avLst/>
            </a:prstGeom>
          </p:spPr>
        </p:pic>
        <p:sp>
          <p:nvSpPr>
            <p:cNvPr id="44" name="Text 31"/>
            <p:cNvSpPr txBox="1"/>
            <p:nvPr/>
          </p:nvSpPr>
          <p:spPr>
            <a:xfrm>
              <a:off x="5930798" y="5537694"/>
              <a:ext cx="4440326" cy="191110"/>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데이터 특성</a:t>
              </a:r>
              <a:r>
                <a:rPr lang="en-US" sz="1400" dirty="0">
                  <a:solidFill>
                    <a:srgbClr val="475569"/>
                  </a:solidFill>
                  <a:latin typeface="Noto Sans KR" pitchFamily="34" charset="0"/>
                  <a:ea typeface="Noto Sans KR" pitchFamily="34" charset="-122"/>
                  <a:cs typeface="Noto Sans KR" pitchFamily="34" charset="-120"/>
                </a:rPr>
                <a:t>: 4% 양성 라벨 불균형 데이터에서 </a:t>
              </a:r>
              <a:r>
                <a:rPr lang="en-US" sz="1400" b="1" dirty="0">
                  <a:solidFill>
                    <a:srgbClr val="FF0000"/>
                  </a:solidFill>
                  <a:latin typeface="Noto Sans KR" pitchFamily="34" charset="0"/>
                  <a:ea typeface="Noto Sans KR" pitchFamily="34" charset="-122"/>
                  <a:cs typeface="Noto Sans KR" pitchFamily="34" charset="-120"/>
                </a:rPr>
                <a:t>효과적인 분류 성능 입증</a:t>
              </a:r>
              <a:endParaRPr lang="en-US" sz="1400" b="1" dirty="0">
                <a:solidFill>
                  <a:srgbClr val="FF0000"/>
                </a:solidFill>
              </a:endParaRPr>
            </a:p>
          </p:txBody>
        </p:sp>
      </p:grpSp>
      <p:grpSp>
        <p:nvGrpSpPr>
          <p:cNvPr id="58" name="그룹 57">
            <a:extLst>
              <a:ext uri="{FF2B5EF4-FFF2-40B4-BE49-F238E27FC236}">
                <a16:creationId xmlns:a16="http://schemas.microsoft.com/office/drawing/2014/main" id="{C32DC061-9293-4FB8-A282-5CA8C94546D2}"/>
              </a:ext>
            </a:extLst>
          </p:cNvPr>
          <p:cNvGrpSpPr/>
          <p:nvPr/>
        </p:nvGrpSpPr>
        <p:grpSpPr>
          <a:xfrm>
            <a:off x="5568695" y="1390802"/>
            <a:ext cx="6515100" cy="2314346"/>
            <a:chOff x="5568695" y="1390802"/>
            <a:chExt cx="6515100" cy="2314346"/>
          </a:xfrm>
        </p:grpSpPr>
        <p:sp>
          <p:nvSpPr>
            <p:cNvPr id="50" name="Shape 40">
              <a:extLst>
                <a:ext uri="{FF2B5EF4-FFF2-40B4-BE49-F238E27FC236}">
                  <a16:creationId xmlns:a16="http://schemas.microsoft.com/office/drawing/2014/main" id="{8D9AAC19-3953-46C7-85BD-ECEACCF055CC}"/>
                </a:ext>
              </a:extLst>
            </p:cNvPr>
            <p:cNvSpPr/>
            <p:nvPr/>
          </p:nvSpPr>
          <p:spPr>
            <a:xfrm>
              <a:off x="5568695" y="1390802"/>
              <a:ext cx="6515100" cy="2314346"/>
            </a:xfrm>
            <a:prstGeom prst="roundRect">
              <a:avLst>
                <a:gd name="adj" fmla="val 1301"/>
              </a:avLst>
            </a:prstGeom>
            <a:solidFill>
              <a:srgbClr val="F1F5F9"/>
            </a:solidFill>
            <a:ln w="25400">
              <a:solidFill>
                <a:srgbClr val="2563EB"/>
              </a:solidFill>
              <a:prstDash val="solid"/>
            </a:ln>
          </p:spPr>
        </p:sp>
        <p:pic>
          <p:nvPicPr>
            <p:cNvPr id="51" name="Image 6" descr="preencoded.png">
              <a:extLst>
                <a:ext uri="{FF2B5EF4-FFF2-40B4-BE49-F238E27FC236}">
                  <a16:creationId xmlns:a16="http://schemas.microsoft.com/office/drawing/2014/main" id="{941208FD-453C-4764-966D-9C31180D7C2F}"/>
                </a:ext>
              </a:extLst>
            </p:cNvPr>
            <p:cNvPicPr>
              <a:picLocks noChangeAspect="1"/>
            </p:cNvPicPr>
            <p:nvPr/>
          </p:nvPicPr>
          <p:blipFill>
            <a:blip r:embed="rId10"/>
            <a:srcRect/>
            <a:stretch/>
          </p:blipFill>
          <p:spPr>
            <a:xfrm>
              <a:off x="5779007" y="1585569"/>
              <a:ext cx="209398" cy="209398"/>
            </a:xfrm>
            <a:prstGeom prst="rect">
              <a:avLst/>
            </a:prstGeom>
          </p:spPr>
        </p:pic>
        <p:sp>
          <p:nvSpPr>
            <p:cNvPr id="52" name="Text 41">
              <a:extLst>
                <a:ext uri="{FF2B5EF4-FFF2-40B4-BE49-F238E27FC236}">
                  <a16:creationId xmlns:a16="http://schemas.microsoft.com/office/drawing/2014/main" id="{5FF74306-AFA8-44C4-B24C-3A5419D97ED2}"/>
                </a:ext>
              </a:extLst>
            </p:cNvPr>
            <p:cNvSpPr txBox="1"/>
            <p:nvPr/>
          </p:nvSpPr>
          <p:spPr>
            <a:xfrm>
              <a:off x="6102704" y="1561794"/>
              <a:ext cx="3020263" cy="322105"/>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클러스터별 </a:t>
              </a:r>
              <a:r>
                <a:rPr lang="en-US" sz="1600" b="1" dirty="0" err="1">
                  <a:solidFill>
                    <a:srgbClr val="1E293B"/>
                  </a:solidFill>
                  <a:latin typeface="Noto Sans KR" pitchFamily="34" charset="0"/>
                  <a:ea typeface="Noto Sans KR" pitchFamily="34" charset="-122"/>
                  <a:cs typeface="Noto Sans KR" pitchFamily="34" charset="-120"/>
                </a:rPr>
                <a:t>성능</a:t>
              </a:r>
              <a:r>
                <a:rPr lang="en-US" sz="1600" b="1" dirty="0">
                  <a:solidFill>
                    <a:srgbClr val="1E293B"/>
                  </a:solidFill>
                  <a:latin typeface="Noto Sans KR" pitchFamily="34" charset="0"/>
                  <a:ea typeface="Noto Sans KR" pitchFamily="34" charset="-122"/>
                  <a:cs typeface="Noto Sans KR" pitchFamily="34" charset="-120"/>
                </a:rPr>
                <a:t> </a:t>
              </a:r>
              <a:r>
                <a:rPr lang="en-US" sz="1600" b="1" dirty="0" err="1">
                  <a:solidFill>
                    <a:srgbClr val="1E293B"/>
                  </a:solidFill>
                  <a:latin typeface="Noto Sans KR" pitchFamily="34" charset="0"/>
                  <a:ea typeface="Noto Sans KR" pitchFamily="34" charset="-122"/>
                  <a:cs typeface="Noto Sans KR" pitchFamily="34" charset="-120"/>
                </a:rPr>
                <a:t>분석</a:t>
              </a:r>
              <a:r>
                <a:rPr lang="en-US" sz="1600" b="1" dirty="0">
                  <a:solidFill>
                    <a:srgbClr val="1E293B"/>
                  </a:solidFill>
                  <a:latin typeface="Noto Sans KR" pitchFamily="34" charset="0"/>
                  <a:ea typeface="Noto Sans KR" pitchFamily="34" charset="-122"/>
                  <a:cs typeface="Noto Sans KR" pitchFamily="34" charset="-120"/>
                </a:rPr>
                <a:t> (AUROC)</a:t>
              </a:r>
              <a:endParaRPr lang="en-US" sz="1600" dirty="0"/>
            </a:p>
          </p:txBody>
        </p:sp>
        <p:pic>
          <p:nvPicPr>
            <p:cNvPr id="53" name="Image 7" descr="preencoded.png">
              <a:extLst>
                <a:ext uri="{FF2B5EF4-FFF2-40B4-BE49-F238E27FC236}">
                  <a16:creationId xmlns:a16="http://schemas.microsoft.com/office/drawing/2014/main" id="{814608CC-05E8-4D44-BBD4-85620F504D5B}"/>
                </a:ext>
              </a:extLst>
            </p:cNvPr>
            <p:cNvPicPr>
              <a:picLocks noChangeAspect="1"/>
            </p:cNvPicPr>
            <p:nvPr/>
          </p:nvPicPr>
          <p:blipFill>
            <a:blip r:embed="rId11"/>
            <a:srcRect l="-14" r="-14"/>
            <a:stretch/>
          </p:blipFill>
          <p:spPr>
            <a:xfrm>
              <a:off x="5779007" y="1933955"/>
              <a:ext cx="6096305" cy="1333195"/>
            </a:xfrm>
            <a:prstGeom prst="rect">
              <a:avLst/>
            </a:prstGeom>
          </p:spPr>
        </p:pic>
        <p:sp>
          <p:nvSpPr>
            <p:cNvPr id="54" name="Shape 42">
              <a:extLst>
                <a:ext uri="{FF2B5EF4-FFF2-40B4-BE49-F238E27FC236}">
                  <a16:creationId xmlns:a16="http://schemas.microsoft.com/office/drawing/2014/main" id="{A78778BF-8323-4913-AC27-16FB6A0F1113}"/>
                </a:ext>
              </a:extLst>
            </p:cNvPr>
            <p:cNvSpPr/>
            <p:nvPr/>
          </p:nvSpPr>
          <p:spPr>
            <a:xfrm>
              <a:off x="7812633" y="3390594"/>
              <a:ext cx="114300" cy="114300"/>
            </a:xfrm>
            <a:prstGeom prst="roundRect">
              <a:avLst>
                <a:gd name="adj" fmla="val 133333"/>
              </a:avLst>
            </a:prstGeom>
            <a:solidFill>
              <a:srgbClr val="EF4444"/>
            </a:solidFill>
            <a:ln w="12700">
              <a:solidFill>
                <a:srgbClr val="FFFFFF">
                  <a:alpha val="0"/>
                </a:srgbClr>
              </a:solidFill>
              <a:prstDash val="solid"/>
            </a:ln>
          </p:spPr>
        </p:sp>
        <p:sp>
          <p:nvSpPr>
            <p:cNvPr id="55" name="Text 43">
              <a:extLst>
                <a:ext uri="{FF2B5EF4-FFF2-40B4-BE49-F238E27FC236}">
                  <a16:creationId xmlns:a16="http://schemas.microsoft.com/office/drawing/2014/main" id="{F8D6B237-282D-4B56-B9E2-5D2EB1724F2A}"/>
                </a:ext>
              </a:extLst>
            </p:cNvPr>
            <p:cNvSpPr txBox="1"/>
            <p:nvPr/>
          </p:nvSpPr>
          <p:spPr>
            <a:xfrm>
              <a:off x="7983626" y="3362248"/>
              <a:ext cx="1292962" cy="171907"/>
            </a:xfrm>
            <a:prstGeom prst="rect">
              <a:avLst/>
            </a:prstGeom>
            <a:noFill/>
            <a:ln/>
          </p:spPr>
          <p:txBody>
            <a:bodyPr wrap="square" lIns="0" tIns="0" rIns="0" bIns="0" rtlCol="0" anchor="ctr"/>
            <a:lstStyle/>
            <a:p>
              <a:pPr marL="0" indent="0" algn="l">
                <a:buNone/>
              </a:pPr>
              <a:r>
                <a:rPr lang="en-US" sz="900" dirty="0">
                  <a:solidFill>
                    <a:srgbClr val="334155"/>
                  </a:solidFill>
                  <a:latin typeface="Noto Sans KR" pitchFamily="34" charset="0"/>
                  <a:ea typeface="Noto Sans KR" pitchFamily="34" charset="-122"/>
                  <a:cs typeface="Noto Sans KR" pitchFamily="34" charset="-120"/>
                </a:rPr>
                <a:t>난이도 높음 (C7, C11)</a:t>
              </a:r>
              <a:endParaRPr lang="en-US" sz="900" dirty="0"/>
            </a:p>
          </p:txBody>
        </p:sp>
        <p:sp>
          <p:nvSpPr>
            <p:cNvPr id="56" name="Shape 44">
              <a:extLst>
                <a:ext uri="{FF2B5EF4-FFF2-40B4-BE49-F238E27FC236}">
                  <a16:creationId xmlns:a16="http://schemas.microsoft.com/office/drawing/2014/main" id="{DBA59488-99E2-4191-A81A-5E5FBCD55245}"/>
                </a:ext>
              </a:extLst>
            </p:cNvPr>
            <p:cNvSpPr/>
            <p:nvPr/>
          </p:nvSpPr>
          <p:spPr>
            <a:xfrm>
              <a:off x="9216237" y="3390594"/>
              <a:ext cx="114300" cy="114300"/>
            </a:xfrm>
            <a:prstGeom prst="roundRect">
              <a:avLst>
                <a:gd name="adj" fmla="val 133333"/>
              </a:avLst>
            </a:prstGeom>
            <a:solidFill>
              <a:srgbClr val="2563EB"/>
            </a:solidFill>
            <a:ln w="12700">
              <a:solidFill>
                <a:srgbClr val="FFFFFF">
                  <a:alpha val="0"/>
                </a:srgbClr>
              </a:solidFill>
              <a:prstDash val="solid"/>
            </a:ln>
          </p:spPr>
        </p:sp>
        <p:sp>
          <p:nvSpPr>
            <p:cNvPr id="57" name="Text 45">
              <a:extLst>
                <a:ext uri="{FF2B5EF4-FFF2-40B4-BE49-F238E27FC236}">
                  <a16:creationId xmlns:a16="http://schemas.microsoft.com/office/drawing/2014/main" id="{3D26332A-274D-455D-BAFA-6C6BF8DF04D6}"/>
                </a:ext>
              </a:extLst>
            </p:cNvPr>
            <p:cNvSpPr txBox="1"/>
            <p:nvPr/>
          </p:nvSpPr>
          <p:spPr>
            <a:xfrm>
              <a:off x="9388144" y="3362248"/>
              <a:ext cx="544068" cy="171907"/>
            </a:xfrm>
            <a:prstGeom prst="rect">
              <a:avLst/>
            </a:prstGeom>
            <a:noFill/>
            <a:ln/>
          </p:spPr>
          <p:txBody>
            <a:bodyPr wrap="square" lIns="0" tIns="0" rIns="0" bIns="0" rtlCol="0" anchor="ctr"/>
            <a:lstStyle/>
            <a:p>
              <a:pPr marL="0" indent="0" algn="l">
                <a:buNone/>
              </a:pPr>
              <a:r>
                <a:rPr lang="en-US" sz="900" dirty="0">
                  <a:solidFill>
                    <a:srgbClr val="334155"/>
                  </a:solidFill>
                  <a:latin typeface="Noto Sans KR" pitchFamily="34" charset="0"/>
                  <a:ea typeface="Noto Sans KR" pitchFamily="34" charset="-122"/>
                  <a:cs typeface="Noto Sans KR" pitchFamily="34" charset="-120"/>
                </a:rPr>
                <a:t>평균 이상</a:t>
              </a:r>
              <a:endParaRPr lang="en-US" sz="9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4038905"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개요</a:t>
            </a:r>
            <a:endParaRPr lang="en-US" sz="2400" dirty="0"/>
          </a:p>
        </p:txBody>
      </p:sp>
      <p:sp>
        <p:nvSpPr>
          <p:cNvPr id="5" name="Text 3"/>
          <p:cNvSpPr txBox="1"/>
          <p:nvPr/>
        </p:nvSpPr>
        <p:spPr>
          <a:xfrm>
            <a:off x="476402" y="685800"/>
            <a:ext cx="453451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Mtb-Inhibitor Finder AI: 딥러닝 기반 가상 스크리닝 플랫폼</a:t>
            </a:r>
            <a:endParaRPr lang="en-US" sz="1200" dirty="0"/>
          </a:p>
        </p:txBody>
      </p:sp>
      <p:pic>
        <p:nvPicPr>
          <p:cNvPr id="6" name="Image 0" descr="preencoded.png"/>
          <p:cNvPicPr>
            <a:picLocks noChangeAspect="1"/>
          </p:cNvPicPr>
          <p:nvPr/>
        </p:nvPicPr>
        <p:blipFill>
          <a:blip r:embed="rId3"/>
          <a:srcRect l="-90" r="-90"/>
          <a:stretch/>
        </p:blipFill>
        <p:spPr>
          <a:xfrm>
            <a:off x="11334902" y="418795"/>
            <a:ext cx="381305" cy="304495"/>
          </a:xfrm>
          <a:prstGeom prst="rect">
            <a:avLst/>
          </a:prstGeom>
        </p:spPr>
      </p:pic>
      <p:sp>
        <p:nvSpPr>
          <p:cNvPr id="7" name="Shape 4"/>
          <p:cNvSpPr/>
          <p:nvPr/>
        </p:nvSpPr>
        <p:spPr>
          <a:xfrm>
            <a:off x="476402" y="1438351"/>
            <a:ext cx="5201107" cy="2314346"/>
          </a:xfrm>
          <a:prstGeom prst="roundRect">
            <a:avLst>
              <a:gd name="adj" fmla="val 1301"/>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438351"/>
            <a:ext cx="5201107" cy="38405"/>
          </a:xfrm>
          <a:prstGeom prst="roundRect">
            <a:avLst>
              <a:gd name="adj" fmla="val 78385"/>
            </a:avLst>
          </a:prstGeom>
          <a:solidFill>
            <a:srgbClr val="1A355B"/>
          </a:solidFill>
          <a:ln w="12700">
            <a:solidFill>
              <a:srgbClr val="1A355B">
                <a:alpha val="0"/>
              </a:srgbClr>
            </a:solidFill>
            <a:prstDash val="solid"/>
          </a:ln>
        </p:spPr>
      </p:sp>
      <p:sp>
        <p:nvSpPr>
          <p:cNvPr id="9" name="Text 6"/>
          <p:cNvSpPr txBox="1"/>
          <p:nvPr/>
        </p:nvSpPr>
        <p:spPr>
          <a:xfrm>
            <a:off x="1047902" y="1705356"/>
            <a:ext cx="4591202" cy="286207"/>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플랫폼 목표</a:t>
            </a:r>
            <a:endParaRPr lang="en-US" sz="2000" dirty="0"/>
          </a:p>
        </p:txBody>
      </p:sp>
      <p:pic>
        <p:nvPicPr>
          <p:cNvPr id="10" name="Image 1" descr="preencoded.png"/>
          <p:cNvPicPr>
            <a:picLocks noChangeAspect="1"/>
          </p:cNvPicPr>
          <p:nvPr/>
        </p:nvPicPr>
        <p:blipFill>
          <a:blip r:embed="rId4"/>
          <a:srcRect/>
          <a:stretch/>
        </p:blipFill>
        <p:spPr>
          <a:xfrm>
            <a:off x="705002" y="1723644"/>
            <a:ext cx="247802" cy="247802"/>
          </a:xfrm>
          <a:prstGeom prst="rect">
            <a:avLst/>
          </a:prstGeom>
        </p:spPr>
      </p:pic>
      <p:sp>
        <p:nvSpPr>
          <p:cNvPr id="12" name="Text 8"/>
          <p:cNvSpPr txBox="1"/>
          <p:nvPr/>
        </p:nvSpPr>
        <p:spPr>
          <a:xfrm>
            <a:off x="705002" y="2160829"/>
            <a:ext cx="4819802" cy="724205"/>
          </a:xfrm>
          <a:prstGeom prst="rect">
            <a:avLst/>
          </a:prstGeom>
          <a:noFill/>
          <a:ln/>
        </p:spPr>
        <p:txBody>
          <a:bodyPr wrap="square" lIns="0" tIns="0" rIns="0" bIns="0" rtlCol="0" anchor="t"/>
          <a:lstStyle/>
          <a:p>
            <a:pPr marL="0" indent="0" algn="l">
              <a:buNone/>
            </a:pPr>
            <a:r>
              <a:rPr lang="en-US" sz="1200" dirty="0" err="1">
                <a:solidFill>
                  <a:srgbClr val="475569"/>
                </a:solidFill>
                <a:latin typeface="Noto Sans KR" pitchFamily="34" charset="0"/>
                <a:ea typeface="Noto Sans KR" pitchFamily="34" charset="-122"/>
                <a:cs typeface="Noto Sans KR" pitchFamily="34" charset="-120"/>
              </a:rPr>
              <a:t>사용자는</a:t>
            </a:r>
            <a:r>
              <a:rPr lang="en-US" sz="1200" dirty="0">
                <a:solidFill>
                  <a:srgbClr val="475569"/>
                </a:solidFill>
                <a:latin typeface="Noto Sans KR" pitchFamily="34" charset="0"/>
                <a:ea typeface="Noto Sans KR" pitchFamily="34" charset="-122"/>
                <a:cs typeface="Noto Sans KR" pitchFamily="34" charset="-120"/>
              </a:rPr>
              <a:t> 화합물의 </a:t>
            </a:r>
            <a:r>
              <a:rPr lang="en-US" sz="1200" b="1" dirty="0">
                <a:solidFill>
                  <a:srgbClr val="FF0000"/>
                </a:solidFill>
                <a:latin typeface="Noto Sans KR" pitchFamily="34" charset="0"/>
                <a:ea typeface="Noto Sans KR" pitchFamily="34" charset="-122"/>
                <a:cs typeface="Noto Sans KR" pitchFamily="34" charset="-120"/>
              </a:rPr>
              <a:t>SMILES 문자열을 입력</a:t>
            </a:r>
            <a:r>
              <a:rPr lang="en-US" sz="1200" dirty="0">
                <a:solidFill>
                  <a:srgbClr val="475569"/>
                </a:solidFill>
                <a:latin typeface="Noto Sans KR" pitchFamily="34" charset="0"/>
                <a:ea typeface="Noto Sans KR" pitchFamily="34" charset="-122"/>
                <a:cs typeface="Noto Sans KR" pitchFamily="34" charset="-120"/>
              </a:rPr>
              <a:t>하면, </a:t>
            </a:r>
            <a:r>
              <a:rPr lang="en-US" sz="1200" b="1" dirty="0">
                <a:solidFill>
                  <a:srgbClr val="475569"/>
                </a:solidFill>
                <a:latin typeface="Noto Sans KR" pitchFamily="34" charset="0"/>
                <a:ea typeface="Noto Sans KR" pitchFamily="34" charset="-122"/>
                <a:cs typeface="Noto Sans KR" pitchFamily="34" charset="-120"/>
              </a:rPr>
              <a:t>학습된 D-MPNN 모델</a:t>
            </a:r>
            <a:r>
              <a:rPr lang="en-US" sz="1200" dirty="0">
                <a:solidFill>
                  <a:srgbClr val="475569"/>
                </a:solidFill>
                <a:latin typeface="Noto Sans KR" pitchFamily="34" charset="0"/>
                <a:ea typeface="Noto Sans KR" pitchFamily="34" charset="-122"/>
                <a:cs typeface="Noto Sans KR" pitchFamily="34" charset="-120"/>
              </a:rPr>
              <a:t>이 </a:t>
            </a:r>
            <a:r>
              <a:rPr lang="en-US" sz="1200" b="1" dirty="0">
                <a:solidFill>
                  <a:srgbClr val="1A355B"/>
                </a:solidFill>
                <a:latin typeface="Noto Sans KR" pitchFamily="34" charset="0"/>
                <a:ea typeface="Noto Sans KR" pitchFamily="34" charset="-122"/>
                <a:cs typeface="Noto Sans KR" pitchFamily="34" charset="-120"/>
              </a:rPr>
              <a:t>13개 기능적 유전자 클러스터(COG)</a:t>
            </a:r>
            <a:r>
              <a:rPr lang="en-US" sz="1200" dirty="0">
                <a:solidFill>
                  <a:srgbClr val="475569"/>
                </a:solidFill>
                <a:latin typeface="Noto Sans KR" pitchFamily="34" charset="0"/>
                <a:ea typeface="Noto Sans KR" pitchFamily="34" charset="-122"/>
                <a:cs typeface="Noto Sans KR" pitchFamily="34" charset="-120"/>
              </a:rPr>
              <a:t>별 </a:t>
            </a:r>
            <a:r>
              <a:rPr lang="en-US" sz="1200" b="1" dirty="0">
                <a:solidFill>
                  <a:srgbClr val="FF0000"/>
                </a:solidFill>
                <a:latin typeface="Noto Sans KR" pitchFamily="34" charset="0"/>
                <a:ea typeface="Noto Sans KR" pitchFamily="34" charset="-122"/>
                <a:cs typeface="Noto Sans KR" pitchFamily="34" charset="-120"/>
              </a:rPr>
              <a:t>성장 저해 확률</a:t>
            </a:r>
            <a:r>
              <a:rPr lang="en-US" sz="1200" dirty="0">
                <a:solidFill>
                  <a:srgbClr val="475569"/>
                </a:solidFill>
                <a:latin typeface="Noto Sans KR" pitchFamily="34" charset="0"/>
                <a:ea typeface="Noto Sans KR" pitchFamily="34" charset="-122"/>
                <a:cs typeface="Noto Sans KR" pitchFamily="34" charset="-120"/>
              </a:rPr>
              <a:t>과 Lipinski's Rule 기반 </a:t>
            </a:r>
            <a:r>
              <a:rPr lang="en-US" sz="1200" b="1" dirty="0">
                <a:solidFill>
                  <a:srgbClr val="FF0000"/>
                </a:solidFill>
                <a:latin typeface="Noto Sans KR" pitchFamily="34" charset="0"/>
                <a:ea typeface="Noto Sans KR" pitchFamily="34" charset="-122"/>
                <a:cs typeface="Noto Sans KR" pitchFamily="34" charset="-120"/>
              </a:rPr>
              <a:t>약물성 주요 </a:t>
            </a:r>
            <a:r>
              <a:rPr lang="en-US" sz="1200" b="1" dirty="0" err="1">
                <a:solidFill>
                  <a:srgbClr val="FF0000"/>
                </a:solidFill>
                <a:latin typeface="Noto Sans KR" pitchFamily="34" charset="0"/>
                <a:ea typeface="Noto Sans KR" pitchFamily="34" charset="-122"/>
                <a:cs typeface="Noto Sans KR" pitchFamily="34" charset="-120"/>
              </a:rPr>
              <a:t>지표</a:t>
            </a:r>
            <a:r>
              <a:rPr lang="en-US" sz="1200" dirty="0" err="1">
                <a:solidFill>
                  <a:srgbClr val="475569"/>
                </a:solidFill>
                <a:latin typeface="Noto Sans KR" pitchFamily="34" charset="0"/>
                <a:ea typeface="Noto Sans KR" pitchFamily="34" charset="-122"/>
                <a:cs typeface="Noto Sans KR" pitchFamily="34" charset="-120"/>
              </a:rPr>
              <a:t>를</a:t>
            </a:r>
            <a:r>
              <a:rPr lang="en-US" sz="1200" dirty="0">
                <a:solidFill>
                  <a:srgbClr val="475569"/>
                </a:solidFill>
                <a:latin typeface="Noto Sans KR" pitchFamily="34" charset="0"/>
                <a:ea typeface="Noto Sans KR" pitchFamily="34" charset="-122"/>
                <a:cs typeface="Noto Sans KR" pitchFamily="34" charset="-120"/>
              </a:rPr>
              <a:t> </a:t>
            </a:r>
            <a:r>
              <a:rPr lang="en-US" sz="1200" dirty="0" err="1" smtClean="0">
                <a:solidFill>
                  <a:srgbClr val="475569"/>
                </a:solidFill>
                <a:latin typeface="Noto Sans KR" pitchFamily="34" charset="0"/>
                <a:ea typeface="Noto Sans KR" pitchFamily="34" charset="-122"/>
                <a:cs typeface="Noto Sans KR" pitchFamily="34" charset="-120"/>
              </a:rPr>
              <a:t>실시간으로</a:t>
            </a:r>
            <a:r>
              <a:rPr lang="en-US" sz="1200" dirty="0" smtClean="0">
                <a:solidFill>
                  <a:srgbClr val="475569"/>
                </a:solidFill>
                <a:latin typeface="Noto Sans KR" pitchFamily="34" charset="0"/>
                <a:ea typeface="Noto Sans KR" pitchFamily="34" charset="-122"/>
                <a:cs typeface="Noto Sans KR" pitchFamily="34" charset="-120"/>
              </a:rPr>
              <a:t> </a:t>
            </a:r>
            <a:r>
              <a:rPr lang="ko-KR" altLang="en-US" sz="1200" dirty="0" smtClean="0">
                <a:solidFill>
                  <a:srgbClr val="475569"/>
                </a:solidFill>
                <a:latin typeface="Noto Sans KR" pitchFamily="34" charset="0"/>
                <a:ea typeface="Noto Sans KR" pitchFamily="34" charset="-122"/>
                <a:cs typeface="Noto Sans KR" pitchFamily="34" charset="-120"/>
              </a:rPr>
              <a:t>제공하는 </a:t>
            </a:r>
            <a:r>
              <a:rPr lang="ko-KR" altLang="en-US" sz="1200" b="1" dirty="0" smtClean="0">
                <a:solidFill>
                  <a:srgbClr val="FF0000"/>
                </a:solidFill>
                <a:latin typeface="Noto Sans KR" pitchFamily="34" charset="0"/>
                <a:ea typeface="Noto Sans KR" pitchFamily="34" charset="-122"/>
                <a:cs typeface="Noto Sans KR" pitchFamily="34" charset="-120"/>
              </a:rPr>
              <a:t>웹 기반 </a:t>
            </a:r>
            <a:r>
              <a:rPr lang="en-US" altLang="ko-KR" sz="1200" b="1" dirty="0" smtClean="0">
                <a:solidFill>
                  <a:srgbClr val="FF0000"/>
                </a:solidFill>
                <a:latin typeface="Noto Sans KR" pitchFamily="34" charset="0"/>
                <a:ea typeface="Noto Sans KR" pitchFamily="34" charset="-122"/>
                <a:cs typeface="Noto Sans KR" pitchFamily="34" charset="-120"/>
              </a:rPr>
              <a:t>AI </a:t>
            </a:r>
            <a:r>
              <a:rPr lang="ko-KR" altLang="en-US" sz="1200" b="1" dirty="0" smtClean="0">
                <a:solidFill>
                  <a:srgbClr val="FF0000"/>
                </a:solidFill>
                <a:latin typeface="Noto Sans KR" pitchFamily="34" charset="0"/>
                <a:ea typeface="Noto Sans KR" pitchFamily="34" charset="-122"/>
                <a:cs typeface="Noto Sans KR" pitchFamily="34" charset="-120"/>
              </a:rPr>
              <a:t>플랫폼</a:t>
            </a:r>
            <a:r>
              <a:rPr lang="ko-KR" altLang="en-US" sz="1200" dirty="0" smtClean="0">
                <a:solidFill>
                  <a:srgbClr val="475569"/>
                </a:solidFill>
                <a:latin typeface="Noto Sans KR" pitchFamily="34" charset="0"/>
                <a:ea typeface="Noto Sans KR" pitchFamily="34" charset="-122"/>
                <a:cs typeface="Noto Sans KR" pitchFamily="34" charset="-120"/>
              </a:rPr>
              <a:t>입니다</a:t>
            </a:r>
            <a:r>
              <a:rPr lang="en-US" altLang="ko-KR" sz="1200" dirty="0" smtClean="0">
                <a:solidFill>
                  <a:srgbClr val="475569"/>
                </a:solidFill>
                <a:latin typeface="Noto Sans KR" pitchFamily="34" charset="0"/>
                <a:ea typeface="Noto Sans KR" pitchFamily="34" charset="-122"/>
                <a:cs typeface="Noto Sans KR" pitchFamily="34" charset="-120"/>
              </a:rPr>
              <a:t>.</a:t>
            </a:r>
            <a:r>
              <a:rPr lang="en-US" sz="1200" dirty="0" smtClean="0">
                <a:solidFill>
                  <a:srgbClr val="475569"/>
                </a:solidFill>
                <a:latin typeface="Noto Sans KR" pitchFamily="34" charset="0"/>
                <a:ea typeface="Noto Sans KR" pitchFamily="34" charset="-122"/>
                <a:cs typeface="Noto Sans KR" pitchFamily="34" charset="-120"/>
              </a:rPr>
              <a:t> </a:t>
            </a:r>
            <a:endParaRPr lang="en-US" sz="1200" dirty="0"/>
          </a:p>
        </p:txBody>
      </p:sp>
      <p:sp>
        <p:nvSpPr>
          <p:cNvPr id="13" name="Shape 9"/>
          <p:cNvSpPr/>
          <p:nvPr/>
        </p:nvSpPr>
        <p:spPr>
          <a:xfrm>
            <a:off x="476402" y="3952951"/>
            <a:ext cx="5201107" cy="2428646"/>
          </a:xfrm>
          <a:prstGeom prst="roundRect">
            <a:avLst>
              <a:gd name="adj" fmla="val 1181"/>
            </a:avLst>
          </a:prstGeom>
          <a:solidFill>
            <a:srgbClr val="FFFFFF"/>
          </a:solidFill>
          <a:ln/>
          <a:effectLst>
            <a:outerShdw blurRad="76200" dist="25400" dir="16200000" algn="bl" rotWithShape="0">
              <a:srgbClr val="000000">
                <a:alpha val="8000"/>
              </a:srgbClr>
            </a:outerShdw>
          </a:effectLst>
        </p:spPr>
      </p:sp>
      <p:sp>
        <p:nvSpPr>
          <p:cNvPr id="14" name="Shape 10"/>
          <p:cNvSpPr/>
          <p:nvPr/>
        </p:nvSpPr>
        <p:spPr>
          <a:xfrm>
            <a:off x="476402" y="3952951"/>
            <a:ext cx="38405" cy="2428646"/>
          </a:xfrm>
          <a:prstGeom prst="roundRect">
            <a:avLst>
              <a:gd name="adj" fmla="val 74696"/>
            </a:avLst>
          </a:prstGeom>
          <a:solidFill>
            <a:srgbClr val="3B82F6"/>
          </a:solidFill>
          <a:ln w="12700">
            <a:solidFill>
              <a:srgbClr val="3B82F6">
                <a:alpha val="0"/>
              </a:srgbClr>
            </a:solidFill>
            <a:prstDash val="solid"/>
          </a:ln>
        </p:spPr>
      </p:sp>
      <p:sp>
        <p:nvSpPr>
          <p:cNvPr id="15" name="Text 11"/>
          <p:cNvSpPr txBox="1"/>
          <p:nvPr/>
        </p:nvSpPr>
        <p:spPr>
          <a:xfrm>
            <a:off x="1077163" y="4181551"/>
            <a:ext cx="4562856" cy="257861"/>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핵심 가치 제안</a:t>
            </a:r>
            <a:endParaRPr lang="en-US" sz="2000" dirty="0"/>
          </a:p>
        </p:txBody>
      </p:sp>
      <p:pic>
        <p:nvPicPr>
          <p:cNvPr id="16" name="Image 2" descr="preencoded.png"/>
          <p:cNvPicPr>
            <a:picLocks noChangeAspect="1"/>
          </p:cNvPicPr>
          <p:nvPr/>
        </p:nvPicPr>
        <p:blipFill>
          <a:blip r:embed="rId5"/>
          <a:srcRect l="-461" r="-461"/>
          <a:stretch/>
        </p:blipFill>
        <p:spPr>
          <a:xfrm>
            <a:off x="743407" y="4205326"/>
            <a:ext cx="237744" cy="209398"/>
          </a:xfrm>
          <a:prstGeom prst="rect">
            <a:avLst/>
          </a:prstGeom>
        </p:spPr>
      </p:pic>
      <p:sp>
        <p:nvSpPr>
          <p:cNvPr id="18" name="Text 12"/>
          <p:cNvSpPr txBox="1"/>
          <p:nvPr/>
        </p:nvSpPr>
        <p:spPr>
          <a:xfrm>
            <a:off x="914400" y="4572000"/>
            <a:ext cx="4610405" cy="426567"/>
          </a:xfrm>
          <a:prstGeom prst="rect">
            <a:avLst/>
          </a:prstGeom>
          <a:noFill/>
          <a:ln/>
        </p:spPr>
        <p:txBody>
          <a:bodyPr wrap="square" lIns="0" tIns="0" rIns="0" bIns="0" rtlCol="0" anchor="t"/>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실험 전 선별</a:t>
            </a:r>
            <a:r>
              <a:rPr lang="en-US" sz="1200" dirty="0">
                <a:solidFill>
                  <a:srgbClr val="475569"/>
                </a:solidFill>
                <a:latin typeface="Noto Sans KR" pitchFamily="34" charset="0"/>
                <a:ea typeface="Noto Sans KR" pitchFamily="34" charset="-122"/>
                <a:cs typeface="Noto Sans KR" pitchFamily="34" charset="-120"/>
              </a:rPr>
              <a:t>: </a:t>
            </a:r>
            <a:r>
              <a:rPr lang="en-US" sz="1200" b="1" dirty="0">
                <a:solidFill>
                  <a:srgbClr val="FF0000"/>
                </a:solidFill>
                <a:latin typeface="Noto Sans KR" pitchFamily="34" charset="0"/>
                <a:ea typeface="Noto Sans KR" pitchFamily="34" charset="-122"/>
                <a:cs typeface="Noto Sans KR" pitchFamily="34" charset="-120"/>
              </a:rPr>
              <a:t>수만 개 화합물 라이브러리</a:t>
            </a:r>
            <a:r>
              <a:rPr lang="en-US" sz="1200" dirty="0">
                <a:solidFill>
                  <a:srgbClr val="475569"/>
                </a:solidFill>
                <a:latin typeface="Noto Sans KR" pitchFamily="34" charset="0"/>
                <a:ea typeface="Noto Sans KR" pitchFamily="34" charset="-122"/>
                <a:cs typeface="Noto Sans KR" pitchFamily="34" charset="-120"/>
              </a:rPr>
              <a:t>에서 </a:t>
            </a:r>
            <a:r>
              <a:rPr lang="en-US" sz="1200" b="1" dirty="0">
                <a:solidFill>
                  <a:srgbClr val="FF0000"/>
                </a:solidFill>
                <a:latin typeface="Noto Sans KR" pitchFamily="34" charset="0"/>
                <a:ea typeface="Noto Sans KR" pitchFamily="34" charset="-122"/>
                <a:cs typeface="Noto Sans KR" pitchFamily="34" charset="-120"/>
              </a:rPr>
              <a:t>활성 가능성이 높은 후보</a:t>
            </a:r>
            <a:r>
              <a:rPr lang="en-US" sz="1200" dirty="0">
                <a:solidFill>
                  <a:srgbClr val="475569"/>
                </a:solidFill>
                <a:latin typeface="Noto Sans KR" pitchFamily="34" charset="0"/>
                <a:ea typeface="Noto Sans KR" pitchFamily="34" charset="-122"/>
                <a:cs typeface="Noto Sans KR" pitchFamily="34" charset="-120"/>
              </a:rPr>
              <a:t>를 </a:t>
            </a:r>
            <a:r>
              <a:rPr lang="en-US" sz="1200" b="1" dirty="0">
                <a:solidFill>
                  <a:srgbClr val="FF0000"/>
                </a:solidFill>
                <a:latin typeface="Noto Sans KR" pitchFamily="34" charset="0"/>
                <a:ea typeface="Noto Sans KR" pitchFamily="34" charset="-122"/>
                <a:cs typeface="Noto Sans KR" pitchFamily="34" charset="-120"/>
              </a:rPr>
              <a:t>우선 선별하여 실험 비용 절감</a:t>
            </a:r>
            <a:endParaRPr lang="en-US" sz="1200" b="1" dirty="0">
              <a:solidFill>
                <a:srgbClr val="FF0000"/>
              </a:solidFill>
            </a:endParaRPr>
          </a:p>
        </p:txBody>
      </p:sp>
      <p:pic>
        <p:nvPicPr>
          <p:cNvPr id="19" name="Image 4" descr="preencoded.png"/>
          <p:cNvPicPr>
            <a:picLocks noChangeAspect="1"/>
          </p:cNvPicPr>
          <p:nvPr/>
        </p:nvPicPr>
        <p:blipFill>
          <a:blip r:embed="rId6"/>
          <a:srcRect t="-43976" b="-43976"/>
          <a:stretch/>
        </p:blipFill>
        <p:spPr>
          <a:xfrm>
            <a:off x="743407" y="5058815"/>
            <a:ext cx="80822" cy="175360"/>
          </a:xfrm>
          <a:prstGeom prst="rect">
            <a:avLst/>
          </a:prstGeom>
        </p:spPr>
      </p:pic>
      <p:sp>
        <p:nvSpPr>
          <p:cNvPr id="20" name="Text 13"/>
          <p:cNvSpPr txBox="1"/>
          <p:nvPr/>
        </p:nvSpPr>
        <p:spPr>
          <a:xfrm>
            <a:off x="923087" y="4964700"/>
            <a:ext cx="4724704" cy="363086"/>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우선순위화</a:t>
            </a:r>
            <a:r>
              <a:rPr lang="en-US" sz="1200" dirty="0">
                <a:solidFill>
                  <a:srgbClr val="475569"/>
                </a:solidFill>
                <a:latin typeface="Noto Sans KR" pitchFamily="34" charset="0"/>
                <a:ea typeface="Noto Sans KR" pitchFamily="34" charset="-122"/>
                <a:cs typeface="Noto Sans KR" pitchFamily="34" charset="-120"/>
              </a:rPr>
              <a:t>: 13개 클러스터별 예측 확률로 </a:t>
            </a:r>
            <a:r>
              <a:rPr lang="en-US" sz="1200" b="1" dirty="0">
                <a:solidFill>
                  <a:srgbClr val="FF0000"/>
                </a:solidFill>
                <a:latin typeface="Noto Sans KR" pitchFamily="34" charset="0"/>
                <a:ea typeface="Noto Sans KR" pitchFamily="34" charset="-122"/>
                <a:cs typeface="Noto Sans KR" pitchFamily="34" charset="-120"/>
              </a:rPr>
              <a:t>표적 특이적 저해제 우선순위 설정</a:t>
            </a:r>
            <a:endParaRPr lang="en-US" sz="1200" b="1" dirty="0">
              <a:solidFill>
                <a:srgbClr val="FF0000"/>
              </a:solidFill>
            </a:endParaRPr>
          </a:p>
        </p:txBody>
      </p:sp>
      <p:pic>
        <p:nvPicPr>
          <p:cNvPr id="21" name="Image 5" descr="preencoded.png"/>
          <p:cNvPicPr>
            <a:picLocks noChangeAspect="1"/>
          </p:cNvPicPr>
          <p:nvPr/>
        </p:nvPicPr>
        <p:blipFill>
          <a:blip r:embed="rId6"/>
          <a:srcRect t="-43976" b="-43976"/>
          <a:stretch/>
        </p:blipFill>
        <p:spPr>
          <a:xfrm>
            <a:off x="743407" y="5397071"/>
            <a:ext cx="75895" cy="226468"/>
          </a:xfrm>
          <a:prstGeom prst="rect">
            <a:avLst/>
          </a:prstGeom>
        </p:spPr>
      </p:pic>
      <p:sp>
        <p:nvSpPr>
          <p:cNvPr id="22" name="Text 14"/>
          <p:cNvSpPr txBox="1"/>
          <p:nvPr/>
        </p:nvSpPr>
        <p:spPr>
          <a:xfrm>
            <a:off x="914400" y="5340378"/>
            <a:ext cx="4351630" cy="317928"/>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가설 생성</a:t>
            </a:r>
            <a:r>
              <a:rPr lang="en-US" sz="1200" dirty="0">
                <a:solidFill>
                  <a:srgbClr val="475569"/>
                </a:solidFill>
                <a:latin typeface="Noto Sans KR" pitchFamily="34" charset="0"/>
                <a:ea typeface="Noto Sans KR" pitchFamily="34" charset="-122"/>
                <a:cs typeface="Noto Sans KR" pitchFamily="34" charset="-120"/>
              </a:rPr>
              <a:t>: 작용기전(MoA) 예측을 통해 </a:t>
            </a:r>
            <a:r>
              <a:rPr lang="en-US" sz="1200" b="1" dirty="0">
                <a:solidFill>
                  <a:srgbClr val="FF0000"/>
                </a:solidFill>
                <a:latin typeface="Noto Sans KR" pitchFamily="34" charset="0"/>
                <a:ea typeface="Noto Sans KR" pitchFamily="34" charset="-122"/>
                <a:cs typeface="Noto Sans KR" pitchFamily="34" charset="-120"/>
              </a:rPr>
              <a:t>후속 검증 실험의 방향성 제시</a:t>
            </a:r>
            <a:endParaRPr lang="en-US" sz="1200" b="1" dirty="0">
              <a:solidFill>
                <a:srgbClr val="FF0000"/>
              </a:solidFill>
            </a:endParaRPr>
          </a:p>
        </p:txBody>
      </p:sp>
      <p:pic>
        <p:nvPicPr>
          <p:cNvPr id="23" name="Image 6" descr="preencoded.png"/>
          <p:cNvPicPr>
            <a:picLocks noChangeAspect="1"/>
          </p:cNvPicPr>
          <p:nvPr/>
        </p:nvPicPr>
        <p:blipFill>
          <a:blip r:embed="rId6"/>
          <a:srcRect t="-43976" b="-43976"/>
          <a:stretch/>
        </p:blipFill>
        <p:spPr>
          <a:xfrm>
            <a:off x="743407" y="5737578"/>
            <a:ext cx="75895" cy="203374"/>
          </a:xfrm>
          <a:prstGeom prst="rect">
            <a:avLst/>
          </a:prstGeom>
        </p:spPr>
      </p:pic>
      <p:sp>
        <p:nvSpPr>
          <p:cNvPr id="24" name="Text 15"/>
          <p:cNvSpPr txBox="1"/>
          <p:nvPr/>
        </p:nvSpPr>
        <p:spPr>
          <a:xfrm>
            <a:off x="914400" y="5680884"/>
            <a:ext cx="4380890" cy="285507"/>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접근성</a:t>
            </a:r>
            <a:r>
              <a:rPr lang="en-US" sz="1200" dirty="0">
                <a:solidFill>
                  <a:srgbClr val="475569"/>
                </a:solidFill>
                <a:latin typeface="Noto Sans KR" pitchFamily="34" charset="0"/>
                <a:ea typeface="Noto Sans KR" pitchFamily="34" charset="-122"/>
                <a:cs typeface="Noto Sans KR" pitchFamily="34" charset="-120"/>
              </a:rPr>
              <a:t>: 웹 브라우저만으로 누구나 즉시 </a:t>
            </a:r>
            <a:r>
              <a:rPr lang="en-US" sz="1200" b="1" dirty="0">
                <a:solidFill>
                  <a:srgbClr val="FF0000"/>
                </a:solidFill>
                <a:latin typeface="Noto Sans KR" pitchFamily="34" charset="0"/>
                <a:ea typeface="Noto Sans KR" pitchFamily="34" charset="-122"/>
                <a:cs typeface="Noto Sans KR" pitchFamily="34" charset="-120"/>
              </a:rPr>
              <a:t>사용 가능한 직관적 인터페이스</a:t>
            </a:r>
            <a:endParaRPr lang="en-US" sz="1200" b="1" dirty="0">
              <a:solidFill>
                <a:srgbClr val="FF0000"/>
              </a:solidFill>
            </a:endParaRPr>
          </a:p>
        </p:txBody>
      </p:sp>
      <p:pic>
        <p:nvPicPr>
          <p:cNvPr id="25" name="Image 7" descr="preencoded.png"/>
          <p:cNvPicPr>
            <a:picLocks noChangeAspect="1"/>
          </p:cNvPicPr>
          <p:nvPr/>
        </p:nvPicPr>
        <p:blipFill>
          <a:blip r:embed="rId6"/>
          <a:srcRect t="-43976" b="-43976"/>
          <a:stretch/>
        </p:blipFill>
        <p:spPr>
          <a:xfrm>
            <a:off x="743407" y="6078085"/>
            <a:ext cx="75895" cy="172042"/>
          </a:xfrm>
          <a:prstGeom prst="rect">
            <a:avLst/>
          </a:prstGeom>
        </p:spPr>
      </p:pic>
      <p:sp>
        <p:nvSpPr>
          <p:cNvPr id="26" name="Text 16"/>
          <p:cNvSpPr txBox="1"/>
          <p:nvPr/>
        </p:nvSpPr>
        <p:spPr>
          <a:xfrm>
            <a:off x="914400" y="6021392"/>
            <a:ext cx="4218127" cy="241522"/>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투명성</a:t>
            </a:r>
            <a:r>
              <a:rPr lang="en-US" sz="1200" dirty="0">
                <a:solidFill>
                  <a:srgbClr val="475569"/>
                </a:solidFill>
                <a:latin typeface="Noto Sans KR" pitchFamily="34" charset="0"/>
                <a:ea typeface="Noto Sans KR" pitchFamily="34" charset="-122"/>
                <a:cs typeface="Noto Sans KR" pitchFamily="34" charset="-120"/>
              </a:rPr>
              <a:t>: 레이더 차트와 약물성 지표로 예측 결과의 </a:t>
            </a:r>
            <a:r>
              <a:rPr lang="en-US" sz="1200" b="1" dirty="0">
                <a:solidFill>
                  <a:srgbClr val="FF0000"/>
                </a:solidFill>
                <a:latin typeface="Noto Sans KR" pitchFamily="34" charset="0"/>
                <a:ea typeface="Noto Sans KR" pitchFamily="34" charset="-122"/>
                <a:cs typeface="Noto Sans KR" pitchFamily="34" charset="-120"/>
              </a:rPr>
              <a:t>시각적 해석 지원</a:t>
            </a:r>
            <a:endParaRPr lang="en-US" sz="1200" b="1" dirty="0">
              <a:solidFill>
                <a:srgbClr val="FF0000"/>
              </a:solidFill>
            </a:endParaRPr>
          </a:p>
        </p:txBody>
      </p:sp>
      <p:grpSp>
        <p:nvGrpSpPr>
          <p:cNvPr id="69" name="그룹 68">
            <a:extLst>
              <a:ext uri="{FF2B5EF4-FFF2-40B4-BE49-F238E27FC236}">
                <a16:creationId xmlns:a16="http://schemas.microsoft.com/office/drawing/2014/main" id="{C88D5AAA-6C5B-4B3D-AB65-74EC915A5D0F}"/>
              </a:ext>
            </a:extLst>
          </p:cNvPr>
          <p:cNvGrpSpPr/>
          <p:nvPr/>
        </p:nvGrpSpPr>
        <p:grpSpPr>
          <a:xfrm>
            <a:off x="6003036" y="1438351"/>
            <a:ext cx="5715000" cy="5301116"/>
            <a:chOff x="6003036" y="1438351"/>
            <a:chExt cx="5715000" cy="6638544"/>
          </a:xfrm>
        </p:grpSpPr>
        <p:sp>
          <p:nvSpPr>
            <p:cNvPr id="27" name="Shape 17"/>
            <p:cNvSpPr/>
            <p:nvPr/>
          </p:nvSpPr>
          <p:spPr>
            <a:xfrm>
              <a:off x="6003036" y="1438351"/>
              <a:ext cx="5715000" cy="6638544"/>
            </a:xfrm>
            <a:prstGeom prst="roundRect">
              <a:avLst>
                <a:gd name="adj" fmla="val 213"/>
              </a:avLst>
            </a:prstGeom>
            <a:solidFill>
              <a:srgbClr val="FFFFFF"/>
            </a:solidFill>
            <a:ln w="12700">
              <a:solidFill>
                <a:srgbClr val="FFFFFF">
                  <a:alpha val="0"/>
                </a:srgbClr>
              </a:solidFill>
              <a:prstDash val="solid"/>
            </a:ln>
            <a:effectLst>
              <a:outerShdw blurRad="76200" dist="25400" dir="16200000" algn="bl" rotWithShape="0">
                <a:srgbClr val="000000">
                  <a:alpha val="8000"/>
                </a:srgbClr>
              </a:outerShdw>
            </a:effectLst>
          </p:spPr>
        </p:sp>
        <p:sp>
          <p:nvSpPr>
            <p:cNvPr id="28" name="Text 18"/>
            <p:cNvSpPr txBox="1"/>
            <p:nvPr/>
          </p:nvSpPr>
          <p:spPr>
            <a:xfrm>
              <a:off x="7746316" y="1556307"/>
              <a:ext cx="2225695" cy="480062"/>
            </a:xfrm>
            <a:prstGeom prst="rect">
              <a:avLst/>
            </a:prstGeom>
            <a:noFill/>
            <a:ln/>
          </p:spPr>
          <p:txBody>
            <a:bodyPr wrap="square" lIns="0" tIns="0" rIns="0" bIns="0" rtlCol="0" anchor="ctr"/>
            <a:lstStyle/>
            <a:p>
              <a:pPr marL="0" indent="0" algn="l">
                <a:buNone/>
              </a:pPr>
              <a:r>
                <a:rPr lang="en-US" sz="2400" b="1" dirty="0">
                  <a:solidFill>
                    <a:srgbClr val="1A355B"/>
                  </a:solidFill>
                  <a:latin typeface="Noto Sans KR" pitchFamily="34" charset="0"/>
                  <a:ea typeface="Noto Sans KR" pitchFamily="34" charset="-122"/>
                  <a:cs typeface="Noto Sans KR" pitchFamily="34" charset="-120"/>
                </a:rPr>
                <a:t>시스템 작동 흐름</a:t>
              </a:r>
              <a:endParaRPr lang="en-US" sz="2400" dirty="0"/>
            </a:p>
          </p:txBody>
        </p:sp>
        <p:sp>
          <p:nvSpPr>
            <p:cNvPr id="31" name="Shape 20"/>
            <p:cNvSpPr/>
            <p:nvPr/>
          </p:nvSpPr>
          <p:spPr>
            <a:xfrm>
              <a:off x="6250838" y="2226564"/>
              <a:ext cx="1410005" cy="1238098"/>
            </a:xfrm>
            <a:prstGeom prst="roundRect">
              <a:avLst>
                <a:gd name="adj" fmla="val 3409"/>
              </a:avLst>
            </a:prstGeom>
            <a:solidFill>
              <a:srgbClr val="EFF6FF"/>
            </a:solidFill>
            <a:ln w="25400">
              <a:solidFill>
                <a:srgbClr val="3B82F6"/>
              </a:solidFill>
              <a:prstDash val="solid"/>
            </a:ln>
          </p:spPr>
        </p:sp>
        <p:pic>
          <p:nvPicPr>
            <p:cNvPr id="32" name="Image 9" descr="preencoded.png"/>
            <p:cNvPicPr>
              <a:picLocks noChangeAspect="1"/>
            </p:cNvPicPr>
            <p:nvPr/>
          </p:nvPicPr>
          <p:blipFill>
            <a:blip r:embed="rId7"/>
            <a:srcRect l="-685" r="-685"/>
            <a:stretch/>
          </p:blipFill>
          <p:spPr>
            <a:xfrm>
              <a:off x="6799478" y="2498141"/>
              <a:ext cx="304495" cy="267005"/>
            </a:xfrm>
            <a:prstGeom prst="rect">
              <a:avLst/>
            </a:prstGeom>
          </p:spPr>
        </p:pic>
        <p:sp>
          <p:nvSpPr>
            <p:cNvPr id="33" name="Text 21"/>
            <p:cNvSpPr txBox="1"/>
            <p:nvPr/>
          </p:nvSpPr>
          <p:spPr>
            <a:xfrm>
              <a:off x="6703466" y="2797149"/>
              <a:ext cx="508407" cy="269749"/>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입력</a:t>
              </a:r>
              <a:endParaRPr lang="en-US" sz="1400" dirty="0"/>
            </a:p>
          </p:txBody>
        </p:sp>
        <p:sp>
          <p:nvSpPr>
            <p:cNvPr id="34" name="Text 22"/>
            <p:cNvSpPr txBox="1"/>
            <p:nvPr/>
          </p:nvSpPr>
          <p:spPr>
            <a:xfrm>
              <a:off x="6450633" y="3117188"/>
              <a:ext cx="1002183" cy="235915"/>
            </a:xfrm>
            <a:prstGeom prst="rect">
              <a:avLst/>
            </a:prstGeom>
            <a:noFill/>
            <a:ln/>
          </p:spPr>
          <p:txBody>
            <a:bodyPr wrap="square" lIns="0" tIns="0" rIns="0" bIns="0" rtlCol="0" anchor="ctr"/>
            <a:lstStyle/>
            <a:p>
              <a:pPr marL="0" indent="0" algn="ctr">
                <a:buNone/>
              </a:pPr>
              <a:r>
                <a:rPr lang="en-US" sz="1200" dirty="0">
                  <a:solidFill>
                    <a:srgbClr val="64748B"/>
                  </a:solidFill>
                  <a:latin typeface="Noto Sans KR" pitchFamily="34" charset="0"/>
                  <a:ea typeface="Noto Sans KR" pitchFamily="34" charset="-122"/>
                  <a:cs typeface="Noto Sans KR" pitchFamily="34" charset="-120"/>
                </a:rPr>
                <a:t>SMILES 문자열</a:t>
              </a:r>
              <a:endParaRPr lang="en-US" sz="1200" dirty="0"/>
            </a:p>
          </p:txBody>
        </p:sp>
        <p:pic>
          <p:nvPicPr>
            <p:cNvPr id="35" name="Image 10" descr="preencoded.png"/>
            <p:cNvPicPr>
              <a:picLocks noChangeAspect="1"/>
            </p:cNvPicPr>
            <p:nvPr/>
          </p:nvPicPr>
          <p:blipFill>
            <a:blip r:embed="rId8"/>
            <a:srcRect l="-57" r="-57"/>
            <a:stretch/>
          </p:blipFill>
          <p:spPr>
            <a:xfrm>
              <a:off x="7805318" y="2740457"/>
              <a:ext cx="200254" cy="228600"/>
            </a:xfrm>
            <a:prstGeom prst="rect">
              <a:avLst/>
            </a:prstGeom>
          </p:spPr>
        </p:pic>
        <p:sp>
          <p:nvSpPr>
            <p:cNvPr id="36" name="Shape 23"/>
            <p:cNvSpPr/>
            <p:nvPr/>
          </p:nvSpPr>
          <p:spPr>
            <a:xfrm>
              <a:off x="8158277" y="2147926"/>
              <a:ext cx="1410005" cy="1399946"/>
            </a:xfrm>
            <a:prstGeom prst="roundRect">
              <a:avLst>
                <a:gd name="adj" fmla="val 2666"/>
              </a:avLst>
            </a:prstGeom>
            <a:solidFill>
              <a:srgbClr val="F1F5F9"/>
            </a:solidFill>
            <a:ln w="25400">
              <a:solidFill>
                <a:srgbClr val="1A355B"/>
              </a:solidFill>
              <a:prstDash val="solid"/>
            </a:ln>
          </p:spPr>
        </p:sp>
        <p:pic>
          <p:nvPicPr>
            <p:cNvPr id="37" name="Image 11" descr="preencoded.png"/>
            <p:cNvPicPr>
              <a:picLocks noChangeAspect="1"/>
            </p:cNvPicPr>
            <p:nvPr/>
          </p:nvPicPr>
          <p:blipFill>
            <a:blip r:embed="rId9"/>
            <a:srcRect/>
            <a:stretch/>
          </p:blipFill>
          <p:spPr>
            <a:xfrm>
              <a:off x="8692286" y="2419502"/>
              <a:ext cx="333756" cy="267005"/>
            </a:xfrm>
            <a:prstGeom prst="rect">
              <a:avLst/>
            </a:prstGeom>
          </p:spPr>
        </p:pic>
        <p:sp>
          <p:nvSpPr>
            <p:cNvPr id="38" name="Text 24"/>
            <p:cNvSpPr txBox="1"/>
            <p:nvPr/>
          </p:nvSpPr>
          <p:spPr>
            <a:xfrm>
              <a:off x="8539536" y="2845613"/>
              <a:ext cx="643738" cy="214885"/>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전처리</a:t>
              </a:r>
              <a:endParaRPr lang="en-US" sz="1400" dirty="0"/>
            </a:p>
          </p:txBody>
        </p:sp>
        <p:sp>
          <p:nvSpPr>
            <p:cNvPr id="39" name="Text 25"/>
            <p:cNvSpPr txBox="1"/>
            <p:nvPr/>
          </p:nvSpPr>
          <p:spPr>
            <a:xfrm>
              <a:off x="8266862" y="3066898"/>
              <a:ext cx="1184604" cy="426111"/>
            </a:xfrm>
            <a:prstGeom prst="rect">
              <a:avLst/>
            </a:prstGeom>
            <a:noFill/>
            <a:ln/>
          </p:spPr>
          <p:txBody>
            <a:bodyPr wrap="square" lIns="0" tIns="0" rIns="0" bIns="0" rtlCol="0" anchor="t"/>
            <a:lstStyle/>
            <a:p>
              <a:pPr marL="0" indent="0" algn="ctr">
                <a:buNone/>
              </a:pPr>
              <a:r>
                <a:rPr lang="en-US" sz="1200" dirty="0">
                  <a:solidFill>
                    <a:srgbClr val="64748B"/>
                  </a:solidFill>
                  <a:latin typeface="Noto Sans KR" pitchFamily="34" charset="0"/>
                  <a:ea typeface="Noto Sans KR" pitchFamily="34" charset="-122"/>
                  <a:cs typeface="Noto Sans KR" pitchFamily="34" charset="-120"/>
                </a:rPr>
                <a:t>RDKit 유효성 검증</a:t>
              </a:r>
              <a:endParaRPr lang="en-US" sz="1200" dirty="0"/>
            </a:p>
            <a:p>
              <a:pPr marL="0" indent="0" algn="ctr">
                <a:buNone/>
              </a:pPr>
              <a:r>
                <a:rPr lang="en-US" sz="1200" dirty="0">
                  <a:solidFill>
                    <a:srgbClr val="64748B"/>
                  </a:solidFill>
                  <a:latin typeface="Noto Sans KR" pitchFamily="34" charset="0"/>
                  <a:ea typeface="Noto Sans KR" pitchFamily="34" charset="-122"/>
                  <a:cs typeface="Noto Sans KR" pitchFamily="34" charset="-120"/>
                </a:rPr>
                <a:t>분자 구조 파싱</a:t>
              </a:r>
              <a:endParaRPr lang="en-US" sz="1200" dirty="0"/>
            </a:p>
          </p:txBody>
        </p:sp>
        <p:pic>
          <p:nvPicPr>
            <p:cNvPr id="40" name="Image 12" descr="preencoded.png"/>
            <p:cNvPicPr>
              <a:picLocks noChangeAspect="1"/>
            </p:cNvPicPr>
            <p:nvPr/>
          </p:nvPicPr>
          <p:blipFill>
            <a:blip r:embed="rId8"/>
            <a:srcRect l="-57" r="-57"/>
            <a:stretch/>
          </p:blipFill>
          <p:spPr>
            <a:xfrm>
              <a:off x="9712757" y="2740457"/>
              <a:ext cx="200254" cy="228600"/>
            </a:xfrm>
            <a:prstGeom prst="rect">
              <a:avLst/>
            </a:prstGeom>
          </p:spPr>
        </p:pic>
        <p:sp>
          <p:nvSpPr>
            <p:cNvPr id="41" name="Shape 26"/>
            <p:cNvSpPr/>
            <p:nvPr/>
          </p:nvSpPr>
          <p:spPr>
            <a:xfrm>
              <a:off x="10065715" y="2147926"/>
              <a:ext cx="1410005" cy="1399946"/>
            </a:xfrm>
            <a:prstGeom prst="roundRect">
              <a:avLst>
                <a:gd name="adj" fmla="val 2666"/>
              </a:avLst>
            </a:prstGeom>
            <a:solidFill>
              <a:srgbClr val="F1F5F9"/>
            </a:solidFill>
            <a:ln w="25400">
              <a:solidFill>
                <a:srgbClr val="1A355B"/>
              </a:solidFill>
              <a:prstDash val="solid"/>
            </a:ln>
          </p:spPr>
        </p:sp>
        <p:pic>
          <p:nvPicPr>
            <p:cNvPr id="42" name="Image 13" descr="preencoded.png"/>
            <p:cNvPicPr>
              <a:picLocks noChangeAspect="1"/>
            </p:cNvPicPr>
            <p:nvPr/>
          </p:nvPicPr>
          <p:blipFill>
            <a:blip r:embed="rId10"/>
            <a:srcRect/>
            <a:stretch/>
          </p:blipFill>
          <p:spPr>
            <a:xfrm>
              <a:off x="10633558" y="2419502"/>
              <a:ext cx="267005" cy="267005"/>
            </a:xfrm>
            <a:prstGeom prst="rect">
              <a:avLst/>
            </a:prstGeom>
          </p:spPr>
        </p:pic>
        <p:sp>
          <p:nvSpPr>
            <p:cNvPr id="43" name="Text 27"/>
            <p:cNvSpPr txBox="1"/>
            <p:nvPr/>
          </p:nvSpPr>
          <p:spPr>
            <a:xfrm>
              <a:off x="10389412" y="2808892"/>
              <a:ext cx="759867" cy="265177"/>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AI 예측</a:t>
              </a:r>
              <a:endParaRPr lang="en-US" sz="1400" dirty="0"/>
            </a:p>
          </p:txBody>
        </p:sp>
        <p:sp>
          <p:nvSpPr>
            <p:cNvPr id="44" name="Text 28"/>
            <p:cNvSpPr txBox="1"/>
            <p:nvPr/>
          </p:nvSpPr>
          <p:spPr>
            <a:xfrm>
              <a:off x="10108235" y="3060352"/>
              <a:ext cx="1317650" cy="447223"/>
            </a:xfrm>
            <a:prstGeom prst="rect">
              <a:avLst/>
            </a:prstGeom>
            <a:noFill/>
            <a:ln/>
          </p:spPr>
          <p:txBody>
            <a:bodyPr wrap="square" lIns="0" tIns="0" rIns="0" bIns="0" rtlCol="0" anchor="t"/>
            <a:lstStyle/>
            <a:p>
              <a:pPr marL="0" indent="0" algn="ctr">
                <a:buNone/>
              </a:pPr>
              <a:r>
                <a:rPr lang="en-US" sz="1200" dirty="0">
                  <a:solidFill>
                    <a:srgbClr val="64748B"/>
                  </a:solidFill>
                  <a:latin typeface="Noto Sans KR" pitchFamily="34" charset="0"/>
                  <a:ea typeface="Noto Sans KR" pitchFamily="34" charset="-122"/>
                  <a:cs typeface="Noto Sans KR" pitchFamily="34" charset="-120"/>
                </a:rPr>
                <a:t>D-MPNN 모델 추론</a:t>
              </a:r>
              <a:endParaRPr lang="en-US" sz="1200" dirty="0"/>
            </a:p>
            <a:p>
              <a:pPr marL="0" indent="0" algn="ctr">
                <a:buNone/>
              </a:pPr>
              <a:r>
                <a:rPr lang="en-US" sz="1200" dirty="0">
                  <a:solidFill>
                    <a:srgbClr val="64748B"/>
                  </a:solidFill>
                  <a:latin typeface="Noto Sans KR" pitchFamily="34" charset="0"/>
                  <a:ea typeface="Noto Sans KR" pitchFamily="34" charset="-122"/>
                  <a:cs typeface="Noto Sans KR" pitchFamily="34" charset="-120"/>
                </a:rPr>
                <a:t>200 RDKit 기술자</a:t>
              </a:r>
              <a:endParaRPr lang="en-US" sz="1200" dirty="0"/>
            </a:p>
          </p:txBody>
        </p:sp>
        <p:pic>
          <p:nvPicPr>
            <p:cNvPr id="45" name="Image 14" descr="preencoded.png"/>
            <p:cNvPicPr>
              <a:picLocks noChangeAspect="1"/>
            </p:cNvPicPr>
            <p:nvPr/>
          </p:nvPicPr>
          <p:blipFill>
            <a:blip r:embed="rId11"/>
            <a:srcRect l="-133" r="-133"/>
            <a:stretch/>
          </p:blipFill>
          <p:spPr>
            <a:xfrm>
              <a:off x="8773668" y="3733495"/>
              <a:ext cx="171907" cy="228600"/>
            </a:xfrm>
            <a:prstGeom prst="rect">
              <a:avLst/>
            </a:prstGeom>
          </p:spPr>
        </p:pic>
        <p:sp>
          <p:nvSpPr>
            <p:cNvPr id="46" name="Shape 29"/>
            <p:cNvSpPr/>
            <p:nvPr/>
          </p:nvSpPr>
          <p:spPr>
            <a:xfrm>
              <a:off x="6250838" y="4153205"/>
              <a:ext cx="2361895" cy="1828800"/>
            </a:xfrm>
            <a:prstGeom prst="roundRect">
              <a:avLst>
                <a:gd name="adj" fmla="val 1563"/>
              </a:avLst>
            </a:prstGeom>
            <a:solidFill>
              <a:srgbClr val="ECFDF5"/>
            </a:solidFill>
            <a:ln w="25400">
              <a:solidFill>
                <a:srgbClr val="10B981"/>
              </a:solidFill>
              <a:prstDash val="solid"/>
            </a:ln>
          </p:spPr>
        </p:sp>
        <p:sp>
          <p:nvSpPr>
            <p:cNvPr id="47" name="Text 30"/>
            <p:cNvSpPr txBox="1"/>
            <p:nvPr/>
          </p:nvSpPr>
          <p:spPr>
            <a:xfrm>
              <a:off x="6600555" y="4495191"/>
              <a:ext cx="1653235" cy="473658"/>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출력 1: 작용기전 예측</a:t>
              </a:r>
              <a:endParaRPr lang="en-US" sz="1400" dirty="0"/>
            </a:p>
          </p:txBody>
        </p:sp>
        <p:sp>
          <p:nvSpPr>
            <p:cNvPr id="48" name="Shape 31"/>
            <p:cNvSpPr/>
            <p:nvPr/>
          </p:nvSpPr>
          <p:spPr>
            <a:xfrm>
              <a:off x="6441034" y="5100523"/>
              <a:ext cx="933602" cy="796257"/>
            </a:xfrm>
            <a:prstGeom prst="roundRect">
              <a:avLst>
                <a:gd name="adj" fmla="val 7210"/>
              </a:avLst>
            </a:prstGeom>
            <a:solidFill>
              <a:srgbClr val="FFFFFF"/>
            </a:solidFill>
            <a:ln w="12700">
              <a:solidFill>
                <a:srgbClr val="D1D5DB"/>
              </a:solidFill>
              <a:prstDash val="solid"/>
            </a:ln>
          </p:spPr>
        </p:sp>
        <p:sp>
          <p:nvSpPr>
            <p:cNvPr id="49" name="Text 32"/>
            <p:cNvSpPr txBox="1"/>
            <p:nvPr/>
          </p:nvSpPr>
          <p:spPr>
            <a:xfrm>
              <a:off x="6507785" y="5205679"/>
              <a:ext cx="800100" cy="162763"/>
            </a:xfrm>
            <a:prstGeom prst="rect">
              <a:avLst/>
            </a:prstGeom>
            <a:noFill/>
            <a:ln/>
          </p:spPr>
          <p:txBody>
            <a:bodyPr wrap="square" lIns="0" tIns="0" rIns="0" bIns="0" rtlCol="0" anchor="ctr"/>
            <a:lstStyle/>
            <a:p>
              <a:pPr marL="0" indent="0" algn="ctr">
                <a:buNone/>
              </a:pPr>
              <a:r>
                <a:rPr lang="en-US" sz="1200" b="1" dirty="0">
                  <a:solidFill>
                    <a:srgbClr val="10B981"/>
                  </a:solidFill>
                  <a:latin typeface="Noto Sans KR" pitchFamily="34" charset="0"/>
                  <a:ea typeface="Noto Sans KR" pitchFamily="34" charset="-122"/>
                  <a:cs typeface="Noto Sans KR" pitchFamily="34" charset="-120"/>
                </a:rPr>
                <a:t>C1-C13</a:t>
              </a:r>
              <a:endParaRPr lang="en-US" sz="1200" dirty="0"/>
            </a:p>
          </p:txBody>
        </p:sp>
        <p:sp>
          <p:nvSpPr>
            <p:cNvPr id="50" name="Text 33"/>
            <p:cNvSpPr txBox="1"/>
            <p:nvPr/>
          </p:nvSpPr>
          <p:spPr>
            <a:xfrm>
              <a:off x="6516928" y="5400446"/>
              <a:ext cx="800099" cy="463700"/>
            </a:xfrm>
            <a:prstGeom prst="rect">
              <a:avLst/>
            </a:prstGeom>
            <a:noFill/>
            <a:ln/>
          </p:spPr>
          <p:txBody>
            <a:bodyPr wrap="square" lIns="0" tIns="0" rIns="0" bIns="0" rtlCol="0" anchor="t"/>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클러스터별 저해 확률</a:t>
              </a:r>
              <a:endParaRPr lang="en-US" sz="1200" dirty="0"/>
            </a:p>
          </p:txBody>
        </p:sp>
        <p:sp>
          <p:nvSpPr>
            <p:cNvPr id="51" name="Shape 34"/>
            <p:cNvSpPr/>
            <p:nvPr/>
          </p:nvSpPr>
          <p:spPr>
            <a:xfrm>
              <a:off x="7486193" y="5100523"/>
              <a:ext cx="933602" cy="796257"/>
            </a:xfrm>
            <a:prstGeom prst="roundRect">
              <a:avLst>
                <a:gd name="adj" fmla="val 7210"/>
              </a:avLst>
            </a:prstGeom>
            <a:solidFill>
              <a:srgbClr val="FFFFFF"/>
            </a:solidFill>
            <a:ln w="12700">
              <a:solidFill>
                <a:srgbClr val="D1D5DB"/>
              </a:solidFill>
              <a:prstDash val="solid"/>
            </a:ln>
          </p:spPr>
        </p:sp>
        <p:sp>
          <p:nvSpPr>
            <p:cNvPr id="52" name="Text 35"/>
            <p:cNvSpPr txBox="1"/>
            <p:nvPr/>
          </p:nvSpPr>
          <p:spPr>
            <a:xfrm>
              <a:off x="7552944" y="5205679"/>
              <a:ext cx="800100" cy="162763"/>
            </a:xfrm>
            <a:prstGeom prst="rect">
              <a:avLst/>
            </a:prstGeom>
            <a:noFill/>
            <a:ln/>
          </p:spPr>
          <p:txBody>
            <a:bodyPr wrap="square" lIns="0" tIns="0" rIns="0" bIns="0" rtlCol="0" anchor="ctr"/>
            <a:lstStyle/>
            <a:p>
              <a:pPr marL="0" indent="0" algn="ctr">
                <a:buNone/>
              </a:pPr>
              <a:r>
                <a:rPr lang="en-US" sz="1200" b="1" dirty="0">
                  <a:solidFill>
                    <a:srgbClr val="10B981"/>
                  </a:solidFill>
                  <a:latin typeface="Noto Sans KR" pitchFamily="34" charset="0"/>
                  <a:ea typeface="Noto Sans KR" pitchFamily="34" charset="-122"/>
                  <a:cs typeface="Noto Sans KR" pitchFamily="34" charset="-120"/>
                </a:rPr>
                <a:t>레이더 차트</a:t>
              </a:r>
              <a:endParaRPr lang="en-US" sz="1200" dirty="0"/>
            </a:p>
          </p:txBody>
        </p:sp>
        <p:sp>
          <p:nvSpPr>
            <p:cNvPr id="53" name="Text 36"/>
            <p:cNvSpPr txBox="1"/>
            <p:nvPr/>
          </p:nvSpPr>
          <p:spPr>
            <a:xfrm>
              <a:off x="7665658" y="5400446"/>
              <a:ext cx="579730" cy="427025"/>
            </a:xfrm>
            <a:prstGeom prst="rect">
              <a:avLst/>
            </a:prstGeom>
            <a:noFill/>
            <a:ln/>
          </p:spPr>
          <p:txBody>
            <a:bodyPr wrap="square" lIns="0" tIns="0" rIns="0" bIns="0" rtlCol="0" anchor="ctr"/>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시각적 프로파일</a:t>
              </a:r>
              <a:endParaRPr lang="en-US" sz="1200" dirty="0"/>
            </a:p>
          </p:txBody>
        </p:sp>
        <p:pic>
          <p:nvPicPr>
            <p:cNvPr id="54" name="Image 15" descr="preencoded.png"/>
            <p:cNvPicPr>
              <a:picLocks noChangeAspect="1"/>
            </p:cNvPicPr>
            <p:nvPr/>
          </p:nvPicPr>
          <p:blipFill>
            <a:blip r:embed="rId12"/>
            <a:srcRect l="-57" r="-57"/>
            <a:stretch/>
          </p:blipFill>
          <p:spPr>
            <a:xfrm>
              <a:off x="8759038" y="4962449"/>
              <a:ext cx="200254" cy="228600"/>
            </a:xfrm>
            <a:prstGeom prst="rect">
              <a:avLst/>
            </a:prstGeom>
          </p:spPr>
        </p:pic>
        <p:sp>
          <p:nvSpPr>
            <p:cNvPr id="55" name="Shape 37"/>
            <p:cNvSpPr/>
            <p:nvPr/>
          </p:nvSpPr>
          <p:spPr>
            <a:xfrm>
              <a:off x="9111996" y="4153205"/>
              <a:ext cx="2361895" cy="1828800"/>
            </a:xfrm>
            <a:prstGeom prst="roundRect">
              <a:avLst>
                <a:gd name="adj" fmla="val 1563"/>
              </a:avLst>
            </a:prstGeom>
            <a:solidFill>
              <a:srgbClr val="ECFDF5"/>
            </a:solidFill>
            <a:ln w="25400">
              <a:solidFill>
                <a:srgbClr val="10B981"/>
              </a:solidFill>
              <a:prstDash val="solid"/>
            </a:ln>
          </p:spPr>
        </p:sp>
        <p:sp>
          <p:nvSpPr>
            <p:cNvPr id="57" name="Text 38"/>
            <p:cNvSpPr txBox="1"/>
            <p:nvPr/>
          </p:nvSpPr>
          <p:spPr>
            <a:xfrm>
              <a:off x="9503815" y="4544360"/>
              <a:ext cx="1578255" cy="423548"/>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출력 2: 약물성 지표</a:t>
              </a:r>
              <a:endParaRPr lang="en-US" sz="1400" dirty="0"/>
            </a:p>
          </p:txBody>
        </p:sp>
        <p:sp>
          <p:nvSpPr>
            <p:cNvPr id="58" name="Shape 39"/>
            <p:cNvSpPr/>
            <p:nvPr/>
          </p:nvSpPr>
          <p:spPr>
            <a:xfrm>
              <a:off x="9302191" y="5100523"/>
              <a:ext cx="933602" cy="796257"/>
            </a:xfrm>
            <a:prstGeom prst="roundRect">
              <a:avLst>
                <a:gd name="adj" fmla="val 7210"/>
              </a:avLst>
            </a:prstGeom>
            <a:solidFill>
              <a:srgbClr val="FFFFFF"/>
            </a:solidFill>
            <a:ln w="12700">
              <a:solidFill>
                <a:srgbClr val="D1D5DB"/>
              </a:solidFill>
              <a:prstDash val="solid"/>
            </a:ln>
          </p:spPr>
        </p:sp>
        <p:sp>
          <p:nvSpPr>
            <p:cNvPr id="59" name="Text 40"/>
            <p:cNvSpPr txBox="1"/>
            <p:nvPr/>
          </p:nvSpPr>
          <p:spPr>
            <a:xfrm>
              <a:off x="9368942" y="5205679"/>
              <a:ext cx="800100" cy="162763"/>
            </a:xfrm>
            <a:prstGeom prst="rect">
              <a:avLst/>
            </a:prstGeom>
            <a:noFill/>
            <a:ln/>
          </p:spPr>
          <p:txBody>
            <a:bodyPr wrap="square" lIns="0" tIns="0" rIns="0" bIns="0" rtlCol="0" anchor="ctr"/>
            <a:lstStyle/>
            <a:p>
              <a:pPr marL="0" indent="0" algn="ctr">
                <a:buNone/>
              </a:pPr>
              <a:r>
                <a:rPr lang="en-US" sz="1200" b="1" dirty="0">
                  <a:solidFill>
                    <a:srgbClr val="10B981"/>
                  </a:solidFill>
                  <a:latin typeface="Noto Sans KR" pitchFamily="34" charset="0"/>
                  <a:ea typeface="Noto Sans KR" pitchFamily="34" charset="-122"/>
                  <a:cs typeface="Noto Sans KR" pitchFamily="34" charset="-120"/>
                </a:rPr>
                <a:t>Lipinski</a:t>
              </a:r>
              <a:endParaRPr lang="en-US" sz="1200" dirty="0"/>
            </a:p>
          </p:txBody>
        </p:sp>
        <p:sp>
          <p:nvSpPr>
            <p:cNvPr id="60" name="Text 41"/>
            <p:cNvSpPr txBox="1"/>
            <p:nvPr/>
          </p:nvSpPr>
          <p:spPr>
            <a:xfrm>
              <a:off x="9378086" y="5400446"/>
              <a:ext cx="781812" cy="286207"/>
            </a:xfrm>
            <a:prstGeom prst="rect">
              <a:avLst/>
            </a:prstGeom>
            <a:noFill/>
            <a:ln/>
          </p:spPr>
          <p:txBody>
            <a:bodyPr wrap="square" lIns="0" tIns="0" rIns="0" bIns="0" rtlCol="0" anchor="t"/>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MW, LogP, HBA/HBD</a:t>
              </a:r>
              <a:endParaRPr lang="en-US" sz="1200" dirty="0"/>
            </a:p>
          </p:txBody>
        </p:sp>
        <p:sp>
          <p:nvSpPr>
            <p:cNvPr id="61" name="Shape 42"/>
            <p:cNvSpPr/>
            <p:nvPr/>
          </p:nvSpPr>
          <p:spPr>
            <a:xfrm>
              <a:off x="10347350" y="5100523"/>
              <a:ext cx="933602" cy="796257"/>
            </a:xfrm>
            <a:prstGeom prst="roundRect">
              <a:avLst>
                <a:gd name="adj" fmla="val 7210"/>
              </a:avLst>
            </a:prstGeom>
            <a:solidFill>
              <a:srgbClr val="FFFFFF"/>
            </a:solidFill>
            <a:ln w="12700">
              <a:solidFill>
                <a:srgbClr val="D1D5DB"/>
              </a:solidFill>
              <a:prstDash val="solid"/>
            </a:ln>
          </p:spPr>
        </p:sp>
        <p:sp>
          <p:nvSpPr>
            <p:cNvPr id="62" name="Text 43"/>
            <p:cNvSpPr txBox="1"/>
            <p:nvPr/>
          </p:nvSpPr>
          <p:spPr>
            <a:xfrm>
              <a:off x="10414102" y="5205679"/>
              <a:ext cx="800100" cy="162763"/>
            </a:xfrm>
            <a:prstGeom prst="rect">
              <a:avLst/>
            </a:prstGeom>
            <a:noFill/>
            <a:ln/>
          </p:spPr>
          <p:txBody>
            <a:bodyPr wrap="square" lIns="0" tIns="0" rIns="0" bIns="0" rtlCol="0" anchor="ctr"/>
            <a:lstStyle/>
            <a:p>
              <a:pPr marL="0" indent="0" algn="ctr">
                <a:buNone/>
              </a:pPr>
              <a:r>
                <a:rPr lang="en-US" sz="1200" b="1" dirty="0">
                  <a:solidFill>
                    <a:srgbClr val="10B981"/>
                  </a:solidFill>
                  <a:latin typeface="Noto Sans KR" pitchFamily="34" charset="0"/>
                  <a:ea typeface="Noto Sans KR" pitchFamily="34" charset="-122"/>
                  <a:cs typeface="Noto Sans KR" pitchFamily="34" charset="-120"/>
                </a:rPr>
                <a:t>TPSA</a:t>
              </a:r>
              <a:endParaRPr lang="en-US" sz="1200" dirty="0"/>
            </a:p>
          </p:txBody>
        </p:sp>
        <p:sp>
          <p:nvSpPr>
            <p:cNvPr id="63" name="Text 44"/>
            <p:cNvSpPr txBox="1"/>
            <p:nvPr/>
          </p:nvSpPr>
          <p:spPr>
            <a:xfrm>
              <a:off x="10414102" y="5400446"/>
              <a:ext cx="800100" cy="143561"/>
            </a:xfrm>
            <a:prstGeom prst="rect">
              <a:avLst/>
            </a:prstGeom>
            <a:noFill/>
            <a:ln/>
          </p:spPr>
          <p:txBody>
            <a:bodyPr wrap="square" lIns="0" tIns="0" rIns="0" bIns="0" rtlCol="0" anchor="ctr"/>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막 투과성</a:t>
              </a:r>
              <a:endParaRPr lang="en-US" sz="1200" dirty="0"/>
            </a:p>
          </p:txBody>
        </p:sp>
        <p:pic>
          <p:nvPicPr>
            <p:cNvPr id="64" name="Image 17" descr="preencoded.png"/>
            <p:cNvPicPr>
              <a:picLocks noChangeAspect="1"/>
            </p:cNvPicPr>
            <p:nvPr/>
          </p:nvPicPr>
          <p:blipFill>
            <a:blip r:embed="rId11"/>
            <a:srcRect l="-133" r="-133"/>
            <a:stretch/>
          </p:blipFill>
          <p:spPr>
            <a:xfrm>
              <a:off x="8773668" y="6172200"/>
              <a:ext cx="171907" cy="228600"/>
            </a:xfrm>
            <a:prstGeom prst="rect">
              <a:avLst/>
            </a:prstGeom>
          </p:spPr>
        </p:pic>
        <p:sp>
          <p:nvSpPr>
            <p:cNvPr id="65" name="Shape 45"/>
            <p:cNvSpPr/>
            <p:nvPr/>
          </p:nvSpPr>
          <p:spPr>
            <a:xfrm>
              <a:off x="6250838" y="6590995"/>
              <a:ext cx="5219395" cy="1238098"/>
            </a:xfrm>
            <a:prstGeom prst="roundRect">
              <a:avLst>
                <a:gd name="adj" fmla="val 3409"/>
              </a:avLst>
            </a:prstGeom>
            <a:solidFill>
              <a:srgbClr val="FAF5FF"/>
            </a:solidFill>
            <a:ln w="25400">
              <a:solidFill>
                <a:srgbClr val="8B5CF6"/>
              </a:solidFill>
              <a:prstDash val="solid"/>
            </a:ln>
          </p:spPr>
        </p:sp>
        <p:pic>
          <p:nvPicPr>
            <p:cNvPr id="66" name="Image 18" descr="preencoded.png"/>
            <p:cNvPicPr>
              <a:picLocks noChangeAspect="1"/>
            </p:cNvPicPr>
            <p:nvPr/>
          </p:nvPicPr>
          <p:blipFill>
            <a:blip r:embed="rId13"/>
            <a:srcRect/>
            <a:stretch/>
          </p:blipFill>
          <p:spPr>
            <a:xfrm>
              <a:off x="8726119" y="6762903"/>
              <a:ext cx="267005" cy="267005"/>
            </a:xfrm>
            <a:prstGeom prst="rect">
              <a:avLst/>
            </a:prstGeom>
          </p:spPr>
        </p:pic>
        <p:sp>
          <p:nvSpPr>
            <p:cNvPr id="67" name="Text 46"/>
            <p:cNvSpPr txBox="1"/>
            <p:nvPr/>
          </p:nvSpPr>
          <p:spPr>
            <a:xfrm>
              <a:off x="8266862" y="7053229"/>
              <a:ext cx="1169518" cy="356784"/>
            </a:xfrm>
            <a:prstGeom prst="rect">
              <a:avLst/>
            </a:prstGeom>
            <a:noFill/>
            <a:ln/>
          </p:spPr>
          <p:txBody>
            <a:bodyPr wrap="square" lIns="0" tIns="0" rIns="0" bIns="0" rtlCol="0" anchor="ctr"/>
            <a:lstStyle/>
            <a:p>
              <a:pPr marL="0" indent="0" algn="ctr">
                <a:buNone/>
              </a:pPr>
              <a:r>
                <a:rPr lang="en-US" sz="1400" b="1" dirty="0">
                  <a:solidFill>
                    <a:srgbClr val="334155"/>
                  </a:solidFill>
                  <a:latin typeface="Noto Sans KR" pitchFamily="34" charset="0"/>
                  <a:ea typeface="Noto Sans KR" pitchFamily="34" charset="-122"/>
                  <a:cs typeface="Noto Sans KR" pitchFamily="34" charset="-120"/>
                </a:rPr>
                <a:t>결과 내보내기</a:t>
              </a:r>
              <a:endParaRPr lang="en-US" sz="1400" dirty="0"/>
            </a:p>
          </p:txBody>
        </p:sp>
        <p:sp>
          <p:nvSpPr>
            <p:cNvPr id="68" name="Text 47"/>
            <p:cNvSpPr txBox="1"/>
            <p:nvPr/>
          </p:nvSpPr>
          <p:spPr>
            <a:xfrm>
              <a:off x="7946018" y="7465974"/>
              <a:ext cx="1933041" cy="162763"/>
            </a:xfrm>
            <a:prstGeom prst="rect">
              <a:avLst/>
            </a:prstGeom>
            <a:noFill/>
            <a:ln/>
          </p:spPr>
          <p:txBody>
            <a:bodyPr wrap="square" lIns="0" tIns="0" rIns="0" bIns="0" rtlCol="0" anchor="ctr"/>
            <a:lstStyle/>
            <a:p>
              <a:pPr marL="0" indent="0" algn="ctr">
                <a:buNone/>
              </a:pPr>
              <a:r>
                <a:rPr lang="en-US" sz="1200" dirty="0">
                  <a:solidFill>
                    <a:srgbClr val="64748B"/>
                  </a:solidFill>
                  <a:latin typeface="Noto Sans KR" pitchFamily="34" charset="0"/>
                  <a:ea typeface="Noto Sans KR" pitchFamily="34" charset="-122"/>
                  <a:cs typeface="Noto Sans KR" pitchFamily="34" charset="-120"/>
                </a:rPr>
                <a:t>이미지(PNG) / 데이터(CSV)</a:t>
              </a:r>
              <a:endParaRPr lang="en-US" sz="1200" dirty="0"/>
            </a:p>
          </p:txBody>
        </p:sp>
      </p:grpSp>
      <p:pic>
        <p:nvPicPr>
          <p:cNvPr id="70" name="Image 4" descr="preencoded.png">
            <a:extLst>
              <a:ext uri="{FF2B5EF4-FFF2-40B4-BE49-F238E27FC236}">
                <a16:creationId xmlns:a16="http://schemas.microsoft.com/office/drawing/2014/main" id="{8295F3A4-1405-4B60-84ED-D728781F4D8C}"/>
              </a:ext>
            </a:extLst>
          </p:cNvPr>
          <p:cNvPicPr>
            <a:picLocks noChangeAspect="1"/>
          </p:cNvPicPr>
          <p:nvPr/>
        </p:nvPicPr>
        <p:blipFill>
          <a:blip r:embed="rId6"/>
          <a:srcRect t="-43976" b="-43976"/>
          <a:stretch/>
        </p:blipFill>
        <p:spPr>
          <a:xfrm>
            <a:off x="749051" y="4678383"/>
            <a:ext cx="75895" cy="1519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06781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주요 기능</a:t>
            </a:r>
            <a:endParaRPr lang="en-US" sz="2400" dirty="0"/>
          </a:p>
        </p:txBody>
      </p:sp>
      <p:sp>
        <p:nvSpPr>
          <p:cNvPr id="5" name="Text 3"/>
          <p:cNvSpPr txBox="1"/>
          <p:nvPr/>
        </p:nvSpPr>
        <p:spPr>
          <a:xfrm>
            <a:off x="476402" y="685800"/>
            <a:ext cx="3422599"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Mtb-Inhibitor Finder AI 플랫폼의 핵심 기능</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221467"/>
            <a:ext cx="5505602" cy="2643530"/>
          </a:xfrm>
          <a:prstGeom prst="roundRect">
            <a:avLst>
              <a:gd name="adj" fmla="val 789"/>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221467"/>
            <a:ext cx="38405" cy="2643530"/>
          </a:xfrm>
          <a:prstGeom prst="roundRect">
            <a:avLst>
              <a:gd name="adj" fmla="val 61050"/>
            </a:avLst>
          </a:prstGeom>
          <a:solidFill>
            <a:srgbClr val="3B82F6"/>
          </a:solidFill>
          <a:ln w="12700">
            <a:solidFill>
              <a:srgbClr val="3B82F6">
                <a:alpha val="0"/>
              </a:srgbClr>
            </a:solidFill>
            <a:prstDash val="solid"/>
          </a:ln>
        </p:spPr>
      </p:sp>
      <p:sp>
        <p:nvSpPr>
          <p:cNvPr id="9" name="Text 6"/>
          <p:cNvSpPr txBox="1"/>
          <p:nvPr/>
        </p:nvSpPr>
        <p:spPr>
          <a:xfrm>
            <a:off x="1352398" y="1473842"/>
            <a:ext cx="4515307" cy="257861"/>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SMILES 파싱 및 분자구조 렌더링</a:t>
            </a:r>
            <a:endParaRPr lang="en-US" sz="2000" dirty="0"/>
          </a:p>
        </p:txBody>
      </p:sp>
      <p:sp>
        <p:nvSpPr>
          <p:cNvPr id="10" name="Text 7"/>
          <p:cNvSpPr txBox="1"/>
          <p:nvPr/>
        </p:nvSpPr>
        <p:spPr>
          <a:xfrm>
            <a:off x="1352398" y="1769193"/>
            <a:ext cx="4515307"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Chemical Structure Analysis</a:t>
            </a:r>
            <a:endParaRPr lang="en-US" sz="1200" dirty="0"/>
          </a:p>
        </p:txBody>
      </p:sp>
      <p:sp>
        <p:nvSpPr>
          <p:cNvPr id="11" name="Text 8"/>
          <p:cNvSpPr txBox="1"/>
          <p:nvPr/>
        </p:nvSpPr>
        <p:spPr>
          <a:xfrm>
            <a:off x="743408" y="1982593"/>
            <a:ext cx="4990796" cy="400507"/>
          </a:xfrm>
          <a:prstGeom prst="rect">
            <a:avLst/>
          </a:prstGeom>
          <a:noFill/>
          <a:ln/>
        </p:spPr>
        <p:txBody>
          <a:bodyPr wrap="square" lIns="0" tIns="0" rIns="0" bIns="0" rtlCol="0" anchor="t"/>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화합물의 </a:t>
            </a:r>
            <a:r>
              <a:rPr lang="en-US" sz="1200" b="1" dirty="0">
                <a:solidFill>
                  <a:srgbClr val="FF0000"/>
                </a:solidFill>
                <a:latin typeface="Noto Sans KR" pitchFamily="34" charset="0"/>
                <a:ea typeface="Noto Sans KR" pitchFamily="34" charset="-122"/>
                <a:cs typeface="Noto Sans KR" pitchFamily="34" charset="-120"/>
              </a:rPr>
              <a:t>SMILES 문자열</a:t>
            </a:r>
            <a:r>
              <a:rPr lang="en-US" sz="1200" dirty="0">
                <a:solidFill>
                  <a:srgbClr val="475569"/>
                </a:solidFill>
                <a:latin typeface="Noto Sans KR" pitchFamily="34" charset="0"/>
                <a:ea typeface="Noto Sans KR" pitchFamily="34" charset="-122"/>
                <a:cs typeface="Noto Sans KR" pitchFamily="34" charset="-120"/>
              </a:rPr>
              <a:t>을 입력받아 </a:t>
            </a:r>
            <a:r>
              <a:rPr lang="en-US" sz="1200" b="1" dirty="0">
                <a:solidFill>
                  <a:srgbClr val="FF0000"/>
                </a:solidFill>
                <a:latin typeface="Noto Sans KR" pitchFamily="34" charset="0"/>
                <a:ea typeface="Noto Sans KR" pitchFamily="34" charset="-122"/>
                <a:cs typeface="Noto Sans KR" pitchFamily="34" charset="-120"/>
              </a:rPr>
              <a:t>분자 구조를 파싱</a:t>
            </a:r>
            <a:r>
              <a:rPr lang="en-US" sz="1200" dirty="0">
                <a:solidFill>
                  <a:srgbClr val="475569"/>
                </a:solidFill>
                <a:latin typeface="Noto Sans KR" pitchFamily="34" charset="0"/>
                <a:ea typeface="Noto Sans KR" pitchFamily="34" charset="-122"/>
                <a:cs typeface="Noto Sans KR" pitchFamily="34" charset="-120"/>
              </a:rPr>
              <a:t>하고 </a:t>
            </a:r>
            <a:r>
              <a:rPr lang="en-US" sz="1200" b="1" dirty="0">
                <a:solidFill>
                  <a:srgbClr val="FF0000"/>
                </a:solidFill>
                <a:latin typeface="Noto Sans KR" pitchFamily="34" charset="0"/>
                <a:ea typeface="Noto Sans KR" pitchFamily="34" charset="-122"/>
                <a:cs typeface="Noto Sans KR" pitchFamily="34" charset="-120"/>
              </a:rPr>
              <a:t>2D 구조식을 시각적으로 렌더링</a:t>
            </a:r>
            <a:r>
              <a:rPr lang="en-US" sz="1200" dirty="0">
                <a:solidFill>
                  <a:srgbClr val="475569"/>
                </a:solidFill>
                <a:latin typeface="Noto Sans KR" pitchFamily="34" charset="0"/>
                <a:ea typeface="Noto Sans KR" pitchFamily="34" charset="-122"/>
                <a:cs typeface="Noto Sans KR" pitchFamily="34" charset="-120"/>
              </a:rPr>
              <a:t>합니다.</a:t>
            </a:r>
            <a:endParaRPr lang="en-US" sz="1200" dirty="0"/>
          </a:p>
        </p:txBody>
      </p:sp>
      <p:pic>
        <p:nvPicPr>
          <p:cNvPr id="12" name="Image 1" descr="preencoded.png"/>
          <p:cNvPicPr>
            <a:picLocks noChangeAspect="1"/>
          </p:cNvPicPr>
          <p:nvPr/>
        </p:nvPicPr>
        <p:blipFill>
          <a:blip r:embed="rId4"/>
          <a:srcRect/>
          <a:stretch/>
        </p:blipFill>
        <p:spPr>
          <a:xfrm>
            <a:off x="743407" y="2420323"/>
            <a:ext cx="133502" cy="133502"/>
          </a:xfrm>
          <a:prstGeom prst="rect">
            <a:avLst/>
          </a:prstGeom>
        </p:spPr>
      </p:pic>
      <p:sp>
        <p:nvSpPr>
          <p:cNvPr id="13" name="Text 9"/>
          <p:cNvSpPr txBox="1"/>
          <p:nvPr/>
        </p:nvSpPr>
        <p:spPr>
          <a:xfrm>
            <a:off x="972006" y="2401120"/>
            <a:ext cx="3787365" cy="206578"/>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RDKit 기반 SMILES 유효성 검증 및 분자 객체 생성</a:t>
            </a:r>
            <a:endParaRPr lang="en-US" sz="1200" dirty="0"/>
          </a:p>
        </p:txBody>
      </p:sp>
      <p:pic>
        <p:nvPicPr>
          <p:cNvPr id="14" name="Image 2" descr="preencoded.png"/>
          <p:cNvPicPr>
            <a:picLocks noChangeAspect="1"/>
          </p:cNvPicPr>
          <p:nvPr/>
        </p:nvPicPr>
        <p:blipFill>
          <a:blip r:embed="rId4"/>
          <a:srcRect/>
          <a:stretch/>
        </p:blipFill>
        <p:spPr>
          <a:xfrm>
            <a:off x="743407" y="2668125"/>
            <a:ext cx="133502" cy="133502"/>
          </a:xfrm>
          <a:prstGeom prst="rect">
            <a:avLst/>
          </a:prstGeom>
        </p:spPr>
      </p:pic>
      <p:sp>
        <p:nvSpPr>
          <p:cNvPr id="15" name="Text 10"/>
          <p:cNvSpPr txBox="1"/>
          <p:nvPr/>
        </p:nvSpPr>
        <p:spPr>
          <a:xfrm>
            <a:off x="972006" y="2648923"/>
            <a:ext cx="3656437" cy="199262"/>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2D 분자 구조 이미지 자동 생성 및 웹 UI 표시</a:t>
            </a:r>
            <a:endParaRPr lang="en-US" sz="1200" dirty="0"/>
          </a:p>
        </p:txBody>
      </p:sp>
      <p:pic>
        <p:nvPicPr>
          <p:cNvPr id="16" name="Image 3" descr="preencoded.png"/>
          <p:cNvPicPr>
            <a:picLocks noChangeAspect="1"/>
          </p:cNvPicPr>
          <p:nvPr/>
        </p:nvPicPr>
        <p:blipFill>
          <a:blip r:embed="rId4"/>
          <a:srcRect/>
          <a:stretch/>
        </p:blipFill>
        <p:spPr>
          <a:xfrm>
            <a:off x="743407" y="2915927"/>
            <a:ext cx="133502" cy="133502"/>
          </a:xfrm>
          <a:prstGeom prst="rect">
            <a:avLst/>
          </a:prstGeom>
        </p:spPr>
      </p:pic>
      <p:sp>
        <p:nvSpPr>
          <p:cNvPr id="17" name="Text 11"/>
          <p:cNvSpPr txBox="1"/>
          <p:nvPr/>
        </p:nvSpPr>
        <p:spPr>
          <a:xfrm>
            <a:off x="972007" y="2896725"/>
            <a:ext cx="2926994" cy="193946"/>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입력 오류 시 실시간 피드백 및 예시 제공</a:t>
            </a:r>
            <a:endParaRPr lang="en-US" sz="1200" dirty="0"/>
          </a:p>
        </p:txBody>
      </p:sp>
      <p:sp>
        <p:nvSpPr>
          <p:cNvPr id="18" name="Shape 12"/>
          <p:cNvSpPr/>
          <p:nvPr/>
        </p:nvSpPr>
        <p:spPr>
          <a:xfrm>
            <a:off x="743407" y="3144527"/>
            <a:ext cx="5009998" cy="590702"/>
          </a:xfrm>
          <a:prstGeom prst="roundRect">
            <a:avLst>
              <a:gd name="adj" fmla="val 9987"/>
            </a:avLst>
          </a:prstGeom>
          <a:solidFill>
            <a:srgbClr val="F8FAFC"/>
          </a:solidFill>
          <a:ln w="12700">
            <a:solidFill>
              <a:srgbClr val="E2E8F0"/>
            </a:solidFill>
            <a:prstDash val="solid"/>
          </a:ln>
        </p:spPr>
      </p:sp>
      <p:sp>
        <p:nvSpPr>
          <p:cNvPr id="19" name="Text 13"/>
          <p:cNvSpPr txBox="1"/>
          <p:nvPr/>
        </p:nvSpPr>
        <p:spPr>
          <a:xfrm>
            <a:off x="866851" y="3248769"/>
            <a:ext cx="4953305" cy="162763"/>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기술 스택</a:t>
            </a:r>
            <a:endParaRPr lang="en-US" sz="1100" dirty="0"/>
          </a:p>
        </p:txBody>
      </p:sp>
      <p:sp>
        <p:nvSpPr>
          <p:cNvPr id="20" name="Text 14"/>
          <p:cNvSpPr txBox="1"/>
          <p:nvPr/>
        </p:nvSpPr>
        <p:spPr>
          <a:xfrm>
            <a:off x="866851" y="3444451"/>
            <a:ext cx="4877410" cy="19111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RDKit Chem.MolFromSmiles / Draw.MolToImage</a:t>
            </a:r>
            <a:endParaRPr lang="en-US" sz="1200" dirty="0"/>
          </a:p>
        </p:txBody>
      </p:sp>
      <p:sp>
        <p:nvSpPr>
          <p:cNvPr id="21" name="Shape 15"/>
          <p:cNvSpPr/>
          <p:nvPr/>
        </p:nvSpPr>
        <p:spPr>
          <a:xfrm>
            <a:off x="6210605" y="1221467"/>
            <a:ext cx="5505602" cy="2643530"/>
          </a:xfrm>
          <a:prstGeom prst="roundRect">
            <a:avLst>
              <a:gd name="adj" fmla="val 789"/>
            </a:avLst>
          </a:prstGeom>
          <a:solidFill>
            <a:srgbClr val="FFFFFF"/>
          </a:solidFill>
          <a:ln/>
          <a:effectLst>
            <a:outerShdw blurRad="76200" dist="25400" dir="16200000" algn="bl" rotWithShape="0">
              <a:srgbClr val="000000">
                <a:alpha val="8000"/>
              </a:srgbClr>
            </a:outerShdw>
          </a:effectLst>
        </p:spPr>
      </p:sp>
      <p:sp>
        <p:nvSpPr>
          <p:cNvPr id="22" name="Shape 16"/>
          <p:cNvSpPr/>
          <p:nvPr/>
        </p:nvSpPr>
        <p:spPr>
          <a:xfrm>
            <a:off x="6210605" y="1221467"/>
            <a:ext cx="38405" cy="2643530"/>
          </a:xfrm>
          <a:prstGeom prst="roundRect">
            <a:avLst>
              <a:gd name="adj" fmla="val 61050"/>
            </a:avLst>
          </a:prstGeom>
          <a:solidFill>
            <a:srgbClr val="8B5CF6"/>
          </a:solidFill>
          <a:ln w="12700">
            <a:solidFill>
              <a:srgbClr val="8B5CF6">
                <a:alpha val="0"/>
              </a:srgbClr>
            </a:solidFill>
            <a:prstDash val="solid"/>
          </a:ln>
        </p:spPr>
      </p:sp>
      <p:sp>
        <p:nvSpPr>
          <p:cNvPr id="23" name="Text 17"/>
          <p:cNvSpPr txBox="1"/>
          <p:nvPr/>
        </p:nvSpPr>
        <p:spPr>
          <a:xfrm>
            <a:off x="7086600" y="1473842"/>
            <a:ext cx="4515307" cy="257861"/>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C1-C13 레이더 차트 예측</a:t>
            </a:r>
            <a:endParaRPr lang="en-US" sz="2000" dirty="0"/>
          </a:p>
        </p:txBody>
      </p:sp>
      <p:sp>
        <p:nvSpPr>
          <p:cNvPr id="24" name="Text 18"/>
          <p:cNvSpPr txBox="1"/>
          <p:nvPr/>
        </p:nvSpPr>
        <p:spPr>
          <a:xfrm>
            <a:off x="7086600" y="1769193"/>
            <a:ext cx="4515307"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Mechanism of Action Prediction</a:t>
            </a:r>
            <a:endParaRPr lang="en-US" sz="1200" dirty="0"/>
          </a:p>
        </p:txBody>
      </p:sp>
      <p:sp>
        <p:nvSpPr>
          <p:cNvPr id="25" name="Text 19"/>
          <p:cNvSpPr txBox="1"/>
          <p:nvPr/>
        </p:nvSpPr>
        <p:spPr>
          <a:xfrm>
            <a:off x="6476695" y="2007965"/>
            <a:ext cx="5086807" cy="303657"/>
          </a:xfrm>
          <a:prstGeom prst="rect">
            <a:avLst/>
          </a:prstGeom>
          <a:noFill/>
          <a:ln/>
        </p:spPr>
        <p:txBody>
          <a:bodyPr wrap="square" lIns="0" tIns="0" rIns="0" bIns="0" rtlCol="0" anchor="ctr"/>
          <a:lstStyle/>
          <a:p>
            <a:pPr marL="0" indent="0" algn="l">
              <a:buNone/>
            </a:pPr>
            <a:r>
              <a:rPr lang="en-US" sz="1200" b="1" dirty="0">
                <a:solidFill>
                  <a:srgbClr val="FF0000"/>
                </a:solidFill>
                <a:latin typeface="Noto Sans KR" pitchFamily="34" charset="0"/>
                <a:ea typeface="Noto Sans KR" pitchFamily="34" charset="-122"/>
                <a:cs typeface="Noto Sans KR" pitchFamily="34" charset="-120"/>
              </a:rPr>
              <a:t>13개 기능적 유전자 클러스터(COG)</a:t>
            </a:r>
            <a:r>
              <a:rPr lang="en-US" sz="1200" dirty="0">
                <a:solidFill>
                  <a:srgbClr val="475569"/>
                </a:solidFill>
                <a:latin typeface="Noto Sans KR" pitchFamily="34" charset="0"/>
                <a:ea typeface="Noto Sans KR" pitchFamily="34" charset="-122"/>
                <a:cs typeface="Noto Sans KR" pitchFamily="34" charset="-120"/>
              </a:rPr>
              <a:t>별 </a:t>
            </a:r>
            <a:r>
              <a:rPr lang="en-US" sz="1200" b="1" dirty="0">
                <a:solidFill>
                  <a:srgbClr val="FF0000"/>
                </a:solidFill>
                <a:latin typeface="Noto Sans KR" pitchFamily="34" charset="0"/>
                <a:ea typeface="Noto Sans KR" pitchFamily="34" charset="-122"/>
                <a:cs typeface="Noto Sans KR" pitchFamily="34" charset="-120"/>
              </a:rPr>
              <a:t>성장 저해 확률을 예측</a:t>
            </a:r>
            <a:r>
              <a:rPr lang="en-US" sz="1200" dirty="0">
                <a:solidFill>
                  <a:srgbClr val="475569"/>
                </a:solidFill>
                <a:latin typeface="Noto Sans KR" pitchFamily="34" charset="0"/>
                <a:ea typeface="Noto Sans KR" pitchFamily="34" charset="-122"/>
                <a:cs typeface="Noto Sans KR" pitchFamily="34" charset="-120"/>
              </a:rPr>
              <a:t>하고 </a:t>
            </a:r>
            <a:r>
              <a:rPr lang="en-US" sz="1200" b="1" dirty="0">
                <a:solidFill>
                  <a:srgbClr val="FF0000"/>
                </a:solidFill>
                <a:latin typeface="Noto Sans KR" pitchFamily="34" charset="0"/>
                <a:ea typeface="Noto Sans KR" pitchFamily="34" charset="-122"/>
                <a:cs typeface="Noto Sans KR" pitchFamily="34" charset="-120"/>
              </a:rPr>
              <a:t>레이더 차트</a:t>
            </a:r>
            <a:r>
              <a:rPr lang="en-US" sz="1200" dirty="0">
                <a:solidFill>
                  <a:srgbClr val="475569"/>
                </a:solidFill>
                <a:latin typeface="Noto Sans KR" pitchFamily="34" charset="0"/>
                <a:ea typeface="Noto Sans KR" pitchFamily="34" charset="-122"/>
                <a:cs typeface="Noto Sans KR" pitchFamily="34" charset="-120"/>
              </a:rPr>
              <a:t>로 시각화합니다.</a:t>
            </a:r>
            <a:endParaRPr lang="en-US" sz="1200" dirty="0"/>
          </a:p>
        </p:txBody>
      </p:sp>
      <p:pic>
        <p:nvPicPr>
          <p:cNvPr id="26" name="Image 4" descr="preencoded.png"/>
          <p:cNvPicPr>
            <a:picLocks noChangeAspect="1"/>
          </p:cNvPicPr>
          <p:nvPr/>
        </p:nvPicPr>
        <p:blipFill>
          <a:blip r:embed="rId5"/>
          <a:srcRect/>
          <a:stretch/>
        </p:blipFill>
        <p:spPr>
          <a:xfrm>
            <a:off x="6476695" y="2447678"/>
            <a:ext cx="133502" cy="133502"/>
          </a:xfrm>
          <a:prstGeom prst="rect">
            <a:avLst/>
          </a:prstGeom>
        </p:spPr>
      </p:pic>
      <p:sp>
        <p:nvSpPr>
          <p:cNvPr id="27" name="Text 20"/>
          <p:cNvSpPr txBox="1"/>
          <p:nvPr/>
        </p:nvSpPr>
        <p:spPr>
          <a:xfrm>
            <a:off x="6705295" y="2429390"/>
            <a:ext cx="3565246" cy="209398"/>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D-MPNN 모델 기반 클러스터별 저해 활성 확률 산출</a:t>
            </a:r>
            <a:endParaRPr lang="en-US" sz="1200" dirty="0"/>
          </a:p>
        </p:txBody>
      </p:sp>
      <p:pic>
        <p:nvPicPr>
          <p:cNvPr id="28" name="Image 5" descr="preencoded.png"/>
          <p:cNvPicPr>
            <a:picLocks noChangeAspect="1"/>
          </p:cNvPicPr>
          <p:nvPr/>
        </p:nvPicPr>
        <p:blipFill>
          <a:blip r:embed="rId5"/>
          <a:srcRect/>
          <a:stretch/>
        </p:blipFill>
        <p:spPr>
          <a:xfrm>
            <a:off x="6476695" y="2695480"/>
            <a:ext cx="133502" cy="133502"/>
          </a:xfrm>
          <a:prstGeom prst="rect">
            <a:avLst/>
          </a:prstGeom>
        </p:spPr>
      </p:pic>
      <p:sp>
        <p:nvSpPr>
          <p:cNvPr id="29" name="Text 21"/>
          <p:cNvSpPr txBox="1"/>
          <p:nvPr/>
        </p:nvSpPr>
        <p:spPr>
          <a:xfrm>
            <a:off x="6705295" y="2676278"/>
            <a:ext cx="3748216" cy="171907"/>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13축 레이더 차트로 작용기전 프로파일 시각화</a:t>
            </a:r>
            <a:endParaRPr lang="en-US" sz="1200" dirty="0"/>
          </a:p>
        </p:txBody>
      </p:sp>
      <p:pic>
        <p:nvPicPr>
          <p:cNvPr id="30" name="Image 6" descr="preencoded.png"/>
          <p:cNvPicPr>
            <a:picLocks noChangeAspect="1"/>
          </p:cNvPicPr>
          <p:nvPr/>
        </p:nvPicPr>
        <p:blipFill>
          <a:blip r:embed="rId5"/>
          <a:srcRect/>
          <a:stretch/>
        </p:blipFill>
        <p:spPr>
          <a:xfrm>
            <a:off x="6476695" y="2943283"/>
            <a:ext cx="133502" cy="133502"/>
          </a:xfrm>
          <a:prstGeom prst="rect">
            <a:avLst/>
          </a:prstGeom>
        </p:spPr>
      </p:pic>
      <p:sp>
        <p:nvSpPr>
          <p:cNvPr id="31" name="Text 22"/>
          <p:cNvSpPr txBox="1"/>
          <p:nvPr/>
        </p:nvSpPr>
        <p:spPr>
          <a:xfrm>
            <a:off x="6705294" y="2924080"/>
            <a:ext cx="3432127" cy="202998"/>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각 클러스터 호버 시 생물학적 기능 툴팁 표시</a:t>
            </a:r>
            <a:endParaRPr lang="en-US" sz="1200" dirty="0"/>
          </a:p>
        </p:txBody>
      </p:sp>
      <p:sp>
        <p:nvSpPr>
          <p:cNvPr id="32" name="Shape 23"/>
          <p:cNvSpPr/>
          <p:nvPr/>
        </p:nvSpPr>
        <p:spPr>
          <a:xfrm>
            <a:off x="6476695" y="3171883"/>
            <a:ext cx="5009998" cy="590702"/>
          </a:xfrm>
          <a:prstGeom prst="roundRect">
            <a:avLst>
              <a:gd name="adj" fmla="val 9987"/>
            </a:avLst>
          </a:prstGeom>
          <a:solidFill>
            <a:srgbClr val="F8FAFC"/>
          </a:solidFill>
          <a:ln w="12700">
            <a:solidFill>
              <a:srgbClr val="E2E8F0"/>
            </a:solidFill>
            <a:prstDash val="solid"/>
          </a:ln>
        </p:spPr>
      </p:sp>
      <p:sp>
        <p:nvSpPr>
          <p:cNvPr id="33" name="Text 24"/>
          <p:cNvSpPr txBox="1"/>
          <p:nvPr/>
        </p:nvSpPr>
        <p:spPr>
          <a:xfrm>
            <a:off x="6601054" y="3277039"/>
            <a:ext cx="4953305" cy="162763"/>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출력 형식</a:t>
            </a:r>
            <a:endParaRPr lang="en-US" sz="1100" dirty="0"/>
          </a:p>
        </p:txBody>
      </p:sp>
      <p:sp>
        <p:nvSpPr>
          <p:cNvPr id="34" name="Text 25"/>
          <p:cNvSpPr txBox="1"/>
          <p:nvPr/>
        </p:nvSpPr>
        <p:spPr>
          <a:xfrm>
            <a:off x="6601054" y="3471806"/>
            <a:ext cx="4877410" cy="19111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C1~C13 확률 값 (0~1) + 인터랙티브 차트</a:t>
            </a:r>
            <a:endParaRPr lang="en-US" sz="1200" dirty="0"/>
          </a:p>
        </p:txBody>
      </p:sp>
      <p:sp>
        <p:nvSpPr>
          <p:cNvPr id="35" name="Shape 26"/>
          <p:cNvSpPr/>
          <p:nvPr/>
        </p:nvSpPr>
        <p:spPr>
          <a:xfrm>
            <a:off x="476402" y="4023095"/>
            <a:ext cx="5505602" cy="2643530"/>
          </a:xfrm>
          <a:prstGeom prst="roundRect">
            <a:avLst>
              <a:gd name="adj" fmla="val 859"/>
            </a:avLst>
          </a:prstGeom>
          <a:solidFill>
            <a:srgbClr val="FFFFFF"/>
          </a:solidFill>
          <a:ln/>
          <a:effectLst>
            <a:outerShdw blurRad="76200" dist="25400" dir="16200000" algn="bl" rotWithShape="0">
              <a:srgbClr val="000000">
                <a:alpha val="8000"/>
              </a:srgbClr>
            </a:outerShdw>
          </a:effectLst>
        </p:spPr>
      </p:sp>
      <p:sp>
        <p:nvSpPr>
          <p:cNvPr id="36" name="Shape 27"/>
          <p:cNvSpPr/>
          <p:nvPr/>
        </p:nvSpPr>
        <p:spPr>
          <a:xfrm>
            <a:off x="476402" y="4023095"/>
            <a:ext cx="38405" cy="2643530"/>
          </a:xfrm>
          <a:prstGeom prst="roundRect">
            <a:avLst>
              <a:gd name="adj" fmla="val 63704"/>
            </a:avLst>
          </a:prstGeom>
          <a:solidFill>
            <a:srgbClr val="10B981"/>
          </a:solidFill>
          <a:ln w="12700">
            <a:solidFill>
              <a:srgbClr val="10B981">
                <a:alpha val="0"/>
              </a:srgbClr>
            </a:solidFill>
            <a:prstDash val="solid"/>
          </a:ln>
        </p:spPr>
      </p:sp>
      <p:pic>
        <p:nvPicPr>
          <p:cNvPr id="37" name="Image 7" descr="preencoded.png"/>
          <p:cNvPicPr>
            <a:picLocks noChangeAspect="1"/>
          </p:cNvPicPr>
          <p:nvPr/>
        </p:nvPicPr>
        <p:blipFill>
          <a:blip r:embed="rId6"/>
          <a:srcRect l="-607" r="-607"/>
          <a:stretch/>
        </p:blipFill>
        <p:spPr>
          <a:xfrm>
            <a:off x="785470" y="4360508"/>
            <a:ext cx="390449" cy="342900"/>
          </a:xfrm>
          <a:prstGeom prst="rect">
            <a:avLst/>
          </a:prstGeom>
        </p:spPr>
      </p:pic>
      <p:sp>
        <p:nvSpPr>
          <p:cNvPr id="38" name="Text 28"/>
          <p:cNvSpPr txBox="1"/>
          <p:nvPr/>
        </p:nvSpPr>
        <p:spPr>
          <a:xfrm>
            <a:off x="1352398" y="4275469"/>
            <a:ext cx="4591202" cy="257861"/>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약물성 주요 지표 분석</a:t>
            </a:r>
            <a:endParaRPr lang="en-US" sz="2000" dirty="0"/>
          </a:p>
        </p:txBody>
      </p:sp>
      <p:sp>
        <p:nvSpPr>
          <p:cNvPr id="39" name="Text 29"/>
          <p:cNvSpPr txBox="1"/>
          <p:nvPr/>
        </p:nvSpPr>
        <p:spPr>
          <a:xfrm>
            <a:off x="1352398" y="4570820"/>
            <a:ext cx="4515307"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Drug-likeness Properties</a:t>
            </a:r>
            <a:endParaRPr lang="en-US" sz="1200" dirty="0"/>
          </a:p>
        </p:txBody>
      </p:sp>
      <p:sp>
        <p:nvSpPr>
          <p:cNvPr id="40" name="Text 30"/>
          <p:cNvSpPr txBox="1"/>
          <p:nvPr/>
        </p:nvSpPr>
        <p:spPr>
          <a:xfrm>
            <a:off x="731006" y="4808935"/>
            <a:ext cx="5086807" cy="400507"/>
          </a:xfrm>
          <a:prstGeom prst="rect">
            <a:avLst/>
          </a:prstGeom>
          <a:noFill/>
          <a:ln/>
        </p:spPr>
        <p:txBody>
          <a:bodyPr wrap="square" lIns="0" tIns="0" rIns="0" bIns="0" rtlCol="0" anchor="t"/>
          <a:lstStyle/>
          <a:p>
            <a:pPr marL="0" indent="0" algn="l">
              <a:buNone/>
            </a:pPr>
            <a:r>
              <a:rPr lang="en-US" sz="1200" b="1" dirty="0">
                <a:solidFill>
                  <a:srgbClr val="FF0000"/>
                </a:solidFill>
                <a:latin typeface="Noto Sans KR" pitchFamily="34" charset="0"/>
                <a:ea typeface="Noto Sans KR" pitchFamily="34" charset="-122"/>
                <a:cs typeface="Noto Sans KR" pitchFamily="34" charset="-120"/>
              </a:rPr>
              <a:t>Lipinski's Rule of Five 기반 약물성 지표</a:t>
            </a:r>
            <a:r>
              <a:rPr lang="en-US" sz="1200" dirty="0">
                <a:solidFill>
                  <a:srgbClr val="475569"/>
                </a:solidFill>
                <a:latin typeface="Noto Sans KR" pitchFamily="34" charset="0"/>
                <a:ea typeface="Noto Sans KR" pitchFamily="34" charset="-122"/>
                <a:cs typeface="Noto Sans KR" pitchFamily="34" charset="-120"/>
              </a:rPr>
              <a:t>를 자동 계산하여 </a:t>
            </a:r>
            <a:r>
              <a:rPr lang="en-US" sz="1200" b="1" dirty="0">
                <a:solidFill>
                  <a:srgbClr val="FF0000"/>
                </a:solidFill>
                <a:latin typeface="Noto Sans KR" pitchFamily="34" charset="0"/>
                <a:ea typeface="Noto Sans KR" pitchFamily="34" charset="-122"/>
                <a:cs typeface="Noto Sans KR" pitchFamily="34" charset="-120"/>
              </a:rPr>
              <a:t>화합물의 생체이용률 가능성을 평가</a:t>
            </a:r>
            <a:r>
              <a:rPr lang="en-US" sz="1200" dirty="0">
                <a:solidFill>
                  <a:srgbClr val="475569"/>
                </a:solidFill>
                <a:latin typeface="Noto Sans KR" pitchFamily="34" charset="0"/>
                <a:ea typeface="Noto Sans KR" pitchFamily="34" charset="-122"/>
                <a:cs typeface="Noto Sans KR" pitchFamily="34" charset="-120"/>
              </a:rPr>
              <a:t>합니다.</a:t>
            </a:r>
            <a:endParaRPr lang="en-US" sz="1200" dirty="0"/>
          </a:p>
        </p:txBody>
      </p:sp>
      <p:pic>
        <p:nvPicPr>
          <p:cNvPr id="41" name="Image 8" descr="preencoded.png"/>
          <p:cNvPicPr>
            <a:picLocks noChangeAspect="1"/>
          </p:cNvPicPr>
          <p:nvPr/>
        </p:nvPicPr>
        <p:blipFill>
          <a:blip r:embed="rId7"/>
          <a:srcRect/>
          <a:stretch/>
        </p:blipFill>
        <p:spPr>
          <a:xfrm>
            <a:off x="743407" y="5278395"/>
            <a:ext cx="133502" cy="133502"/>
          </a:xfrm>
          <a:prstGeom prst="rect">
            <a:avLst/>
          </a:prstGeom>
        </p:spPr>
      </p:pic>
      <p:sp>
        <p:nvSpPr>
          <p:cNvPr id="42" name="Text 31"/>
          <p:cNvSpPr txBox="1"/>
          <p:nvPr/>
        </p:nvSpPr>
        <p:spPr>
          <a:xfrm>
            <a:off x="972006" y="5259194"/>
            <a:ext cx="2279193" cy="150132"/>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분자량(MW)</a:t>
            </a:r>
            <a:r>
              <a:rPr lang="en-US" sz="1200" dirty="0">
                <a:solidFill>
                  <a:srgbClr val="475569"/>
                </a:solidFill>
                <a:latin typeface="Noto Sans KR" pitchFamily="34" charset="0"/>
                <a:ea typeface="Noto Sans KR" pitchFamily="34" charset="-122"/>
                <a:cs typeface="Noto Sans KR" pitchFamily="34" charset="-120"/>
              </a:rPr>
              <a:t>: 500 Da 이하 권장</a:t>
            </a:r>
            <a:endParaRPr lang="en-US" sz="1200" dirty="0"/>
          </a:p>
        </p:txBody>
      </p:sp>
      <p:pic>
        <p:nvPicPr>
          <p:cNvPr id="43" name="Image 9" descr="preencoded.png"/>
          <p:cNvPicPr>
            <a:picLocks noChangeAspect="1"/>
          </p:cNvPicPr>
          <p:nvPr/>
        </p:nvPicPr>
        <p:blipFill>
          <a:blip r:embed="rId7"/>
          <a:srcRect/>
          <a:stretch/>
        </p:blipFill>
        <p:spPr>
          <a:xfrm>
            <a:off x="743407" y="5526197"/>
            <a:ext cx="133502" cy="133502"/>
          </a:xfrm>
          <a:prstGeom prst="rect">
            <a:avLst/>
          </a:prstGeom>
        </p:spPr>
      </p:pic>
      <p:sp>
        <p:nvSpPr>
          <p:cNvPr id="44" name="Text 32"/>
          <p:cNvSpPr txBox="1"/>
          <p:nvPr/>
        </p:nvSpPr>
        <p:spPr>
          <a:xfrm>
            <a:off x="972006" y="5506995"/>
            <a:ext cx="2358215" cy="138073"/>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LogP</a:t>
            </a:r>
            <a:r>
              <a:rPr lang="en-US" sz="1200" dirty="0">
                <a:solidFill>
                  <a:srgbClr val="475569"/>
                </a:solidFill>
                <a:latin typeface="Noto Sans KR" pitchFamily="34" charset="0"/>
                <a:ea typeface="Noto Sans KR" pitchFamily="34" charset="-122"/>
                <a:cs typeface="Noto Sans KR" pitchFamily="34" charset="-120"/>
              </a:rPr>
              <a:t>: 지질 친화성 (0~5 이상적)</a:t>
            </a:r>
            <a:endParaRPr lang="en-US" sz="1200" dirty="0"/>
          </a:p>
        </p:txBody>
      </p:sp>
      <p:pic>
        <p:nvPicPr>
          <p:cNvPr id="45" name="Image 10" descr="preencoded.png"/>
          <p:cNvPicPr>
            <a:picLocks noChangeAspect="1"/>
          </p:cNvPicPr>
          <p:nvPr/>
        </p:nvPicPr>
        <p:blipFill>
          <a:blip r:embed="rId7"/>
          <a:srcRect/>
          <a:stretch/>
        </p:blipFill>
        <p:spPr>
          <a:xfrm>
            <a:off x="743407" y="5774000"/>
            <a:ext cx="133502" cy="133502"/>
          </a:xfrm>
          <a:prstGeom prst="rect">
            <a:avLst/>
          </a:prstGeom>
        </p:spPr>
      </p:pic>
      <p:sp>
        <p:nvSpPr>
          <p:cNvPr id="46" name="Text 33"/>
          <p:cNvSpPr txBox="1"/>
          <p:nvPr/>
        </p:nvSpPr>
        <p:spPr>
          <a:xfrm>
            <a:off x="972007" y="5754797"/>
            <a:ext cx="2456992" cy="207424"/>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HBD/HBA</a:t>
            </a:r>
            <a:r>
              <a:rPr lang="en-US" sz="1200" dirty="0">
                <a:solidFill>
                  <a:srgbClr val="475569"/>
                </a:solidFill>
                <a:latin typeface="Noto Sans KR" pitchFamily="34" charset="0"/>
                <a:ea typeface="Noto Sans KR" pitchFamily="34" charset="-122"/>
                <a:cs typeface="Noto Sans KR" pitchFamily="34" charset="-120"/>
              </a:rPr>
              <a:t>: 수소결합 주개/받개 개수</a:t>
            </a:r>
            <a:endParaRPr lang="en-US" sz="1200" dirty="0"/>
          </a:p>
        </p:txBody>
      </p:sp>
      <p:pic>
        <p:nvPicPr>
          <p:cNvPr id="47" name="Image 11" descr="preencoded.png"/>
          <p:cNvPicPr>
            <a:picLocks noChangeAspect="1"/>
          </p:cNvPicPr>
          <p:nvPr/>
        </p:nvPicPr>
        <p:blipFill>
          <a:blip r:embed="rId7"/>
          <a:srcRect/>
          <a:stretch/>
        </p:blipFill>
        <p:spPr>
          <a:xfrm>
            <a:off x="743407" y="6020888"/>
            <a:ext cx="133502" cy="133502"/>
          </a:xfrm>
          <a:prstGeom prst="rect">
            <a:avLst/>
          </a:prstGeom>
        </p:spPr>
      </p:pic>
      <p:sp>
        <p:nvSpPr>
          <p:cNvPr id="48" name="Text 34"/>
          <p:cNvSpPr txBox="1"/>
          <p:nvPr/>
        </p:nvSpPr>
        <p:spPr>
          <a:xfrm>
            <a:off x="972007" y="6002600"/>
            <a:ext cx="2456992" cy="207424"/>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TPSA</a:t>
            </a:r>
            <a:r>
              <a:rPr lang="en-US" sz="1200" dirty="0">
                <a:solidFill>
                  <a:srgbClr val="475569"/>
                </a:solidFill>
                <a:latin typeface="Noto Sans KR" pitchFamily="34" charset="0"/>
                <a:ea typeface="Noto Sans KR" pitchFamily="34" charset="-122"/>
                <a:cs typeface="Noto Sans KR" pitchFamily="34" charset="-120"/>
              </a:rPr>
              <a:t>: 극성 표면적 (막 투과성 지표)</a:t>
            </a:r>
            <a:endParaRPr lang="en-US" sz="1200" dirty="0"/>
          </a:p>
        </p:txBody>
      </p:sp>
      <p:pic>
        <p:nvPicPr>
          <p:cNvPr id="49" name="Image 12" descr="preencoded.png"/>
          <p:cNvPicPr>
            <a:picLocks noChangeAspect="1"/>
          </p:cNvPicPr>
          <p:nvPr/>
        </p:nvPicPr>
        <p:blipFill>
          <a:blip r:embed="rId8"/>
          <a:stretch>
            <a:fillRect/>
          </a:stretch>
        </p:blipFill>
        <p:spPr>
          <a:xfrm>
            <a:off x="743407" y="6249488"/>
            <a:ext cx="5009998" cy="219456"/>
          </a:xfrm>
          <a:prstGeom prst="rect">
            <a:avLst/>
          </a:prstGeom>
        </p:spPr>
      </p:pic>
      <p:sp>
        <p:nvSpPr>
          <p:cNvPr id="50" name="Text 35"/>
          <p:cNvSpPr/>
          <p:nvPr/>
        </p:nvSpPr>
        <p:spPr>
          <a:xfrm>
            <a:off x="743407" y="6249488"/>
            <a:ext cx="5010912"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RDKit Descriptors Module</a:t>
            </a:r>
            <a:endParaRPr lang="en-US" sz="1100" dirty="0"/>
          </a:p>
        </p:txBody>
      </p:sp>
      <p:sp>
        <p:nvSpPr>
          <p:cNvPr id="52" name="Shape 37"/>
          <p:cNvSpPr/>
          <p:nvPr/>
        </p:nvSpPr>
        <p:spPr>
          <a:xfrm>
            <a:off x="6210605" y="4011806"/>
            <a:ext cx="5505602" cy="2654819"/>
          </a:xfrm>
          <a:prstGeom prst="roundRect">
            <a:avLst>
              <a:gd name="adj" fmla="val 859"/>
            </a:avLst>
          </a:prstGeom>
          <a:solidFill>
            <a:srgbClr val="FFFFFF"/>
          </a:solidFill>
          <a:ln/>
          <a:effectLst>
            <a:outerShdw blurRad="76200" dist="25400" dir="16200000" algn="bl" rotWithShape="0">
              <a:srgbClr val="000000">
                <a:alpha val="8000"/>
              </a:srgbClr>
            </a:outerShdw>
          </a:effectLst>
        </p:spPr>
      </p:sp>
      <p:sp>
        <p:nvSpPr>
          <p:cNvPr id="53" name="Shape 38"/>
          <p:cNvSpPr/>
          <p:nvPr/>
        </p:nvSpPr>
        <p:spPr>
          <a:xfrm>
            <a:off x="6210605" y="4011802"/>
            <a:ext cx="38405" cy="2654819"/>
          </a:xfrm>
          <a:prstGeom prst="roundRect">
            <a:avLst>
              <a:gd name="adj" fmla="val 63704"/>
            </a:avLst>
          </a:prstGeom>
          <a:solidFill>
            <a:srgbClr val="F59E0B"/>
          </a:solidFill>
          <a:ln w="12700">
            <a:solidFill>
              <a:srgbClr val="F59E0B">
                <a:alpha val="0"/>
              </a:srgbClr>
            </a:solidFill>
            <a:prstDash val="solid"/>
          </a:ln>
        </p:spPr>
      </p:sp>
      <p:pic>
        <p:nvPicPr>
          <p:cNvPr id="54" name="Image 13" descr="preencoded.png"/>
          <p:cNvPicPr>
            <a:picLocks noChangeAspect="1"/>
          </p:cNvPicPr>
          <p:nvPr/>
        </p:nvPicPr>
        <p:blipFill>
          <a:blip r:embed="rId9"/>
          <a:srcRect/>
          <a:stretch/>
        </p:blipFill>
        <p:spPr>
          <a:xfrm>
            <a:off x="6543446" y="4349219"/>
            <a:ext cx="342900" cy="342900"/>
          </a:xfrm>
          <a:prstGeom prst="rect">
            <a:avLst/>
          </a:prstGeom>
        </p:spPr>
      </p:pic>
      <p:sp>
        <p:nvSpPr>
          <p:cNvPr id="55" name="Text 39"/>
          <p:cNvSpPr txBox="1"/>
          <p:nvPr/>
        </p:nvSpPr>
        <p:spPr>
          <a:xfrm>
            <a:off x="7086600" y="4264180"/>
            <a:ext cx="4591202" cy="257861"/>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결과 내보내기</a:t>
            </a:r>
            <a:endParaRPr lang="en-US" sz="2000" dirty="0"/>
          </a:p>
        </p:txBody>
      </p:sp>
      <p:sp>
        <p:nvSpPr>
          <p:cNvPr id="56" name="Text 40"/>
          <p:cNvSpPr txBox="1"/>
          <p:nvPr/>
        </p:nvSpPr>
        <p:spPr>
          <a:xfrm>
            <a:off x="7086600" y="4559531"/>
            <a:ext cx="4515307"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Export &amp; Documentation</a:t>
            </a:r>
            <a:endParaRPr lang="en-US" sz="1200" dirty="0"/>
          </a:p>
        </p:txBody>
      </p:sp>
      <p:sp>
        <p:nvSpPr>
          <p:cNvPr id="57" name="Text 41"/>
          <p:cNvSpPr txBox="1"/>
          <p:nvPr/>
        </p:nvSpPr>
        <p:spPr>
          <a:xfrm>
            <a:off x="6476695" y="4774415"/>
            <a:ext cx="5201107" cy="200254"/>
          </a:xfrm>
          <a:prstGeom prst="rect">
            <a:avLst/>
          </a:prstGeom>
          <a:noFill/>
          <a:ln/>
        </p:spPr>
        <p:txBody>
          <a:bodyPr wrap="square" lIns="0" tIns="0" rIns="0" bIns="0" rtlCol="0" anchor="ctr"/>
          <a:lstStyle/>
          <a:p>
            <a:pPr marL="0" indent="0" algn="l">
              <a:buNone/>
            </a:pPr>
            <a:r>
              <a:rPr lang="en-US" sz="1200" b="1" dirty="0">
                <a:solidFill>
                  <a:srgbClr val="FF0000"/>
                </a:solidFill>
                <a:latin typeface="Noto Sans KR" pitchFamily="34" charset="0"/>
                <a:ea typeface="Noto Sans KR" pitchFamily="34" charset="-122"/>
                <a:cs typeface="Noto Sans KR" pitchFamily="34" charset="-120"/>
              </a:rPr>
              <a:t>예측 결과와 시각화 차트</a:t>
            </a:r>
            <a:r>
              <a:rPr lang="en-US" sz="1200" dirty="0">
                <a:solidFill>
                  <a:srgbClr val="475569"/>
                </a:solidFill>
                <a:latin typeface="Noto Sans KR" pitchFamily="34" charset="0"/>
                <a:ea typeface="Noto Sans KR" pitchFamily="34" charset="-122"/>
                <a:cs typeface="Noto Sans KR" pitchFamily="34" charset="-120"/>
              </a:rPr>
              <a:t>를 다양한 형식으로 내보내어 </a:t>
            </a:r>
            <a:r>
              <a:rPr lang="en-US" sz="1200" b="1" dirty="0">
                <a:solidFill>
                  <a:srgbClr val="FF0000"/>
                </a:solidFill>
                <a:latin typeface="Noto Sans KR" pitchFamily="34" charset="0"/>
                <a:ea typeface="Noto Sans KR" pitchFamily="34" charset="-122"/>
                <a:cs typeface="Noto Sans KR" pitchFamily="34" charset="-120"/>
              </a:rPr>
              <a:t>문서화 및 공유를 지원</a:t>
            </a:r>
            <a:r>
              <a:rPr lang="en-US" sz="1200" dirty="0">
                <a:solidFill>
                  <a:srgbClr val="475569"/>
                </a:solidFill>
                <a:latin typeface="Noto Sans KR" pitchFamily="34" charset="0"/>
                <a:ea typeface="Noto Sans KR" pitchFamily="34" charset="-122"/>
                <a:cs typeface="Noto Sans KR" pitchFamily="34" charset="-120"/>
              </a:rPr>
              <a:t>합니다.</a:t>
            </a:r>
            <a:endParaRPr lang="en-US" sz="1200" dirty="0"/>
          </a:p>
        </p:txBody>
      </p:sp>
      <p:pic>
        <p:nvPicPr>
          <p:cNvPr id="58" name="Image 14" descr="preencoded.png"/>
          <p:cNvPicPr>
            <a:picLocks noChangeAspect="1"/>
          </p:cNvPicPr>
          <p:nvPr/>
        </p:nvPicPr>
        <p:blipFill>
          <a:blip r:embed="rId10"/>
          <a:srcRect/>
          <a:stretch/>
        </p:blipFill>
        <p:spPr>
          <a:xfrm>
            <a:off x="6476695" y="5238016"/>
            <a:ext cx="133502" cy="133502"/>
          </a:xfrm>
          <a:prstGeom prst="rect">
            <a:avLst/>
          </a:prstGeom>
        </p:spPr>
      </p:pic>
      <p:sp>
        <p:nvSpPr>
          <p:cNvPr id="59" name="Text 42"/>
          <p:cNvSpPr txBox="1"/>
          <p:nvPr/>
        </p:nvSpPr>
        <p:spPr>
          <a:xfrm>
            <a:off x="6705295" y="5194834"/>
            <a:ext cx="3373220" cy="245469"/>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이미지 내보내기</a:t>
            </a:r>
            <a:r>
              <a:rPr lang="en-US" sz="1200" dirty="0">
                <a:solidFill>
                  <a:srgbClr val="475569"/>
                </a:solidFill>
                <a:latin typeface="Noto Sans KR" pitchFamily="34" charset="0"/>
                <a:ea typeface="Noto Sans KR" pitchFamily="34" charset="-122"/>
                <a:cs typeface="Noto Sans KR" pitchFamily="34" charset="-120"/>
              </a:rPr>
              <a:t>: 레이더 차트를 PNG 형식으로 저장</a:t>
            </a:r>
            <a:endParaRPr lang="en-US" sz="1200" dirty="0"/>
          </a:p>
        </p:txBody>
      </p:sp>
      <p:pic>
        <p:nvPicPr>
          <p:cNvPr id="60" name="Image 15" descr="preencoded.png"/>
          <p:cNvPicPr>
            <a:picLocks noChangeAspect="1"/>
          </p:cNvPicPr>
          <p:nvPr/>
        </p:nvPicPr>
        <p:blipFill>
          <a:blip r:embed="rId10"/>
          <a:srcRect/>
          <a:stretch/>
        </p:blipFill>
        <p:spPr>
          <a:xfrm>
            <a:off x="6476695" y="5485819"/>
            <a:ext cx="133502" cy="133502"/>
          </a:xfrm>
          <a:prstGeom prst="rect">
            <a:avLst/>
          </a:prstGeom>
        </p:spPr>
      </p:pic>
      <p:sp>
        <p:nvSpPr>
          <p:cNvPr id="61" name="Text 43"/>
          <p:cNvSpPr txBox="1"/>
          <p:nvPr/>
        </p:nvSpPr>
        <p:spPr>
          <a:xfrm>
            <a:off x="6705294" y="5466616"/>
            <a:ext cx="3917549" cy="169917"/>
          </a:xfrm>
          <a:prstGeom prst="rect">
            <a:avLst/>
          </a:prstGeom>
          <a:noFill/>
          <a:ln/>
        </p:spPr>
        <p:txBody>
          <a:bodyPr wrap="square" lIns="0" tIns="0" rIns="0" bIns="0" rtlCol="0" anchor="ctr"/>
          <a:lstStyle/>
          <a:p>
            <a:pPr marL="0" indent="0" algn="l">
              <a:buNone/>
            </a:pPr>
            <a:r>
              <a:rPr lang="en-US" sz="1200" b="1" dirty="0">
                <a:solidFill>
                  <a:srgbClr val="475569"/>
                </a:solidFill>
                <a:latin typeface="Noto Sans KR" pitchFamily="34" charset="0"/>
                <a:ea typeface="Noto Sans KR" pitchFamily="34" charset="-122"/>
                <a:cs typeface="Noto Sans KR" pitchFamily="34" charset="-120"/>
              </a:rPr>
              <a:t>데이터 내보내기</a:t>
            </a:r>
            <a:r>
              <a:rPr lang="en-US" sz="1200" dirty="0">
                <a:solidFill>
                  <a:srgbClr val="475569"/>
                </a:solidFill>
                <a:latin typeface="Noto Sans KR" pitchFamily="34" charset="0"/>
                <a:ea typeface="Noto Sans KR" pitchFamily="34" charset="-122"/>
                <a:cs typeface="Noto Sans KR" pitchFamily="34" charset="-120"/>
              </a:rPr>
              <a:t>: 예측 확률 및 물성 지표를 CSV 파일로 저장</a:t>
            </a:r>
            <a:endParaRPr lang="en-US" sz="1200" dirty="0"/>
          </a:p>
        </p:txBody>
      </p:sp>
      <p:pic>
        <p:nvPicPr>
          <p:cNvPr id="62" name="Image 16" descr="preencoded.png"/>
          <p:cNvPicPr>
            <a:picLocks noChangeAspect="1"/>
          </p:cNvPicPr>
          <p:nvPr/>
        </p:nvPicPr>
        <p:blipFill>
          <a:blip r:embed="rId10"/>
          <a:srcRect/>
          <a:stretch/>
        </p:blipFill>
        <p:spPr>
          <a:xfrm>
            <a:off x="6476695" y="5733621"/>
            <a:ext cx="133502" cy="133502"/>
          </a:xfrm>
          <a:prstGeom prst="rect">
            <a:avLst/>
          </a:prstGeom>
        </p:spPr>
      </p:pic>
      <p:sp>
        <p:nvSpPr>
          <p:cNvPr id="63" name="Text 44"/>
          <p:cNvSpPr txBox="1"/>
          <p:nvPr/>
        </p:nvSpPr>
        <p:spPr>
          <a:xfrm>
            <a:off x="6705295" y="5714419"/>
            <a:ext cx="2934309" cy="193083"/>
          </a:xfrm>
          <a:prstGeom prst="rect">
            <a:avLst/>
          </a:prstGeom>
          <a:noFill/>
          <a:ln/>
        </p:spPr>
        <p:txBody>
          <a:bodyPr wrap="square" lIns="0" tIns="0" rIns="0" bIns="0" rtlCol="0" anchor="ctr"/>
          <a:lstStyle/>
          <a:p>
            <a:pPr marL="0" indent="0" algn="l">
              <a:buNone/>
            </a:pPr>
            <a:r>
              <a:rPr lang="en-US" sz="1200" dirty="0">
                <a:solidFill>
                  <a:srgbClr val="475569"/>
                </a:solidFill>
                <a:latin typeface="Noto Sans KR" pitchFamily="34" charset="0"/>
                <a:ea typeface="Noto Sans KR" pitchFamily="34" charset="-122"/>
                <a:cs typeface="Noto Sans KR" pitchFamily="34" charset="-120"/>
              </a:rPr>
              <a:t>분자 구조 이미지 별도 다운로드 가능</a:t>
            </a:r>
            <a:endParaRPr lang="en-US" sz="1200" dirty="0"/>
          </a:p>
        </p:txBody>
      </p:sp>
      <p:sp>
        <p:nvSpPr>
          <p:cNvPr id="64" name="Shape 45"/>
          <p:cNvSpPr/>
          <p:nvPr/>
        </p:nvSpPr>
        <p:spPr>
          <a:xfrm>
            <a:off x="6476695" y="5962221"/>
            <a:ext cx="5009998" cy="590702"/>
          </a:xfrm>
          <a:prstGeom prst="roundRect">
            <a:avLst>
              <a:gd name="adj" fmla="val 9987"/>
            </a:avLst>
          </a:prstGeom>
          <a:solidFill>
            <a:srgbClr val="F8FAFC"/>
          </a:solidFill>
          <a:ln w="12700">
            <a:solidFill>
              <a:srgbClr val="E2E8F0"/>
            </a:solidFill>
            <a:prstDash val="solid"/>
          </a:ln>
        </p:spPr>
      </p:sp>
      <p:sp>
        <p:nvSpPr>
          <p:cNvPr id="65" name="Text 46"/>
          <p:cNvSpPr txBox="1"/>
          <p:nvPr/>
        </p:nvSpPr>
        <p:spPr>
          <a:xfrm>
            <a:off x="6601054" y="6066463"/>
            <a:ext cx="4953305" cy="162763"/>
          </a:xfrm>
          <a:prstGeom prst="rect">
            <a:avLst/>
          </a:prstGeom>
          <a:noFill/>
          <a:ln/>
        </p:spPr>
        <p:txBody>
          <a:bodyPr wrap="square" lIns="0" tIns="0" rIns="0" bIns="0" rtlCol="0" anchor="ctr"/>
          <a:lstStyle/>
          <a:p>
            <a:pPr marL="0" indent="0" algn="l">
              <a:buNone/>
            </a:pPr>
            <a:r>
              <a:rPr lang="en-US" sz="1100" b="1" dirty="0">
                <a:solidFill>
                  <a:srgbClr val="64748B"/>
                </a:solidFill>
                <a:latin typeface="Noto Sans KR" pitchFamily="34" charset="0"/>
                <a:ea typeface="Noto Sans KR" pitchFamily="34" charset="-122"/>
                <a:cs typeface="Noto Sans KR" pitchFamily="34" charset="-120"/>
              </a:rPr>
              <a:t>지원 형식</a:t>
            </a:r>
            <a:endParaRPr lang="en-US" sz="1100" dirty="0"/>
          </a:p>
        </p:txBody>
      </p:sp>
      <p:sp>
        <p:nvSpPr>
          <p:cNvPr id="66" name="Text 47"/>
          <p:cNvSpPr txBox="1"/>
          <p:nvPr/>
        </p:nvSpPr>
        <p:spPr>
          <a:xfrm>
            <a:off x="6601054" y="6262144"/>
            <a:ext cx="4877410" cy="19111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PNG (차트/분자구조) / CSV (데이터)</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42717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아키텍처(전체)</a:t>
            </a:r>
            <a:endParaRPr lang="en-US" sz="2400" dirty="0"/>
          </a:p>
        </p:txBody>
      </p:sp>
      <p:sp>
        <p:nvSpPr>
          <p:cNvPr id="5" name="Text 3"/>
          <p:cNvSpPr txBox="1"/>
          <p:nvPr/>
        </p:nvSpPr>
        <p:spPr>
          <a:xfrm>
            <a:off x="476402" y="685800"/>
            <a:ext cx="3738982"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논문 연구 → 솔루션 구현: 8단계 통합 파이프라인</a:t>
            </a:r>
            <a:endParaRPr lang="en-US" sz="1200" dirty="0"/>
          </a:p>
        </p:txBody>
      </p:sp>
      <p:pic>
        <p:nvPicPr>
          <p:cNvPr id="6" name="Image 0" descr="preencoded.png"/>
          <p:cNvPicPr>
            <a:picLocks noChangeAspect="1"/>
          </p:cNvPicPr>
          <p:nvPr/>
        </p:nvPicPr>
        <p:blipFill>
          <a:blip r:embed="rId3"/>
          <a:srcRect l="-50" r="-50"/>
          <a:stretch/>
        </p:blipFill>
        <p:spPr>
          <a:xfrm>
            <a:off x="11373307" y="418795"/>
            <a:ext cx="342900" cy="304495"/>
          </a:xfrm>
          <a:prstGeom prst="rect">
            <a:avLst/>
          </a:prstGeom>
        </p:spPr>
      </p:pic>
      <p:sp>
        <p:nvSpPr>
          <p:cNvPr id="12" name="Shape 8"/>
          <p:cNvSpPr/>
          <p:nvPr/>
        </p:nvSpPr>
        <p:spPr>
          <a:xfrm>
            <a:off x="476402" y="1306678"/>
            <a:ext cx="11239805" cy="5361127"/>
          </a:xfrm>
          <a:prstGeom prst="roundRect">
            <a:avLst>
              <a:gd name="adj" fmla="val 284"/>
            </a:avLst>
          </a:prstGeom>
          <a:solidFill>
            <a:srgbClr val="FFFFFF"/>
          </a:solidFill>
          <a:ln w="12700">
            <a:solidFill>
              <a:srgbClr val="FFFFFF">
                <a:alpha val="0"/>
              </a:srgbClr>
            </a:solidFill>
            <a:prstDash val="solid"/>
          </a:ln>
          <a:effectLst>
            <a:outerShdw blurRad="76200" dist="25400" dir="16200000" algn="bl" rotWithShape="0">
              <a:srgbClr val="000000">
                <a:alpha val="8000"/>
              </a:srgbClr>
            </a:outerShdw>
          </a:effectLst>
        </p:spPr>
        <p:txBody>
          <a:bodyPr/>
          <a:lstStyle/>
          <a:p>
            <a:endParaRPr lang="ko-KR" altLang="en-US"/>
          </a:p>
        </p:txBody>
      </p:sp>
      <p:sp>
        <p:nvSpPr>
          <p:cNvPr id="13" name="Shape 9"/>
          <p:cNvSpPr/>
          <p:nvPr/>
        </p:nvSpPr>
        <p:spPr>
          <a:xfrm>
            <a:off x="705002" y="1906524"/>
            <a:ext cx="10782605" cy="19202"/>
          </a:xfrm>
          <a:prstGeom prst="rect">
            <a:avLst/>
          </a:prstGeom>
          <a:solidFill>
            <a:srgbClr val="E2E8F0"/>
          </a:solidFill>
          <a:ln w="12700">
            <a:solidFill>
              <a:srgbClr val="E2E8F0">
                <a:alpha val="0"/>
              </a:srgbClr>
            </a:solidFill>
            <a:prstDash val="solid"/>
          </a:ln>
        </p:spPr>
      </p:sp>
      <p:sp>
        <p:nvSpPr>
          <p:cNvPr id="14" name="Text 10"/>
          <p:cNvSpPr txBox="1"/>
          <p:nvPr/>
        </p:nvSpPr>
        <p:spPr>
          <a:xfrm>
            <a:off x="705001" y="1535278"/>
            <a:ext cx="3510383" cy="261518"/>
          </a:xfrm>
          <a:prstGeom prst="rect">
            <a:avLst/>
          </a:prstGeom>
          <a:noFill/>
          <a:ln/>
        </p:spPr>
        <p:txBody>
          <a:bodyPr wrap="square" lIns="0" tIns="0" rIns="0" bIns="0" rtlCol="0" anchor="ctr"/>
          <a:lstStyle/>
          <a:p>
            <a:pPr marL="0" indent="0" algn="l">
              <a:buNone/>
            </a:pPr>
            <a:r>
              <a:rPr lang="en-US" sz="2000" b="1" dirty="0">
                <a:solidFill>
                  <a:srgbClr val="1A355B"/>
                </a:solidFill>
                <a:latin typeface="Noto Sans KR" pitchFamily="34" charset="0"/>
                <a:ea typeface="Noto Sans KR" pitchFamily="34" charset="-122"/>
                <a:cs typeface="Noto Sans KR" pitchFamily="34" charset="-120"/>
              </a:rPr>
              <a:t>8단계 통합 파이프라인 아키텍처</a:t>
            </a:r>
            <a:endParaRPr lang="en-US" sz="2000" dirty="0"/>
          </a:p>
        </p:txBody>
      </p:sp>
      <p:sp>
        <p:nvSpPr>
          <p:cNvPr id="15" name="Shape 11"/>
          <p:cNvSpPr/>
          <p:nvPr/>
        </p:nvSpPr>
        <p:spPr>
          <a:xfrm>
            <a:off x="8049275" y="1606601"/>
            <a:ext cx="114300" cy="114300"/>
          </a:xfrm>
          <a:prstGeom prst="ellipse">
            <a:avLst/>
          </a:prstGeom>
          <a:solidFill>
            <a:srgbClr val="3B82F6"/>
          </a:solidFill>
          <a:ln w="12700">
            <a:solidFill>
              <a:srgbClr val="FFFFFF">
                <a:alpha val="0"/>
              </a:srgbClr>
            </a:solidFill>
            <a:prstDash val="solid"/>
          </a:ln>
        </p:spPr>
      </p:sp>
      <p:sp>
        <p:nvSpPr>
          <p:cNvPr id="16" name="Text 12"/>
          <p:cNvSpPr txBox="1"/>
          <p:nvPr/>
        </p:nvSpPr>
        <p:spPr>
          <a:xfrm>
            <a:off x="8221182" y="1578254"/>
            <a:ext cx="1539560" cy="19476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논문 연구 (Step 1-4)</a:t>
            </a:r>
            <a:endParaRPr lang="en-US" sz="1200" dirty="0"/>
          </a:p>
        </p:txBody>
      </p:sp>
      <p:sp>
        <p:nvSpPr>
          <p:cNvPr id="17" name="Shape 13"/>
          <p:cNvSpPr/>
          <p:nvPr/>
        </p:nvSpPr>
        <p:spPr>
          <a:xfrm>
            <a:off x="9802591" y="1606601"/>
            <a:ext cx="114300" cy="114300"/>
          </a:xfrm>
          <a:prstGeom prst="ellipse">
            <a:avLst/>
          </a:prstGeom>
          <a:solidFill>
            <a:srgbClr val="10B981"/>
          </a:solidFill>
          <a:ln w="12700">
            <a:solidFill>
              <a:srgbClr val="FFFFFF">
                <a:alpha val="0"/>
              </a:srgbClr>
            </a:solidFill>
            <a:prstDash val="solid"/>
          </a:ln>
        </p:spPr>
      </p:sp>
      <p:sp>
        <p:nvSpPr>
          <p:cNvPr id="18" name="Text 14"/>
          <p:cNvSpPr txBox="1"/>
          <p:nvPr/>
        </p:nvSpPr>
        <p:spPr>
          <a:xfrm>
            <a:off x="9974497" y="1578254"/>
            <a:ext cx="1539559" cy="194768"/>
          </a:xfrm>
          <a:prstGeom prst="rect">
            <a:avLst/>
          </a:prstGeom>
          <a:noFill/>
          <a:ln/>
        </p:spPr>
        <p:txBody>
          <a:bodyPr wrap="square" lIns="0" tIns="0" rIns="0" bIns="0" rtlCol="0" anchor="ctr"/>
          <a:lstStyle/>
          <a:p>
            <a:pPr marL="0" indent="0" algn="l">
              <a:buNone/>
            </a:pPr>
            <a:r>
              <a:rPr lang="en-US" sz="1200" b="1" dirty="0">
                <a:solidFill>
                  <a:srgbClr val="000000"/>
                </a:solidFill>
                <a:latin typeface="Noto Sans KR" pitchFamily="34" charset="0"/>
                <a:ea typeface="Noto Sans KR" pitchFamily="34" charset="-122"/>
                <a:cs typeface="Noto Sans KR" pitchFamily="34" charset="-120"/>
              </a:rPr>
              <a:t>솔루션 구현 (Step 5-8)</a:t>
            </a:r>
            <a:endParaRPr lang="en-US" sz="1200" dirty="0"/>
          </a:p>
        </p:txBody>
      </p:sp>
      <p:sp>
        <p:nvSpPr>
          <p:cNvPr id="19" name="Text 15"/>
          <p:cNvSpPr txBox="1"/>
          <p:nvPr/>
        </p:nvSpPr>
        <p:spPr>
          <a:xfrm>
            <a:off x="705002" y="2078431"/>
            <a:ext cx="10896905" cy="191110"/>
          </a:xfrm>
          <a:prstGeom prst="rect">
            <a:avLst/>
          </a:prstGeom>
          <a:noFill/>
          <a:ln/>
        </p:spPr>
        <p:txBody>
          <a:bodyPr wrap="square" lIns="0" tIns="0" rIns="0" bIns="0" rtlCol="0" anchor="ctr"/>
          <a:lstStyle/>
          <a:p>
            <a:pPr marL="0" indent="0" algn="l">
              <a:buNone/>
            </a:pPr>
            <a:r>
              <a:rPr lang="en-US" sz="1400" b="1" dirty="0">
                <a:solidFill>
                  <a:srgbClr val="64748B"/>
                </a:solidFill>
                <a:latin typeface="Noto Sans KR" pitchFamily="34" charset="0"/>
                <a:ea typeface="Noto Sans KR" pitchFamily="34" charset="-122"/>
                <a:cs typeface="Noto Sans KR" pitchFamily="34" charset="-120"/>
              </a:rPr>
              <a:t>📘 논문 연구 단계 (Research Phase)</a:t>
            </a:r>
            <a:endParaRPr lang="en-US" sz="1400" dirty="0"/>
          </a:p>
        </p:txBody>
      </p:sp>
      <p:sp>
        <p:nvSpPr>
          <p:cNvPr id="20" name="Shape 16"/>
          <p:cNvSpPr/>
          <p:nvPr/>
        </p:nvSpPr>
        <p:spPr>
          <a:xfrm>
            <a:off x="705002" y="2359152"/>
            <a:ext cx="5219395" cy="705002"/>
          </a:xfrm>
          <a:prstGeom prst="roundRect">
            <a:avLst>
              <a:gd name="adj" fmla="val 10516"/>
            </a:avLst>
          </a:prstGeom>
          <a:solidFill>
            <a:srgbClr val="EFF6FF"/>
          </a:solidFill>
          <a:ln w="25400">
            <a:solidFill>
              <a:srgbClr val="3B82F6"/>
            </a:solidFill>
            <a:prstDash val="solid"/>
          </a:ln>
        </p:spPr>
      </p:sp>
      <p:sp>
        <p:nvSpPr>
          <p:cNvPr id="21" name="Shape 17"/>
          <p:cNvSpPr/>
          <p:nvPr/>
        </p:nvSpPr>
        <p:spPr>
          <a:xfrm>
            <a:off x="875995" y="2556662"/>
            <a:ext cx="304495" cy="304495"/>
          </a:xfrm>
          <a:prstGeom prst="ellipse">
            <a:avLst/>
          </a:prstGeom>
          <a:solidFill>
            <a:srgbClr val="3B82F6"/>
          </a:solidFill>
          <a:ln w="12700">
            <a:solidFill>
              <a:srgbClr val="FFFFFF">
                <a:alpha val="0"/>
              </a:srgbClr>
            </a:solidFill>
            <a:prstDash val="solid"/>
          </a:ln>
        </p:spPr>
      </p:sp>
      <p:sp>
        <p:nvSpPr>
          <p:cNvPr id="22" name="Text 18"/>
          <p:cNvSpPr txBox="1"/>
          <p:nvPr/>
        </p:nvSpPr>
        <p:spPr>
          <a:xfrm>
            <a:off x="989381" y="2609698"/>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1</a:t>
            </a:r>
            <a:endParaRPr lang="en-US" sz="1600" dirty="0"/>
          </a:p>
        </p:txBody>
      </p:sp>
      <p:sp>
        <p:nvSpPr>
          <p:cNvPr id="23" name="Text 19"/>
          <p:cNvSpPr txBox="1"/>
          <p:nvPr/>
        </p:nvSpPr>
        <p:spPr>
          <a:xfrm>
            <a:off x="1295705" y="2511857"/>
            <a:ext cx="4334256"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종간 유전자 상동성 분석</a:t>
            </a:r>
            <a:endParaRPr lang="en-US" sz="1600" dirty="0"/>
          </a:p>
        </p:txBody>
      </p:sp>
      <p:sp>
        <p:nvSpPr>
          <p:cNvPr id="24" name="Text 20"/>
          <p:cNvSpPr txBox="1"/>
          <p:nvPr/>
        </p:nvSpPr>
        <p:spPr>
          <a:xfrm>
            <a:off x="1295705" y="2749601"/>
            <a:ext cx="4258361"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BLAST 기반 Mtb ↔ E.coli 유전자 매핑 (122개 상동 유전자)</a:t>
            </a:r>
            <a:endParaRPr lang="en-US" sz="1200" dirty="0"/>
          </a:p>
        </p:txBody>
      </p:sp>
      <p:pic>
        <p:nvPicPr>
          <p:cNvPr id="25" name="Image 2" descr="preencoded.png"/>
          <p:cNvPicPr>
            <a:picLocks noChangeAspect="1"/>
          </p:cNvPicPr>
          <p:nvPr/>
        </p:nvPicPr>
        <p:blipFill>
          <a:blip r:embed="rId4"/>
          <a:srcRect l="-57" r="-57"/>
          <a:stretch/>
        </p:blipFill>
        <p:spPr>
          <a:xfrm>
            <a:off x="5553151" y="2604211"/>
            <a:ext cx="200254" cy="228600"/>
          </a:xfrm>
          <a:prstGeom prst="rect">
            <a:avLst/>
          </a:prstGeom>
        </p:spPr>
      </p:pic>
      <p:pic>
        <p:nvPicPr>
          <p:cNvPr id="26" name="Image 3" descr="preencoded.png"/>
          <p:cNvPicPr>
            <a:picLocks noChangeAspect="1"/>
          </p:cNvPicPr>
          <p:nvPr/>
        </p:nvPicPr>
        <p:blipFill>
          <a:blip r:embed="rId5"/>
          <a:srcRect l="-760" r="-760"/>
          <a:stretch/>
        </p:blipFill>
        <p:spPr>
          <a:xfrm>
            <a:off x="6019495" y="2630729"/>
            <a:ext cx="152705" cy="171907"/>
          </a:xfrm>
          <a:prstGeom prst="rect">
            <a:avLst/>
          </a:prstGeom>
        </p:spPr>
      </p:pic>
      <p:sp>
        <p:nvSpPr>
          <p:cNvPr id="27" name="Shape 21"/>
          <p:cNvSpPr/>
          <p:nvPr/>
        </p:nvSpPr>
        <p:spPr>
          <a:xfrm>
            <a:off x="6267298" y="2359152"/>
            <a:ext cx="5219395" cy="705002"/>
          </a:xfrm>
          <a:prstGeom prst="roundRect">
            <a:avLst>
              <a:gd name="adj" fmla="val 10516"/>
            </a:avLst>
          </a:prstGeom>
          <a:solidFill>
            <a:srgbClr val="EFF6FF"/>
          </a:solidFill>
          <a:ln w="25400">
            <a:solidFill>
              <a:srgbClr val="3B82F6"/>
            </a:solidFill>
            <a:prstDash val="solid"/>
          </a:ln>
        </p:spPr>
      </p:sp>
      <p:sp>
        <p:nvSpPr>
          <p:cNvPr id="28" name="Shape 22"/>
          <p:cNvSpPr/>
          <p:nvPr/>
        </p:nvSpPr>
        <p:spPr>
          <a:xfrm>
            <a:off x="6439205" y="2556662"/>
            <a:ext cx="304495" cy="304495"/>
          </a:xfrm>
          <a:prstGeom prst="ellipse">
            <a:avLst/>
          </a:prstGeom>
          <a:solidFill>
            <a:srgbClr val="3B82F6"/>
          </a:solidFill>
          <a:ln w="12700">
            <a:solidFill>
              <a:srgbClr val="FFFFFF">
                <a:alpha val="0"/>
              </a:srgbClr>
            </a:solidFill>
            <a:prstDash val="solid"/>
          </a:ln>
        </p:spPr>
      </p:sp>
      <p:sp>
        <p:nvSpPr>
          <p:cNvPr id="29" name="Text 23"/>
          <p:cNvSpPr txBox="1"/>
          <p:nvPr/>
        </p:nvSpPr>
        <p:spPr>
          <a:xfrm>
            <a:off x="6551676" y="2609698"/>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2</a:t>
            </a:r>
            <a:endParaRPr lang="en-US" sz="1600" dirty="0"/>
          </a:p>
        </p:txBody>
      </p:sp>
      <p:sp>
        <p:nvSpPr>
          <p:cNvPr id="30" name="Text 24"/>
          <p:cNvSpPr txBox="1"/>
          <p:nvPr/>
        </p:nvSpPr>
        <p:spPr>
          <a:xfrm>
            <a:off x="6858000" y="2511857"/>
            <a:ext cx="4277563"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계층적 군집화 및 기전 정의</a:t>
            </a:r>
            <a:endParaRPr lang="en-US" sz="1600" dirty="0"/>
          </a:p>
        </p:txBody>
      </p:sp>
      <p:sp>
        <p:nvSpPr>
          <p:cNvPr id="31" name="Text 25"/>
          <p:cNvSpPr txBox="1"/>
          <p:nvPr/>
        </p:nvSpPr>
        <p:spPr>
          <a:xfrm>
            <a:off x="6858000" y="2749601"/>
            <a:ext cx="4200754"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GOSemSim + Dynamic tree cut → 13개 COG 클러스터 확정</a:t>
            </a:r>
            <a:endParaRPr lang="en-US" sz="1200" dirty="0"/>
          </a:p>
        </p:txBody>
      </p:sp>
      <p:pic>
        <p:nvPicPr>
          <p:cNvPr id="32" name="Image 4" descr="preencoded.png"/>
          <p:cNvPicPr>
            <a:picLocks noChangeAspect="1"/>
          </p:cNvPicPr>
          <p:nvPr/>
        </p:nvPicPr>
        <p:blipFill>
          <a:blip r:embed="rId6"/>
          <a:srcRect t="-45" b="-45"/>
          <a:stretch/>
        </p:blipFill>
        <p:spPr>
          <a:xfrm>
            <a:off x="11058754" y="2604211"/>
            <a:ext cx="256946" cy="228600"/>
          </a:xfrm>
          <a:prstGeom prst="rect">
            <a:avLst/>
          </a:prstGeom>
        </p:spPr>
      </p:pic>
      <p:sp>
        <p:nvSpPr>
          <p:cNvPr id="33" name="Shape 26"/>
          <p:cNvSpPr/>
          <p:nvPr/>
        </p:nvSpPr>
        <p:spPr>
          <a:xfrm>
            <a:off x="705002" y="3154680"/>
            <a:ext cx="5219395" cy="705002"/>
          </a:xfrm>
          <a:prstGeom prst="roundRect">
            <a:avLst>
              <a:gd name="adj" fmla="val 10516"/>
            </a:avLst>
          </a:prstGeom>
          <a:solidFill>
            <a:srgbClr val="EFF6FF"/>
          </a:solidFill>
          <a:ln w="25400">
            <a:solidFill>
              <a:srgbClr val="3B82F6"/>
            </a:solidFill>
            <a:prstDash val="solid"/>
          </a:ln>
        </p:spPr>
      </p:sp>
      <p:sp>
        <p:nvSpPr>
          <p:cNvPr id="34" name="Shape 27"/>
          <p:cNvSpPr/>
          <p:nvPr/>
        </p:nvSpPr>
        <p:spPr>
          <a:xfrm>
            <a:off x="875995" y="3352190"/>
            <a:ext cx="304495" cy="304495"/>
          </a:xfrm>
          <a:prstGeom prst="ellipse">
            <a:avLst/>
          </a:prstGeom>
          <a:solidFill>
            <a:srgbClr val="3B82F6"/>
          </a:solidFill>
          <a:ln w="12700">
            <a:solidFill>
              <a:srgbClr val="FFFFFF">
                <a:alpha val="0"/>
              </a:srgbClr>
            </a:solidFill>
            <a:prstDash val="solid"/>
          </a:ln>
        </p:spPr>
      </p:sp>
      <p:sp>
        <p:nvSpPr>
          <p:cNvPr id="35" name="Text 28"/>
          <p:cNvSpPr txBox="1"/>
          <p:nvPr/>
        </p:nvSpPr>
        <p:spPr>
          <a:xfrm>
            <a:off x="989381" y="3404311"/>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3</a:t>
            </a:r>
            <a:endParaRPr lang="en-US" sz="1600" dirty="0"/>
          </a:p>
        </p:txBody>
      </p:sp>
      <p:sp>
        <p:nvSpPr>
          <p:cNvPr id="36" name="Text 29"/>
          <p:cNvSpPr txBox="1"/>
          <p:nvPr/>
        </p:nvSpPr>
        <p:spPr>
          <a:xfrm>
            <a:off x="1295705" y="3307385"/>
            <a:ext cx="430591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CGIP 피처 엔지니어링</a:t>
            </a:r>
            <a:endParaRPr lang="en-US" sz="1600" dirty="0"/>
          </a:p>
        </p:txBody>
      </p:sp>
      <p:sp>
        <p:nvSpPr>
          <p:cNvPr id="37" name="Text 30"/>
          <p:cNvSpPr txBox="1"/>
          <p:nvPr/>
        </p:nvSpPr>
        <p:spPr>
          <a:xfrm>
            <a:off x="1295705" y="3545129"/>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클러스터별 Z-score 중앙값 계산 및 활성 라벨링 (Z ≤ -4)</a:t>
            </a:r>
            <a:endParaRPr lang="en-US" sz="1200" dirty="0"/>
          </a:p>
        </p:txBody>
      </p:sp>
      <p:pic>
        <p:nvPicPr>
          <p:cNvPr id="38" name="Image 5" descr="preencoded.png"/>
          <p:cNvPicPr>
            <a:picLocks noChangeAspect="1"/>
          </p:cNvPicPr>
          <p:nvPr/>
        </p:nvPicPr>
        <p:blipFill>
          <a:blip r:embed="rId7"/>
          <a:srcRect/>
          <a:stretch/>
        </p:blipFill>
        <p:spPr>
          <a:xfrm>
            <a:off x="5524805" y="3399739"/>
            <a:ext cx="228600" cy="228600"/>
          </a:xfrm>
          <a:prstGeom prst="rect">
            <a:avLst/>
          </a:prstGeom>
        </p:spPr>
      </p:pic>
      <p:pic>
        <p:nvPicPr>
          <p:cNvPr id="39" name="Image 6" descr="preencoded.png"/>
          <p:cNvPicPr>
            <a:picLocks noChangeAspect="1"/>
          </p:cNvPicPr>
          <p:nvPr/>
        </p:nvPicPr>
        <p:blipFill>
          <a:blip r:embed="rId5"/>
          <a:srcRect l="-760" r="-760"/>
          <a:stretch/>
        </p:blipFill>
        <p:spPr>
          <a:xfrm>
            <a:off x="6019495" y="3426257"/>
            <a:ext cx="152705" cy="171907"/>
          </a:xfrm>
          <a:prstGeom prst="rect">
            <a:avLst/>
          </a:prstGeom>
        </p:spPr>
      </p:pic>
      <p:sp>
        <p:nvSpPr>
          <p:cNvPr id="40" name="Shape 31"/>
          <p:cNvSpPr/>
          <p:nvPr/>
        </p:nvSpPr>
        <p:spPr>
          <a:xfrm>
            <a:off x="6267298" y="3154680"/>
            <a:ext cx="5219395" cy="705002"/>
          </a:xfrm>
          <a:prstGeom prst="roundRect">
            <a:avLst>
              <a:gd name="adj" fmla="val 10516"/>
            </a:avLst>
          </a:prstGeom>
          <a:solidFill>
            <a:srgbClr val="EFF6FF"/>
          </a:solidFill>
          <a:ln w="25400">
            <a:solidFill>
              <a:srgbClr val="3B82F6"/>
            </a:solidFill>
            <a:prstDash val="solid"/>
          </a:ln>
        </p:spPr>
      </p:sp>
      <p:sp>
        <p:nvSpPr>
          <p:cNvPr id="41" name="Shape 32"/>
          <p:cNvSpPr/>
          <p:nvPr/>
        </p:nvSpPr>
        <p:spPr>
          <a:xfrm>
            <a:off x="6439205" y="3352190"/>
            <a:ext cx="304495" cy="304495"/>
          </a:xfrm>
          <a:prstGeom prst="ellipse">
            <a:avLst/>
          </a:prstGeom>
          <a:solidFill>
            <a:srgbClr val="3B82F6"/>
          </a:solidFill>
          <a:ln w="12700">
            <a:solidFill>
              <a:srgbClr val="FFFFFF">
                <a:alpha val="0"/>
              </a:srgbClr>
            </a:solidFill>
            <a:prstDash val="solid"/>
          </a:ln>
        </p:spPr>
      </p:sp>
      <p:sp>
        <p:nvSpPr>
          <p:cNvPr id="42" name="Text 33"/>
          <p:cNvSpPr txBox="1"/>
          <p:nvPr/>
        </p:nvSpPr>
        <p:spPr>
          <a:xfrm>
            <a:off x="6551676" y="3404311"/>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4</a:t>
            </a:r>
            <a:endParaRPr lang="en-US" sz="1600" dirty="0"/>
          </a:p>
        </p:txBody>
      </p:sp>
      <p:sp>
        <p:nvSpPr>
          <p:cNvPr id="43" name="Text 34"/>
          <p:cNvSpPr txBox="1"/>
          <p:nvPr/>
        </p:nvSpPr>
        <p:spPr>
          <a:xfrm>
            <a:off x="6858000" y="3307385"/>
            <a:ext cx="422910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D-MPNN 모델 학습</a:t>
            </a:r>
            <a:endParaRPr lang="en-US" sz="1600" dirty="0"/>
          </a:p>
        </p:txBody>
      </p:sp>
      <p:sp>
        <p:nvSpPr>
          <p:cNvPr id="44" name="Text 35"/>
          <p:cNvSpPr txBox="1"/>
          <p:nvPr/>
        </p:nvSpPr>
        <p:spPr>
          <a:xfrm>
            <a:off x="6858000" y="3545129"/>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47K 화합물 학습 + RDKit 기술자 → AUROC 0.82 달성</a:t>
            </a:r>
            <a:endParaRPr lang="en-US" sz="1200" dirty="0"/>
          </a:p>
        </p:txBody>
      </p:sp>
      <p:pic>
        <p:nvPicPr>
          <p:cNvPr id="45" name="Image 7" descr="preencoded.png"/>
          <p:cNvPicPr>
            <a:picLocks noChangeAspect="1"/>
          </p:cNvPicPr>
          <p:nvPr/>
        </p:nvPicPr>
        <p:blipFill>
          <a:blip r:embed="rId8"/>
          <a:srcRect/>
          <a:stretch/>
        </p:blipFill>
        <p:spPr>
          <a:xfrm>
            <a:off x="11087100" y="3399739"/>
            <a:ext cx="228600" cy="228600"/>
          </a:xfrm>
          <a:prstGeom prst="rect">
            <a:avLst/>
          </a:prstGeom>
        </p:spPr>
      </p:pic>
      <p:sp>
        <p:nvSpPr>
          <p:cNvPr id="46" name="Shape 36"/>
          <p:cNvSpPr/>
          <p:nvPr/>
        </p:nvSpPr>
        <p:spPr>
          <a:xfrm>
            <a:off x="705002" y="4203352"/>
            <a:ext cx="10782605" cy="19202"/>
          </a:xfrm>
          <a:prstGeom prst="rect">
            <a:avLst/>
          </a:prstGeom>
          <a:solidFill>
            <a:srgbClr val="E2E8F0"/>
          </a:solidFill>
          <a:ln w="12700">
            <a:solidFill>
              <a:srgbClr val="FFFFFF">
                <a:alpha val="0"/>
              </a:srgbClr>
            </a:solidFill>
            <a:prstDash val="solid"/>
          </a:ln>
        </p:spPr>
      </p:sp>
      <p:sp>
        <p:nvSpPr>
          <p:cNvPr id="47" name="Shape 37"/>
          <p:cNvSpPr/>
          <p:nvPr/>
        </p:nvSpPr>
        <p:spPr>
          <a:xfrm>
            <a:off x="5305191" y="4045708"/>
            <a:ext cx="1951295" cy="339428"/>
          </a:xfrm>
          <a:prstGeom prst="roundRect">
            <a:avLst>
              <a:gd name="adj" fmla="val 127796"/>
            </a:avLst>
          </a:prstGeom>
          <a:solidFill>
            <a:srgbClr val="FFFFFF"/>
          </a:solidFill>
          <a:ln w="25400">
            <a:solidFill>
              <a:srgbClr val="E2E8F0"/>
            </a:solidFill>
            <a:prstDash val="solid"/>
          </a:ln>
        </p:spPr>
      </p:sp>
      <p:sp>
        <p:nvSpPr>
          <p:cNvPr id="48" name="Text 38"/>
          <p:cNvSpPr txBox="1"/>
          <p:nvPr/>
        </p:nvSpPr>
        <p:spPr>
          <a:xfrm>
            <a:off x="5387289" y="4157022"/>
            <a:ext cx="1818742" cy="155267"/>
          </a:xfrm>
          <a:prstGeom prst="rect">
            <a:avLst/>
          </a:prstGeom>
          <a:noFill/>
          <a:ln/>
        </p:spPr>
        <p:txBody>
          <a:bodyPr wrap="square" lIns="0" tIns="0" rIns="0" bIns="0" rtlCol="0" anchor="ctr"/>
          <a:lstStyle/>
          <a:p>
            <a:pPr marL="0" indent="0" algn="l">
              <a:buNone/>
            </a:pPr>
            <a:r>
              <a:rPr lang="en-US" sz="1400" b="1" dirty="0">
                <a:solidFill>
                  <a:srgbClr val="64748B"/>
                </a:solidFill>
                <a:latin typeface="Noto Sans KR" pitchFamily="34" charset="0"/>
                <a:ea typeface="Noto Sans KR" pitchFamily="34" charset="-122"/>
                <a:cs typeface="Noto Sans KR" pitchFamily="34" charset="-120"/>
              </a:rPr>
              <a:t>논문 연구 → 솔루션 구현</a:t>
            </a:r>
            <a:endParaRPr lang="en-US" sz="1400" dirty="0"/>
          </a:p>
        </p:txBody>
      </p:sp>
      <p:sp>
        <p:nvSpPr>
          <p:cNvPr id="49" name="Text 39"/>
          <p:cNvSpPr txBox="1"/>
          <p:nvPr/>
        </p:nvSpPr>
        <p:spPr>
          <a:xfrm>
            <a:off x="705002" y="4536926"/>
            <a:ext cx="10896905" cy="191110"/>
          </a:xfrm>
          <a:prstGeom prst="rect">
            <a:avLst/>
          </a:prstGeom>
          <a:noFill/>
          <a:ln/>
        </p:spPr>
        <p:txBody>
          <a:bodyPr wrap="square" lIns="0" tIns="0" rIns="0" bIns="0" rtlCol="0" anchor="ctr"/>
          <a:lstStyle/>
          <a:p>
            <a:pPr marL="0" indent="0" algn="l">
              <a:buNone/>
            </a:pPr>
            <a:r>
              <a:rPr lang="en-US" sz="1400" b="1" dirty="0">
                <a:solidFill>
                  <a:srgbClr val="64748B"/>
                </a:solidFill>
                <a:latin typeface="Noto Sans KR" pitchFamily="34" charset="0"/>
                <a:ea typeface="Noto Sans KR" pitchFamily="34" charset="-122"/>
                <a:cs typeface="Noto Sans KR" pitchFamily="34" charset="-120"/>
              </a:rPr>
              <a:t>💻 솔루션 구현 단계 (Solution Phase)</a:t>
            </a:r>
            <a:endParaRPr lang="en-US" sz="1400" dirty="0"/>
          </a:p>
        </p:txBody>
      </p:sp>
      <p:sp>
        <p:nvSpPr>
          <p:cNvPr id="50" name="Shape 40"/>
          <p:cNvSpPr/>
          <p:nvPr/>
        </p:nvSpPr>
        <p:spPr>
          <a:xfrm>
            <a:off x="705002" y="4817647"/>
            <a:ext cx="5219395" cy="705002"/>
          </a:xfrm>
          <a:prstGeom prst="roundRect">
            <a:avLst>
              <a:gd name="adj" fmla="val 10516"/>
            </a:avLst>
          </a:prstGeom>
          <a:solidFill>
            <a:srgbClr val="ECFDF5"/>
          </a:solidFill>
          <a:ln w="25400">
            <a:solidFill>
              <a:srgbClr val="10B981"/>
            </a:solidFill>
            <a:prstDash val="solid"/>
          </a:ln>
        </p:spPr>
      </p:sp>
      <p:sp>
        <p:nvSpPr>
          <p:cNvPr id="51" name="Shape 41"/>
          <p:cNvSpPr/>
          <p:nvPr/>
        </p:nvSpPr>
        <p:spPr>
          <a:xfrm>
            <a:off x="875995" y="5015157"/>
            <a:ext cx="304495" cy="304495"/>
          </a:xfrm>
          <a:prstGeom prst="ellipse">
            <a:avLst/>
          </a:prstGeom>
          <a:solidFill>
            <a:srgbClr val="10B981"/>
          </a:solidFill>
          <a:ln w="12700">
            <a:solidFill>
              <a:srgbClr val="FFFFFF">
                <a:alpha val="0"/>
              </a:srgbClr>
            </a:solidFill>
            <a:prstDash val="solid"/>
          </a:ln>
        </p:spPr>
      </p:sp>
      <p:sp>
        <p:nvSpPr>
          <p:cNvPr id="52" name="Text 42"/>
          <p:cNvSpPr txBox="1"/>
          <p:nvPr/>
        </p:nvSpPr>
        <p:spPr>
          <a:xfrm>
            <a:off x="989381" y="5068193"/>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5</a:t>
            </a:r>
            <a:endParaRPr lang="en-US" sz="1600" dirty="0"/>
          </a:p>
        </p:txBody>
      </p:sp>
      <p:sp>
        <p:nvSpPr>
          <p:cNvPr id="53" name="Text 43"/>
          <p:cNvSpPr txBox="1"/>
          <p:nvPr/>
        </p:nvSpPr>
        <p:spPr>
          <a:xfrm>
            <a:off x="1295705" y="4970352"/>
            <a:ext cx="430591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모델 배포 및 추론 엔진</a:t>
            </a:r>
            <a:endParaRPr lang="en-US" sz="1600" dirty="0"/>
          </a:p>
        </p:txBody>
      </p:sp>
      <p:sp>
        <p:nvSpPr>
          <p:cNvPr id="54" name="Text 44"/>
          <p:cNvSpPr txBox="1"/>
          <p:nvPr/>
        </p:nvSpPr>
        <p:spPr>
          <a:xfrm>
            <a:off x="1295705" y="5208096"/>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학습된 .pt 체크포인트 로드 + 임계값 적용 (Youden's J)</a:t>
            </a:r>
            <a:endParaRPr lang="en-US" sz="1200" dirty="0"/>
          </a:p>
        </p:txBody>
      </p:sp>
      <p:pic>
        <p:nvPicPr>
          <p:cNvPr id="55" name="Image 8" descr="preencoded.png"/>
          <p:cNvPicPr>
            <a:picLocks noChangeAspect="1"/>
          </p:cNvPicPr>
          <p:nvPr/>
        </p:nvPicPr>
        <p:blipFill>
          <a:blip r:embed="rId9"/>
          <a:srcRect/>
          <a:stretch/>
        </p:blipFill>
        <p:spPr>
          <a:xfrm>
            <a:off x="5524805" y="5063621"/>
            <a:ext cx="228600" cy="228600"/>
          </a:xfrm>
          <a:prstGeom prst="rect">
            <a:avLst/>
          </a:prstGeom>
        </p:spPr>
      </p:pic>
      <p:pic>
        <p:nvPicPr>
          <p:cNvPr id="56" name="Image 9" descr="preencoded.png"/>
          <p:cNvPicPr>
            <a:picLocks noChangeAspect="1"/>
          </p:cNvPicPr>
          <p:nvPr/>
        </p:nvPicPr>
        <p:blipFill>
          <a:blip r:embed="rId5"/>
          <a:srcRect l="-760" r="-760"/>
          <a:stretch/>
        </p:blipFill>
        <p:spPr>
          <a:xfrm>
            <a:off x="6019495" y="5089224"/>
            <a:ext cx="152705" cy="171907"/>
          </a:xfrm>
          <a:prstGeom prst="rect">
            <a:avLst/>
          </a:prstGeom>
        </p:spPr>
      </p:pic>
      <p:sp>
        <p:nvSpPr>
          <p:cNvPr id="57" name="Shape 45"/>
          <p:cNvSpPr/>
          <p:nvPr/>
        </p:nvSpPr>
        <p:spPr>
          <a:xfrm>
            <a:off x="6267298" y="4817647"/>
            <a:ext cx="5219395" cy="705002"/>
          </a:xfrm>
          <a:prstGeom prst="roundRect">
            <a:avLst>
              <a:gd name="adj" fmla="val 10516"/>
            </a:avLst>
          </a:prstGeom>
          <a:solidFill>
            <a:srgbClr val="ECFDF5"/>
          </a:solidFill>
          <a:ln w="25400">
            <a:solidFill>
              <a:srgbClr val="10B981"/>
            </a:solidFill>
            <a:prstDash val="solid"/>
          </a:ln>
        </p:spPr>
      </p:sp>
      <p:sp>
        <p:nvSpPr>
          <p:cNvPr id="58" name="Shape 46"/>
          <p:cNvSpPr/>
          <p:nvPr/>
        </p:nvSpPr>
        <p:spPr>
          <a:xfrm>
            <a:off x="6439205" y="5015157"/>
            <a:ext cx="304495" cy="304495"/>
          </a:xfrm>
          <a:prstGeom prst="ellipse">
            <a:avLst/>
          </a:prstGeom>
          <a:solidFill>
            <a:srgbClr val="10B981"/>
          </a:solidFill>
          <a:ln w="12700">
            <a:solidFill>
              <a:srgbClr val="FFFFFF">
                <a:alpha val="0"/>
              </a:srgbClr>
            </a:solidFill>
            <a:prstDash val="solid"/>
          </a:ln>
        </p:spPr>
      </p:sp>
      <p:sp>
        <p:nvSpPr>
          <p:cNvPr id="59" name="Text 47"/>
          <p:cNvSpPr txBox="1"/>
          <p:nvPr/>
        </p:nvSpPr>
        <p:spPr>
          <a:xfrm>
            <a:off x="6551676" y="5068193"/>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6</a:t>
            </a:r>
            <a:endParaRPr lang="en-US" sz="1600" dirty="0"/>
          </a:p>
        </p:txBody>
      </p:sp>
      <p:sp>
        <p:nvSpPr>
          <p:cNvPr id="60" name="Text 48"/>
          <p:cNvSpPr txBox="1"/>
          <p:nvPr/>
        </p:nvSpPr>
        <p:spPr>
          <a:xfrm>
            <a:off x="6858000" y="4970352"/>
            <a:ext cx="422910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FastAPI 백엔드 개발</a:t>
            </a:r>
            <a:endParaRPr lang="en-US" sz="1600" dirty="0"/>
          </a:p>
        </p:txBody>
      </p:sp>
      <p:sp>
        <p:nvSpPr>
          <p:cNvPr id="61" name="Text 49"/>
          <p:cNvSpPr txBox="1"/>
          <p:nvPr/>
        </p:nvSpPr>
        <p:spPr>
          <a:xfrm>
            <a:off x="6858000" y="5208096"/>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model_service.py + main.py → /predict, /properties API</a:t>
            </a:r>
            <a:endParaRPr lang="en-US" sz="1200" dirty="0"/>
          </a:p>
        </p:txBody>
      </p:sp>
      <p:pic>
        <p:nvPicPr>
          <p:cNvPr id="62" name="Image 10" descr="preencoded.png"/>
          <p:cNvPicPr>
            <a:picLocks noChangeAspect="1"/>
          </p:cNvPicPr>
          <p:nvPr/>
        </p:nvPicPr>
        <p:blipFill>
          <a:blip r:embed="rId10"/>
          <a:srcRect/>
          <a:stretch/>
        </p:blipFill>
        <p:spPr>
          <a:xfrm>
            <a:off x="11087100" y="5063621"/>
            <a:ext cx="228600" cy="228600"/>
          </a:xfrm>
          <a:prstGeom prst="rect">
            <a:avLst/>
          </a:prstGeom>
        </p:spPr>
      </p:pic>
      <p:sp>
        <p:nvSpPr>
          <p:cNvPr id="63" name="Shape 50"/>
          <p:cNvSpPr/>
          <p:nvPr/>
        </p:nvSpPr>
        <p:spPr>
          <a:xfrm>
            <a:off x="705002" y="5613175"/>
            <a:ext cx="5219395" cy="705002"/>
          </a:xfrm>
          <a:prstGeom prst="roundRect">
            <a:avLst>
              <a:gd name="adj" fmla="val 10516"/>
            </a:avLst>
          </a:prstGeom>
          <a:solidFill>
            <a:srgbClr val="ECFDF5"/>
          </a:solidFill>
          <a:ln w="25400">
            <a:solidFill>
              <a:srgbClr val="10B981"/>
            </a:solidFill>
            <a:prstDash val="solid"/>
          </a:ln>
        </p:spPr>
      </p:sp>
      <p:sp>
        <p:nvSpPr>
          <p:cNvPr id="64" name="Shape 51"/>
          <p:cNvSpPr/>
          <p:nvPr/>
        </p:nvSpPr>
        <p:spPr>
          <a:xfrm>
            <a:off x="875995" y="5810685"/>
            <a:ext cx="304495" cy="304495"/>
          </a:xfrm>
          <a:prstGeom prst="ellipse">
            <a:avLst/>
          </a:prstGeom>
          <a:solidFill>
            <a:srgbClr val="10B981"/>
          </a:solidFill>
          <a:ln w="12700">
            <a:solidFill>
              <a:srgbClr val="FFFFFF">
                <a:alpha val="0"/>
              </a:srgbClr>
            </a:solidFill>
            <a:prstDash val="solid"/>
          </a:ln>
        </p:spPr>
      </p:sp>
      <p:sp>
        <p:nvSpPr>
          <p:cNvPr id="65" name="Text 52"/>
          <p:cNvSpPr txBox="1"/>
          <p:nvPr/>
        </p:nvSpPr>
        <p:spPr>
          <a:xfrm>
            <a:off x="989381" y="5863721"/>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7</a:t>
            </a:r>
            <a:endParaRPr lang="en-US" sz="1600" dirty="0"/>
          </a:p>
        </p:txBody>
      </p:sp>
      <p:sp>
        <p:nvSpPr>
          <p:cNvPr id="66" name="Text 53"/>
          <p:cNvSpPr txBox="1"/>
          <p:nvPr/>
        </p:nvSpPr>
        <p:spPr>
          <a:xfrm>
            <a:off x="1295705" y="5765880"/>
            <a:ext cx="430591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프론트엔드 UI 개발</a:t>
            </a:r>
            <a:endParaRPr lang="en-US" sz="1600" dirty="0"/>
          </a:p>
        </p:txBody>
      </p:sp>
      <p:sp>
        <p:nvSpPr>
          <p:cNvPr id="67" name="Text 54"/>
          <p:cNvSpPr txBox="1"/>
          <p:nvPr/>
        </p:nvSpPr>
        <p:spPr>
          <a:xfrm>
            <a:off x="1295705" y="6003624"/>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index.html + Plotly.js → 레이더 차트 + 약물성 지표 시각화</a:t>
            </a:r>
            <a:endParaRPr lang="en-US" sz="1200" dirty="0"/>
          </a:p>
        </p:txBody>
      </p:sp>
      <p:pic>
        <p:nvPicPr>
          <p:cNvPr id="68" name="Image 11" descr="preencoded.png"/>
          <p:cNvPicPr>
            <a:picLocks noChangeAspect="1"/>
          </p:cNvPicPr>
          <p:nvPr/>
        </p:nvPicPr>
        <p:blipFill>
          <a:blip r:embed="rId11"/>
          <a:srcRect/>
          <a:stretch/>
        </p:blipFill>
        <p:spPr>
          <a:xfrm>
            <a:off x="5524805" y="5858234"/>
            <a:ext cx="228600" cy="228600"/>
          </a:xfrm>
          <a:prstGeom prst="rect">
            <a:avLst/>
          </a:prstGeom>
        </p:spPr>
      </p:pic>
      <p:pic>
        <p:nvPicPr>
          <p:cNvPr id="69" name="Image 12" descr="preencoded.png"/>
          <p:cNvPicPr>
            <a:picLocks noChangeAspect="1"/>
          </p:cNvPicPr>
          <p:nvPr/>
        </p:nvPicPr>
        <p:blipFill>
          <a:blip r:embed="rId5"/>
          <a:srcRect l="-760" r="-760"/>
          <a:stretch/>
        </p:blipFill>
        <p:spPr>
          <a:xfrm>
            <a:off x="6019495" y="5884752"/>
            <a:ext cx="152705" cy="171907"/>
          </a:xfrm>
          <a:prstGeom prst="rect">
            <a:avLst/>
          </a:prstGeom>
        </p:spPr>
      </p:pic>
      <p:sp>
        <p:nvSpPr>
          <p:cNvPr id="70" name="Shape 55"/>
          <p:cNvSpPr/>
          <p:nvPr/>
        </p:nvSpPr>
        <p:spPr>
          <a:xfrm>
            <a:off x="6267298" y="5613175"/>
            <a:ext cx="5219395" cy="705002"/>
          </a:xfrm>
          <a:prstGeom prst="roundRect">
            <a:avLst>
              <a:gd name="adj" fmla="val 10516"/>
            </a:avLst>
          </a:prstGeom>
          <a:solidFill>
            <a:srgbClr val="ECFDF5"/>
          </a:solidFill>
          <a:ln w="25400">
            <a:solidFill>
              <a:srgbClr val="10B981"/>
            </a:solidFill>
            <a:prstDash val="solid"/>
          </a:ln>
        </p:spPr>
      </p:sp>
      <p:sp>
        <p:nvSpPr>
          <p:cNvPr id="71" name="Shape 56"/>
          <p:cNvSpPr/>
          <p:nvPr/>
        </p:nvSpPr>
        <p:spPr>
          <a:xfrm>
            <a:off x="6439205" y="5810685"/>
            <a:ext cx="304495" cy="304495"/>
          </a:xfrm>
          <a:prstGeom prst="ellipse">
            <a:avLst/>
          </a:prstGeom>
          <a:solidFill>
            <a:srgbClr val="10B981"/>
          </a:solidFill>
          <a:ln w="12700">
            <a:solidFill>
              <a:srgbClr val="FFFFFF">
                <a:alpha val="0"/>
              </a:srgbClr>
            </a:solidFill>
            <a:prstDash val="solid"/>
          </a:ln>
        </p:spPr>
      </p:sp>
      <p:sp>
        <p:nvSpPr>
          <p:cNvPr id="72" name="Text 57"/>
          <p:cNvSpPr txBox="1"/>
          <p:nvPr/>
        </p:nvSpPr>
        <p:spPr>
          <a:xfrm>
            <a:off x="6551676" y="5863721"/>
            <a:ext cx="162763" cy="200254"/>
          </a:xfrm>
          <a:prstGeom prst="rect">
            <a:avLst/>
          </a:prstGeom>
          <a:noFill/>
          <a:ln/>
        </p:spPr>
        <p:txBody>
          <a:bodyPr wrap="square" lIns="0" tIns="0" rIns="0" bIns="0" rtlCol="0" anchor="ctr"/>
          <a:lstStyle/>
          <a:p>
            <a:pPr marL="0" indent="0" algn="l">
              <a:buNone/>
            </a:pPr>
            <a:r>
              <a:rPr lang="en-US" sz="1600" b="1" dirty="0">
                <a:solidFill>
                  <a:srgbClr val="FFFFFF"/>
                </a:solidFill>
                <a:latin typeface="Noto Sans KR" pitchFamily="34" charset="0"/>
                <a:ea typeface="Noto Sans KR" pitchFamily="34" charset="-122"/>
                <a:cs typeface="Noto Sans KR" pitchFamily="34" charset="-120"/>
              </a:rPr>
              <a:t>8</a:t>
            </a:r>
            <a:endParaRPr lang="en-US" sz="1600" dirty="0"/>
          </a:p>
        </p:txBody>
      </p:sp>
      <p:sp>
        <p:nvSpPr>
          <p:cNvPr id="73" name="Text 58"/>
          <p:cNvSpPr txBox="1"/>
          <p:nvPr/>
        </p:nvSpPr>
        <p:spPr>
          <a:xfrm>
            <a:off x="6858000" y="5765880"/>
            <a:ext cx="4305910"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통합 스크리닝 서비스</a:t>
            </a:r>
            <a:endParaRPr lang="en-US" sz="1600" dirty="0"/>
          </a:p>
        </p:txBody>
      </p:sp>
      <p:sp>
        <p:nvSpPr>
          <p:cNvPr id="74" name="Text 59"/>
          <p:cNvSpPr txBox="1"/>
          <p:nvPr/>
        </p:nvSpPr>
        <p:spPr>
          <a:xfrm>
            <a:off x="6858000" y="6003624"/>
            <a:ext cx="4229100"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Mtb-Inhibitor Finder AI 플랫폼 최종 배포 및 운영</a:t>
            </a:r>
            <a:endParaRPr lang="en-US" sz="1200" dirty="0"/>
          </a:p>
        </p:txBody>
      </p:sp>
      <p:pic>
        <p:nvPicPr>
          <p:cNvPr id="75" name="Image 13" descr="preencoded.png"/>
          <p:cNvPicPr>
            <a:picLocks noChangeAspect="1"/>
          </p:cNvPicPr>
          <p:nvPr/>
        </p:nvPicPr>
        <p:blipFill>
          <a:blip r:embed="rId12"/>
          <a:srcRect/>
          <a:stretch/>
        </p:blipFill>
        <p:spPr>
          <a:xfrm>
            <a:off x="11087100" y="5858234"/>
            <a:ext cx="228600" cy="228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45882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백엔드 아키텍처</a:t>
            </a:r>
            <a:endParaRPr lang="en-US" sz="2400" dirty="0"/>
          </a:p>
        </p:txBody>
      </p:sp>
      <p:sp>
        <p:nvSpPr>
          <p:cNvPr id="5" name="Text 3"/>
          <p:cNvSpPr txBox="1"/>
          <p:nvPr/>
        </p:nvSpPr>
        <p:spPr>
          <a:xfrm>
            <a:off x="476402" y="685800"/>
            <a:ext cx="2709367"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FastAPI + model_service.py 구조</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390802"/>
            <a:ext cx="5477256" cy="4634078"/>
          </a:xfrm>
          <a:prstGeom prst="roundRect">
            <a:avLst>
              <a:gd name="adj" fmla="val 513"/>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90802"/>
            <a:ext cx="38405" cy="4634078"/>
          </a:xfrm>
          <a:prstGeom prst="roundRect">
            <a:avLst>
              <a:gd name="adj" fmla="val 49218"/>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l="-775" r="-775"/>
          <a:stretch/>
        </p:blipFill>
        <p:spPr>
          <a:xfrm>
            <a:off x="724205" y="1678838"/>
            <a:ext cx="314554" cy="247802"/>
          </a:xfrm>
          <a:prstGeom prst="rect">
            <a:avLst/>
          </a:prstGeom>
        </p:spPr>
      </p:pic>
      <p:sp>
        <p:nvSpPr>
          <p:cNvPr id="10" name="Text 6"/>
          <p:cNvSpPr txBox="1"/>
          <p:nvPr/>
        </p:nvSpPr>
        <p:spPr>
          <a:xfrm>
            <a:off x="1152144" y="1657807"/>
            <a:ext cx="2085746" cy="299923"/>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FastAPI 엔드포인트</a:t>
            </a:r>
            <a:endParaRPr lang="en-US" dirty="0"/>
          </a:p>
        </p:txBody>
      </p:sp>
      <p:sp>
        <p:nvSpPr>
          <p:cNvPr id="11" name="Shape 7"/>
          <p:cNvSpPr/>
          <p:nvPr/>
        </p:nvSpPr>
        <p:spPr>
          <a:xfrm>
            <a:off x="724205" y="2124151"/>
            <a:ext cx="5020056" cy="733349"/>
          </a:xfrm>
          <a:prstGeom prst="roundRect">
            <a:avLst>
              <a:gd name="adj" fmla="val 9716"/>
            </a:avLst>
          </a:prstGeom>
          <a:solidFill>
            <a:srgbClr val="F8FAFC"/>
          </a:solidFill>
          <a:ln w="12700">
            <a:solidFill>
              <a:srgbClr val="E2E8F0"/>
            </a:solidFill>
            <a:prstDash val="solid"/>
          </a:ln>
        </p:spPr>
      </p:sp>
      <p:sp>
        <p:nvSpPr>
          <p:cNvPr id="12" name="Text 8"/>
          <p:cNvSpPr txBox="1"/>
          <p:nvPr/>
        </p:nvSpPr>
        <p:spPr>
          <a:xfrm>
            <a:off x="1431036" y="2247595"/>
            <a:ext cx="4284878" cy="257861"/>
          </a:xfrm>
          <a:prstGeom prst="rect">
            <a:avLst/>
          </a:prstGeom>
          <a:noFill/>
          <a:ln/>
        </p:spPr>
        <p:txBody>
          <a:bodyPr wrap="square" lIns="0" tIns="0" rIns="0" bIns="0" rtlCol="0" anchor="ctr"/>
          <a:lstStyle/>
          <a:p>
            <a:pPr marL="0" indent="0" algn="l">
              <a:buNone/>
            </a:pPr>
            <a:r>
              <a:rPr lang="en-US" sz="1400" b="1" dirty="0">
                <a:solidFill>
                  <a:srgbClr val="1E293B"/>
                </a:solidFill>
                <a:latin typeface="Courier New" pitchFamily="34" charset="0"/>
                <a:ea typeface="Courier New" pitchFamily="34" charset="-122"/>
                <a:cs typeface="Courier New" pitchFamily="34" charset="-120"/>
              </a:rPr>
              <a:t>/predict</a:t>
            </a:r>
            <a:endParaRPr lang="en-US" sz="2000" dirty="0"/>
          </a:p>
        </p:txBody>
      </p:sp>
      <p:pic>
        <p:nvPicPr>
          <p:cNvPr id="13" name="Image 2" descr="preencoded.png"/>
          <p:cNvPicPr>
            <a:picLocks noChangeAspect="1"/>
          </p:cNvPicPr>
          <p:nvPr/>
        </p:nvPicPr>
        <p:blipFill>
          <a:blip r:embed="rId5"/>
          <a:stretch>
            <a:fillRect/>
          </a:stretch>
        </p:blipFill>
        <p:spPr>
          <a:xfrm>
            <a:off x="866851" y="2266798"/>
            <a:ext cx="476402" cy="237744"/>
          </a:xfrm>
          <a:prstGeom prst="rect">
            <a:avLst/>
          </a:prstGeom>
        </p:spPr>
      </p:pic>
      <p:sp>
        <p:nvSpPr>
          <p:cNvPr id="14" name="Text 9"/>
          <p:cNvSpPr/>
          <p:nvPr/>
        </p:nvSpPr>
        <p:spPr>
          <a:xfrm>
            <a:off x="866851" y="2266798"/>
            <a:ext cx="476402" cy="23865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POST</a:t>
            </a:r>
            <a:endParaRPr lang="en-US" sz="1100" dirty="0"/>
          </a:p>
        </p:txBody>
      </p:sp>
      <p:sp>
        <p:nvSpPr>
          <p:cNvPr id="15" name="Text 10"/>
          <p:cNvSpPr txBox="1"/>
          <p:nvPr/>
        </p:nvSpPr>
        <p:spPr>
          <a:xfrm>
            <a:off x="866851" y="2557577"/>
            <a:ext cx="4924958"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SMILES 입력받아 13개 클러스터별 저해 확률 예측</a:t>
            </a:r>
            <a:endParaRPr lang="en-US" sz="1200" dirty="0"/>
          </a:p>
        </p:txBody>
      </p:sp>
      <p:sp>
        <p:nvSpPr>
          <p:cNvPr id="16" name="Shape 11"/>
          <p:cNvSpPr/>
          <p:nvPr/>
        </p:nvSpPr>
        <p:spPr>
          <a:xfrm>
            <a:off x="724205" y="2967228"/>
            <a:ext cx="5020056" cy="733349"/>
          </a:xfrm>
          <a:prstGeom prst="roundRect">
            <a:avLst>
              <a:gd name="adj" fmla="val 9716"/>
            </a:avLst>
          </a:prstGeom>
          <a:solidFill>
            <a:srgbClr val="F8FAFC"/>
          </a:solidFill>
          <a:ln w="12700">
            <a:solidFill>
              <a:srgbClr val="E2E8F0"/>
            </a:solidFill>
            <a:prstDash val="solid"/>
          </a:ln>
        </p:spPr>
      </p:sp>
      <p:sp>
        <p:nvSpPr>
          <p:cNvPr id="17" name="Text 12"/>
          <p:cNvSpPr txBox="1"/>
          <p:nvPr/>
        </p:nvSpPr>
        <p:spPr>
          <a:xfrm>
            <a:off x="1431036" y="3090672"/>
            <a:ext cx="4284878" cy="257861"/>
          </a:xfrm>
          <a:prstGeom prst="rect">
            <a:avLst/>
          </a:prstGeom>
          <a:noFill/>
          <a:ln/>
        </p:spPr>
        <p:txBody>
          <a:bodyPr wrap="square" lIns="0" tIns="0" rIns="0" bIns="0" rtlCol="0" anchor="ctr"/>
          <a:lstStyle/>
          <a:p>
            <a:pPr marL="0" indent="0" algn="l">
              <a:buNone/>
            </a:pPr>
            <a:r>
              <a:rPr lang="en-US" sz="1400" b="1" dirty="0">
                <a:solidFill>
                  <a:srgbClr val="1E293B"/>
                </a:solidFill>
                <a:latin typeface="Courier New" pitchFamily="34" charset="0"/>
                <a:ea typeface="Courier New" pitchFamily="34" charset="-122"/>
                <a:cs typeface="Courier New" pitchFamily="34" charset="-120"/>
              </a:rPr>
              <a:t>/properties</a:t>
            </a:r>
            <a:endParaRPr lang="en-US" sz="2000" dirty="0"/>
          </a:p>
        </p:txBody>
      </p:sp>
      <p:pic>
        <p:nvPicPr>
          <p:cNvPr id="18" name="Image 3" descr="preencoded.png"/>
          <p:cNvPicPr>
            <a:picLocks noChangeAspect="1"/>
          </p:cNvPicPr>
          <p:nvPr/>
        </p:nvPicPr>
        <p:blipFill>
          <a:blip r:embed="rId5"/>
          <a:stretch>
            <a:fillRect/>
          </a:stretch>
        </p:blipFill>
        <p:spPr>
          <a:xfrm>
            <a:off x="866851" y="3109874"/>
            <a:ext cx="476402" cy="237744"/>
          </a:xfrm>
          <a:prstGeom prst="rect">
            <a:avLst/>
          </a:prstGeom>
        </p:spPr>
      </p:pic>
      <p:sp>
        <p:nvSpPr>
          <p:cNvPr id="19" name="Text 13"/>
          <p:cNvSpPr/>
          <p:nvPr/>
        </p:nvSpPr>
        <p:spPr>
          <a:xfrm>
            <a:off x="866851" y="3109874"/>
            <a:ext cx="476402" cy="23865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FFFFFF"/>
                </a:solidFill>
                <a:latin typeface="Noto Sans KR" pitchFamily="34" charset="0"/>
                <a:ea typeface="Noto Sans KR" pitchFamily="34" charset="-122"/>
                <a:cs typeface="Noto Sans KR" pitchFamily="34" charset="-120"/>
              </a:rPr>
              <a:t>POST</a:t>
            </a:r>
            <a:endParaRPr lang="en-US" sz="1100" dirty="0"/>
          </a:p>
        </p:txBody>
      </p:sp>
      <p:sp>
        <p:nvSpPr>
          <p:cNvPr id="20" name="Text 14"/>
          <p:cNvSpPr txBox="1"/>
          <p:nvPr/>
        </p:nvSpPr>
        <p:spPr>
          <a:xfrm>
            <a:off x="866851" y="3400654"/>
            <a:ext cx="4849063" cy="171907"/>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SMILES로부터 약물성 지표(MW, LogP, TPSA 등) 계산</a:t>
            </a:r>
            <a:endParaRPr lang="en-US" sz="1200" dirty="0"/>
          </a:p>
        </p:txBody>
      </p:sp>
      <p:pic>
        <p:nvPicPr>
          <p:cNvPr id="21" name="Image 4" descr="preencoded.png"/>
          <p:cNvPicPr>
            <a:picLocks noChangeAspect="1"/>
          </p:cNvPicPr>
          <p:nvPr/>
        </p:nvPicPr>
        <p:blipFill>
          <a:blip r:embed="rId6"/>
          <a:srcRect t="-25301" b="-25301"/>
          <a:stretch/>
        </p:blipFill>
        <p:spPr>
          <a:xfrm>
            <a:off x="724205" y="3866998"/>
            <a:ext cx="75895" cy="114300"/>
          </a:xfrm>
          <a:prstGeom prst="rect">
            <a:avLst/>
          </a:prstGeom>
        </p:spPr>
      </p:pic>
      <p:sp>
        <p:nvSpPr>
          <p:cNvPr id="22" name="Text 15"/>
          <p:cNvSpPr txBox="1"/>
          <p:nvPr/>
        </p:nvSpPr>
        <p:spPr>
          <a:xfrm>
            <a:off x="895197" y="3810305"/>
            <a:ext cx="3580183" cy="176479"/>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요청 형식</a:t>
            </a:r>
            <a:r>
              <a:rPr lang="en-US" sz="1200" dirty="0">
                <a:solidFill>
                  <a:srgbClr val="475569"/>
                </a:solidFill>
                <a:latin typeface="Noto Sans KR" pitchFamily="34" charset="0"/>
                <a:ea typeface="Noto Sans KR" pitchFamily="34" charset="-122"/>
                <a:cs typeface="Noto Sans KR" pitchFamily="34" charset="-120"/>
              </a:rPr>
              <a:t>: JSON {"smiles": "화합물 SMILES 문자열"}</a:t>
            </a:r>
            <a:endParaRPr lang="en-US" sz="1200" dirty="0"/>
          </a:p>
        </p:txBody>
      </p:sp>
      <p:pic>
        <p:nvPicPr>
          <p:cNvPr id="23" name="Image 5" descr="preencoded.png"/>
          <p:cNvPicPr>
            <a:picLocks noChangeAspect="1"/>
          </p:cNvPicPr>
          <p:nvPr/>
        </p:nvPicPr>
        <p:blipFill>
          <a:blip r:embed="rId6"/>
          <a:srcRect t="-25301" b="-25301"/>
          <a:stretch/>
        </p:blipFill>
        <p:spPr>
          <a:xfrm>
            <a:off x="724205" y="4134002"/>
            <a:ext cx="75895" cy="114300"/>
          </a:xfrm>
          <a:prstGeom prst="rect">
            <a:avLst/>
          </a:prstGeom>
        </p:spPr>
      </p:pic>
      <p:sp>
        <p:nvSpPr>
          <p:cNvPr id="24" name="Text 16"/>
          <p:cNvSpPr txBox="1"/>
          <p:nvPr/>
        </p:nvSpPr>
        <p:spPr>
          <a:xfrm>
            <a:off x="895197" y="4076395"/>
            <a:ext cx="3356175" cy="196596"/>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응답 형식</a:t>
            </a:r>
            <a:r>
              <a:rPr lang="en-US" sz="1200" dirty="0">
                <a:solidFill>
                  <a:srgbClr val="475569"/>
                </a:solidFill>
                <a:latin typeface="Noto Sans KR" pitchFamily="34" charset="0"/>
                <a:ea typeface="Noto Sans KR" pitchFamily="34" charset="-122"/>
                <a:cs typeface="Noto Sans KR" pitchFamily="34" charset="-120"/>
              </a:rPr>
              <a:t>: JSON (예측 확률 배열 + COG 매핑 정보)</a:t>
            </a:r>
            <a:endParaRPr lang="en-US" sz="1200" dirty="0"/>
          </a:p>
        </p:txBody>
      </p:sp>
      <p:pic>
        <p:nvPicPr>
          <p:cNvPr id="25" name="Image 6" descr="preencoded.png"/>
          <p:cNvPicPr>
            <a:picLocks noChangeAspect="1"/>
          </p:cNvPicPr>
          <p:nvPr/>
        </p:nvPicPr>
        <p:blipFill>
          <a:blip r:embed="rId6"/>
          <a:srcRect t="-25301" b="-25301"/>
          <a:stretch/>
        </p:blipFill>
        <p:spPr>
          <a:xfrm>
            <a:off x="724205" y="4401007"/>
            <a:ext cx="75895" cy="114300"/>
          </a:xfrm>
          <a:prstGeom prst="rect">
            <a:avLst/>
          </a:prstGeom>
        </p:spPr>
      </p:pic>
      <p:sp>
        <p:nvSpPr>
          <p:cNvPr id="26" name="Text 17"/>
          <p:cNvSpPr txBox="1"/>
          <p:nvPr/>
        </p:nvSpPr>
        <p:spPr>
          <a:xfrm>
            <a:off x="895197" y="4343400"/>
            <a:ext cx="3688091" cy="215798"/>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에러 처리</a:t>
            </a:r>
            <a:r>
              <a:rPr lang="en-US" sz="1200" dirty="0">
                <a:solidFill>
                  <a:srgbClr val="475569"/>
                </a:solidFill>
                <a:latin typeface="Noto Sans KR" pitchFamily="34" charset="0"/>
                <a:ea typeface="Noto Sans KR" pitchFamily="34" charset="-122"/>
                <a:cs typeface="Noto Sans KR" pitchFamily="34" charset="-120"/>
              </a:rPr>
              <a:t>: HTTPException으로 유효성 검증 실패 응답</a:t>
            </a:r>
            <a:endParaRPr lang="en-US" sz="1200" dirty="0"/>
          </a:p>
        </p:txBody>
      </p:sp>
      <p:pic>
        <p:nvPicPr>
          <p:cNvPr id="27" name="Image 7" descr="preencoded.png"/>
          <p:cNvPicPr>
            <a:picLocks noChangeAspect="1"/>
          </p:cNvPicPr>
          <p:nvPr/>
        </p:nvPicPr>
        <p:blipFill>
          <a:blip r:embed="rId7"/>
          <a:stretch>
            <a:fillRect/>
          </a:stretch>
        </p:blipFill>
        <p:spPr>
          <a:xfrm>
            <a:off x="724205" y="4610405"/>
            <a:ext cx="609905" cy="256946"/>
          </a:xfrm>
          <a:prstGeom prst="rect">
            <a:avLst/>
          </a:prstGeom>
        </p:spPr>
      </p:pic>
      <p:sp>
        <p:nvSpPr>
          <p:cNvPr id="28" name="Text 18"/>
          <p:cNvSpPr/>
          <p:nvPr/>
        </p:nvSpPr>
        <p:spPr>
          <a:xfrm>
            <a:off x="724205" y="4610405"/>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FastAPI</a:t>
            </a:r>
            <a:endParaRPr lang="en-US" sz="1100" dirty="0"/>
          </a:p>
        </p:txBody>
      </p:sp>
      <p:pic>
        <p:nvPicPr>
          <p:cNvPr id="30" name="Image 8" descr="preencoded.png"/>
          <p:cNvPicPr>
            <a:picLocks noChangeAspect="1"/>
          </p:cNvPicPr>
          <p:nvPr/>
        </p:nvPicPr>
        <p:blipFill>
          <a:blip r:embed="rId8"/>
          <a:stretch>
            <a:fillRect/>
          </a:stretch>
        </p:blipFill>
        <p:spPr>
          <a:xfrm>
            <a:off x="1404518" y="4610405"/>
            <a:ext cx="629107" cy="256946"/>
          </a:xfrm>
          <a:prstGeom prst="rect">
            <a:avLst/>
          </a:prstGeom>
        </p:spPr>
      </p:pic>
      <p:sp>
        <p:nvSpPr>
          <p:cNvPr id="31" name="Text 20"/>
          <p:cNvSpPr/>
          <p:nvPr/>
        </p:nvSpPr>
        <p:spPr>
          <a:xfrm>
            <a:off x="1404518" y="4610405"/>
            <a:ext cx="629107"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Uvicorn</a:t>
            </a:r>
            <a:endParaRPr lang="en-US" sz="1100" dirty="0"/>
          </a:p>
        </p:txBody>
      </p:sp>
      <p:pic>
        <p:nvPicPr>
          <p:cNvPr id="33" name="Image 9" descr="preencoded.png"/>
          <p:cNvPicPr>
            <a:picLocks noChangeAspect="1"/>
          </p:cNvPicPr>
          <p:nvPr/>
        </p:nvPicPr>
        <p:blipFill>
          <a:blip r:embed="rId9"/>
          <a:stretch>
            <a:fillRect/>
          </a:stretch>
        </p:blipFill>
        <p:spPr>
          <a:xfrm>
            <a:off x="2104034" y="4610405"/>
            <a:ext cx="1133856" cy="256946"/>
          </a:xfrm>
          <a:prstGeom prst="rect">
            <a:avLst/>
          </a:prstGeom>
        </p:spPr>
      </p:pic>
      <p:sp>
        <p:nvSpPr>
          <p:cNvPr id="34" name="Text 22"/>
          <p:cNvSpPr/>
          <p:nvPr/>
        </p:nvSpPr>
        <p:spPr>
          <a:xfrm>
            <a:off x="2104034" y="4610405"/>
            <a:ext cx="1133856"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CORS Middleware</a:t>
            </a:r>
            <a:endParaRPr lang="en-US" sz="1100" dirty="0"/>
          </a:p>
        </p:txBody>
      </p:sp>
      <p:sp>
        <p:nvSpPr>
          <p:cNvPr id="36" name="Shape 24"/>
          <p:cNvSpPr/>
          <p:nvPr/>
        </p:nvSpPr>
        <p:spPr>
          <a:xfrm>
            <a:off x="6238344" y="1390802"/>
            <a:ext cx="5477256" cy="4634078"/>
          </a:xfrm>
          <a:prstGeom prst="roundRect">
            <a:avLst>
              <a:gd name="adj" fmla="val 1085"/>
            </a:avLst>
          </a:prstGeom>
          <a:solidFill>
            <a:srgbClr val="FFFFFF"/>
          </a:solidFill>
          <a:ln/>
          <a:effectLst>
            <a:outerShdw blurRad="76200" dist="25400" dir="16200000" algn="bl" rotWithShape="0">
              <a:srgbClr val="000000">
                <a:alpha val="8000"/>
              </a:srgbClr>
            </a:outerShdw>
          </a:effectLst>
        </p:spPr>
      </p:sp>
      <p:sp>
        <p:nvSpPr>
          <p:cNvPr id="37" name="Shape 25"/>
          <p:cNvSpPr/>
          <p:nvPr/>
        </p:nvSpPr>
        <p:spPr>
          <a:xfrm>
            <a:off x="6238344" y="1390802"/>
            <a:ext cx="38405" cy="4634078"/>
          </a:xfrm>
          <a:prstGeom prst="roundRect">
            <a:avLst>
              <a:gd name="adj" fmla="val 71607"/>
            </a:avLst>
          </a:prstGeom>
          <a:solidFill>
            <a:srgbClr val="3B82F6"/>
          </a:solidFill>
          <a:ln w="12700">
            <a:solidFill>
              <a:srgbClr val="3B82F6">
                <a:alpha val="0"/>
              </a:srgbClr>
            </a:solidFill>
            <a:prstDash val="solid"/>
          </a:ln>
        </p:spPr>
      </p:sp>
      <p:pic>
        <p:nvPicPr>
          <p:cNvPr id="38" name="Image 10" descr="preencoded.png"/>
          <p:cNvPicPr>
            <a:picLocks noChangeAspect="1"/>
          </p:cNvPicPr>
          <p:nvPr/>
        </p:nvPicPr>
        <p:blipFill>
          <a:blip r:embed="rId10"/>
          <a:srcRect l="-775" r="-775"/>
          <a:stretch/>
        </p:blipFill>
        <p:spPr>
          <a:xfrm>
            <a:off x="6486147" y="1678838"/>
            <a:ext cx="314554" cy="247802"/>
          </a:xfrm>
          <a:prstGeom prst="rect">
            <a:avLst/>
          </a:prstGeom>
        </p:spPr>
      </p:pic>
      <p:sp>
        <p:nvSpPr>
          <p:cNvPr id="39" name="Text 26"/>
          <p:cNvSpPr txBox="1"/>
          <p:nvPr/>
        </p:nvSpPr>
        <p:spPr>
          <a:xfrm>
            <a:off x="6914086" y="1657807"/>
            <a:ext cx="3286354" cy="299923"/>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model_service.py 핵심 로직</a:t>
            </a:r>
            <a:endParaRPr lang="en-US" dirty="0"/>
          </a:p>
        </p:txBody>
      </p:sp>
      <p:pic>
        <p:nvPicPr>
          <p:cNvPr id="40" name="Image 11" descr="preencoded.png"/>
          <p:cNvPicPr>
            <a:picLocks noChangeAspect="1"/>
          </p:cNvPicPr>
          <p:nvPr/>
        </p:nvPicPr>
        <p:blipFill>
          <a:blip r:embed="rId6"/>
          <a:srcRect t="-25301" b="-25301"/>
          <a:stretch/>
        </p:blipFill>
        <p:spPr>
          <a:xfrm>
            <a:off x="6486147" y="2181758"/>
            <a:ext cx="75895" cy="114300"/>
          </a:xfrm>
          <a:prstGeom prst="rect">
            <a:avLst/>
          </a:prstGeom>
        </p:spPr>
      </p:pic>
      <p:sp>
        <p:nvSpPr>
          <p:cNvPr id="41" name="Text 27"/>
          <p:cNvSpPr txBox="1"/>
          <p:nvPr/>
        </p:nvSpPr>
        <p:spPr>
          <a:xfrm>
            <a:off x="6657139" y="2124151"/>
            <a:ext cx="4022149" cy="195681"/>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MtbModelService 클래스</a:t>
            </a:r>
            <a:r>
              <a:rPr lang="en-US" sz="1200" dirty="0">
                <a:solidFill>
                  <a:srgbClr val="475569"/>
                </a:solidFill>
                <a:latin typeface="Noto Sans KR" pitchFamily="34" charset="0"/>
                <a:ea typeface="Noto Sans KR" pitchFamily="34" charset="-122"/>
                <a:cs typeface="Noto Sans KR" pitchFamily="34" charset="-120"/>
              </a:rPr>
              <a:t>: 모델 로드, 예측, 결과 포맷팅 통합</a:t>
            </a:r>
            <a:endParaRPr lang="en-US" sz="1200" dirty="0"/>
          </a:p>
        </p:txBody>
      </p:sp>
      <p:pic>
        <p:nvPicPr>
          <p:cNvPr id="42" name="Image 12" descr="preencoded.png"/>
          <p:cNvPicPr>
            <a:picLocks noChangeAspect="1"/>
          </p:cNvPicPr>
          <p:nvPr/>
        </p:nvPicPr>
        <p:blipFill>
          <a:blip r:embed="rId6"/>
          <a:srcRect t="-25301" b="-25301"/>
          <a:stretch/>
        </p:blipFill>
        <p:spPr>
          <a:xfrm>
            <a:off x="6486147" y="2447848"/>
            <a:ext cx="75895" cy="114300"/>
          </a:xfrm>
          <a:prstGeom prst="rect">
            <a:avLst/>
          </a:prstGeom>
        </p:spPr>
      </p:pic>
      <p:sp>
        <p:nvSpPr>
          <p:cNvPr id="43" name="Text 28"/>
          <p:cNvSpPr txBox="1"/>
          <p:nvPr/>
        </p:nvSpPr>
        <p:spPr>
          <a:xfrm>
            <a:off x="6657139" y="2391156"/>
            <a:ext cx="3282695" cy="171907"/>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TASK_NAMES</a:t>
            </a:r>
            <a:r>
              <a:rPr lang="en-US" sz="1200" dirty="0">
                <a:solidFill>
                  <a:srgbClr val="475569"/>
                </a:solidFill>
                <a:latin typeface="Noto Sans KR" pitchFamily="34" charset="0"/>
                <a:ea typeface="Noto Sans KR" pitchFamily="34" charset="-122"/>
                <a:cs typeface="Noto Sans KR" pitchFamily="34" charset="-120"/>
              </a:rPr>
              <a:t>: C1~C13 클러스터 명칭 정의</a:t>
            </a:r>
            <a:endParaRPr lang="en-US" sz="1200" dirty="0"/>
          </a:p>
        </p:txBody>
      </p:sp>
      <p:pic>
        <p:nvPicPr>
          <p:cNvPr id="44" name="Image 13" descr="preencoded.png"/>
          <p:cNvPicPr>
            <a:picLocks noChangeAspect="1"/>
          </p:cNvPicPr>
          <p:nvPr/>
        </p:nvPicPr>
        <p:blipFill>
          <a:blip r:embed="rId6"/>
          <a:srcRect t="-25301" b="-25301"/>
          <a:stretch/>
        </p:blipFill>
        <p:spPr>
          <a:xfrm>
            <a:off x="6486147" y="2714853"/>
            <a:ext cx="75895" cy="114300"/>
          </a:xfrm>
          <a:prstGeom prst="rect">
            <a:avLst/>
          </a:prstGeom>
        </p:spPr>
      </p:pic>
      <p:sp>
        <p:nvSpPr>
          <p:cNvPr id="45" name="Text 29"/>
          <p:cNvSpPr txBox="1"/>
          <p:nvPr/>
        </p:nvSpPr>
        <p:spPr>
          <a:xfrm>
            <a:off x="6657140" y="2658160"/>
            <a:ext cx="4022148" cy="19934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COG_MAPPING</a:t>
            </a:r>
            <a:r>
              <a:rPr lang="en-US" sz="1200" dirty="0">
                <a:solidFill>
                  <a:srgbClr val="475569"/>
                </a:solidFill>
                <a:latin typeface="Noto Sans KR" pitchFamily="34" charset="0"/>
                <a:ea typeface="Noto Sans KR" pitchFamily="34" charset="-122"/>
                <a:cs typeface="Noto Sans KR" pitchFamily="34" charset="-120"/>
              </a:rPr>
              <a:t>: 각 클러스터의 생물학적 기능 한글명 매핑</a:t>
            </a:r>
            <a:endParaRPr lang="en-US" sz="1200" dirty="0"/>
          </a:p>
        </p:txBody>
      </p:sp>
      <p:pic>
        <p:nvPicPr>
          <p:cNvPr id="46" name="Image 14" descr="preencoded.png"/>
          <p:cNvPicPr>
            <a:picLocks noChangeAspect="1"/>
          </p:cNvPicPr>
          <p:nvPr/>
        </p:nvPicPr>
        <p:blipFill>
          <a:blip r:embed="rId6"/>
          <a:srcRect t="-25301" b="-25301"/>
          <a:stretch/>
        </p:blipFill>
        <p:spPr>
          <a:xfrm>
            <a:off x="6486147" y="2981858"/>
            <a:ext cx="75895" cy="114300"/>
          </a:xfrm>
          <a:prstGeom prst="rect">
            <a:avLst/>
          </a:prstGeom>
        </p:spPr>
      </p:pic>
      <p:sp>
        <p:nvSpPr>
          <p:cNvPr id="47" name="Text 30"/>
          <p:cNvSpPr txBox="1"/>
          <p:nvPr/>
        </p:nvSpPr>
        <p:spPr>
          <a:xfrm>
            <a:off x="6657140" y="2924251"/>
            <a:ext cx="3633788" cy="195681"/>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체크포인트 로드</a:t>
            </a:r>
            <a:r>
              <a:rPr lang="en-US" sz="1200" dirty="0">
                <a:solidFill>
                  <a:srgbClr val="475569"/>
                </a:solidFill>
                <a:latin typeface="Noto Sans KR" pitchFamily="34" charset="0"/>
                <a:ea typeface="Noto Sans KR" pitchFamily="34" charset="-122"/>
                <a:cs typeface="Noto Sans KR" pitchFamily="34" charset="-120"/>
              </a:rPr>
              <a:t>: Torch 안전 로더로 .pt 모델 파일 로드</a:t>
            </a:r>
            <a:endParaRPr lang="en-US" sz="1200" dirty="0"/>
          </a:p>
        </p:txBody>
      </p:sp>
      <p:pic>
        <p:nvPicPr>
          <p:cNvPr id="48" name="Image 15" descr="preencoded.png"/>
          <p:cNvPicPr>
            <a:picLocks noChangeAspect="1"/>
          </p:cNvPicPr>
          <p:nvPr/>
        </p:nvPicPr>
        <p:blipFill>
          <a:blip r:embed="rId6"/>
          <a:srcRect t="-25301" b="-25301"/>
          <a:stretch/>
        </p:blipFill>
        <p:spPr>
          <a:xfrm>
            <a:off x="6486147" y="3247948"/>
            <a:ext cx="75895" cy="114300"/>
          </a:xfrm>
          <a:prstGeom prst="rect">
            <a:avLst/>
          </a:prstGeom>
        </p:spPr>
      </p:pic>
      <p:sp>
        <p:nvSpPr>
          <p:cNvPr id="49" name="Text 31"/>
          <p:cNvSpPr txBox="1"/>
          <p:nvPr/>
        </p:nvSpPr>
        <p:spPr>
          <a:xfrm>
            <a:off x="6657139" y="3185644"/>
            <a:ext cx="2881971" cy="237744"/>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스케일러 활용</a:t>
            </a:r>
            <a:r>
              <a:rPr lang="en-US" sz="1200" dirty="0">
                <a:solidFill>
                  <a:srgbClr val="475569"/>
                </a:solidFill>
                <a:latin typeface="Noto Sans KR" pitchFamily="34" charset="0"/>
                <a:ea typeface="Noto Sans KR" pitchFamily="34" charset="-122"/>
                <a:cs typeface="Noto Sans KR" pitchFamily="34" charset="-120"/>
              </a:rPr>
              <a:t>: 학습 시 정규화 파라미터 복원</a:t>
            </a:r>
            <a:endParaRPr lang="en-US" sz="1200" dirty="0"/>
          </a:p>
        </p:txBody>
      </p:sp>
      <p:pic>
        <p:nvPicPr>
          <p:cNvPr id="50" name="Image 16" descr="preencoded.png"/>
          <p:cNvPicPr>
            <a:picLocks noChangeAspect="1"/>
          </p:cNvPicPr>
          <p:nvPr/>
        </p:nvPicPr>
        <p:blipFill>
          <a:blip r:embed="rId11"/>
          <a:stretch>
            <a:fillRect/>
          </a:stretch>
        </p:blipFill>
        <p:spPr>
          <a:xfrm>
            <a:off x="6486147" y="3458260"/>
            <a:ext cx="638251" cy="256946"/>
          </a:xfrm>
          <a:prstGeom prst="rect">
            <a:avLst/>
          </a:prstGeom>
        </p:spPr>
      </p:pic>
      <p:sp>
        <p:nvSpPr>
          <p:cNvPr id="51" name="Text 32"/>
          <p:cNvSpPr/>
          <p:nvPr/>
        </p:nvSpPr>
        <p:spPr>
          <a:xfrm>
            <a:off x="6486147" y="3458260"/>
            <a:ext cx="6382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PyTorch</a:t>
            </a:r>
            <a:endParaRPr lang="en-US" sz="1100" dirty="0"/>
          </a:p>
        </p:txBody>
      </p:sp>
      <p:pic>
        <p:nvPicPr>
          <p:cNvPr id="53" name="Image 17" descr="preencoded.png"/>
          <p:cNvPicPr>
            <a:picLocks noChangeAspect="1"/>
          </p:cNvPicPr>
          <p:nvPr/>
        </p:nvPicPr>
        <p:blipFill>
          <a:blip r:embed="rId12"/>
          <a:stretch>
            <a:fillRect/>
          </a:stretch>
        </p:blipFill>
        <p:spPr>
          <a:xfrm>
            <a:off x="7199379" y="3458260"/>
            <a:ext cx="771754" cy="256946"/>
          </a:xfrm>
          <a:prstGeom prst="rect">
            <a:avLst/>
          </a:prstGeom>
        </p:spPr>
      </p:pic>
      <p:sp>
        <p:nvSpPr>
          <p:cNvPr id="54" name="Text 34"/>
          <p:cNvSpPr/>
          <p:nvPr/>
        </p:nvSpPr>
        <p:spPr>
          <a:xfrm>
            <a:off x="7199379" y="3458260"/>
            <a:ext cx="7717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Chemprop</a:t>
            </a:r>
            <a:endParaRPr lang="en-US" sz="1100" dirty="0"/>
          </a:p>
        </p:txBody>
      </p:sp>
      <p:pic>
        <p:nvPicPr>
          <p:cNvPr id="56" name="Image 18" descr="preencoded.png"/>
          <p:cNvPicPr>
            <a:picLocks noChangeAspect="1"/>
          </p:cNvPicPr>
          <p:nvPr/>
        </p:nvPicPr>
        <p:blipFill>
          <a:blip r:embed="rId13"/>
          <a:stretch>
            <a:fillRect/>
          </a:stretch>
        </p:blipFill>
        <p:spPr>
          <a:xfrm>
            <a:off x="8039712" y="3458260"/>
            <a:ext cx="523951" cy="256946"/>
          </a:xfrm>
          <a:prstGeom prst="rect">
            <a:avLst/>
          </a:prstGeom>
        </p:spPr>
      </p:pic>
      <p:sp>
        <p:nvSpPr>
          <p:cNvPr id="57" name="Text 36"/>
          <p:cNvSpPr/>
          <p:nvPr/>
        </p:nvSpPr>
        <p:spPr>
          <a:xfrm>
            <a:off x="8039712" y="3458260"/>
            <a:ext cx="5239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RDKit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3814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프론트엔드 구조</a:t>
            </a:r>
            <a:endParaRPr lang="en-US" sz="2400" dirty="0"/>
          </a:p>
        </p:txBody>
      </p:sp>
      <p:sp>
        <p:nvSpPr>
          <p:cNvPr id="5" name="Text 3"/>
          <p:cNvSpPr txBox="1"/>
          <p:nvPr/>
        </p:nvSpPr>
        <p:spPr>
          <a:xfrm>
            <a:off x="476402" y="685800"/>
            <a:ext cx="3784702"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index.html + Tailwind CSS + Plotly.js 아키텍처</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06907" y="1478584"/>
            <a:ext cx="5477256" cy="4414215"/>
          </a:xfrm>
          <a:prstGeom prst="roundRect">
            <a:avLst>
              <a:gd name="adj" fmla="val 676"/>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06907" y="1478584"/>
            <a:ext cx="38405" cy="4414215"/>
          </a:xfrm>
          <a:prstGeom prst="roundRect">
            <a:avLst>
              <a:gd name="adj" fmla="val 56521"/>
            </a:avLst>
          </a:prstGeom>
          <a:solidFill>
            <a:srgbClr val="8B5CF6"/>
          </a:solidFill>
          <a:ln w="12700">
            <a:solidFill>
              <a:srgbClr val="8B5CF6">
                <a:alpha val="0"/>
              </a:srgbClr>
            </a:solidFill>
            <a:prstDash val="solid"/>
          </a:ln>
        </p:spPr>
      </p:sp>
      <p:pic>
        <p:nvPicPr>
          <p:cNvPr id="9" name="Image 1" descr="preencoded.png"/>
          <p:cNvPicPr>
            <a:picLocks noChangeAspect="1"/>
          </p:cNvPicPr>
          <p:nvPr/>
        </p:nvPicPr>
        <p:blipFill>
          <a:blip r:embed="rId4"/>
          <a:srcRect l="-775" r="-775"/>
          <a:stretch/>
        </p:blipFill>
        <p:spPr>
          <a:xfrm>
            <a:off x="654710" y="1766621"/>
            <a:ext cx="314554" cy="247802"/>
          </a:xfrm>
          <a:prstGeom prst="rect">
            <a:avLst/>
          </a:prstGeom>
        </p:spPr>
      </p:pic>
      <p:sp>
        <p:nvSpPr>
          <p:cNvPr id="10" name="Text 6"/>
          <p:cNvSpPr txBox="1"/>
          <p:nvPr/>
        </p:nvSpPr>
        <p:spPr>
          <a:xfrm>
            <a:off x="1082649" y="1745590"/>
            <a:ext cx="2376740" cy="299923"/>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HTML 구조 및 스타일링</a:t>
            </a:r>
            <a:endParaRPr lang="en-US" dirty="0"/>
          </a:p>
        </p:txBody>
      </p:sp>
      <p:sp>
        <p:nvSpPr>
          <p:cNvPr id="11" name="Shape 7"/>
          <p:cNvSpPr/>
          <p:nvPr/>
        </p:nvSpPr>
        <p:spPr>
          <a:xfrm>
            <a:off x="654710" y="2211934"/>
            <a:ext cx="5020056" cy="629107"/>
          </a:xfrm>
          <a:prstGeom prst="roundRect">
            <a:avLst>
              <a:gd name="adj" fmla="val 13214"/>
            </a:avLst>
          </a:prstGeom>
          <a:solidFill>
            <a:srgbClr val="F8FAFC"/>
          </a:solidFill>
          <a:ln w="12700">
            <a:solidFill>
              <a:srgbClr val="E2E8F0"/>
            </a:solidFill>
            <a:prstDash val="solid"/>
          </a:ln>
        </p:spPr>
      </p:sp>
      <p:pic>
        <p:nvPicPr>
          <p:cNvPr id="12" name="Image 2" descr="preencoded.png"/>
          <p:cNvPicPr>
            <a:picLocks noChangeAspect="1"/>
          </p:cNvPicPr>
          <p:nvPr/>
        </p:nvPicPr>
        <p:blipFill>
          <a:blip r:embed="rId5"/>
          <a:srcRect/>
          <a:stretch/>
        </p:blipFill>
        <p:spPr>
          <a:xfrm>
            <a:off x="868679" y="2433219"/>
            <a:ext cx="142646" cy="190195"/>
          </a:xfrm>
          <a:prstGeom prst="rect">
            <a:avLst/>
          </a:prstGeom>
        </p:spPr>
      </p:pic>
      <p:sp>
        <p:nvSpPr>
          <p:cNvPr id="13" name="Text 8"/>
          <p:cNvSpPr txBox="1"/>
          <p:nvPr/>
        </p:nvSpPr>
        <p:spPr>
          <a:xfrm>
            <a:off x="1196949" y="2335378"/>
            <a:ext cx="4448556"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index.html</a:t>
            </a:r>
            <a:endParaRPr lang="en-US" sz="1600" dirty="0"/>
          </a:p>
        </p:txBody>
      </p:sp>
      <p:sp>
        <p:nvSpPr>
          <p:cNvPr id="14" name="Text 9"/>
          <p:cNvSpPr txBox="1"/>
          <p:nvPr/>
        </p:nvSpPr>
        <p:spPr>
          <a:xfrm>
            <a:off x="1196949" y="2554834"/>
            <a:ext cx="4524451"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단일 페이지 애플리케이션(SPA) 구조</a:t>
            </a:r>
            <a:endParaRPr lang="en-US" sz="1200" dirty="0"/>
          </a:p>
        </p:txBody>
      </p:sp>
      <p:sp>
        <p:nvSpPr>
          <p:cNvPr id="15" name="Shape 10"/>
          <p:cNvSpPr/>
          <p:nvPr/>
        </p:nvSpPr>
        <p:spPr>
          <a:xfrm>
            <a:off x="654710" y="2949855"/>
            <a:ext cx="5020056" cy="629107"/>
          </a:xfrm>
          <a:prstGeom prst="roundRect">
            <a:avLst>
              <a:gd name="adj" fmla="val 13214"/>
            </a:avLst>
          </a:prstGeom>
          <a:solidFill>
            <a:srgbClr val="F8FAFC"/>
          </a:solidFill>
          <a:ln w="12700">
            <a:solidFill>
              <a:srgbClr val="E2E8F0"/>
            </a:solidFill>
            <a:prstDash val="solid"/>
          </a:ln>
        </p:spPr>
      </p:sp>
      <p:pic>
        <p:nvPicPr>
          <p:cNvPr id="16" name="Image 3" descr="preencoded.png"/>
          <p:cNvPicPr>
            <a:picLocks noChangeAspect="1"/>
          </p:cNvPicPr>
          <p:nvPr/>
        </p:nvPicPr>
        <p:blipFill>
          <a:blip r:embed="rId6"/>
          <a:srcRect/>
          <a:stretch/>
        </p:blipFill>
        <p:spPr>
          <a:xfrm>
            <a:off x="868679" y="3171140"/>
            <a:ext cx="142646" cy="190195"/>
          </a:xfrm>
          <a:prstGeom prst="rect">
            <a:avLst/>
          </a:prstGeom>
        </p:spPr>
      </p:pic>
      <p:sp>
        <p:nvSpPr>
          <p:cNvPr id="17" name="Text 11"/>
          <p:cNvSpPr txBox="1"/>
          <p:nvPr/>
        </p:nvSpPr>
        <p:spPr>
          <a:xfrm>
            <a:off x="1196949" y="3074213"/>
            <a:ext cx="4448556"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Tailwind CSS</a:t>
            </a:r>
            <a:endParaRPr lang="en-US" sz="1600" dirty="0"/>
          </a:p>
        </p:txBody>
      </p:sp>
      <p:sp>
        <p:nvSpPr>
          <p:cNvPr id="18" name="Text 12"/>
          <p:cNvSpPr txBox="1"/>
          <p:nvPr/>
        </p:nvSpPr>
        <p:spPr>
          <a:xfrm>
            <a:off x="1196949" y="3292755"/>
            <a:ext cx="4524451"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유틸리티 기반 스타일링 프레임워크</a:t>
            </a:r>
            <a:endParaRPr lang="en-US" sz="1200" dirty="0"/>
          </a:p>
        </p:txBody>
      </p:sp>
      <p:pic>
        <p:nvPicPr>
          <p:cNvPr id="19" name="Image 4" descr="preencoded.png"/>
          <p:cNvPicPr>
            <a:picLocks noChangeAspect="1"/>
          </p:cNvPicPr>
          <p:nvPr/>
        </p:nvPicPr>
        <p:blipFill>
          <a:blip r:embed="rId7"/>
          <a:srcRect t="-25301" b="-25301"/>
          <a:stretch/>
        </p:blipFill>
        <p:spPr>
          <a:xfrm>
            <a:off x="654710" y="3755543"/>
            <a:ext cx="75895" cy="114300"/>
          </a:xfrm>
          <a:prstGeom prst="rect">
            <a:avLst/>
          </a:prstGeom>
        </p:spPr>
      </p:pic>
      <p:sp>
        <p:nvSpPr>
          <p:cNvPr id="20" name="Text 13"/>
          <p:cNvSpPr txBox="1"/>
          <p:nvPr/>
        </p:nvSpPr>
        <p:spPr>
          <a:xfrm>
            <a:off x="825702" y="3698850"/>
            <a:ext cx="4486961" cy="218542"/>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반응형 레이아웃</a:t>
            </a:r>
            <a:r>
              <a:rPr lang="en-US" sz="1400" dirty="0">
                <a:solidFill>
                  <a:srgbClr val="475569"/>
                </a:solidFill>
                <a:latin typeface="Noto Sans KR" pitchFamily="34" charset="0"/>
                <a:ea typeface="Noto Sans KR" pitchFamily="34" charset="-122"/>
                <a:cs typeface="Noto Sans KR" pitchFamily="34" charset="-120"/>
              </a:rPr>
              <a:t>: Flexbox와 Grid로 적응형 UI 구성</a:t>
            </a:r>
            <a:endParaRPr lang="en-US" sz="1400" dirty="0"/>
          </a:p>
        </p:txBody>
      </p:sp>
      <p:pic>
        <p:nvPicPr>
          <p:cNvPr id="23" name="Image 6" descr="preencoded.png"/>
          <p:cNvPicPr>
            <a:picLocks noChangeAspect="1"/>
          </p:cNvPicPr>
          <p:nvPr/>
        </p:nvPicPr>
        <p:blipFill>
          <a:blip r:embed="rId8"/>
          <a:stretch>
            <a:fillRect/>
          </a:stretch>
        </p:blipFill>
        <p:spPr>
          <a:xfrm>
            <a:off x="654710" y="4221785"/>
            <a:ext cx="580644" cy="256946"/>
          </a:xfrm>
          <a:prstGeom prst="rect">
            <a:avLst/>
          </a:prstGeom>
        </p:spPr>
      </p:pic>
      <p:sp>
        <p:nvSpPr>
          <p:cNvPr id="24" name="Text 15"/>
          <p:cNvSpPr/>
          <p:nvPr/>
        </p:nvSpPr>
        <p:spPr>
          <a:xfrm>
            <a:off x="654710" y="4221785"/>
            <a:ext cx="5815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HTML5</a:t>
            </a:r>
            <a:endParaRPr lang="en-US" sz="1200" dirty="0"/>
          </a:p>
        </p:txBody>
      </p:sp>
      <p:pic>
        <p:nvPicPr>
          <p:cNvPr id="26" name="Image 7" descr="preencoded.png"/>
          <p:cNvPicPr>
            <a:picLocks noChangeAspect="1"/>
          </p:cNvPicPr>
          <p:nvPr/>
        </p:nvPicPr>
        <p:blipFill>
          <a:blip r:embed="rId9"/>
          <a:stretch>
            <a:fillRect/>
          </a:stretch>
        </p:blipFill>
        <p:spPr>
          <a:xfrm>
            <a:off x="1311249" y="4221785"/>
            <a:ext cx="886054" cy="256946"/>
          </a:xfrm>
          <a:prstGeom prst="rect">
            <a:avLst/>
          </a:prstGeom>
        </p:spPr>
      </p:pic>
      <p:sp>
        <p:nvSpPr>
          <p:cNvPr id="27" name="Text 17"/>
          <p:cNvSpPr/>
          <p:nvPr/>
        </p:nvSpPr>
        <p:spPr>
          <a:xfrm>
            <a:off x="1311249" y="4221785"/>
            <a:ext cx="8860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Tailwind CSS</a:t>
            </a:r>
            <a:endParaRPr lang="en-US" sz="1200" dirty="0"/>
          </a:p>
        </p:txBody>
      </p:sp>
      <p:pic>
        <p:nvPicPr>
          <p:cNvPr id="29" name="Image 8" descr="preencoded.png"/>
          <p:cNvPicPr>
            <a:picLocks noChangeAspect="1"/>
          </p:cNvPicPr>
          <p:nvPr/>
        </p:nvPicPr>
        <p:blipFill>
          <a:blip r:embed="rId10"/>
          <a:stretch>
            <a:fillRect/>
          </a:stretch>
        </p:blipFill>
        <p:spPr>
          <a:xfrm>
            <a:off x="2269540" y="4221785"/>
            <a:ext cx="981151" cy="256946"/>
          </a:xfrm>
          <a:prstGeom prst="rect">
            <a:avLst/>
          </a:prstGeom>
        </p:spPr>
      </p:pic>
      <p:sp>
        <p:nvSpPr>
          <p:cNvPr id="30" name="Text 19"/>
          <p:cNvSpPr/>
          <p:nvPr/>
        </p:nvSpPr>
        <p:spPr>
          <a:xfrm>
            <a:off x="2269540" y="4221785"/>
            <a:ext cx="9811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Font Awesome</a:t>
            </a:r>
            <a:endParaRPr lang="en-US" sz="1200" dirty="0"/>
          </a:p>
        </p:txBody>
      </p:sp>
      <p:sp>
        <p:nvSpPr>
          <p:cNvPr id="32" name="Shape 21"/>
          <p:cNvSpPr/>
          <p:nvPr/>
        </p:nvSpPr>
        <p:spPr>
          <a:xfrm>
            <a:off x="6238037" y="1478585"/>
            <a:ext cx="5477256" cy="4414214"/>
          </a:xfrm>
          <a:prstGeom prst="roundRect">
            <a:avLst>
              <a:gd name="adj" fmla="val 676"/>
            </a:avLst>
          </a:prstGeom>
          <a:solidFill>
            <a:srgbClr val="FFFFFF"/>
          </a:solidFill>
          <a:ln/>
          <a:effectLst>
            <a:outerShdw blurRad="76200" dist="25400" dir="16200000" algn="bl" rotWithShape="0">
              <a:srgbClr val="000000">
                <a:alpha val="8000"/>
              </a:srgbClr>
            </a:outerShdw>
          </a:effectLst>
        </p:spPr>
      </p:sp>
      <p:sp>
        <p:nvSpPr>
          <p:cNvPr id="33" name="Shape 22"/>
          <p:cNvSpPr/>
          <p:nvPr/>
        </p:nvSpPr>
        <p:spPr>
          <a:xfrm>
            <a:off x="6238037" y="1478585"/>
            <a:ext cx="38405" cy="4414214"/>
          </a:xfrm>
          <a:prstGeom prst="roundRect">
            <a:avLst>
              <a:gd name="adj" fmla="val 56521"/>
            </a:avLst>
          </a:prstGeom>
          <a:solidFill>
            <a:srgbClr val="8B5CF6"/>
          </a:solidFill>
          <a:ln w="12700">
            <a:solidFill>
              <a:srgbClr val="8B5CF6">
                <a:alpha val="0"/>
              </a:srgbClr>
            </a:solidFill>
            <a:prstDash val="solid"/>
          </a:ln>
        </p:spPr>
      </p:sp>
      <p:pic>
        <p:nvPicPr>
          <p:cNvPr id="34" name="Image 9" descr="preencoded.png"/>
          <p:cNvPicPr>
            <a:picLocks noChangeAspect="1"/>
          </p:cNvPicPr>
          <p:nvPr/>
        </p:nvPicPr>
        <p:blipFill>
          <a:blip r:embed="rId11"/>
          <a:srcRect/>
          <a:stretch/>
        </p:blipFill>
        <p:spPr>
          <a:xfrm>
            <a:off x="6485840" y="1766621"/>
            <a:ext cx="247802" cy="247802"/>
          </a:xfrm>
          <a:prstGeom prst="rect">
            <a:avLst/>
          </a:prstGeom>
        </p:spPr>
      </p:pic>
      <p:sp>
        <p:nvSpPr>
          <p:cNvPr id="35" name="Text 23"/>
          <p:cNvSpPr txBox="1"/>
          <p:nvPr/>
        </p:nvSpPr>
        <p:spPr>
          <a:xfrm>
            <a:off x="6847941" y="1745589"/>
            <a:ext cx="2147541" cy="268834"/>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시각화 및 인터랙션</a:t>
            </a:r>
            <a:endParaRPr lang="en-US" dirty="0"/>
          </a:p>
        </p:txBody>
      </p:sp>
      <p:sp>
        <p:nvSpPr>
          <p:cNvPr id="36" name="Shape 24"/>
          <p:cNvSpPr/>
          <p:nvPr/>
        </p:nvSpPr>
        <p:spPr>
          <a:xfrm>
            <a:off x="6485840" y="2211933"/>
            <a:ext cx="5020056" cy="629107"/>
          </a:xfrm>
          <a:prstGeom prst="roundRect">
            <a:avLst>
              <a:gd name="adj" fmla="val 13214"/>
            </a:avLst>
          </a:prstGeom>
          <a:solidFill>
            <a:srgbClr val="F8FAFC"/>
          </a:solidFill>
          <a:ln w="12700">
            <a:solidFill>
              <a:srgbClr val="E2E8F0"/>
            </a:solidFill>
            <a:prstDash val="solid"/>
          </a:ln>
        </p:spPr>
      </p:sp>
      <p:sp>
        <p:nvSpPr>
          <p:cNvPr id="37" name="Text 25"/>
          <p:cNvSpPr txBox="1"/>
          <p:nvPr/>
        </p:nvSpPr>
        <p:spPr>
          <a:xfrm>
            <a:off x="7028079" y="2336292"/>
            <a:ext cx="4448556"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Plotly.js 레이더 차트</a:t>
            </a:r>
            <a:endParaRPr lang="en-US" sz="1600" dirty="0"/>
          </a:p>
        </p:txBody>
      </p:sp>
      <p:sp>
        <p:nvSpPr>
          <p:cNvPr id="38" name="Text 26"/>
          <p:cNvSpPr txBox="1"/>
          <p:nvPr/>
        </p:nvSpPr>
        <p:spPr>
          <a:xfrm>
            <a:off x="7028079" y="2554833"/>
            <a:ext cx="4524451"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13축 레이더 차트로 C1-C13 클러스터 시각화</a:t>
            </a:r>
            <a:endParaRPr lang="en-US" sz="1200" dirty="0"/>
          </a:p>
        </p:txBody>
      </p:sp>
      <p:sp>
        <p:nvSpPr>
          <p:cNvPr id="39" name="Shape 27"/>
          <p:cNvSpPr/>
          <p:nvPr/>
        </p:nvSpPr>
        <p:spPr>
          <a:xfrm>
            <a:off x="6485840" y="2950769"/>
            <a:ext cx="5020056" cy="629107"/>
          </a:xfrm>
          <a:prstGeom prst="roundRect">
            <a:avLst>
              <a:gd name="adj" fmla="val 13214"/>
            </a:avLst>
          </a:prstGeom>
          <a:solidFill>
            <a:srgbClr val="F8FAFC"/>
          </a:solidFill>
          <a:ln w="12700">
            <a:solidFill>
              <a:srgbClr val="E2E8F0"/>
            </a:solidFill>
            <a:prstDash val="solid"/>
          </a:ln>
        </p:spPr>
      </p:sp>
      <p:pic>
        <p:nvPicPr>
          <p:cNvPr id="40" name="Image 10" descr="preencoded.png"/>
          <p:cNvPicPr>
            <a:picLocks noChangeAspect="1"/>
          </p:cNvPicPr>
          <p:nvPr/>
        </p:nvPicPr>
        <p:blipFill>
          <a:blip r:embed="rId12"/>
          <a:srcRect l="-1648" r="-1648"/>
          <a:stretch/>
        </p:blipFill>
        <p:spPr>
          <a:xfrm>
            <a:off x="6685179" y="3172053"/>
            <a:ext cx="171907" cy="190195"/>
          </a:xfrm>
          <a:prstGeom prst="rect">
            <a:avLst/>
          </a:prstGeom>
        </p:spPr>
      </p:pic>
      <p:sp>
        <p:nvSpPr>
          <p:cNvPr id="41" name="Text 28"/>
          <p:cNvSpPr txBox="1"/>
          <p:nvPr/>
        </p:nvSpPr>
        <p:spPr>
          <a:xfrm>
            <a:off x="7028079" y="3074213"/>
            <a:ext cx="4448556" cy="200254"/>
          </a:xfrm>
          <a:prstGeom prst="rect">
            <a:avLst/>
          </a:prstGeom>
          <a:noFill/>
          <a:ln/>
        </p:spPr>
        <p:txBody>
          <a:bodyPr wrap="square" lIns="0" tIns="0" rIns="0" bIns="0" rtlCol="0" anchor="ctr"/>
          <a:lstStyle/>
          <a:p>
            <a:pPr marL="0" indent="0" algn="l">
              <a:buNone/>
            </a:pPr>
            <a:r>
              <a:rPr lang="en-US" sz="1600" b="1" dirty="0">
                <a:solidFill>
                  <a:srgbClr val="1E293B"/>
                </a:solidFill>
                <a:latin typeface="Noto Sans KR" pitchFamily="34" charset="0"/>
                <a:ea typeface="Noto Sans KR" pitchFamily="34" charset="-122"/>
                <a:cs typeface="Noto Sans KR" pitchFamily="34" charset="-120"/>
              </a:rPr>
              <a:t>Vanilla JavaScript</a:t>
            </a:r>
            <a:endParaRPr lang="en-US" sz="1600" dirty="0"/>
          </a:p>
        </p:txBody>
      </p:sp>
      <p:sp>
        <p:nvSpPr>
          <p:cNvPr id="42" name="Text 29"/>
          <p:cNvSpPr txBox="1"/>
          <p:nvPr/>
        </p:nvSpPr>
        <p:spPr>
          <a:xfrm>
            <a:off x="7028079" y="3293669"/>
            <a:ext cx="4448556" cy="162763"/>
          </a:xfrm>
          <a:prstGeom prst="rect">
            <a:avLst/>
          </a:prstGeom>
          <a:noFill/>
          <a:ln/>
        </p:spPr>
        <p:txBody>
          <a:bodyPr wrap="square" lIns="0" tIns="0" rIns="0" bIns="0" rtlCol="0" anchor="ctr"/>
          <a:lstStyle/>
          <a:p>
            <a:pPr marL="0" indent="0" algn="l">
              <a:buNone/>
            </a:pPr>
            <a:r>
              <a:rPr lang="en-US" sz="1200" dirty="0">
                <a:solidFill>
                  <a:srgbClr val="64748B"/>
                </a:solidFill>
                <a:latin typeface="Noto Sans KR" pitchFamily="34" charset="0"/>
                <a:ea typeface="Noto Sans KR" pitchFamily="34" charset="-122"/>
                <a:cs typeface="Noto Sans KR" pitchFamily="34" charset="-120"/>
              </a:rPr>
              <a:t>API 호출, DOM 조작, 이벤트 처리</a:t>
            </a:r>
            <a:endParaRPr lang="en-US" sz="1200" dirty="0"/>
          </a:p>
        </p:txBody>
      </p:sp>
      <p:pic>
        <p:nvPicPr>
          <p:cNvPr id="43" name="Image 11" descr="preencoded.png"/>
          <p:cNvPicPr>
            <a:picLocks noChangeAspect="1"/>
          </p:cNvPicPr>
          <p:nvPr/>
        </p:nvPicPr>
        <p:blipFill>
          <a:blip r:embed="rId7"/>
          <a:srcRect t="-25301" b="-25301"/>
          <a:stretch/>
        </p:blipFill>
        <p:spPr>
          <a:xfrm>
            <a:off x="6485840" y="3746297"/>
            <a:ext cx="75895" cy="114300"/>
          </a:xfrm>
          <a:prstGeom prst="rect">
            <a:avLst/>
          </a:prstGeom>
        </p:spPr>
      </p:pic>
      <p:sp>
        <p:nvSpPr>
          <p:cNvPr id="44" name="Text 30"/>
          <p:cNvSpPr txBox="1"/>
          <p:nvPr/>
        </p:nvSpPr>
        <p:spPr>
          <a:xfrm>
            <a:off x="6656832" y="3717544"/>
            <a:ext cx="4122927" cy="181154"/>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실시간 업데이트</a:t>
            </a:r>
            <a:r>
              <a:rPr lang="en-US" sz="1400" dirty="0">
                <a:solidFill>
                  <a:srgbClr val="475569"/>
                </a:solidFill>
                <a:latin typeface="Noto Sans KR" pitchFamily="34" charset="0"/>
                <a:ea typeface="Noto Sans KR" pitchFamily="34" charset="-122"/>
                <a:cs typeface="Noto Sans KR" pitchFamily="34" charset="-120"/>
              </a:rPr>
              <a:t>: Fetch API로 백엔드와 비동기 통신</a:t>
            </a:r>
            <a:endParaRPr lang="en-US" sz="1400" dirty="0"/>
          </a:p>
        </p:txBody>
      </p:sp>
      <p:pic>
        <p:nvPicPr>
          <p:cNvPr id="45" name="Image 12" descr="preencoded.png"/>
          <p:cNvPicPr>
            <a:picLocks noChangeAspect="1"/>
          </p:cNvPicPr>
          <p:nvPr/>
        </p:nvPicPr>
        <p:blipFill>
          <a:blip r:embed="rId7"/>
          <a:srcRect t="-25301" b="-25301"/>
          <a:stretch/>
        </p:blipFill>
        <p:spPr>
          <a:xfrm>
            <a:off x="6485840" y="4012387"/>
            <a:ext cx="75895" cy="114300"/>
          </a:xfrm>
          <a:prstGeom prst="rect">
            <a:avLst/>
          </a:prstGeom>
        </p:spPr>
      </p:pic>
      <p:sp>
        <p:nvSpPr>
          <p:cNvPr id="46" name="Text 31"/>
          <p:cNvSpPr txBox="1"/>
          <p:nvPr/>
        </p:nvSpPr>
        <p:spPr>
          <a:xfrm>
            <a:off x="6656833" y="3955694"/>
            <a:ext cx="4458207" cy="275337"/>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인터랙티브 툴팁</a:t>
            </a:r>
            <a:r>
              <a:rPr lang="en-US" sz="1400" dirty="0">
                <a:solidFill>
                  <a:srgbClr val="475569"/>
                </a:solidFill>
                <a:latin typeface="Noto Sans KR" pitchFamily="34" charset="0"/>
                <a:ea typeface="Noto Sans KR" pitchFamily="34" charset="-122"/>
                <a:cs typeface="Noto Sans KR" pitchFamily="34" charset="-120"/>
              </a:rPr>
              <a:t>: 호버 시 클러스터 상세 정보 표시</a:t>
            </a:r>
            <a:endParaRPr lang="en-US" sz="1400" dirty="0"/>
          </a:p>
        </p:txBody>
      </p:sp>
      <p:pic>
        <p:nvPicPr>
          <p:cNvPr id="47" name="Image 13" descr="preencoded.png"/>
          <p:cNvPicPr>
            <a:picLocks noChangeAspect="1"/>
          </p:cNvPicPr>
          <p:nvPr/>
        </p:nvPicPr>
        <p:blipFill>
          <a:blip r:embed="rId13"/>
          <a:stretch>
            <a:fillRect/>
          </a:stretch>
        </p:blipFill>
        <p:spPr>
          <a:xfrm>
            <a:off x="6485840" y="4221785"/>
            <a:ext cx="647395" cy="256946"/>
          </a:xfrm>
          <a:prstGeom prst="rect">
            <a:avLst/>
          </a:prstGeom>
        </p:spPr>
      </p:pic>
      <p:sp>
        <p:nvSpPr>
          <p:cNvPr id="48" name="Text 32"/>
          <p:cNvSpPr/>
          <p:nvPr/>
        </p:nvSpPr>
        <p:spPr>
          <a:xfrm>
            <a:off x="6485840" y="4221785"/>
            <a:ext cx="64831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Plotly.js</a:t>
            </a:r>
            <a:endParaRPr lang="en-US" sz="1200" dirty="0"/>
          </a:p>
        </p:txBody>
      </p:sp>
      <p:pic>
        <p:nvPicPr>
          <p:cNvPr id="50" name="Image 14" descr="preencoded.png"/>
          <p:cNvPicPr>
            <a:picLocks noChangeAspect="1"/>
          </p:cNvPicPr>
          <p:nvPr/>
        </p:nvPicPr>
        <p:blipFill>
          <a:blip r:embed="rId14"/>
          <a:stretch>
            <a:fillRect/>
          </a:stretch>
        </p:blipFill>
        <p:spPr>
          <a:xfrm>
            <a:off x="7201815" y="4221785"/>
            <a:ext cx="705002" cy="256946"/>
          </a:xfrm>
          <a:prstGeom prst="rect">
            <a:avLst/>
          </a:prstGeom>
        </p:spPr>
      </p:pic>
      <p:sp>
        <p:nvSpPr>
          <p:cNvPr id="51" name="Text 34"/>
          <p:cNvSpPr/>
          <p:nvPr/>
        </p:nvSpPr>
        <p:spPr>
          <a:xfrm>
            <a:off x="7201815" y="4221785"/>
            <a:ext cx="7050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Fetch API</a:t>
            </a:r>
            <a:endParaRPr lang="en-US" sz="1200" dirty="0"/>
          </a:p>
        </p:txBody>
      </p:sp>
      <p:pic>
        <p:nvPicPr>
          <p:cNvPr id="53" name="Image 15" descr="preencoded.png"/>
          <p:cNvPicPr>
            <a:picLocks noChangeAspect="1"/>
          </p:cNvPicPr>
          <p:nvPr/>
        </p:nvPicPr>
        <p:blipFill>
          <a:blip r:embed="rId15"/>
          <a:stretch>
            <a:fillRect/>
          </a:stretch>
        </p:blipFill>
        <p:spPr>
          <a:xfrm>
            <a:off x="7981798" y="4221785"/>
            <a:ext cx="485546" cy="256946"/>
          </a:xfrm>
          <a:prstGeom prst="rect">
            <a:avLst/>
          </a:prstGeom>
        </p:spPr>
      </p:pic>
      <p:sp>
        <p:nvSpPr>
          <p:cNvPr id="54" name="Text 36"/>
          <p:cNvSpPr/>
          <p:nvPr/>
        </p:nvSpPr>
        <p:spPr>
          <a:xfrm>
            <a:off x="7981798" y="4221785"/>
            <a:ext cx="4864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6B21A8"/>
                </a:solidFill>
                <a:latin typeface="Noto Sans KR" pitchFamily="34" charset="0"/>
                <a:ea typeface="Noto Sans KR" pitchFamily="34" charset="-122"/>
                <a:cs typeface="Noto Sans KR" pitchFamily="34" charset="-120"/>
              </a:rPr>
              <a:t>ES6+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9242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주요 모듈 설명</a:t>
            </a:r>
            <a:endParaRPr lang="en-US" sz="2400" dirty="0"/>
          </a:p>
        </p:txBody>
      </p:sp>
      <p:sp>
        <p:nvSpPr>
          <p:cNvPr id="5" name="Text 3"/>
          <p:cNvSpPr txBox="1"/>
          <p:nvPr/>
        </p:nvSpPr>
        <p:spPr>
          <a:xfrm>
            <a:off x="476402" y="685800"/>
            <a:ext cx="3253435"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model_service.py 핵심 구성 요소 및 기능</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390802"/>
            <a:ext cx="4981651" cy="2210105"/>
          </a:xfrm>
          <a:prstGeom prst="roundRect">
            <a:avLst>
              <a:gd name="adj" fmla="val 1427"/>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90802"/>
            <a:ext cx="38405" cy="2210105"/>
          </a:xfrm>
          <a:prstGeom prst="roundRect">
            <a:avLst>
              <a:gd name="adj" fmla="val 82101"/>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705002" y="1647749"/>
            <a:ext cx="228600" cy="228600"/>
          </a:xfrm>
          <a:prstGeom prst="rect">
            <a:avLst/>
          </a:prstGeom>
        </p:spPr>
      </p:pic>
      <p:sp>
        <p:nvSpPr>
          <p:cNvPr id="10" name="Text 6"/>
          <p:cNvSpPr txBox="1"/>
          <p:nvPr/>
        </p:nvSpPr>
        <p:spPr>
          <a:xfrm>
            <a:off x="1047901" y="1638605"/>
            <a:ext cx="2758745" cy="220370"/>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TASK_NAMES 상수 정의</a:t>
            </a:r>
            <a:endParaRPr lang="en-US" dirty="0"/>
          </a:p>
        </p:txBody>
      </p:sp>
      <p:sp>
        <p:nvSpPr>
          <p:cNvPr id="11" name="Shape 7"/>
          <p:cNvSpPr/>
          <p:nvPr/>
        </p:nvSpPr>
        <p:spPr>
          <a:xfrm>
            <a:off x="705002" y="2057400"/>
            <a:ext cx="4562856" cy="590702"/>
          </a:xfrm>
          <a:prstGeom prst="roundRect">
            <a:avLst>
              <a:gd name="adj" fmla="val 14981"/>
            </a:avLst>
          </a:prstGeom>
          <a:solidFill>
            <a:srgbClr val="F1F5F9"/>
          </a:solidFill>
          <a:ln w="12700">
            <a:solidFill>
              <a:srgbClr val="E2E8F0"/>
            </a:solidFill>
            <a:prstDash val="solid"/>
          </a:ln>
        </p:spPr>
      </p:sp>
      <p:sp>
        <p:nvSpPr>
          <p:cNvPr id="12" name="Text 8"/>
          <p:cNvSpPr txBox="1"/>
          <p:nvPr/>
        </p:nvSpPr>
        <p:spPr>
          <a:xfrm>
            <a:off x="828446" y="2162556"/>
            <a:ext cx="4429354" cy="171907"/>
          </a:xfrm>
          <a:prstGeom prst="rect">
            <a:avLst/>
          </a:prstGeom>
          <a:noFill/>
          <a:ln/>
        </p:spPr>
        <p:txBody>
          <a:bodyPr wrap="square" lIns="0" tIns="0" rIns="0" bIns="0" rtlCol="0" anchor="ctr"/>
          <a:lstStyle/>
          <a:p>
            <a:pPr marL="0" indent="0" algn="l">
              <a:buNone/>
            </a:pPr>
            <a:r>
              <a:rPr lang="en-US" sz="1050" b="1" dirty="0">
                <a:solidFill>
                  <a:srgbClr val="DC2626"/>
                </a:solidFill>
                <a:latin typeface="Courier New" pitchFamily="34" charset="0"/>
                <a:ea typeface="Courier New" pitchFamily="34" charset="-122"/>
                <a:cs typeface="Courier New" pitchFamily="34" charset="-120"/>
              </a:rPr>
              <a:t>TASK_NAMES</a:t>
            </a:r>
            <a:r>
              <a:rPr lang="en-US" sz="1050" dirty="0">
                <a:solidFill>
                  <a:srgbClr val="334155"/>
                </a:solidFill>
                <a:latin typeface="Courier New" pitchFamily="34" charset="0"/>
                <a:ea typeface="Courier New" pitchFamily="34" charset="-122"/>
                <a:cs typeface="Courier New" pitchFamily="34" charset="-120"/>
              </a:rPr>
              <a:t> = [</a:t>
            </a:r>
            <a:r>
              <a:rPr lang="en-US" sz="1050" dirty="0">
                <a:solidFill>
                  <a:srgbClr val="059669"/>
                </a:solidFill>
                <a:latin typeface="Courier New" pitchFamily="34" charset="0"/>
                <a:ea typeface="Courier New" pitchFamily="34" charset="-122"/>
                <a:cs typeface="Courier New" pitchFamily="34" charset="-120"/>
              </a:rPr>
              <a:t>'C1'</a:t>
            </a:r>
            <a:r>
              <a:rPr lang="en-US" sz="1050" dirty="0">
                <a:solidFill>
                  <a:srgbClr val="334155"/>
                </a:solidFill>
                <a:latin typeface="Courier New" pitchFamily="34" charset="0"/>
                <a:ea typeface="Courier New" pitchFamily="34" charset="-122"/>
                <a:cs typeface="Courier New" pitchFamily="34" charset="-120"/>
              </a:rPr>
              <a:t>, </a:t>
            </a:r>
            <a:r>
              <a:rPr lang="en-US" sz="1050" dirty="0">
                <a:solidFill>
                  <a:srgbClr val="059669"/>
                </a:solidFill>
                <a:latin typeface="Courier New" pitchFamily="34" charset="0"/>
                <a:ea typeface="Courier New" pitchFamily="34" charset="-122"/>
                <a:cs typeface="Courier New" pitchFamily="34" charset="-120"/>
              </a:rPr>
              <a:t>'C2'</a:t>
            </a:r>
            <a:r>
              <a:rPr lang="en-US" sz="1050" dirty="0">
                <a:solidFill>
                  <a:srgbClr val="334155"/>
                </a:solidFill>
                <a:latin typeface="Courier New" pitchFamily="34" charset="0"/>
                <a:ea typeface="Courier New" pitchFamily="34" charset="-122"/>
                <a:cs typeface="Courier New" pitchFamily="34" charset="-120"/>
              </a:rPr>
              <a:t>, ..., </a:t>
            </a:r>
            <a:r>
              <a:rPr lang="en-US" sz="1050" dirty="0">
                <a:solidFill>
                  <a:srgbClr val="059669"/>
                </a:solidFill>
                <a:latin typeface="Courier New" pitchFamily="34" charset="0"/>
                <a:ea typeface="Courier New" pitchFamily="34" charset="-122"/>
                <a:cs typeface="Courier New" pitchFamily="34" charset="-120"/>
              </a:rPr>
              <a:t>'C13'</a:t>
            </a:r>
            <a:r>
              <a:rPr lang="en-US" sz="1050" dirty="0">
                <a:solidFill>
                  <a:srgbClr val="334155"/>
                </a:solidFill>
                <a:latin typeface="Courier New" pitchFamily="34" charset="0"/>
                <a:ea typeface="Courier New" pitchFamily="34" charset="-122"/>
                <a:cs typeface="Courier New" pitchFamily="34" charset="-120"/>
              </a:rPr>
              <a:t>]</a:t>
            </a:r>
            <a:endParaRPr lang="en-US" sz="1050" dirty="0"/>
          </a:p>
        </p:txBody>
      </p:sp>
      <p:sp>
        <p:nvSpPr>
          <p:cNvPr id="13" name="Text 9"/>
          <p:cNvSpPr txBox="1"/>
          <p:nvPr/>
        </p:nvSpPr>
        <p:spPr>
          <a:xfrm>
            <a:off x="828446" y="2349094"/>
            <a:ext cx="4506163" cy="171907"/>
          </a:xfrm>
          <a:prstGeom prst="rect">
            <a:avLst/>
          </a:prstGeom>
          <a:noFill/>
          <a:ln/>
        </p:spPr>
        <p:txBody>
          <a:bodyPr wrap="square" lIns="0" tIns="0" rIns="0" bIns="0" rtlCol="0" anchor="ctr"/>
          <a:lstStyle/>
          <a:p>
            <a:pPr marL="0" indent="0" algn="l">
              <a:buNone/>
            </a:pPr>
            <a:r>
              <a:rPr lang="en-US" sz="1050" i="1" dirty="0">
                <a:solidFill>
                  <a:srgbClr val="64748B"/>
                </a:solidFill>
                <a:latin typeface="Courier New" pitchFamily="34" charset="0"/>
                <a:ea typeface="Courier New" pitchFamily="34" charset="-122"/>
                <a:cs typeface="Courier New" pitchFamily="34" charset="-120"/>
              </a:rPr>
              <a:t># 13개 유전자 클러스터 명칭</a:t>
            </a:r>
            <a:endParaRPr lang="en-US" sz="1050" dirty="0"/>
          </a:p>
        </p:txBody>
      </p:sp>
      <p:pic>
        <p:nvPicPr>
          <p:cNvPr id="14" name="Image 2" descr="preencoded.png"/>
          <p:cNvPicPr>
            <a:picLocks noChangeAspect="1"/>
          </p:cNvPicPr>
          <p:nvPr/>
        </p:nvPicPr>
        <p:blipFill>
          <a:blip r:embed="rId5"/>
          <a:srcRect t="-25301" b="-25301"/>
          <a:stretch/>
        </p:blipFill>
        <p:spPr>
          <a:xfrm>
            <a:off x="705002" y="2792578"/>
            <a:ext cx="75895" cy="114300"/>
          </a:xfrm>
          <a:prstGeom prst="rect">
            <a:avLst/>
          </a:prstGeom>
        </p:spPr>
      </p:pic>
      <p:sp>
        <p:nvSpPr>
          <p:cNvPr id="15" name="Text 10"/>
          <p:cNvSpPr txBox="1"/>
          <p:nvPr/>
        </p:nvSpPr>
        <p:spPr>
          <a:xfrm>
            <a:off x="875994" y="2735885"/>
            <a:ext cx="3115733" cy="198424"/>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목적</a:t>
            </a:r>
            <a:r>
              <a:rPr lang="en-US" sz="1100" dirty="0">
                <a:solidFill>
                  <a:srgbClr val="475569"/>
                </a:solidFill>
                <a:latin typeface="Noto Sans KR" pitchFamily="34" charset="0"/>
                <a:ea typeface="Noto Sans KR" pitchFamily="34" charset="-122"/>
                <a:cs typeface="Noto Sans KR" pitchFamily="34" charset="-120"/>
              </a:rPr>
              <a:t>: 모델 출력의 13개 작업(task) 라벨 정의</a:t>
            </a:r>
            <a:endParaRPr lang="en-US" sz="1100" dirty="0"/>
          </a:p>
        </p:txBody>
      </p:sp>
      <p:pic>
        <p:nvPicPr>
          <p:cNvPr id="16" name="Image 3" descr="preencoded.png"/>
          <p:cNvPicPr>
            <a:picLocks noChangeAspect="1"/>
          </p:cNvPicPr>
          <p:nvPr/>
        </p:nvPicPr>
        <p:blipFill>
          <a:blip r:embed="rId5"/>
          <a:srcRect t="-25301" b="-25301"/>
          <a:stretch/>
        </p:blipFill>
        <p:spPr>
          <a:xfrm>
            <a:off x="705002" y="3040380"/>
            <a:ext cx="75895" cy="114300"/>
          </a:xfrm>
          <a:prstGeom prst="rect">
            <a:avLst/>
          </a:prstGeom>
        </p:spPr>
      </p:pic>
      <p:sp>
        <p:nvSpPr>
          <p:cNvPr id="17" name="Text 11"/>
          <p:cNvSpPr txBox="1"/>
          <p:nvPr/>
        </p:nvSpPr>
        <p:spPr>
          <a:xfrm>
            <a:off x="875995" y="2982773"/>
            <a:ext cx="3029961" cy="204824"/>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형식</a:t>
            </a:r>
            <a:r>
              <a:rPr lang="en-US" sz="1100" dirty="0">
                <a:solidFill>
                  <a:srgbClr val="475569"/>
                </a:solidFill>
                <a:latin typeface="Noto Sans KR" pitchFamily="34" charset="0"/>
                <a:ea typeface="Noto Sans KR" pitchFamily="34" charset="-122"/>
                <a:cs typeface="Noto Sans KR" pitchFamily="34" charset="-120"/>
              </a:rPr>
              <a:t>: 리스트 ['C1', 'C2', 'C3', ..., 'C13']</a:t>
            </a:r>
            <a:endParaRPr lang="en-US" sz="1100" dirty="0"/>
          </a:p>
        </p:txBody>
      </p:sp>
      <p:pic>
        <p:nvPicPr>
          <p:cNvPr id="18" name="Image 4" descr="preencoded.png"/>
          <p:cNvPicPr>
            <a:picLocks noChangeAspect="1"/>
          </p:cNvPicPr>
          <p:nvPr/>
        </p:nvPicPr>
        <p:blipFill>
          <a:blip r:embed="rId5"/>
          <a:srcRect t="-25301" b="-25301"/>
          <a:stretch/>
        </p:blipFill>
        <p:spPr>
          <a:xfrm>
            <a:off x="705002" y="3288182"/>
            <a:ext cx="75895" cy="114300"/>
          </a:xfrm>
          <a:prstGeom prst="rect">
            <a:avLst/>
          </a:prstGeom>
        </p:spPr>
      </p:pic>
      <p:sp>
        <p:nvSpPr>
          <p:cNvPr id="19" name="Text 12"/>
          <p:cNvSpPr txBox="1"/>
          <p:nvPr/>
        </p:nvSpPr>
        <p:spPr>
          <a:xfrm>
            <a:off x="875994" y="3230575"/>
            <a:ext cx="2953149" cy="21396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활용</a:t>
            </a:r>
            <a:r>
              <a:rPr lang="en-US" sz="1100" dirty="0">
                <a:solidFill>
                  <a:srgbClr val="475569"/>
                </a:solidFill>
                <a:latin typeface="Noto Sans KR" pitchFamily="34" charset="0"/>
                <a:ea typeface="Noto Sans KR" pitchFamily="34" charset="-122"/>
                <a:cs typeface="Noto Sans KR" pitchFamily="34" charset="-120"/>
              </a:rPr>
              <a:t>: 예측 결과 배열의 인덱스와 클러스터명 매핑</a:t>
            </a:r>
            <a:endParaRPr lang="en-US" sz="1100" dirty="0"/>
          </a:p>
        </p:txBody>
      </p:sp>
      <p:sp>
        <p:nvSpPr>
          <p:cNvPr id="20" name="Shape 13"/>
          <p:cNvSpPr/>
          <p:nvPr/>
        </p:nvSpPr>
        <p:spPr>
          <a:xfrm>
            <a:off x="476402" y="3764586"/>
            <a:ext cx="4981651" cy="2749104"/>
          </a:xfrm>
          <a:prstGeom prst="roundRect">
            <a:avLst>
              <a:gd name="adj" fmla="val 56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476402" y="3764586"/>
            <a:ext cx="38405" cy="2749104"/>
          </a:xfrm>
          <a:prstGeom prst="roundRect">
            <a:avLst>
              <a:gd name="adj" fmla="val 51760"/>
            </a:avLst>
          </a:prstGeom>
          <a:solidFill>
            <a:srgbClr val="8B5CF6"/>
          </a:solidFill>
          <a:ln w="12700">
            <a:solidFill>
              <a:srgbClr val="8B5CF6">
                <a:alpha val="0"/>
              </a:srgbClr>
            </a:solidFill>
            <a:prstDash val="solid"/>
          </a:ln>
        </p:spPr>
      </p:sp>
      <p:pic>
        <p:nvPicPr>
          <p:cNvPr id="22" name="Image 5" descr="preencoded.png"/>
          <p:cNvPicPr>
            <a:picLocks noChangeAspect="1"/>
          </p:cNvPicPr>
          <p:nvPr/>
        </p:nvPicPr>
        <p:blipFill>
          <a:blip r:embed="rId6"/>
          <a:srcRect l="-57" r="-57"/>
          <a:stretch/>
        </p:blipFill>
        <p:spPr>
          <a:xfrm>
            <a:off x="705002" y="4021531"/>
            <a:ext cx="200254" cy="228600"/>
          </a:xfrm>
          <a:prstGeom prst="rect">
            <a:avLst/>
          </a:prstGeom>
        </p:spPr>
      </p:pic>
      <p:sp>
        <p:nvSpPr>
          <p:cNvPr id="23" name="Text 15"/>
          <p:cNvSpPr txBox="1"/>
          <p:nvPr/>
        </p:nvSpPr>
        <p:spPr>
          <a:xfrm>
            <a:off x="1019556" y="4011472"/>
            <a:ext cx="2666390" cy="299923"/>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COG_MAPPING 딕셔너리</a:t>
            </a:r>
            <a:endParaRPr lang="en-US" dirty="0"/>
          </a:p>
        </p:txBody>
      </p:sp>
      <p:sp>
        <p:nvSpPr>
          <p:cNvPr id="24" name="Shape 16"/>
          <p:cNvSpPr/>
          <p:nvPr/>
        </p:nvSpPr>
        <p:spPr>
          <a:xfrm>
            <a:off x="705002" y="4431182"/>
            <a:ext cx="4562856" cy="1143000"/>
          </a:xfrm>
          <a:prstGeom prst="roundRect">
            <a:avLst>
              <a:gd name="adj" fmla="val 4000"/>
            </a:avLst>
          </a:prstGeom>
          <a:solidFill>
            <a:srgbClr val="F1F5F9"/>
          </a:solidFill>
          <a:ln w="12700">
            <a:solidFill>
              <a:srgbClr val="E2E8F0"/>
            </a:solidFill>
            <a:prstDash val="solid"/>
          </a:ln>
        </p:spPr>
      </p:sp>
      <p:sp>
        <p:nvSpPr>
          <p:cNvPr id="25" name="Text 17"/>
          <p:cNvSpPr txBox="1"/>
          <p:nvPr/>
        </p:nvSpPr>
        <p:spPr>
          <a:xfrm>
            <a:off x="828446" y="4535424"/>
            <a:ext cx="4429354" cy="171907"/>
          </a:xfrm>
          <a:prstGeom prst="rect">
            <a:avLst/>
          </a:prstGeom>
          <a:noFill/>
          <a:ln/>
        </p:spPr>
        <p:txBody>
          <a:bodyPr wrap="square" lIns="0" tIns="0" rIns="0" bIns="0" rtlCol="0" anchor="ctr"/>
          <a:lstStyle/>
          <a:p>
            <a:pPr marL="0" indent="0" algn="l">
              <a:buNone/>
            </a:pPr>
            <a:r>
              <a:rPr lang="en-US" sz="1050" b="1" dirty="0">
                <a:solidFill>
                  <a:srgbClr val="DC2626"/>
                </a:solidFill>
                <a:latin typeface="Courier New" pitchFamily="34" charset="0"/>
                <a:ea typeface="Courier New" pitchFamily="34" charset="-122"/>
                <a:cs typeface="Courier New" pitchFamily="34" charset="-120"/>
              </a:rPr>
              <a:t>COG_MAPPING</a:t>
            </a:r>
            <a:r>
              <a:rPr lang="en-US" sz="1050" dirty="0">
                <a:solidFill>
                  <a:srgbClr val="334155"/>
                </a:solidFill>
                <a:latin typeface="Courier New" pitchFamily="34" charset="0"/>
                <a:ea typeface="Courier New" pitchFamily="34" charset="-122"/>
                <a:cs typeface="Courier New" pitchFamily="34" charset="-120"/>
              </a:rPr>
              <a:t> = {</a:t>
            </a:r>
            <a:endParaRPr lang="en-US" sz="1050" dirty="0"/>
          </a:p>
        </p:txBody>
      </p:sp>
      <p:sp>
        <p:nvSpPr>
          <p:cNvPr id="26" name="Text 18"/>
          <p:cNvSpPr txBox="1"/>
          <p:nvPr/>
        </p:nvSpPr>
        <p:spPr>
          <a:xfrm>
            <a:off x="828446" y="4721962"/>
            <a:ext cx="4429354" cy="171907"/>
          </a:xfrm>
          <a:prstGeom prst="rect">
            <a:avLst/>
          </a:prstGeom>
          <a:noFill/>
          <a:ln/>
        </p:spPr>
        <p:txBody>
          <a:bodyPr wrap="square" lIns="0" tIns="0" rIns="0" bIns="0" rtlCol="0" anchor="ctr"/>
          <a:lstStyle/>
          <a:p>
            <a:pPr marL="0" indent="0" algn="l">
              <a:buNone/>
            </a:pPr>
            <a:r>
              <a:rPr lang="en-US" sz="1050" dirty="0">
                <a:solidFill>
                  <a:srgbClr val="059669"/>
                </a:solidFill>
                <a:latin typeface="Courier New" pitchFamily="34" charset="0"/>
                <a:ea typeface="Courier New" pitchFamily="34" charset="-122"/>
                <a:cs typeface="Courier New" pitchFamily="34" charset="-120"/>
              </a:rPr>
              <a:t>'C1'</a:t>
            </a:r>
            <a:r>
              <a:rPr lang="en-US" sz="1050" dirty="0">
                <a:solidFill>
                  <a:srgbClr val="334155"/>
                </a:solidFill>
                <a:latin typeface="Courier New" pitchFamily="34" charset="0"/>
                <a:ea typeface="Courier New" pitchFamily="34" charset="-122"/>
                <a:cs typeface="Courier New" pitchFamily="34" charset="-120"/>
              </a:rPr>
              <a:t>: {</a:t>
            </a:r>
            <a:r>
              <a:rPr lang="en-US" sz="1050" dirty="0">
                <a:solidFill>
                  <a:srgbClr val="059669"/>
                </a:solidFill>
                <a:latin typeface="Courier New" pitchFamily="34" charset="0"/>
                <a:ea typeface="Courier New" pitchFamily="34" charset="-122"/>
                <a:cs typeface="Courier New" pitchFamily="34" charset="-120"/>
              </a:rPr>
              <a:t>'Name'</a:t>
            </a:r>
            <a:r>
              <a:rPr lang="en-US" sz="1050" dirty="0">
                <a:solidFill>
                  <a:srgbClr val="334155"/>
                </a:solidFill>
                <a:latin typeface="Courier New" pitchFamily="34" charset="0"/>
                <a:ea typeface="Courier New" pitchFamily="34" charset="-122"/>
                <a:cs typeface="Courier New" pitchFamily="34" charset="-120"/>
              </a:rPr>
              <a:t>: </a:t>
            </a:r>
            <a:r>
              <a:rPr lang="en-US" sz="1050" dirty="0">
                <a:solidFill>
                  <a:srgbClr val="059669"/>
                </a:solidFill>
                <a:latin typeface="Courier New" pitchFamily="34" charset="0"/>
                <a:ea typeface="Courier New" pitchFamily="34" charset="-122"/>
                <a:cs typeface="Courier New" pitchFamily="34" charset="-120"/>
              </a:rPr>
              <a:t>'TCA 회로...'</a:t>
            </a:r>
            <a:r>
              <a:rPr lang="en-US" sz="1050" dirty="0">
                <a:solidFill>
                  <a:srgbClr val="334155"/>
                </a:solidFill>
                <a:latin typeface="Courier New" pitchFamily="34" charset="0"/>
                <a:ea typeface="Courier New" pitchFamily="34" charset="-122"/>
                <a:cs typeface="Courier New" pitchFamily="34" charset="-120"/>
              </a:rPr>
              <a:t>},</a:t>
            </a:r>
            <a:endParaRPr lang="en-US" sz="1050" dirty="0"/>
          </a:p>
        </p:txBody>
      </p:sp>
      <p:sp>
        <p:nvSpPr>
          <p:cNvPr id="27" name="Text 19"/>
          <p:cNvSpPr txBox="1"/>
          <p:nvPr/>
        </p:nvSpPr>
        <p:spPr>
          <a:xfrm>
            <a:off x="828446" y="4908499"/>
            <a:ext cx="4429354" cy="171907"/>
          </a:xfrm>
          <a:prstGeom prst="rect">
            <a:avLst/>
          </a:prstGeom>
          <a:noFill/>
          <a:ln/>
        </p:spPr>
        <p:txBody>
          <a:bodyPr wrap="square" lIns="0" tIns="0" rIns="0" bIns="0" rtlCol="0" anchor="ctr"/>
          <a:lstStyle/>
          <a:p>
            <a:pPr marL="0" indent="0" algn="l">
              <a:buNone/>
            </a:pPr>
            <a:r>
              <a:rPr lang="en-US" sz="1050" dirty="0">
                <a:solidFill>
                  <a:srgbClr val="059669"/>
                </a:solidFill>
                <a:latin typeface="Courier New" pitchFamily="34" charset="0"/>
                <a:ea typeface="Courier New" pitchFamily="34" charset="-122"/>
                <a:cs typeface="Courier New" pitchFamily="34" charset="-120"/>
              </a:rPr>
              <a:t>'C2'</a:t>
            </a:r>
            <a:r>
              <a:rPr lang="en-US" sz="1050" dirty="0">
                <a:solidFill>
                  <a:srgbClr val="334155"/>
                </a:solidFill>
                <a:latin typeface="Courier New" pitchFamily="34" charset="0"/>
                <a:ea typeface="Courier New" pitchFamily="34" charset="-122"/>
                <a:cs typeface="Courier New" pitchFamily="34" charset="-120"/>
              </a:rPr>
              <a:t>: {</a:t>
            </a:r>
            <a:r>
              <a:rPr lang="en-US" sz="1050" dirty="0">
                <a:solidFill>
                  <a:srgbClr val="059669"/>
                </a:solidFill>
                <a:latin typeface="Courier New" pitchFamily="34" charset="0"/>
                <a:ea typeface="Courier New" pitchFamily="34" charset="-122"/>
                <a:cs typeface="Courier New" pitchFamily="34" charset="-120"/>
              </a:rPr>
              <a:t>'Name'</a:t>
            </a:r>
            <a:r>
              <a:rPr lang="en-US" sz="1050" dirty="0">
                <a:solidFill>
                  <a:srgbClr val="334155"/>
                </a:solidFill>
                <a:latin typeface="Courier New" pitchFamily="34" charset="0"/>
                <a:ea typeface="Courier New" pitchFamily="34" charset="-122"/>
                <a:cs typeface="Courier New" pitchFamily="34" charset="-120"/>
              </a:rPr>
              <a:t>: </a:t>
            </a:r>
            <a:r>
              <a:rPr lang="en-US" sz="1050" dirty="0">
                <a:solidFill>
                  <a:srgbClr val="059669"/>
                </a:solidFill>
                <a:latin typeface="Courier New" pitchFamily="34" charset="0"/>
                <a:ea typeface="Courier New" pitchFamily="34" charset="-122"/>
                <a:cs typeface="Courier New" pitchFamily="34" charset="-120"/>
              </a:rPr>
              <a:t>'번역 및...'</a:t>
            </a:r>
            <a:r>
              <a:rPr lang="en-US" sz="1050" dirty="0">
                <a:solidFill>
                  <a:srgbClr val="334155"/>
                </a:solidFill>
                <a:latin typeface="Courier New" pitchFamily="34" charset="0"/>
                <a:ea typeface="Courier New" pitchFamily="34" charset="-122"/>
                <a:cs typeface="Courier New" pitchFamily="34" charset="-120"/>
              </a:rPr>
              <a:t>},</a:t>
            </a:r>
            <a:endParaRPr lang="en-US" sz="1050" dirty="0"/>
          </a:p>
        </p:txBody>
      </p:sp>
      <p:sp>
        <p:nvSpPr>
          <p:cNvPr id="28" name="Text 20"/>
          <p:cNvSpPr txBox="1"/>
          <p:nvPr/>
        </p:nvSpPr>
        <p:spPr>
          <a:xfrm>
            <a:off x="828446" y="5095951"/>
            <a:ext cx="4429354" cy="171907"/>
          </a:xfrm>
          <a:prstGeom prst="rect">
            <a:avLst/>
          </a:prstGeom>
          <a:noFill/>
          <a:ln/>
        </p:spPr>
        <p:txBody>
          <a:bodyPr wrap="square" lIns="0" tIns="0" rIns="0" bIns="0" rtlCol="0" anchor="ctr"/>
          <a:lstStyle/>
          <a:p>
            <a:pPr marL="0" indent="0" algn="l">
              <a:buNone/>
            </a:pPr>
            <a:r>
              <a:rPr lang="en-US" sz="1050" dirty="0">
                <a:solidFill>
                  <a:srgbClr val="334155"/>
                </a:solidFill>
                <a:latin typeface="Courier New" pitchFamily="34" charset="0"/>
                <a:ea typeface="Courier New" pitchFamily="34" charset="-122"/>
                <a:cs typeface="Courier New" pitchFamily="34" charset="-120"/>
              </a:rPr>
              <a:t>...</a:t>
            </a:r>
            <a:endParaRPr lang="en-US" sz="1050" dirty="0"/>
          </a:p>
        </p:txBody>
      </p:sp>
      <p:sp>
        <p:nvSpPr>
          <p:cNvPr id="29" name="Text 21"/>
          <p:cNvSpPr txBox="1"/>
          <p:nvPr/>
        </p:nvSpPr>
        <p:spPr>
          <a:xfrm>
            <a:off x="828446" y="5282489"/>
            <a:ext cx="4429354" cy="171907"/>
          </a:xfrm>
          <a:prstGeom prst="rect">
            <a:avLst/>
          </a:prstGeom>
          <a:noFill/>
          <a:ln/>
        </p:spPr>
        <p:txBody>
          <a:bodyPr wrap="square" lIns="0" tIns="0" rIns="0" bIns="0" rtlCol="0" anchor="ctr"/>
          <a:lstStyle/>
          <a:p>
            <a:pPr marL="0" indent="0" algn="l">
              <a:buNone/>
            </a:pPr>
            <a:r>
              <a:rPr lang="en-US" sz="1050" dirty="0">
                <a:solidFill>
                  <a:srgbClr val="334155"/>
                </a:solidFill>
                <a:latin typeface="Courier New" pitchFamily="34" charset="0"/>
                <a:ea typeface="Courier New" pitchFamily="34" charset="-122"/>
                <a:cs typeface="Courier New" pitchFamily="34" charset="-120"/>
              </a:rPr>
              <a:t>}</a:t>
            </a:r>
            <a:endParaRPr lang="en-US" sz="1050" dirty="0"/>
          </a:p>
        </p:txBody>
      </p:sp>
      <p:pic>
        <p:nvPicPr>
          <p:cNvPr id="30" name="Image 6" descr="preencoded.png"/>
          <p:cNvPicPr>
            <a:picLocks noChangeAspect="1"/>
          </p:cNvPicPr>
          <p:nvPr/>
        </p:nvPicPr>
        <p:blipFill>
          <a:blip r:embed="rId7"/>
          <a:srcRect t="-25301" b="-25301"/>
          <a:stretch/>
        </p:blipFill>
        <p:spPr>
          <a:xfrm>
            <a:off x="705002" y="5725973"/>
            <a:ext cx="75895" cy="114300"/>
          </a:xfrm>
          <a:prstGeom prst="rect">
            <a:avLst/>
          </a:prstGeom>
        </p:spPr>
      </p:pic>
      <p:sp>
        <p:nvSpPr>
          <p:cNvPr id="31" name="Text 22"/>
          <p:cNvSpPr txBox="1"/>
          <p:nvPr/>
        </p:nvSpPr>
        <p:spPr>
          <a:xfrm>
            <a:off x="875995" y="5669280"/>
            <a:ext cx="2651760" cy="17190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구조</a:t>
            </a:r>
            <a:r>
              <a:rPr lang="en-US" sz="1100" dirty="0">
                <a:solidFill>
                  <a:srgbClr val="475569"/>
                </a:solidFill>
                <a:latin typeface="Noto Sans KR" pitchFamily="34" charset="0"/>
                <a:ea typeface="Noto Sans KR" pitchFamily="34" charset="-122"/>
                <a:cs typeface="Noto Sans KR" pitchFamily="34" charset="-120"/>
              </a:rPr>
              <a:t>: 클러스터 ID → 생물학적 기능명 매핑</a:t>
            </a:r>
            <a:endParaRPr lang="en-US" sz="1100" dirty="0"/>
          </a:p>
        </p:txBody>
      </p:sp>
      <p:pic>
        <p:nvPicPr>
          <p:cNvPr id="32" name="Image 7" descr="preencoded.png"/>
          <p:cNvPicPr>
            <a:picLocks noChangeAspect="1"/>
          </p:cNvPicPr>
          <p:nvPr/>
        </p:nvPicPr>
        <p:blipFill>
          <a:blip r:embed="rId7"/>
          <a:srcRect t="-25301" b="-25301"/>
          <a:stretch/>
        </p:blipFill>
        <p:spPr>
          <a:xfrm>
            <a:off x="705002" y="5973775"/>
            <a:ext cx="75895" cy="114300"/>
          </a:xfrm>
          <a:prstGeom prst="rect">
            <a:avLst/>
          </a:prstGeom>
        </p:spPr>
      </p:pic>
      <p:sp>
        <p:nvSpPr>
          <p:cNvPr id="33" name="Text 23"/>
          <p:cNvSpPr txBox="1"/>
          <p:nvPr/>
        </p:nvSpPr>
        <p:spPr>
          <a:xfrm>
            <a:off x="875995" y="5916168"/>
            <a:ext cx="2651760" cy="17190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역할</a:t>
            </a:r>
            <a:r>
              <a:rPr lang="en-US" sz="1100" dirty="0">
                <a:solidFill>
                  <a:srgbClr val="475569"/>
                </a:solidFill>
                <a:latin typeface="Noto Sans KR" pitchFamily="34" charset="0"/>
                <a:ea typeface="Noto Sans KR" pitchFamily="34" charset="-122"/>
                <a:cs typeface="Noto Sans KR" pitchFamily="34" charset="-120"/>
              </a:rPr>
              <a:t>: UI에서 사용자에게 클러스터 설명 제공</a:t>
            </a:r>
            <a:endParaRPr lang="en-US" sz="1100" dirty="0"/>
          </a:p>
        </p:txBody>
      </p:sp>
      <p:pic>
        <p:nvPicPr>
          <p:cNvPr id="34" name="Image 8" descr="preencoded.png"/>
          <p:cNvPicPr>
            <a:picLocks noChangeAspect="1"/>
          </p:cNvPicPr>
          <p:nvPr/>
        </p:nvPicPr>
        <p:blipFill>
          <a:blip r:embed="rId7"/>
          <a:srcRect t="-25301" b="-25301"/>
          <a:stretch/>
        </p:blipFill>
        <p:spPr>
          <a:xfrm>
            <a:off x="705002" y="6221578"/>
            <a:ext cx="75895" cy="114300"/>
          </a:xfrm>
          <a:prstGeom prst="rect">
            <a:avLst/>
          </a:prstGeom>
        </p:spPr>
      </p:pic>
      <p:sp>
        <p:nvSpPr>
          <p:cNvPr id="35" name="Text 24"/>
          <p:cNvSpPr txBox="1"/>
          <p:nvPr/>
        </p:nvSpPr>
        <p:spPr>
          <a:xfrm>
            <a:off x="875995" y="6163970"/>
            <a:ext cx="2425903" cy="17190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예시</a:t>
            </a:r>
            <a:r>
              <a:rPr lang="en-US" sz="1100" dirty="0">
                <a:solidFill>
                  <a:srgbClr val="475569"/>
                </a:solidFill>
                <a:latin typeface="Noto Sans KR" pitchFamily="34" charset="0"/>
                <a:ea typeface="Noto Sans KR" pitchFamily="34" charset="-122"/>
                <a:cs typeface="Noto Sans KR" pitchFamily="34" charset="-120"/>
              </a:rPr>
              <a:t>: 'C1' → 'TCA 회로 및 중심 탄소 대사'</a:t>
            </a:r>
            <a:endParaRPr lang="en-US" sz="1100" dirty="0"/>
          </a:p>
        </p:txBody>
      </p:sp>
      <p:sp>
        <p:nvSpPr>
          <p:cNvPr id="54" name="Shape 37"/>
          <p:cNvSpPr/>
          <p:nvPr/>
        </p:nvSpPr>
        <p:spPr>
          <a:xfrm>
            <a:off x="5740603" y="1390801"/>
            <a:ext cx="5982005" cy="5048403"/>
          </a:xfrm>
          <a:prstGeom prst="roundRect">
            <a:avLst>
              <a:gd name="adj" fmla="val 429"/>
            </a:avLst>
          </a:prstGeom>
          <a:solidFill>
            <a:srgbClr val="FFFFFF"/>
          </a:solidFill>
          <a:ln/>
          <a:effectLst>
            <a:outerShdw blurRad="76200" dist="25400" dir="16200000" algn="bl" rotWithShape="0">
              <a:srgbClr val="000000">
                <a:alpha val="8000"/>
              </a:srgbClr>
            </a:outerShdw>
          </a:effectLst>
        </p:spPr>
      </p:sp>
      <p:sp>
        <p:nvSpPr>
          <p:cNvPr id="55" name="Shape 38"/>
          <p:cNvSpPr/>
          <p:nvPr/>
        </p:nvSpPr>
        <p:spPr>
          <a:xfrm>
            <a:off x="5740603" y="1390801"/>
            <a:ext cx="38405" cy="5048403"/>
          </a:xfrm>
          <a:prstGeom prst="roundRect">
            <a:avLst>
              <a:gd name="adj" fmla="val 45030"/>
            </a:avLst>
          </a:prstGeom>
          <a:solidFill>
            <a:srgbClr val="10B981"/>
          </a:solidFill>
          <a:ln w="12700">
            <a:solidFill>
              <a:srgbClr val="10B981">
                <a:alpha val="0"/>
              </a:srgbClr>
            </a:solidFill>
            <a:prstDash val="solid"/>
          </a:ln>
        </p:spPr>
      </p:sp>
      <p:pic>
        <p:nvPicPr>
          <p:cNvPr id="56" name="Image 15" descr="preencoded.png"/>
          <p:cNvPicPr>
            <a:picLocks noChangeAspect="1"/>
          </p:cNvPicPr>
          <p:nvPr/>
        </p:nvPicPr>
        <p:blipFill>
          <a:blip r:embed="rId8"/>
          <a:srcRect l="-80" r="-80"/>
          <a:stretch/>
        </p:blipFill>
        <p:spPr>
          <a:xfrm>
            <a:off x="5969203" y="1647749"/>
            <a:ext cx="286207" cy="228600"/>
          </a:xfrm>
          <a:prstGeom prst="rect">
            <a:avLst/>
          </a:prstGeom>
        </p:spPr>
      </p:pic>
      <p:sp>
        <p:nvSpPr>
          <p:cNvPr id="57" name="Text 39"/>
          <p:cNvSpPr txBox="1"/>
          <p:nvPr/>
        </p:nvSpPr>
        <p:spPr>
          <a:xfrm>
            <a:off x="6369710" y="1638605"/>
            <a:ext cx="2188160" cy="26517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주요 메서드 및 기능</a:t>
            </a:r>
            <a:endParaRPr lang="en-US" dirty="0"/>
          </a:p>
        </p:txBody>
      </p:sp>
      <p:sp>
        <p:nvSpPr>
          <p:cNvPr id="58" name="Shape 40"/>
          <p:cNvSpPr/>
          <p:nvPr/>
        </p:nvSpPr>
        <p:spPr>
          <a:xfrm>
            <a:off x="5969203" y="2057399"/>
            <a:ext cx="2734056" cy="678485"/>
          </a:xfrm>
          <a:prstGeom prst="roundRect">
            <a:avLst>
              <a:gd name="adj" fmla="val 11418"/>
            </a:avLst>
          </a:prstGeom>
          <a:solidFill>
            <a:srgbClr val="F8FAFC"/>
          </a:solidFill>
          <a:ln w="12700">
            <a:solidFill>
              <a:srgbClr val="E2E8F0"/>
            </a:solidFill>
            <a:prstDash val="solid"/>
          </a:ln>
        </p:spPr>
      </p:sp>
      <p:sp>
        <p:nvSpPr>
          <p:cNvPr id="59" name="Text 41"/>
          <p:cNvSpPr txBox="1"/>
          <p:nvPr/>
        </p:nvSpPr>
        <p:spPr>
          <a:xfrm>
            <a:off x="6074359" y="2162556"/>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__init__()</a:t>
            </a:r>
            <a:endParaRPr lang="en-US" sz="1100" dirty="0"/>
          </a:p>
        </p:txBody>
      </p:sp>
      <p:sp>
        <p:nvSpPr>
          <p:cNvPr id="60" name="Text 42"/>
          <p:cNvSpPr txBox="1"/>
          <p:nvPr/>
        </p:nvSpPr>
        <p:spPr>
          <a:xfrm>
            <a:off x="6074359" y="2371953"/>
            <a:ext cx="2714854" cy="363931"/>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모델 체크포인트 로드, 스케일러 복원, COG 매핑 초기화</a:t>
            </a:r>
            <a:endParaRPr lang="en-US" sz="1050" dirty="0"/>
          </a:p>
        </p:txBody>
      </p:sp>
      <p:sp>
        <p:nvSpPr>
          <p:cNvPr id="61" name="Shape 43"/>
          <p:cNvSpPr/>
          <p:nvPr/>
        </p:nvSpPr>
        <p:spPr>
          <a:xfrm>
            <a:off x="8794699" y="2057399"/>
            <a:ext cx="2734056" cy="678485"/>
          </a:xfrm>
          <a:prstGeom prst="roundRect">
            <a:avLst>
              <a:gd name="adj" fmla="val 11418"/>
            </a:avLst>
          </a:prstGeom>
          <a:solidFill>
            <a:srgbClr val="F8FAFC"/>
          </a:solidFill>
          <a:ln w="12700">
            <a:solidFill>
              <a:srgbClr val="E2E8F0"/>
            </a:solidFill>
            <a:prstDash val="solid"/>
          </a:ln>
        </p:spPr>
      </p:sp>
      <p:sp>
        <p:nvSpPr>
          <p:cNvPr id="62" name="Text 44"/>
          <p:cNvSpPr txBox="1"/>
          <p:nvPr/>
        </p:nvSpPr>
        <p:spPr>
          <a:xfrm>
            <a:off x="8899855" y="2162556"/>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predict(smiles)</a:t>
            </a:r>
            <a:endParaRPr lang="en-US" sz="1100" dirty="0"/>
          </a:p>
        </p:txBody>
      </p:sp>
      <p:sp>
        <p:nvSpPr>
          <p:cNvPr id="63" name="Text 45"/>
          <p:cNvSpPr txBox="1"/>
          <p:nvPr/>
        </p:nvSpPr>
        <p:spPr>
          <a:xfrm>
            <a:off x="8899855" y="2371954"/>
            <a:ext cx="2587143" cy="363930"/>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SMILES → C1-C13 저해 확률 예측, 200 RDKit 기술자 통합</a:t>
            </a:r>
            <a:endParaRPr lang="en-US" sz="1050" dirty="0"/>
          </a:p>
        </p:txBody>
      </p:sp>
      <p:sp>
        <p:nvSpPr>
          <p:cNvPr id="64" name="Shape 46"/>
          <p:cNvSpPr/>
          <p:nvPr/>
        </p:nvSpPr>
        <p:spPr>
          <a:xfrm>
            <a:off x="5969203" y="2895037"/>
            <a:ext cx="2734056" cy="775364"/>
          </a:xfrm>
          <a:prstGeom prst="roundRect">
            <a:avLst>
              <a:gd name="adj" fmla="val 11418"/>
            </a:avLst>
          </a:prstGeom>
          <a:solidFill>
            <a:srgbClr val="F8FAFC"/>
          </a:solidFill>
          <a:ln w="12700">
            <a:solidFill>
              <a:srgbClr val="E2E8F0"/>
            </a:solidFill>
            <a:prstDash val="solid"/>
          </a:ln>
        </p:spPr>
      </p:sp>
      <p:sp>
        <p:nvSpPr>
          <p:cNvPr id="65" name="Text 47"/>
          <p:cNvSpPr txBox="1"/>
          <p:nvPr/>
        </p:nvSpPr>
        <p:spPr>
          <a:xfrm>
            <a:off x="6074359" y="3000193"/>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get_properties()</a:t>
            </a:r>
            <a:endParaRPr lang="en-US" sz="1100" dirty="0"/>
          </a:p>
        </p:txBody>
      </p:sp>
      <p:sp>
        <p:nvSpPr>
          <p:cNvPr id="66" name="Text 48"/>
          <p:cNvSpPr txBox="1"/>
          <p:nvPr/>
        </p:nvSpPr>
        <p:spPr>
          <a:xfrm>
            <a:off x="6074359" y="3209591"/>
            <a:ext cx="2625242" cy="368454"/>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분자량, LogP, HBD/HBA, TPSA 등 약물성 지표 계산</a:t>
            </a:r>
            <a:endParaRPr lang="en-US" sz="1050" dirty="0"/>
          </a:p>
        </p:txBody>
      </p:sp>
      <p:sp>
        <p:nvSpPr>
          <p:cNvPr id="67" name="Shape 49"/>
          <p:cNvSpPr/>
          <p:nvPr/>
        </p:nvSpPr>
        <p:spPr>
          <a:xfrm>
            <a:off x="8794699" y="2895037"/>
            <a:ext cx="2734056" cy="775364"/>
          </a:xfrm>
          <a:prstGeom prst="roundRect">
            <a:avLst>
              <a:gd name="adj" fmla="val 11418"/>
            </a:avLst>
          </a:prstGeom>
          <a:solidFill>
            <a:srgbClr val="F8FAFC"/>
          </a:solidFill>
          <a:ln w="12700">
            <a:solidFill>
              <a:srgbClr val="E2E8F0"/>
            </a:solidFill>
            <a:prstDash val="solid"/>
          </a:ln>
        </p:spPr>
      </p:sp>
      <p:sp>
        <p:nvSpPr>
          <p:cNvPr id="68" name="Text 50"/>
          <p:cNvSpPr txBox="1"/>
          <p:nvPr/>
        </p:nvSpPr>
        <p:spPr>
          <a:xfrm>
            <a:off x="8899855" y="3000193"/>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generate_image()</a:t>
            </a:r>
            <a:endParaRPr lang="en-US" sz="1100" dirty="0"/>
          </a:p>
        </p:txBody>
      </p:sp>
      <p:sp>
        <p:nvSpPr>
          <p:cNvPr id="69" name="Text 51"/>
          <p:cNvSpPr txBox="1"/>
          <p:nvPr/>
        </p:nvSpPr>
        <p:spPr>
          <a:xfrm>
            <a:off x="8899855" y="3209591"/>
            <a:ext cx="2625242" cy="368454"/>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RDKit Draw.MolToImage로 2D 구조식 PNG 생성</a:t>
            </a:r>
            <a:endParaRPr lang="en-US" sz="1050" dirty="0"/>
          </a:p>
        </p:txBody>
      </p:sp>
      <p:sp>
        <p:nvSpPr>
          <p:cNvPr id="70" name="Shape 52"/>
          <p:cNvSpPr/>
          <p:nvPr/>
        </p:nvSpPr>
        <p:spPr>
          <a:xfrm>
            <a:off x="5969203" y="3803904"/>
            <a:ext cx="2734056" cy="731520"/>
          </a:xfrm>
          <a:prstGeom prst="roundRect">
            <a:avLst>
              <a:gd name="adj" fmla="val 11418"/>
            </a:avLst>
          </a:prstGeom>
          <a:solidFill>
            <a:srgbClr val="F8FAFC"/>
          </a:solidFill>
          <a:ln w="12700">
            <a:solidFill>
              <a:srgbClr val="E2E8F0"/>
            </a:solidFill>
            <a:prstDash val="solid"/>
          </a:ln>
        </p:spPr>
      </p:sp>
      <p:sp>
        <p:nvSpPr>
          <p:cNvPr id="71" name="Text 53"/>
          <p:cNvSpPr txBox="1"/>
          <p:nvPr/>
        </p:nvSpPr>
        <p:spPr>
          <a:xfrm>
            <a:off x="6074359" y="3908145"/>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_validate_smiles()</a:t>
            </a:r>
            <a:endParaRPr lang="en-US" sz="1100" dirty="0"/>
          </a:p>
        </p:txBody>
      </p:sp>
      <p:sp>
        <p:nvSpPr>
          <p:cNvPr id="72" name="Text 54"/>
          <p:cNvSpPr txBox="1"/>
          <p:nvPr/>
        </p:nvSpPr>
        <p:spPr>
          <a:xfrm>
            <a:off x="6074359" y="4117543"/>
            <a:ext cx="2714854" cy="236784"/>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SMILES 유효성 검사 및 분자 객체 생성 확인</a:t>
            </a:r>
            <a:endParaRPr lang="en-US" sz="1050" dirty="0"/>
          </a:p>
        </p:txBody>
      </p:sp>
      <p:sp>
        <p:nvSpPr>
          <p:cNvPr id="73" name="Shape 55"/>
          <p:cNvSpPr/>
          <p:nvPr/>
        </p:nvSpPr>
        <p:spPr>
          <a:xfrm>
            <a:off x="8794699" y="3803904"/>
            <a:ext cx="2734056" cy="731520"/>
          </a:xfrm>
          <a:prstGeom prst="roundRect">
            <a:avLst>
              <a:gd name="adj" fmla="val 11418"/>
            </a:avLst>
          </a:prstGeom>
          <a:solidFill>
            <a:srgbClr val="F8FAFC"/>
          </a:solidFill>
          <a:ln w="12700">
            <a:solidFill>
              <a:srgbClr val="E2E8F0"/>
            </a:solidFill>
            <a:prstDash val="solid"/>
          </a:ln>
        </p:spPr>
      </p:sp>
      <p:sp>
        <p:nvSpPr>
          <p:cNvPr id="74" name="Text 56"/>
          <p:cNvSpPr txBox="1"/>
          <p:nvPr/>
        </p:nvSpPr>
        <p:spPr>
          <a:xfrm>
            <a:off x="8899855" y="3908145"/>
            <a:ext cx="2625242" cy="171907"/>
          </a:xfrm>
          <a:prstGeom prst="rect">
            <a:avLst/>
          </a:prstGeom>
          <a:noFill/>
          <a:ln/>
        </p:spPr>
        <p:txBody>
          <a:bodyPr wrap="square" lIns="0" tIns="0" rIns="0" bIns="0" rtlCol="0" anchor="ctr"/>
          <a:lstStyle/>
          <a:p>
            <a:pPr marL="0" indent="0" algn="l">
              <a:buNone/>
            </a:pPr>
            <a:r>
              <a:rPr lang="en-US" sz="1100" b="1" dirty="0">
                <a:solidFill>
                  <a:srgbClr val="1E293B"/>
                </a:solidFill>
                <a:latin typeface="Courier New" pitchFamily="34" charset="0"/>
                <a:ea typeface="Courier New" pitchFamily="34" charset="-122"/>
                <a:cs typeface="Courier New" pitchFamily="34" charset="-120"/>
              </a:rPr>
              <a:t>_calculate_descriptors()</a:t>
            </a:r>
            <a:endParaRPr lang="en-US" sz="1100" dirty="0"/>
          </a:p>
        </p:txBody>
      </p:sp>
      <p:sp>
        <p:nvSpPr>
          <p:cNvPr id="75" name="Text 57"/>
          <p:cNvSpPr txBox="1"/>
          <p:nvPr/>
        </p:nvSpPr>
        <p:spPr>
          <a:xfrm>
            <a:off x="8899855" y="4117543"/>
            <a:ext cx="2625242" cy="285292"/>
          </a:xfrm>
          <a:prstGeom prst="rect">
            <a:avLst/>
          </a:prstGeom>
          <a:noFill/>
          <a:ln/>
        </p:spPr>
        <p:txBody>
          <a:bodyPr wrap="square" lIns="0" tIns="0" rIns="0" bIns="0" rtlCol="0" anchor="ctr"/>
          <a:lstStyle/>
          <a:p>
            <a:pPr marL="0" indent="0" algn="l">
              <a:buNone/>
            </a:pPr>
            <a:r>
              <a:rPr lang="en-US" sz="1050" dirty="0">
                <a:solidFill>
                  <a:srgbClr val="64748B"/>
                </a:solidFill>
                <a:latin typeface="Noto Sans KR" pitchFamily="34" charset="0"/>
                <a:ea typeface="Noto Sans KR" pitchFamily="34" charset="-122"/>
                <a:cs typeface="Noto Sans KR" pitchFamily="34" charset="-120"/>
              </a:rPr>
              <a:t>RDKit 200개 분자 기술자 계산 및 정규화</a:t>
            </a:r>
            <a:endParaRPr lang="en-US" sz="1050" dirty="0"/>
          </a:p>
        </p:txBody>
      </p:sp>
      <p:pic>
        <p:nvPicPr>
          <p:cNvPr id="76" name="Image 16" descr="preencoded.png"/>
          <p:cNvPicPr>
            <a:picLocks noChangeAspect="1"/>
          </p:cNvPicPr>
          <p:nvPr/>
        </p:nvPicPr>
        <p:blipFill>
          <a:blip r:embed="rId9"/>
          <a:srcRect t="-25301" b="-25301"/>
          <a:stretch/>
        </p:blipFill>
        <p:spPr>
          <a:xfrm>
            <a:off x="5969203" y="4847236"/>
            <a:ext cx="75895" cy="114300"/>
          </a:xfrm>
          <a:prstGeom prst="rect">
            <a:avLst/>
          </a:prstGeom>
        </p:spPr>
      </p:pic>
      <p:sp>
        <p:nvSpPr>
          <p:cNvPr id="77" name="Text 58"/>
          <p:cNvSpPr txBox="1"/>
          <p:nvPr/>
        </p:nvSpPr>
        <p:spPr>
          <a:xfrm>
            <a:off x="6141109" y="4790543"/>
            <a:ext cx="4542739" cy="17190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체크포인트 로드</a:t>
            </a:r>
            <a:r>
              <a:rPr lang="en-US" sz="1100" dirty="0">
                <a:solidFill>
                  <a:srgbClr val="475569"/>
                </a:solidFill>
                <a:latin typeface="Noto Sans KR" pitchFamily="34" charset="0"/>
                <a:ea typeface="Noto Sans KR" pitchFamily="34" charset="-122"/>
                <a:cs typeface="Noto Sans KR" pitchFamily="34" charset="-120"/>
              </a:rPr>
              <a:t>: chemprop.utils.load_checkpoint로 .pt 모델 파일 로드</a:t>
            </a:r>
            <a:endParaRPr lang="en-US" sz="1100" dirty="0"/>
          </a:p>
        </p:txBody>
      </p:sp>
      <p:pic>
        <p:nvPicPr>
          <p:cNvPr id="78" name="Image 17" descr="preencoded.png"/>
          <p:cNvPicPr>
            <a:picLocks noChangeAspect="1"/>
          </p:cNvPicPr>
          <p:nvPr/>
        </p:nvPicPr>
        <p:blipFill>
          <a:blip r:embed="rId9"/>
          <a:srcRect t="-25301" b="-25301"/>
          <a:stretch/>
        </p:blipFill>
        <p:spPr>
          <a:xfrm>
            <a:off x="5969203" y="5095038"/>
            <a:ext cx="75895" cy="114300"/>
          </a:xfrm>
          <a:prstGeom prst="rect">
            <a:avLst/>
          </a:prstGeom>
        </p:spPr>
      </p:pic>
      <p:sp>
        <p:nvSpPr>
          <p:cNvPr id="79" name="Text 59"/>
          <p:cNvSpPr txBox="1"/>
          <p:nvPr/>
        </p:nvSpPr>
        <p:spPr>
          <a:xfrm>
            <a:off x="6141110" y="5038345"/>
            <a:ext cx="4542738" cy="190195"/>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스케일러 로드</a:t>
            </a:r>
            <a:r>
              <a:rPr lang="en-US" sz="1100" dirty="0">
                <a:solidFill>
                  <a:srgbClr val="475569"/>
                </a:solidFill>
                <a:latin typeface="Noto Sans KR" pitchFamily="34" charset="0"/>
                <a:ea typeface="Noto Sans KR" pitchFamily="34" charset="-122"/>
                <a:cs typeface="Noto Sans KR" pitchFamily="34" charset="-120"/>
              </a:rPr>
              <a:t>: chemprop.utils.load_scalers로 정규화 파라미터 복원</a:t>
            </a:r>
            <a:endParaRPr lang="en-US" sz="1100" dirty="0"/>
          </a:p>
        </p:txBody>
      </p:sp>
      <p:pic>
        <p:nvPicPr>
          <p:cNvPr id="80" name="Image 18" descr="preencoded.png"/>
          <p:cNvPicPr>
            <a:picLocks noChangeAspect="1"/>
          </p:cNvPicPr>
          <p:nvPr/>
        </p:nvPicPr>
        <p:blipFill>
          <a:blip r:embed="rId9"/>
          <a:srcRect t="-25301" b="-25301"/>
          <a:stretch/>
        </p:blipFill>
        <p:spPr>
          <a:xfrm>
            <a:off x="5969203" y="5342840"/>
            <a:ext cx="75895" cy="114300"/>
          </a:xfrm>
          <a:prstGeom prst="rect">
            <a:avLst/>
          </a:prstGeom>
        </p:spPr>
      </p:pic>
      <p:sp>
        <p:nvSpPr>
          <p:cNvPr id="81" name="Text 60"/>
          <p:cNvSpPr txBox="1"/>
          <p:nvPr/>
        </p:nvSpPr>
        <p:spPr>
          <a:xfrm>
            <a:off x="6141109" y="5285233"/>
            <a:ext cx="4265675" cy="190195"/>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MoleculeDataset</a:t>
            </a:r>
            <a:r>
              <a:rPr lang="en-US" sz="1100" dirty="0">
                <a:solidFill>
                  <a:srgbClr val="475569"/>
                </a:solidFill>
                <a:latin typeface="Noto Sans KR" pitchFamily="34" charset="0"/>
                <a:ea typeface="Noto Sans KR" pitchFamily="34" charset="-122"/>
                <a:cs typeface="Noto Sans KR" pitchFamily="34" charset="-120"/>
              </a:rPr>
              <a:t>: Chemprop 데이터 구조로 입력 변환</a:t>
            </a:r>
            <a:endParaRPr lang="en-US" sz="1100" dirty="0"/>
          </a:p>
        </p:txBody>
      </p:sp>
      <p:pic>
        <p:nvPicPr>
          <p:cNvPr id="82" name="Image 19" descr="preencoded.png"/>
          <p:cNvPicPr>
            <a:picLocks noChangeAspect="1"/>
          </p:cNvPicPr>
          <p:nvPr/>
        </p:nvPicPr>
        <p:blipFill>
          <a:blip r:embed="rId9"/>
          <a:srcRect t="-25301" b="-25301"/>
          <a:stretch/>
        </p:blipFill>
        <p:spPr>
          <a:xfrm>
            <a:off x="5969203" y="5590643"/>
            <a:ext cx="75895" cy="114300"/>
          </a:xfrm>
          <a:prstGeom prst="rect">
            <a:avLst/>
          </a:prstGeom>
        </p:spPr>
      </p:pic>
      <p:sp>
        <p:nvSpPr>
          <p:cNvPr id="83" name="Text 61"/>
          <p:cNvSpPr txBox="1"/>
          <p:nvPr/>
        </p:nvSpPr>
        <p:spPr>
          <a:xfrm>
            <a:off x="6141110" y="5533036"/>
            <a:ext cx="3815690" cy="201169"/>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예측 실행</a:t>
            </a:r>
            <a:r>
              <a:rPr lang="en-US" sz="1100" dirty="0">
                <a:solidFill>
                  <a:srgbClr val="475569"/>
                </a:solidFill>
                <a:latin typeface="Noto Sans KR" pitchFamily="34" charset="0"/>
                <a:ea typeface="Noto Sans KR" pitchFamily="34" charset="-122"/>
                <a:cs typeface="Noto Sans KR" pitchFamily="34" charset="-120"/>
              </a:rPr>
              <a:t>: chemprop.train.predict 함수로 배치 추론</a:t>
            </a:r>
            <a:endParaRPr lang="en-US" sz="1100" dirty="0"/>
          </a:p>
        </p:txBody>
      </p:sp>
      <p:pic>
        <p:nvPicPr>
          <p:cNvPr id="84" name="Image 20" descr="preencoded.png"/>
          <p:cNvPicPr>
            <a:picLocks noChangeAspect="1"/>
          </p:cNvPicPr>
          <p:nvPr/>
        </p:nvPicPr>
        <p:blipFill>
          <a:blip r:embed="rId10"/>
          <a:stretch>
            <a:fillRect/>
          </a:stretch>
        </p:blipFill>
        <p:spPr>
          <a:xfrm>
            <a:off x="5992520" y="5881421"/>
            <a:ext cx="599594" cy="249886"/>
          </a:xfrm>
          <a:prstGeom prst="rect">
            <a:avLst/>
          </a:prstGeom>
        </p:spPr>
      </p:pic>
      <p:sp>
        <p:nvSpPr>
          <p:cNvPr id="85" name="Text 62"/>
          <p:cNvSpPr/>
          <p:nvPr/>
        </p:nvSpPr>
        <p:spPr>
          <a:xfrm>
            <a:off x="5992520" y="5884231"/>
            <a:ext cx="571500" cy="26609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E40AF"/>
                </a:solidFill>
                <a:latin typeface="Noto Sans KR" pitchFamily="34" charset="0"/>
                <a:ea typeface="Noto Sans KR" pitchFamily="34" charset="-122"/>
                <a:cs typeface="Noto Sans KR" pitchFamily="34" charset="-120"/>
              </a:rPr>
              <a:t>PyTorch</a:t>
            </a:r>
            <a:endParaRPr lang="en-US" sz="1050" dirty="0"/>
          </a:p>
        </p:txBody>
      </p:sp>
      <p:pic>
        <p:nvPicPr>
          <p:cNvPr id="86" name="Image 21" descr="preencoded.png"/>
          <p:cNvPicPr>
            <a:picLocks noChangeAspect="1"/>
          </p:cNvPicPr>
          <p:nvPr/>
        </p:nvPicPr>
        <p:blipFill>
          <a:blip r:embed="rId11"/>
          <a:stretch>
            <a:fillRect/>
          </a:stretch>
        </p:blipFill>
        <p:spPr>
          <a:xfrm>
            <a:off x="6676720" y="5892393"/>
            <a:ext cx="746607" cy="238914"/>
          </a:xfrm>
          <a:prstGeom prst="rect">
            <a:avLst/>
          </a:prstGeom>
        </p:spPr>
      </p:pic>
      <p:sp>
        <p:nvSpPr>
          <p:cNvPr id="87" name="Text 63"/>
          <p:cNvSpPr/>
          <p:nvPr/>
        </p:nvSpPr>
        <p:spPr>
          <a:xfrm>
            <a:off x="6676719" y="5906050"/>
            <a:ext cx="746607" cy="2116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E40AF"/>
                </a:solidFill>
                <a:latin typeface="Noto Sans KR" pitchFamily="34" charset="0"/>
                <a:ea typeface="Noto Sans KR" pitchFamily="34" charset="-122"/>
                <a:cs typeface="Noto Sans KR" pitchFamily="34" charset="-120"/>
              </a:rPr>
              <a:t>Chemprop</a:t>
            </a:r>
            <a:endParaRPr lang="en-US" sz="1050" dirty="0"/>
          </a:p>
        </p:txBody>
      </p:sp>
      <p:pic>
        <p:nvPicPr>
          <p:cNvPr id="88" name="Image 22" descr="preencoded.png"/>
          <p:cNvPicPr>
            <a:picLocks noChangeAspect="1"/>
          </p:cNvPicPr>
          <p:nvPr/>
        </p:nvPicPr>
        <p:blipFill>
          <a:blip r:embed="rId12"/>
          <a:stretch>
            <a:fillRect/>
          </a:stretch>
        </p:blipFill>
        <p:spPr>
          <a:xfrm>
            <a:off x="7550964" y="5906050"/>
            <a:ext cx="647393" cy="210120"/>
          </a:xfrm>
          <a:prstGeom prst="rect">
            <a:avLst/>
          </a:prstGeom>
        </p:spPr>
      </p:pic>
      <p:sp>
        <p:nvSpPr>
          <p:cNvPr id="89" name="Text 64"/>
          <p:cNvSpPr/>
          <p:nvPr/>
        </p:nvSpPr>
        <p:spPr>
          <a:xfrm>
            <a:off x="7640345" y="5911851"/>
            <a:ext cx="4572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E40AF"/>
                </a:solidFill>
                <a:latin typeface="Noto Sans KR" pitchFamily="34" charset="0"/>
                <a:ea typeface="Noto Sans KR" pitchFamily="34" charset="-122"/>
                <a:cs typeface="Noto Sans KR" pitchFamily="34" charset="-120"/>
              </a:rPr>
              <a:t>RDKit</a:t>
            </a:r>
            <a:endParaRPr lang="en-US" sz="1050" dirty="0"/>
          </a:p>
        </p:txBody>
      </p:sp>
      <p:pic>
        <p:nvPicPr>
          <p:cNvPr id="90" name="Image 23" descr="preencoded.png"/>
          <p:cNvPicPr>
            <a:picLocks noChangeAspect="1"/>
          </p:cNvPicPr>
          <p:nvPr/>
        </p:nvPicPr>
        <p:blipFill>
          <a:blip r:embed="rId13"/>
          <a:stretch>
            <a:fillRect/>
          </a:stretch>
        </p:blipFill>
        <p:spPr>
          <a:xfrm>
            <a:off x="8325994" y="5906050"/>
            <a:ext cx="809472" cy="211600"/>
          </a:xfrm>
          <a:prstGeom prst="rect">
            <a:avLst/>
          </a:prstGeom>
        </p:spPr>
      </p:pic>
      <p:sp>
        <p:nvSpPr>
          <p:cNvPr id="91" name="Text 65"/>
          <p:cNvSpPr/>
          <p:nvPr/>
        </p:nvSpPr>
        <p:spPr>
          <a:xfrm>
            <a:off x="8361936" y="5898842"/>
            <a:ext cx="809472" cy="201169"/>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66534"/>
                </a:solidFill>
                <a:latin typeface="Noto Sans KR" pitchFamily="34" charset="0"/>
                <a:ea typeface="Noto Sans KR" pitchFamily="34" charset="-122"/>
                <a:cs typeface="Noto Sans KR" pitchFamily="34" charset="-120"/>
              </a:rPr>
              <a:t>Descriptors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9242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주요 모듈 설명</a:t>
            </a:r>
            <a:endParaRPr lang="en-US" sz="2400" dirty="0"/>
          </a:p>
        </p:txBody>
      </p:sp>
      <p:sp>
        <p:nvSpPr>
          <p:cNvPr id="5" name="Text 3"/>
          <p:cNvSpPr txBox="1"/>
          <p:nvPr/>
        </p:nvSpPr>
        <p:spPr>
          <a:xfrm>
            <a:off x="476402" y="685800"/>
            <a:ext cx="3253435"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model_service.py 핵심 구성 요소 및 기능</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38" name="Shape 27"/>
          <p:cNvSpPr/>
          <p:nvPr/>
        </p:nvSpPr>
        <p:spPr>
          <a:xfrm>
            <a:off x="507492" y="1330745"/>
            <a:ext cx="4981651" cy="2486254"/>
          </a:xfrm>
          <a:prstGeom prst="roundRect">
            <a:avLst>
              <a:gd name="adj" fmla="val 1127"/>
            </a:avLst>
          </a:prstGeom>
          <a:solidFill>
            <a:srgbClr val="FFFFFF"/>
          </a:solidFill>
          <a:ln/>
          <a:effectLst>
            <a:outerShdw blurRad="76200" dist="25400" dir="16200000" algn="bl" rotWithShape="0">
              <a:srgbClr val="000000">
                <a:alpha val="8000"/>
              </a:srgbClr>
            </a:outerShdw>
          </a:effectLst>
        </p:spPr>
      </p:sp>
      <p:sp>
        <p:nvSpPr>
          <p:cNvPr id="39" name="Shape 28"/>
          <p:cNvSpPr/>
          <p:nvPr/>
        </p:nvSpPr>
        <p:spPr>
          <a:xfrm>
            <a:off x="507492" y="1330745"/>
            <a:ext cx="38405" cy="2486254"/>
          </a:xfrm>
          <a:prstGeom prst="roundRect">
            <a:avLst>
              <a:gd name="adj" fmla="val 72979"/>
            </a:avLst>
          </a:prstGeom>
          <a:solidFill>
            <a:srgbClr val="F59E0B"/>
          </a:solidFill>
          <a:ln w="12700">
            <a:solidFill>
              <a:srgbClr val="F59E0B">
                <a:alpha val="0"/>
              </a:srgbClr>
            </a:solidFill>
            <a:prstDash val="solid"/>
          </a:ln>
        </p:spPr>
      </p:sp>
      <p:pic>
        <p:nvPicPr>
          <p:cNvPr id="40" name="Image 9" descr="preencoded.png"/>
          <p:cNvPicPr>
            <a:picLocks noChangeAspect="1"/>
          </p:cNvPicPr>
          <p:nvPr/>
        </p:nvPicPr>
        <p:blipFill>
          <a:blip r:embed="rId4"/>
          <a:srcRect/>
          <a:stretch/>
        </p:blipFill>
        <p:spPr>
          <a:xfrm>
            <a:off x="736092" y="1587691"/>
            <a:ext cx="228600" cy="228600"/>
          </a:xfrm>
          <a:prstGeom prst="rect">
            <a:avLst/>
          </a:prstGeom>
        </p:spPr>
      </p:pic>
      <p:sp>
        <p:nvSpPr>
          <p:cNvPr id="41" name="Text 29"/>
          <p:cNvSpPr txBox="1"/>
          <p:nvPr/>
        </p:nvSpPr>
        <p:spPr>
          <a:xfrm>
            <a:off x="1078991" y="1578546"/>
            <a:ext cx="2612439" cy="300837"/>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오류 처리 및 유효성 검증</a:t>
            </a:r>
            <a:endParaRPr lang="en-US" dirty="0"/>
          </a:p>
        </p:txBody>
      </p:sp>
      <p:pic>
        <p:nvPicPr>
          <p:cNvPr id="42" name="Image 10" descr="preencoded.png"/>
          <p:cNvPicPr>
            <a:picLocks noChangeAspect="1"/>
          </p:cNvPicPr>
          <p:nvPr/>
        </p:nvPicPr>
        <p:blipFill>
          <a:blip r:embed="rId5"/>
          <a:srcRect t="-25301" b="-25301"/>
          <a:stretch/>
        </p:blipFill>
        <p:spPr>
          <a:xfrm>
            <a:off x="736092" y="2054950"/>
            <a:ext cx="75895" cy="114300"/>
          </a:xfrm>
          <a:prstGeom prst="rect">
            <a:avLst/>
          </a:prstGeom>
        </p:spPr>
      </p:pic>
      <p:sp>
        <p:nvSpPr>
          <p:cNvPr id="43" name="Text 30"/>
          <p:cNvSpPr txBox="1"/>
          <p:nvPr/>
        </p:nvSpPr>
        <p:spPr>
          <a:xfrm>
            <a:off x="907085" y="1997342"/>
            <a:ext cx="3570732" cy="153619"/>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SMILES 검증</a:t>
            </a:r>
            <a:r>
              <a:rPr lang="en-US" sz="1100" dirty="0">
                <a:solidFill>
                  <a:srgbClr val="475569"/>
                </a:solidFill>
                <a:latin typeface="Noto Sans KR" pitchFamily="34" charset="0"/>
                <a:ea typeface="Noto Sans KR" pitchFamily="34" charset="-122"/>
                <a:cs typeface="Noto Sans KR" pitchFamily="34" charset="-120"/>
              </a:rPr>
              <a:t>: RDKit MolFromSmiles 실패 시 예외 발생</a:t>
            </a:r>
            <a:endParaRPr lang="en-US" sz="1100" dirty="0"/>
          </a:p>
        </p:txBody>
      </p:sp>
      <p:pic>
        <p:nvPicPr>
          <p:cNvPr id="44" name="Image 11" descr="preencoded.png"/>
          <p:cNvPicPr>
            <a:picLocks noChangeAspect="1"/>
          </p:cNvPicPr>
          <p:nvPr/>
        </p:nvPicPr>
        <p:blipFill>
          <a:blip r:embed="rId5"/>
          <a:srcRect t="-25301" b="-25301"/>
          <a:stretch/>
        </p:blipFill>
        <p:spPr>
          <a:xfrm>
            <a:off x="736092" y="2302752"/>
            <a:ext cx="75895" cy="114300"/>
          </a:xfrm>
          <a:prstGeom prst="rect">
            <a:avLst/>
          </a:prstGeom>
        </p:spPr>
      </p:pic>
      <p:sp>
        <p:nvSpPr>
          <p:cNvPr id="45" name="Text 31"/>
          <p:cNvSpPr txBox="1"/>
          <p:nvPr/>
        </p:nvSpPr>
        <p:spPr>
          <a:xfrm>
            <a:off x="907085" y="2245145"/>
            <a:ext cx="4014871" cy="153619"/>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모델 로드 안전성</a:t>
            </a:r>
            <a:r>
              <a:rPr lang="en-US" sz="1100" dirty="0">
                <a:solidFill>
                  <a:srgbClr val="475569"/>
                </a:solidFill>
                <a:latin typeface="Noto Sans KR" pitchFamily="34" charset="0"/>
                <a:ea typeface="Noto Sans KR" pitchFamily="34" charset="-122"/>
                <a:cs typeface="Noto Sans KR" pitchFamily="34" charset="-120"/>
              </a:rPr>
              <a:t>: torch.serialization.add_safe_globals 사용</a:t>
            </a:r>
            <a:endParaRPr lang="en-US" sz="1100" dirty="0"/>
          </a:p>
        </p:txBody>
      </p:sp>
      <p:pic>
        <p:nvPicPr>
          <p:cNvPr id="46" name="Image 12" descr="preencoded.png"/>
          <p:cNvPicPr>
            <a:picLocks noChangeAspect="1"/>
          </p:cNvPicPr>
          <p:nvPr/>
        </p:nvPicPr>
        <p:blipFill>
          <a:blip r:embed="rId5"/>
          <a:srcRect t="-25301" b="-25301"/>
          <a:stretch/>
        </p:blipFill>
        <p:spPr>
          <a:xfrm>
            <a:off x="736092" y="2549640"/>
            <a:ext cx="75895" cy="114300"/>
          </a:xfrm>
          <a:prstGeom prst="rect">
            <a:avLst/>
          </a:prstGeom>
        </p:spPr>
      </p:pic>
      <p:sp>
        <p:nvSpPr>
          <p:cNvPr id="47" name="Text 32"/>
          <p:cNvSpPr txBox="1"/>
          <p:nvPr/>
        </p:nvSpPr>
        <p:spPr>
          <a:xfrm>
            <a:off x="907085" y="2492948"/>
            <a:ext cx="3461715" cy="16015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예외 처리</a:t>
            </a:r>
            <a:r>
              <a:rPr lang="en-US" sz="1100" dirty="0">
                <a:solidFill>
                  <a:srgbClr val="475569"/>
                </a:solidFill>
                <a:latin typeface="Noto Sans KR" pitchFamily="34" charset="0"/>
                <a:ea typeface="Noto Sans KR" pitchFamily="34" charset="-122"/>
                <a:cs typeface="Noto Sans KR" pitchFamily="34" charset="-120"/>
              </a:rPr>
              <a:t>: try-except 블록으로 HTTPException 반환</a:t>
            </a:r>
            <a:endParaRPr lang="en-US" sz="1100" dirty="0"/>
          </a:p>
        </p:txBody>
      </p:sp>
      <p:pic>
        <p:nvPicPr>
          <p:cNvPr id="48" name="Image 13" descr="preencoded.png"/>
          <p:cNvPicPr>
            <a:picLocks noChangeAspect="1"/>
          </p:cNvPicPr>
          <p:nvPr/>
        </p:nvPicPr>
        <p:blipFill>
          <a:blip r:embed="rId5"/>
          <a:srcRect t="-25301" b="-25301"/>
          <a:stretch/>
        </p:blipFill>
        <p:spPr>
          <a:xfrm>
            <a:off x="736092" y="2797442"/>
            <a:ext cx="75895" cy="114300"/>
          </a:xfrm>
          <a:prstGeom prst="rect">
            <a:avLst/>
          </a:prstGeom>
        </p:spPr>
      </p:pic>
      <p:sp>
        <p:nvSpPr>
          <p:cNvPr id="49" name="Text 33"/>
          <p:cNvSpPr txBox="1"/>
          <p:nvPr/>
        </p:nvSpPr>
        <p:spPr>
          <a:xfrm>
            <a:off x="907085" y="2740750"/>
            <a:ext cx="2822752" cy="182880"/>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입력 검증</a:t>
            </a:r>
            <a:r>
              <a:rPr lang="en-US" sz="1100" dirty="0">
                <a:solidFill>
                  <a:srgbClr val="475569"/>
                </a:solidFill>
                <a:latin typeface="Noto Sans KR" pitchFamily="34" charset="0"/>
                <a:ea typeface="Noto Sans KR" pitchFamily="34" charset="-122"/>
                <a:cs typeface="Noto Sans KR" pitchFamily="34" charset="-120"/>
              </a:rPr>
              <a:t>: 빈 문자열, 잘못된 형식 사전 차단</a:t>
            </a:r>
            <a:endParaRPr lang="en-US" sz="1100" dirty="0"/>
          </a:p>
        </p:txBody>
      </p:sp>
      <p:sp>
        <p:nvSpPr>
          <p:cNvPr id="50" name="Shape 34"/>
          <p:cNvSpPr/>
          <p:nvPr/>
        </p:nvSpPr>
        <p:spPr>
          <a:xfrm>
            <a:off x="736092" y="3006840"/>
            <a:ext cx="4562856" cy="619049"/>
          </a:xfrm>
          <a:prstGeom prst="roundRect">
            <a:avLst>
              <a:gd name="adj" fmla="val 13635"/>
            </a:avLst>
          </a:prstGeom>
          <a:solidFill>
            <a:srgbClr val="FFFBEB"/>
          </a:solidFill>
          <a:ln w="12700">
            <a:solidFill>
              <a:srgbClr val="FDE68A"/>
            </a:solidFill>
            <a:prstDash val="solid"/>
          </a:ln>
        </p:spPr>
      </p:sp>
      <p:sp>
        <p:nvSpPr>
          <p:cNvPr id="51" name="Text 35"/>
          <p:cNvSpPr txBox="1"/>
          <p:nvPr/>
        </p:nvSpPr>
        <p:spPr>
          <a:xfrm>
            <a:off x="1021385" y="3131198"/>
            <a:ext cx="4344314" cy="162763"/>
          </a:xfrm>
          <a:prstGeom prst="rect">
            <a:avLst/>
          </a:prstGeom>
          <a:noFill/>
          <a:ln/>
        </p:spPr>
        <p:txBody>
          <a:bodyPr wrap="square" lIns="0" tIns="0" rIns="0" bIns="0" rtlCol="0" anchor="ctr"/>
          <a:lstStyle/>
          <a:p>
            <a:pPr marL="0" indent="0" algn="l">
              <a:buNone/>
            </a:pPr>
            <a:r>
              <a:rPr lang="en-US" sz="1050" b="1" dirty="0">
                <a:solidFill>
                  <a:srgbClr val="92400E"/>
                </a:solidFill>
                <a:latin typeface="Noto Sans KR" pitchFamily="34" charset="0"/>
                <a:ea typeface="Noto Sans KR" pitchFamily="34" charset="-122"/>
                <a:cs typeface="Noto Sans KR" pitchFamily="34" charset="-120"/>
              </a:rPr>
              <a:t>안전성 강화</a:t>
            </a:r>
            <a:endParaRPr lang="en-US" sz="1050" dirty="0"/>
          </a:p>
        </p:txBody>
      </p:sp>
      <p:pic>
        <p:nvPicPr>
          <p:cNvPr id="52" name="Image 14" descr="preencoded.png"/>
          <p:cNvPicPr>
            <a:picLocks noChangeAspect="1"/>
          </p:cNvPicPr>
          <p:nvPr/>
        </p:nvPicPr>
        <p:blipFill>
          <a:blip r:embed="rId6"/>
          <a:srcRect/>
          <a:stretch/>
        </p:blipFill>
        <p:spPr>
          <a:xfrm>
            <a:off x="859536" y="3156802"/>
            <a:ext cx="105156" cy="105156"/>
          </a:xfrm>
          <a:prstGeom prst="rect">
            <a:avLst/>
          </a:prstGeom>
        </p:spPr>
      </p:pic>
      <p:sp>
        <p:nvSpPr>
          <p:cNvPr id="53" name="Text 36"/>
          <p:cNvSpPr txBox="1"/>
          <p:nvPr/>
        </p:nvSpPr>
        <p:spPr>
          <a:xfrm>
            <a:off x="859536" y="3345168"/>
            <a:ext cx="4506163" cy="162763"/>
          </a:xfrm>
          <a:prstGeom prst="rect">
            <a:avLst/>
          </a:prstGeom>
          <a:noFill/>
          <a:ln/>
        </p:spPr>
        <p:txBody>
          <a:bodyPr wrap="square" lIns="0" tIns="0" rIns="0" bIns="0" rtlCol="0" anchor="ctr"/>
          <a:lstStyle/>
          <a:p>
            <a:pPr marL="0" indent="0" algn="l">
              <a:buNone/>
            </a:pPr>
            <a:r>
              <a:rPr lang="en-US" sz="1050" dirty="0">
                <a:solidFill>
                  <a:srgbClr val="78350F"/>
                </a:solidFill>
                <a:latin typeface="Noto Sans KR" pitchFamily="34" charset="0"/>
                <a:ea typeface="Noto Sans KR" pitchFamily="34" charset="-122"/>
                <a:cs typeface="Noto Sans KR" pitchFamily="34" charset="-120"/>
              </a:rPr>
              <a:t>PyTorch 2.6+ 안전 로더, 입력 위생 처리, 상세한 에러 메시지로 사용자 경험 개선</a:t>
            </a:r>
            <a:endParaRPr lang="en-US" sz="1050" dirty="0"/>
          </a:p>
        </p:txBody>
      </p:sp>
      <p:sp>
        <p:nvSpPr>
          <p:cNvPr id="92" name="Shape 66"/>
          <p:cNvSpPr/>
          <p:nvPr/>
        </p:nvSpPr>
        <p:spPr>
          <a:xfrm>
            <a:off x="5733288" y="1321737"/>
            <a:ext cx="5982005" cy="2829154"/>
          </a:xfrm>
          <a:prstGeom prst="roundRect">
            <a:avLst>
              <a:gd name="adj" fmla="val 871"/>
            </a:avLst>
          </a:prstGeom>
          <a:solidFill>
            <a:srgbClr val="FFFFFF"/>
          </a:solidFill>
          <a:ln/>
          <a:effectLst>
            <a:outerShdw blurRad="76200" dist="25400" dir="16200000" algn="bl" rotWithShape="0">
              <a:srgbClr val="000000">
                <a:alpha val="8000"/>
              </a:srgbClr>
            </a:outerShdw>
          </a:effectLst>
        </p:spPr>
      </p:sp>
      <p:sp>
        <p:nvSpPr>
          <p:cNvPr id="93" name="Shape 67"/>
          <p:cNvSpPr/>
          <p:nvPr/>
        </p:nvSpPr>
        <p:spPr>
          <a:xfrm>
            <a:off x="5733288" y="1321737"/>
            <a:ext cx="38405" cy="2829154"/>
          </a:xfrm>
          <a:prstGeom prst="roundRect">
            <a:avLst>
              <a:gd name="adj" fmla="val 64133"/>
            </a:avLst>
          </a:prstGeom>
          <a:solidFill>
            <a:srgbClr val="10B981"/>
          </a:solidFill>
          <a:ln w="12700">
            <a:solidFill>
              <a:srgbClr val="10B981">
                <a:alpha val="0"/>
              </a:srgbClr>
            </a:solidFill>
            <a:prstDash val="solid"/>
          </a:ln>
        </p:spPr>
      </p:sp>
      <p:pic>
        <p:nvPicPr>
          <p:cNvPr id="94" name="Image 24" descr="preencoded.png"/>
          <p:cNvPicPr>
            <a:picLocks noChangeAspect="1"/>
          </p:cNvPicPr>
          <p:nvPr/>
        </p:nvPicPr>
        <p:blipFill>
          <a:blip r:embed="rId7"/>
          <a:srcRect/>
          <a:stretch/>
        </p:blipFill>
        <p:spPr>
          <a:xfrm>
            <a:off x="5961888" y="1578683"/>
            <a:ext cx="228600" cy="228600"/>
          </a:xfrm>
          <a:prstGeom prst="rect">
            <a:avLst/>
          </a:prstGeom>
        </p:spPr>
      </p:pic>
      <p:sp>
        <p:nvSpPr>
          <p:cNvPr id="95" name="Text 68"/>
          <p:cNvSpPr txBox="1"/>
          <p:nvPr/>
        </p:nvSpPr>
        <p:spPr>
          <a:xfrm>
            <a:off x="6304788" y="1568625"/>
            <a:ext cx="2641701" cy="247666"/>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분자 이미지 생성 (RDKit)</a:t>
            </a:r>
            <a:endParaRPr lang="en-US" dirty="0"/>
          </a:p>
        </p:txBody>
      </p:sp>
      <p:sp>
        <p:nvSpPr>
          <p:cNvPr id="96" name="Shape 69"/>
          <p:cNvSpPr/>
          <p:nvPr/>
        </p:nvSpPr>
        <p:spPr>
          <a:xfrm>
            <a:off x="5961888" y="1988335"/>
            <a:ext cx="5562295" cy="961949"/>
          </a:xfrm>
          <a:prstGeom prst="roundRect">
            <a:avLst>
              <a:gd name="adj" fmla="val 5647"/>
            </a:avLst>
          </a:prstGeom>
          <a:solidFill>
            <a:srgbClr val="F1F5F9"/>
          </a:solidFill>
          <a:ln w="12700">
            <a:solidFill>
              <a:srgbClr val="E2E8F0"/>
            </a:solidFill>
            <a:prstDash val="solid"/>
          </a:ln>
        </p:spPr>
      </p:sp>
      <p:sp>
        <p:nvSpPr>
          <p:cNvPr id="97" name="Text 70"/>
          <p:cNvSpPr txBox="1"/>
          <p:nvPr/>
        </p:nvSpPr>
        <p:spPr>
          <a:xfrm>
            <a:off x="6086247" y="2092576"/>
            <a:ext cx="5429707" cy="171907"/>
          </a:xfrm>
          <a:prstGeom prst="rect">
            <a:avLst/>
          </a:prstGeom>
          <a:noFill/>
          <a:ln/>
        </p:spPr>
        <p:txBody>
          <a:bodyPr wrap="square" lIns="0" tIns="0" rIns="0" bIns="0" rtlCol="0" anchor="ctr"/>
          <a:lstStyle/>
          <a:p>
            <a:pPr marL="0" indent="0" algn="l">
              <a:buNone/>
            </a:pPr>
            <a:r>
              <a:rPr lang="en-US" sz="1050" b="1" dirty="0">
                <a:solidFill>
                  <a:srgbClr val="DC2626"/>
                </a:solidFill>
                <a:latin typeface="Courier New" pitchFamily="34" charset="0"/>
                <a:ea typeface="Courier New" pitchFamily="34" charset="-122"/>
                <a:cs typeface="Courier New" pitchFamily="34" charset="-120"/>
              </a:rPr>
              <a:t>from</a:t>
            </a:r>
            <a:r>
              <a:rPr lang="en-US" sz="1050" dirty="0">
                <a:solidFill>
                  <a:srgbClr val="334155"/>
                </a:solidFill>
                <a:latin typeface="Courier New" pitchFamily="34" charset="0"/>
                <a:ea typeface="Courier New" pitchFamily="34" charset="-122"/>
                <a:cs typeface="Courier New" pitchFamily="34" charset="-120"/>
              </a:rPr>
              <a:t> rdkit.Chem </a:t>
            </a:r>
            <a:r>
              <a:rPr lang="en-US" sz="1050" b="1" dirty="0">
                <a:solidFill>
                  <a:srgbClr val="DC2626"/>
                </a:solidFill>
                <a:latin typeface="Courier New" pitchFamily="34" charset="0"/>
                <a:ea typeface="Courier New" pitchFamily="34" charset="-122"/>
                <a:cs typeface="Courier New" pitchFamily="34" charset="-120"/>
              </a:rPr>
              <a:t>import</a:t>
            </a:r>
            <a:r>
              <a:rPr lang="en-US" sz="1050" dirty="0">
                <a:solidFill>
                  <a:srgbClr val="334155"/>
                </a:solidFill>
                <a:latin typeface="Courier New" pitchFamily="34" charset="0"/>
                <a:ea typeface="Courier New" pitchFamily="34" charset="-122"/>
                <a:cs typeface="Courier New" pitchFamily="34" charset="-120"/>
              </a:rPr>
              <a:t> Draw</a:t>
            </a:r>
            <a:endParaRPr lang="en-US" sz="1050" dirty="0"/>
          </a:p>
        </p:txBody>
      </p:sp>
      <p:sp>
        <p:nvSpPr>
          <p:cNvPr id="98" name="Text 71"/>
          <p:cNvSpPr txBox="1"/>
          <p:nvPr/>
        </p:nvSpPr>
        <p:spPr>
          <a:xfrm>
            <a:off x="6086247" y="2279114"/>
            <a:ext cx="5429707" cy="171907"/>
          </a:xfrm>
          <a:prstGeom prst="rect">
            <a:avLst/>
          </a:prstGeom>
          <a:noFill/>
          <a:ln/>
        </p:spPr>
        <p:txBody>
          <a:bodyPr wrap="square" lIns="0" tIns="0" rIns="0" bIns="0" rtlCol="0" anchor="ctr"/>
          <a:lstStyle/>
          <a:p>
            <a:pPr marL="0" indent="0" algn="l">
              <a:buNone/>
            </a:pPr>
            <a:r>
              <a:rPr lang="en-US" sz="1050" dirty="0">
                <a:solidFill>
                  <a:srgbClr val="334155"/>
                </a:solidFill>
                <a:latin typeface="Courier New" pitchFamily="34" charset="0"/>
                <a:ea typeface="Courier New" pitchFamily="34" charset="-122"/>
                <a:cs typeface="Courier New" pitchFamily="34" charset="-120"/>
              </a:rPr>
              <a:t>mol = Chem.MolFromSmiles(smiles)</a:t>
            </a:r>
            <a:endParaRPr lang="en-US" sz="1050" dirty="0"/>
          </a:p>
        </p:txBody>
      </p:sp>
      <p:sp>
        <p:nvSpPr>
          <p:cNvPr id="99" name="Text 72"/>
          <p:cNvSpPr txBox="1"/>
          <p:nvPr/>
        </p:nvSpPr>
        <p:spPr>
          <a:xfrm>
            <a:off x="6086247" y="2466566"/>
            <a:ext cx="5429707" cy="171907"/>
          </a:xfrm>
          <a:prstGeom prst="rect">
            <a:avLst/>
          </a:prstGeom>
          <a:noFill/>
          <a:ln/>
        </p:spPr>
        <p:txBody>
          <a:bodyPr wrap="square" lIns="0" tIns="0" rIns="0" bIns="0" rtlCol="0" anchor="ctr"/>
          <a:lstStyle/>
          <a:p>
            <a:pPr marL="0" indent="0" algn="l">
              <a:buNone/>
            </a:pPr>
            <a:r>
              <a:rPr lang="en-US" sz="1050" dirty="0">
                <a:solidFill>
                  <a:srgbClr val="334155"/>
                </a:solidFill>
                <a:latin typeface="Courier New" pitchFamily="34" charset="0"/>
                <a:ea typeface="Courier New" pitchFamily="34" charset="-122"/>
                <a:cs typeface="Courier New" pitchFamily="34" charset="-120"/>
              </a:rPr>
              <a:t>img = Draw.MolToImage(mol, size=(300,300))</a:t>
            </a:r>
            <a:endParaRPr lang="en-US" sz="1050" dirty="0"/>
          </a:p>
        </p:txBody>
      </p:sp>
      <p:sp>
        <p:nvSpPr>
          <p:cNvPr id="100" name="Text 73"/>
          <p:cNvSpPr txBox="1"/>
          <p:nvPr/>
        </p:nvSpPr>
        <p:spPr>
          <a:xfrm>
            <a:off x="6086247" y="2653103"/>
            <a:ext cx="5429707" cy="171907"/>
          </a:xfrm>
          <a:prstGeom prst="rect">
            <a:avLst/>
          </a:prstGeom>
          <a:noFill/>
          <a:ln/>
        </p:spPr>
        <p:txBody>
          <a:bodyPr wrap="square" lIns="0" tIns="0" rIns="0" bIns="0" rtlCol="0" anchor="ctr"/>
          <a:lstStyle/>
          <a:p>
            <a:pPr marL="0" indent="0" algn="l">
              <a:buNone/>
            </a:pPr>
            <a:r>
              <a:rPr lang="en-US" sz="1050" i="1" dirty="0">
                <a:solidFill>
                  <a:srgbClr val="64748B"/>
                </a:solidFill>
                <a:latin typeface="Courier New" pitchFamily="34" charset="0"/>
                <a:ea typeface="Courier New" pitchFamily="34" charset="-122"/>
                <a:cs typeface="Courier New" pitchFamily="34" charset="-120"/>
              </a:rPr>
              <a:t># Base64 인코딩하여 웹 전송</a:t>
            </a:r>
            <a:endParaRPr lang="en-US" sz="1050" dirty="0"/>
          </a:p>
        </p:txBody>
      </p:sp>
      <p:pic>
        <p:nvPicPr>
          <p:cNvPr id="101" name="Image 25" descr="preencoded.png"/>
          <p:cNvPicPr>
            <a:picLocks noChangeAspect="1"/>
          </p:cNvPicPr>
          <p:nvPr/>
        </p:nvPicPr>
        <p:blipFill>
          <a:blip r:embed="rId8"/>
          <a:srcRect t="-25301" b="-25301"/>
          <a:stretch/>
        </p:blipFill>
        <p:spPr>
          <a:xfrm>
            <a:off x="5961888" y="3096587"/>
            <a:ext cx="75895" cy="114300"/>
          </a:xfrm>
          <a:prstGeom prst="rect">
            <a:avLst/>
          </a:prstGeom>
        </p:spPr>
      </p:pic>
      <p:sp>
        <p:nvSpPr>
          <p:cNvPr id="102" name="Text 74"/>
          <p:cNvSpPr txBox="1"/>
          <p:nvPr/>
        </p:nvSpPr>
        <p:spPr>
          <a:xfrm>
            <a:off x="6133795" y="3038981"/>
            <a:ext cx="1611184" cy="169164"/>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입력</a:t>
            </a:r>
            <a:r>
              <a:rPr lang="en-US" sz="1100" dirty="0">
                <a:solidFill>
                  <a:srgbClr val="475569"/>
                </a:solidFill>
                <a:latin typeface="Noto Sans KR" pitchFamily="34" charset="0"/>
                <a:ea typeface="Noto Sans KR" pitchFamily="34" charset="-122"/>
                <a:cs typeface="Noto Sans KR" pitchFamily="34" charset="-120"/>
              </a:rPr>
              <a:t>: SMILES 문자열</a:t>
            </a:r>
            <a:endParaRPr lang="en-US" sz="1100" dirty="0"/>
          </a:p>
        </p:txBody>
      </p:sp>
      <p:pic>
        <p:nvPicPr>
          <p:cNvPr id="103" name="Image 26" descr="preencoded.png"/>
          <p:cNvPicPr>
            <a:picLocks noChangeAspect="1"/>
          </p:cNvPicPr>
          <p:nvPr/>
        </p:nvPicPr>
        <p:blipFill>
          <a:blip r:embed="rId8"/>
          <a:srcRect t="-25301" b="-25301"/>
          <a:stretch/>
        </p:blipFill>
        <p:spPr>
          <a:xfrm>
            <a:off x="5961888" y="3344390"/>
            <a:ext cx="75895" cy="114300"/>
          </a:xfrm>
          <a:prstGeom prst="rect">
            <a:avLst/>
          </a:prstGeom>
        </p:spPr>
      </p:pic>
      <p:sp>
        <p:nvSpPr>
          <p:cNvPr id="104" name="Text 75"/>
          <p:cNvSpPr txBox="1"/>
          <p:nvPr/>
        </p:nvSpPr>
        <p:spPr>
          <a:xfrm>
            <a:off x="6133794" y="3286783"/>
            <a:ext cx="3845583" cy="179222"/>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처리</a:t>
            </a:r>
            <a:r>
              <a:rPr lang="en-US" sz="1100" dirty="0">
                <a:solidFill>
                  <a:srgbClr val="475569"/>
                </a:solidFill>
                <a:latin typeface="Noto Sans KR" pitchFamily="34" charset="0"/>
                <a:ea typeface="Noto Sans KR" pitchFamily="34" charset="-122"/>
                <a:cs typeface="Noto Sans KR" pitchFamily="34" charset="-120"/>
              </a:rPr>
              <a:t>: RDKit Chem.MolFromSmiles → Draw.MolToImage</a:t>
            </a:r>
            <a:endParaRPr lang="en-US" sz="1100" dirty="0"/>
          </a:p>
        </p:txBody>
      </p:sp>
      <p:pic>
        <p:nvPicPr>
          <p:cNvPr id="105" name="Image 27" descr="preencoded.png"/>
          <p:cNvPicPr>
            <a:picLocks noChangeAspect="1"/>
          </p:cNvPicPr>
          <p:nvPr/>
        </p:nvPicPr>
        <p:blipFill>
          <a:blip r:embed="rId8"/>
          <a:srcRect t="-25301" b="-25301"/>
          <a:stretch/>
        </p:blipFill>
        <p:spPr>
          <a:xfrm>
            <a:off x="5961888" y="3592192"/>
            <a:ext cx="75895" cy="114300"/>
          </a:xfrm>
          <a:prstGeom prst="rect">
            <a:avLst/>
          </a:prstGeom>
        </p:spPr>
      </p:pic>
      <p:sp>
        <p:nvSpPr>
          <p:cNvPr id="106" name="Text 76"/>
          <p:cNvSpPr txBox="1"/>
          <p:nvPr/>
        </p:nvSpPr>
        <p:spPr>
          <a:xfrm>
            <a:off x="6133794" y="3534585"/>
            <a:ext cx="3692875" cy="189280"/>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출력</a:t>
            </a:r>
            <a:r>
              <a:rPr lang="en-US" sz="1100" dirty="0">
                <a:solidFill>
                  <a:srgbClr val="475569"/>
                </a:solidFill>
                <a:latin typeface="Noto Sans KR" pitchFamily="34" charset="0"/>
                <a:ea typeface="Noto Sans KR" pitchFamily="34" charset="-122"/>
                <a:cs typeface="Noto Sans KR" pitchFamily="34" charset="-120"/>
              </a:rPr>
              <a:t>: PIL Image 객체 → Base64 인코딩 문자열</a:t>
            </a:r>
            <a:endParaRPr lang="en-US" sz="1100" dirty="0"/>
          </a:p>
        </p:txBody>
      </p:sp>
      <p:pic>
        <p:nvPicPr>
          <p:cNvPr id="107" name="Image 28" descr="preencoded.png"/>
          <p:cNvPicPr>
            <a:picLocks noChangeAspect="1"/>
          </p:cNvPicPr>
          <p:nvPr/>
        </p:nvPicPr>
        <p:blipFill>
          <a:blip r:embed="rId8"/>
          <a:srcRect t="-25301" b="-25301"/>
          <a:stretch/>
        </p:blipFill>
        <p:spPr>
          <a:xfrm>
            <a:off x="5961888" y="3839080"/>
            <a:ext cx="75895" cy="114300"/>
          </a:xfrm>
          <a:prstGeom prst="rect">
            <a:avLst/>
          </a:prstGeom>
        </p:spPr>
      </p:pic>
      <p:sp>
        <p:nvSpPr>
          <p:cNvPr id="108" name="Text 77"/>
          <p:cNvSpPr txBox="1"/>
          <p:nvPr/>
        </p:nvSpPr>
        <p:spPr>
          <a:xfrm>
            <a:off x="6133795" y="3782387"/>
            <a:ext cx="4647094" cy="235915"/>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활용</a:t>
            </a:r>
            <a:r>
              <a:rPr lang="en-US" sz="1100" dirty="0">
                <a:solidFill>
                  <a:srgbClr val="475569"/>
                </a:solidFill>
                <a:latin typeface="Noto Sans KR" pitchFamily="34" charset="0"/>
                <a:ea typeface="Noto Sans KR" pitchFamily="34" charset="-122"/>
                <a:cs typeface="Noto Sans KR" pitchFamily="34" charset="-120"/>
              </a:rPr>
              <a:t>: 웹 UI에서 &lt;img src="data:image/png;base64,..." /&gt; 형태로 표시</a:t>
            </a:r>
            <a:endParaRPr lang="en-US" sz="1100" dirty="0"/>
          </a:p>
        </p:txBody>
      </p:sp>
      <p:sp>
        <p:nvSpPr>
          <p:cNvPr id="109" name="Shape 78"/>
          <p:cNvSpPr/>
          <p:nvPr/>
        </p:nvSpPr>
        <p:spPr>
          <a:xfrm>
            <a:off x="5733288" y="4315483"/>
            <a:ext cx="5982005" cy="2048256"/>
          </a:xfrm>
          <a:prstGeom prst="roundRect">
            <a:avLst>
              <a:gd name="adj" fmla="val 1661"/>
            </a:avLst>
          </a:prstGeom>
          <a:solidFill>
            <a:srgbClr val="FFFFFF"/>
          </a:solidFill>
          <a:ln/>
          <a:effectLst>
            <a:outerShdw blurRad="76200" dist="25400" dir="16200000" algn="bl" rotWithShape="0">
              <a:srgbClr val="000000">
                <a:alpha val="8000"/>
              </a:srgbClr>
            </a:outerShdw>
          </a:effectLst>
        </p:spPr>
      </p:sp>
      <p:sp>
        <p:nvSpPr>
          <p:cNvPr id="110" name="Shape 79"/>
          <p:cNvSpPr/>
          <p:nvPr/>
        </p:nvSpPr>
        <p:spPr>
          <a:xfrm>
            <a:off x="5733288" y="4315483"/>
            <a:ext cx="38405" cy="2048256"/>
          </a:xfrm>
          <a:prstGeom prst="roundRect">
            <a:avLst>
              <a:gd name="adj" fmla="val 88593"/>
            </a:avLst>
          </a:prstGeom>
          <a:solidFill>
            <a:srgbClr val="10B981"/>
          </a:solidFill>
          <a:ln w="12700">
            <a:solidFill>
              <a:srgbClr val="10B981">
                <a:alpha val="0"/>
              </a:srgbClr>
            </a:solidFill>
            <a:prstDash val="solid"/>
          </a:ln>
        </p:spPr>
      </p:sp>
      <p:pic>
        <p:nvPicPr>
          <p:cNvPr id="111" name="Image 29" descr="preencoded.png"/>
          <p:cNvPicPr>
            <a:picLocks noChangeAspect="1"/>
          </p:cNvPicPr>
          <p:nvPr/>
        </p:nvPicPr>
        <p:blipFill>
          <a:blip r:embed="rId9"/>
          <a:srcRect l="-133" r="-133"/>
          <a:stretch/>
        </p:blipFill>
        <p:spPr>
          <a:xfrm>
            <a:off x="5961888" y="4573343"/>
            <a:ext cx="171907" cy="228600"/>
          </a:xfrm>
          <a:prstGeom prst="rect">
            <a:avLst/>
          </a:prstGeom>
        </p:spPr>
      </p:pic>
      <p:sp>
        <p:nvSpPr>
          <p:cNvPr id="112" name="Text 80"/>
          <p:cNvSpPr txBox="1"/>
          <p:nvPr/>
        </p:nvSpPr>
        <p:spPr>
          <a:xfrm>
            <a:off x="6248095" y="4563285"/>
            <a:ext cx="2862038" cy="312724"/>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메트릭 산출 및 스케일러 로드</a:t>
            </a:r>
            <a:endParaRPr lang="en-US" dirty="0"/>
          </a:p>
        </p:txBody>
      </p:sp>
      <p:pic>
        <p:nvPicPr>
          <p:cNvPr id="113" name="Image 30" descr="preencoded.png"/>
          <p:cNvPicPr>
            <a:picLocks noChangeAspect="1"/>
          </p:cNvPicPr>
          <p:nvPr/>
        </p:nvPicPr>
        <p:blipFill>
          <a:blip r:embed="rId8"/>
          <a:srcRect t="-25301" b="-25301"/>
          <a:stretch/>
        </p:blipFill>
        <p:spPr>
          <a:xfrm>
            <a:off x="5961888" y="5039687"/>
            <a:ext cx="75895" cy="114300"/>
          </a:xfrm>
          <a:prstGeom prst="rect">
            <a:avLst/>
          </a:prstGeom>
        </p:spPr>
      </p:pic>
      <p:sp>
        <p:nvSpPr>
          <p:cNvPr id="114" name="Text 81"/>
          <p:cNvSpPr txBox="1"/>
          <p:nvPr/>
        </p:nvSpPr>
        <p:spPr>
          <a:xfrm>
            <a:off x="6133794" y="4982080"/>
            <a:ext cx="4400949" cy="18836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스케일러 역할</a:t>
            </a:r>
            <a:r>
              <a:rPr lang="en-US" sz="1100" dirty="0">
                <a:solidFill>
                  <a:srgbClr val="475569"/>
                </a:solidFill>
                <a:latin typeface="Noto Sans KR" pitchFamily="34" charset="0"/>
                <a:ea typeface="Noto Sans KR" pitchFamily="34" charset="-122"/>
                <a:cs typeface="Noto Sans KR" pitchFamily="34" charset="-120"/>
              </a:rPr>
              <a:t>: 학습 시 사용한 정규화 파라미터(평균, 표준편차) 복원</a:t>
            </a:r>
            <a:endParaRPr lang="en-US" sz="1100" dirty="0"/>
          </a:p>
        </p:txBody>
      </p:sp>
      <p:pic>
        <p:nvPicPr>
          <p:cNvPr id="115" name="Image 31" descr="preencoded.png"/>
          <p:cNvPicPr>
            <a:picLocks noChangeAspect="1"/>
          </p:cNvPicPr>
          <p:nvPr/>
        </p:nvPicPr>
        <p:blipFill>
          <a:blip r:embed="rId8"/>
          <a:srcRect t="-25301" b="-25301"/>
          <a:stretch/>
        </p:blipFill>
        <p:spPr>
          <a:xfrm>
            <a:off x="5961888" y="5287490"/>
            <a:ext cx="75895" cy="114300"/>
          </a:xfrm>
          <a:prstGeom prst="rect">
            <a:avLst/>
          </a:prstGeom>
        </p:spPr>
      </p:pic>
      <p:sp>
        <p:nvSpPr>
          <p:cNvPr id="116" name="Text 82"/>
          <p:cNvSpPr txBox="1"/>
          <p:nvPr/>
        </p:nvSpPr>
        <p:spPr>
          <a:xfrm>
            <a:off x="6133795" y="5229883"/>
            <a:ext cx="4116516" cy="171907"/>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적용 대상</a:t>
            </a:r>
            <a:r>
              <a:rPr lang="en-US" sz="1100" dirty="0">
                <a:solidFill>
                  <a:srgbClr val="475569"/>
                </a:solidFill>
                <a:latin typeface="Noto Sans KR" pitchFamily="34" charset="0"/>
                <a:ea typeface="Noto Sans KR" pitchFamily="34" charset="-122"/>
                <a:cs typeface="Noto Sans KR" pitchFamily="34" charset="-120"/>
              </a:rPr>
              <a:t>: 200개 RDKit 분자 기술자 정규화</a:t>
            </a:r>
            <a:endParaRPr lang="en-US" sz="1100" dirty="0"/>
          </a:p>
        </p:txBody>
      </p:sp>
      <p:pic>
        <p:nvPicPr>
          <p:cNvPr id="117" name="Image 32" descr="preencoded.png"/>
          <p:cNvPicPr>
            <a:picLocks noChangeAspect="1"/>
          </p:cNvPicPr>
          <p:nvPr/>
        </p:nvPicPr>
        <p:blipFill>
          <a:blip r:embed="rId8"/>
          <a:srcRect t="-25301" b="-25301"/>
          <a:stretch/>
        </p:blipFill>
        <p:spPr>
          <a:xfrm>
            <a:off x="5961888" y="5535292"/>
            <a:ext cx="75895" cy="114300"/>
          </a:xfrm>
          <a:prstGeom prst="rect">
            <a:avLst/>
          </a:prstGeom>
        </p:spPr>
      </p:pic>
      <p:sp>
        <p:nvSpPr>
          <p:cNvPr id="118" name="Text 83"/>
          <p:cNvSpPr txBox="1"/>
          <p:nvPr/>
        </p:nvSpPr>
        <p:spPr>
          <a:xfrm>
            <a:off x="6133795" y="5477685"/>
            <a:ext cx="3529494" cy="18836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일관성 보장</a:t>
            </a:r>
            <a:r>
              <a:rPr lang="en-US" sz="1100" dirty="0">
                <a:solidFill>
                  <a:srgbClr val="475569"/>
                </a:solidFill>
                <a:latin typeface="Noto Sans KR" pitchFamily="34" charset="0"/>
                <a:ea typeface="Noto Sans KR" pitchFamily="34" charset="-122"/>
                <a:cs typeface="Noto Sans KR" pitchFamily="34" charset="-120"/>
              </a:rPr>
              <a:t>: 학습과 동일한 스케일로 추론 수행</a:t>
            </a:r>
            <a:endParaRPr lang="en-US" sz="1100" dirty="0"/>
          </a:p>
        </p:txBody>
      </p:sp>
      <p:pic>
        <p:nvPicPr>
          <p:cNvPr id="119" name="Image 33" descr="preencoded.png"/>
          <p:cNvPicPr>
            <a:picLocks noChangeAspect="1"/>
          </p:cNvPicPr>
          <p:nvPr/>
        </p:nvPicPr>
        <p:blipFill>
          <a:blip r:embed="rId8"/>
          <a:srcRect t="-25301" b="-25301"/>
          <a:stretch/>
        </p:blipFill>
        <p:spPr>
          <a:xfrm>
            <a:off x="5962972" y="5779461"/>
            <a:ext cx="75895" cy="114300"/>
          </a:xfrm>
          <a:prstGeom prst="rect">
            <a:avLst/>
          </a:prstGeom>
        </p:spPr>
      </p:pic>
      <p:sp>
        <p:nvSpPr>
          <p:cNvPr id="120" name="Text 84"/>
          <p:cNvSpPr txBox="1"/>
          <p:nvPr/>
        </p:nvSpPr>
        <p:spPr>
          <a:xfrm>
            <a:off x="6145666" y="5739292"/>
            <a:ext cx="3845582" cy="18836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메트릭</a:t>
            </a:r>
            <a:r>
              <a:rPr lang="en-US" sz="1100" dirty="0">
                <a:solidFill>
                  <a:srgbClr val="475569"/>
                </a:solidFill>
                <a:latin typeface="Noto Sans KR" pitchFamily="34" charset="0"/>
                <a:ea typeface="Noto Sans KR" pitchFamily="34" charset="-122"/>
                <a:cs typeface="Noto Sans KR" pitchFamily="34" charset="-120"/>
              </a:rPr>
              <a:t>: 시그모이드 활성화 후 0~1 확률값 출력</a:t>
            </a:r>
            <a:endParaRPr lang="en-US" sz="1100" dirty="0"/>
          </a:p>
        </p:txBody>
      </p:sp>
      <p:pic>
        <p:nvPicPr>
          <p:cNvPr id="121" name="Image 34" descr="preencoded.png"/>
          <p:cNvPicPr>
            <a:picLocks noChangeAspect="1"/>
          </p:cNvPicPr>
          <p:nvPr/>
        </p:nvPicPr>
        <p:blipFill>
          <a:blip r:embed="rId10"/>
          <a:stretch>
            <a:fillRect/>
          </a:stretch>
        </p:blipFill>
        <p:spPr>
          <a:xfrm>
            <a:off x="6098439" y="5996523"/>
            <a:ext cx="1123523" cy="226523"/>
          </a:xfrm>
          <a:prstGeom prst="rect">
            <a:avLst/>
          </a:prstGeom>
        </p:spPr>
      </p:pic>
      <p:sp>
        <p:nvSpPr>
          <p:cNvPr id="122" name="Text 85"/>
          <p:cNvSpPr/>
          <p:nvPr/>
        </p:nvSpPr>
        <p:spPr>
          <a:xfrm>
            <a:off x="6086247" y="5984737"/>
            <a:ext cx="1172045" cy="2286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E40AF"/>
                </a:solidFill>
                <a:latin typeface="Noto Sans KR" pitchFamily="34" charset="0"/>
                <a:ea typeface="Noto Sans KR" pitchFamily="34" charset="-122"/>
                <a:cs typeface="Noto Sans KR" pitchFamily="34" charset="-120"/>
              </a:rPr>
              <a:t>StandardScaler</a:t>
            </a:r>
            <a:endParaRPr lang="en-US" sz="1050" dirty="0"/>
          </a:p>
        </p:txBody>
      </p:sp>
      <p:pic>
        <p:nvPicPr>
          <p:cNvPr id="123" name="Image 35" descr="preencoded.png"/>
          <p:cNvPicPr>
            <a:picLocks noChangeAspect="1"/>
          </p:cNvPicPr>
          <p:nvPr/>
        </p:nvPicPr>
        <p:blipFill>
          <a:blip r:embed="rId11"/>
          <a:stretch>
            <a:fillRect/>
          </a:stretch>
        </p:blipFill>
        <p:spPr>
          <a:xfrm>
            <a:off x="7361635" y="5987455"/>
            <a:ext cx="1123523" cy="228601"/>
          </a:xfrm>
          <a:prstGeom prst="rect">
            <a:avLst/>
          </a:prstGeom>
        </p:spPr>
      </p:pic>
      <p:sp>
        <p:nvSpPr>
          <p:cNvPr id="124" name="Text 86"/>
          <p:cNvSpPr/>
          <p:nvPr/>
        </p:nvSpPr>
        <p:spPr>
          <a:xfrm>
            <a:off x="7299742" y="6000252"/>
            <a:ext cx="1223822" cy="18836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50" b="1" dirty="0">
                <a:solidFill>
                  <a:srgbClr val="1E40AF"/>
                </a:solidFill>
                <a:latin typeface="Noto Sans KR" pitchFamily="34" charset="0"/>
                <a:ea typeface="Noto Sans KR" pitchFamily="34" charset="-122"/>
                <a:cs typeface="Noto Sans KR" pitchFamily="34" charset="-120"/>
              </a:rPr>
              <a:t>Chemprop Utils</a:t>
            </a:r>
            <a:endParaRPr lang="en-US" sz="1050" dirty="0"/>
          </a:p>
        </p:txBody>
      </p:sp>
    </p:spTree>
    <p:extLst>
      <p:ext uri="{BB962C8B-B14F-4D97-AF65-F5344CB8AC3E}">
        <p14:creationId xmlns:p14="http://schemas.microsoft.com/office/powerpoint/2010/main" val="4219895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43357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시연: UI 화면 1</a:t>
            </a:r>
            <a:endParaRPr lang="en-US" sz="2400" dirty="0"/>
          </a:p>
        </p:txBody>
      </p:sp>
      <p:sp>
        <p:nvSpPr>
          <p:cNvPr id="5" name="Text 3"/>
          <p:cNvSpPr txBox="1"/>
          <p:nvPr/>
        </p:nvSpPr>
        <p:spPr>
          <a:xfrm>
            <a:off x="476402" y="685800"/>
            <a:ext cx="348295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SMILES 입력 인터페이스 및 </a:t>
            </a:r>
            <a:r>
              <a:rPr lang="ko-KR" altLang="en-US" sz="1200" dirty="0" err="1">
                <a:solidFill>
                  <a:srgbClr val="FFFFFF">
                    <a:alpha val="85000"/>
                  </a:srgbClr>
                </a:solidFill>
                <a:latin typeface="Noto Sans KR" pitchFamily="34" charset="0"/>
                <a:ea typeface="Noto Sans KR" pitchFamily="34" charset="-122"/>
                <a:cs typeface="Noto Sans KR" pitchFamily="34" charset="-120"/>
              </a:rPr>
              <a:t>스크리닝</a:t>
            </a:r>
            <a:r>
              <a:rPr lang="ko-KR" altLang="en-US" sz="1200" dirty="0">
                <a:solidFill>
                  <a:srgbClr val="FFFFFF">
                    <a:alpha val="85000"/>
                  </a:srgbClr>
                </a:solidFill>
                <a:latin typeface="Noto Sans KR" pitchFamily="34" charset="0"/>
                <a:ea typeface="Noto Sans KR" pitchFamily="34" charset="-122"/>
                <a:cs typeface="Noto Sans KR" pitchFamily="34" charset="-120"/>
              </a:rPr>
              <a:t> 요약 리포트</a:t>
            </a:r>
            <a:endParaRPr lang="en-US" sz="1200" dirty="0"/>
          </a:p>
        </p:txBody>
      </p:sp>
      <p:pic>
        <p:nvPicPr>
          <p:cNvPr id="6" name="Image 0" descr="preencoded.png"/>
          <p:cNvPicPr>
            <a:picLocks noChangeAspect="1"/>
          </p:cNvPicPr>
          <p:nvPr/>
        </p:nvPicPr>
        <p:blipFill>
          <a:blip r:embed="rId3"/>
          <a:srcRect l="-50" r="-50"/>
          <a:stretch/>
        </p:blipFill>
        <p:spPr>
          <a:xfrm>
            <a:off x="11373307" y="418795"/>
            <a:ext cx="342900" cy="304495"/>
          </a:xfrm>
          <a:prstGeom prst="rect">
            <a:avLst/>
          </a:prstGeom>
        </p:spPr>
      </p:pic>
      <p:pic>
        <p:nvPicPr>
          <p:cNvPr id="96" name="그림 95">
            <a:extLst>
              <a:ext uri="{FF2B5EF4-FFF2-40B4-BE49-F238E27FC236}">
                <a16:creationId xmlns:a16="http://schemas.microsoft.com/office/drawing/2014/main" id="{2A562D7C-19A1-4123-8E6C-F3799FDE2C21}"/>
              </a:ext>
            </a:extLst>
          </p:cNvPr>
          <p:cNvPicPr>
            <a:picLocks noChangeAspect="1"/>
          </p:cNvPicPr>
          <p:nvPr/>
        </p:nvPicPr>
        <p:blipFill>
          <a:blip r:embed="rId4"/>
          <a:stretch>
            <a:fillRect/>
          </a:stretch>
        </p:blipFill>
        <p:spPr>
          <a:xfrm>
            <a:off x="299783" y="1600200"/>
            <a:ext cx="11592128" cy="4368363"/>
          </a:xfrm>
          <a:prstGeom prst="rect">
            <a:avLst/>
          </a:prstGeom>
          <a:ln w="19050">
            <a:solidFill>
              <a:schemeClr val="accent1"/>
            </a:solid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67680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시연: UI 화면 2</a:t>
            </a:r>
            <a:endParaRPr lang="en-US" sz="2400" dirty="0"/>
          </a:p>
        </p:txBody>
      </p:sp>
      <p:sp>
        <p:nvSpPr>
          <p:cNvPr id="5" name="Text 3"/>
          <p:cNvSpPr txBox="1"/>
          <p:nvPr/>
        </p:nvSpPr>
        <p:spPr>
          <a:xfrm>
            <a:off x="476402" y="685800"/>
            <a:ext cx="4031590" cy="228600"/>
          </a:xfrm>
          <a:prstGeom prst="rect">
            <a:avLst/>
          </a:prstGeom>
          <a:noFill/>
          <a:ln/>
        </p:spPr>
        <p:txBody>
          <a:bodyPr wrap="square" lIns="0" tIns="0" rIns="0" bIns="0" rtlCol="0" anchor="ctr"/>
          <a:lstStyle/>
          <a:p>
            <a:pPr marL="0" indent="0" algn="l">
              <a:buNone/>
            </a:pPr>
            <a:r>
              <a:rPr lang="en-US" altLang="ko-KR" sz="1200" dirty="0" err="1">
                <a:solidFill>
                  <a:srgbClr val="FFFFFF">
                    <a:alpha val="85000"/>
                  </a:srgbClr>
                </a:solidFill>
                <a:latin typeface="Noto Sans KR" pitchFamily="34" charset="0"/>
                <a:ea typeface="Noto Sans KR" pitchFamily="34" charset="-122"/>
                <a:cs typeface="Noto Sans KR" pitchFamily="34" charset="-120"/>
              </a:rPr>
              <a:t>분자</a:t>
            </a:r>
            <a:r>
              <a:rPr lang="en-US" altLang="ko-KR" sz="1200" dirty="0">
                <a:solidFill>
                  <a:srgbClr val="FFFFFF">
                    <a:alpha val="85000"/>
                  </a:srgbClr>
                </a:solidFill>
                <a:latin typeface="Noto Sans KR" pitchFamily="34" charset="0"/>
                <a:ea typeface="Noto Sans KR" pitchFamily="34" charset="-122"/>
                <a:cs typeface="Noto Sans KR" pitchFamily="34" charset="-120"/>
              </a:rPr>
              <a:t> </a:t>
            </a:r>
            <a:r>
              <a:rPr lang="en-US" altLang="ko-KR" sz="1200" dirty="0" err="1">
                <a:solidFill>
                  <a:srgbClr val="FFFFFF">
                    <a:alpha val="85000"/>
                  </a:srgbClr>
                </a:solidFill>
                <a:latin typeface="Noto Sans KR" pitchFamily="34" charset="0"/>
                <a:ea typeface="Noto Sans KR" pitchFamily="34" charset="-122"/>
                <a:cs typeface="Noto Sans KR" pitchFamily="34" charset="-120"/>
              </a:rPr>
              <a:t>구조</a:t>
            </a:r>
            <a:r>
              <a:rPr lang="en-US" altLang="ko-KR" sz="1200" dirty="0">
                <a:solidFill>
                  <a:srgbClr val="FFFFFF">
                    <a:alpha val="85000"/>
                  </a:srgbClr>
                </a:solidFill>
                <a:latin typeface="Noto Sans KR" pitchFamily="34" charset="0"/>
                <a:ea typeface="Noto Sans KR" pitchFamily="34" charset="-122"/>
                <a:cs typeface="Noto Sans KR" pitchFamily="34" charset="-120"/>
              </a:rPr>
              <a:t> </a:t>
            </a:r>
            <a:r>
              <a:rPr lang="en-US" altLang="ko-KR" sz="1200" dirty="0" err="1">
                <a:solidFill>
                  <a:srgbClr val="FFFFFF">
                    <a:alpha val="85000"/>
                  </a:srgbClr>
                </a:solidFill>
                <a:latin typeface="Noto Sans KR" pitchFamily="34" charset="0"/>
                <a:ea typeface="Noto Sans KR" pitchFamily="34" charset="-122"/>
                <a:cs typeface="Noto Sans KR" pitchFamily="34" charset="-120"/>
              </a:rPr>
              <a:t>시각화</a:t>
            </a:r>
            <a:r>
              <a:rPr lang="en-US" altLang="ko-KR" sz="1200" dirty="0">
                <a:solidFill>
                  <a:srgbClr val="FFFFFF">
                    <a:alpha val="85000"/>
                  </a:srgbClr>
                </a:solidFill>
                <a:latin typeface="Noto Sans KR" pitchFamily="34" charset="0"/>
                <a:ea typeface="Noto Sans KR" pitchFamily="34" charset="-122"/>
                <a:cs typeface="Noto Sans KR" pitchFamily="34" charset="-120"/>
              </a:rPr>
              <a:t> </a:t>
            </a:r>
            <a:r>
              <a:rPr lang="ko-KR" altLang="en-US" sz="1200" dirty="0">
                <a:solidFill>
                  <a:srgbClr val="FFFFFF">
                    <a:alpha val="85000"/>
                  </a:srgbClr>
                </a:solidFill>
                <a:latin typeface="Noto Sans KR" pitchFamily="34" charset="0"/>
                <a:ea typeface="Noto Sans KR" pitchFamily="34" charset="-122"/>
                <a:cs typeface="Noto Sans KR" pitchFamily="34" charset="-120"/>
              </a:rPr>
              <a:t>및 </a:t>
            </a:r>
            <a:r>
              <a:rPr lang="en-US" sz="1200" dirty="0">
                <a:solidFill>
                  <a:srgbClr val="FFFFFF">
                    <a:alpha val="85000"/>
                  </a:srgbClr>
                </a:solidFill>
                <a:latin typeface="Noto Sans KR" pitchFamily="34" charset="0"/>
                <a:ea typeface="Noto Sans KR" pitchFamily="34" charset="-122"/>
                <a:cs typeface="Noto Sans KR" pitchFamily="34" charset="-120"/>
              </a:rPr>
              <a:t>13개 클러스터 </a:t>
            </a:r>
            <a:r>
              <a:rPr lang="en-US" sz="1200" dirty="0" err="1">
                <a:solidFill>
                  <a:srgbClr val="FFFFFF">
                    <a:alpha val="85000"/>
                  </a:srgbClr>
                </a:solidFill>
                <a:latin typeface="Noto Sans KR" pitchFamily="34" charset="0"/>
                <a:ea typeface="Noto Sans KR" pitchFamily="34" charset="-122"/>
                <a:cs typeface="Noto Sans KR" pitchFamily="34" charset="-120"/>
              </a:rPr>
              <a:t>레이더</a:t>
            </a:r>
            <a:r>
              <a:rPr lang="en-US" sz="1200" dirty="0">
                <a:solidFill>
                  <a:srgbClr val="FFFFFF">
                    <a:alpha val="85000"/>
                  </a:srgbClr>
                </a:solidFill>
                <a:latin typeface="Noto Sans KR" pitchFamily="34" charset="0"/>
                <a:ea typeface="Noto Sans KR" pitchFamily="34" charset="-122"/>
                <a:cs typeface="Noto Sans KR" pitchFamily="34" charset="-120"/>
              </a:rPr>
              <a:t> </a:t>
            </a:r>
            <a:r>
              <a:rPr lang="en-US" sz="1200" dirty="0" err="1">
                <a:solidFill>
                  <a:srgbClr val="FFFFFF">
                    <a:alpha val="85000"/>
                  </a:srgbClr>
                </a:solidFill>
                <a:latin typeface="Noto Sans KR" pitchFamily="34" charset="0"/>
                <a:ea typeface="Noto Sans KR" pitchFamily="34" charset="-122"/>
                <a:cs typeface="Noto Sans KR" pitchFamily="34" charset="-120"/>
              </a:rPr>
              <a:t>차트</a:t>
            </a:r>
            <a:endParaRPr lang="en-US" sz="1200" dirty="0"/>
          </a:p>
        </p:txBody>
      </p:sp>
      <p:pic>
        <p:nvPicPr>
          <p:cNvPr id="142" name="그림 141">
            <a:extLst>
              <a:ext uri="{FF2B5EF4-FFF2-40B4-BE49-F238E27FC236}">
                <a16:creationId xmlns:a16="http://schemas.microsoft.com/office/drawing/2014/main" id="{97991688-9CA7-48A9-9591-EB7AB79C5D8D}"/>
              </a:ext>
            </a:extLst>
          </p:cNvPr>
          <p:cNvPicPr>
            <a:picLocks noChangeAspect="1"/>
          </p:cNvPicPr>
          <p:nvPr/>
        </p:nvPicPr>
        <p:blipFill>
          <a:blip r:embed="rId3"/>
          <a:stretch>
            <a:fillRect/>
          </a:stretch>
        </p:blipFill>
        <p:spPr>
          <a:xfrm>
            <a:off x="825154" y="1432873"/>
            <a:ext cx="10541385" cy="5092473"/>
          </a:xfrm>
          <a:prstGeom prst="rect">
            <a:avLst/>
          </a:prstGeom>
          <a:ln w="19050">
            <a:solidFill>
              <a:schemeClr val="accent1"/>
            </a:solidFill>
          </a:ln>
        </p:spPr>
      </p:pic>
    </p:spTree>
    <p:extLst>
      <p:ext uri="{BB962C8B-B14F-4D97-AF65-F5344CB8AC3E}">
        <p14:creationId xmlns:p14="http://schemas.microsoft.com/office/powerpoint/2010/main" val="2253645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129077" cy="457200"/>
          </a:xfrm>
          <a:prstGeom prst="rect">
            <a:avLst/>
          </a:prstGeom>
          <a:noFill/>
          <a:ln/>
        </p:spPr>
        <p:txBody>
          <a:bodyPr wrap="square" lIns="0" tIns="0" rIns="0" bIns="0" rtlCol="0" anchor="ctr"/>
          <a:lstStyle/>
          <a:p>
            <a:pPr marL="0" indent="0" algn="l">
              <a:buNone/>
            </a:pPr>
            <a:r>
              <a:rPr lang="en-US" sz="2400" b="1" kern="0" spc="-37" dirty="0" err="1">
                <a:solidFill>
                  <a:srgbClr val="FFFFFF"/>
                </a:solidFill>
                <a:latin typeface="Noto Sans KR" pitchFamily="34" charset="0"/>
                <a:ea typeface="Noto Sans KR" pitchFamily="34" charset="-122"/>
                <a:cs typeface="Noto Sans KR" pitchFamily="34" charset="-120"/>
              </a:rPr>
              <a:t>코드</a:t>
            </a:r>
            <a:r>
              <a:rPr lang="en-US" sz="2400" b="1" kern="0" spc="-37" dirty="0">
                <a:solidFill>
                  <a:srgbClr val="FFFFFF"/>
                </a:solidFill>
                <a:latin typeface="Noto Sans KR" pitchFamily="34" charset="0"/>
                <a:ea typeface="Noto Sans KR" pitchFamily="34" charset="-122"/>
                <a:cs typeface="Noto Sans KR" pitchFamily="34" charset="-120"/>
              </a:rPr>
              <a:t> </a:t>
            </a:r>
            <a:r>
              <a:rPr lang="en-US" sz="2400" b="1" kern="0" spc="-37" dirty="0" err="1" smtClean="0">
                <a:solidFill>
                  <a:srgbClr val="FFFFFF"/>
                </a:solidFill>
                <a:latin typeface="Noto Sans KR" pitchFamily="34" charset="0"/>
                <a:ea typeface="Noto Sans KR" pitchFamily="34" charset="-122"/>
                <a:cs typeface="Noto Sans KR" pitchFamily="34" charset="-120"/>
              </a:rPr>
              <a:t>리뷰</a:t>
            </a:r>
            <a:r>
              <a:rPr lang="en-US" sz="2400" b="1" kern="0" spc="-37" dirty="0" smtClean="0">
                <a:solidFill>
                  <a:srgbClr val="FFFFFF"/>
                </a:solidFill>
                <a:latin typeface="Noto Sans KR" pitchFamily="34" charset="0"/>
                <a:ea typeface="Noto Sans KR" pitchFamily="34" charset="-122"/>
                <a:cs typeface="Noto Sans KR" pitchFamily="34" charset="-120"/>
              </a:rPr>
              <a:t>: </a:t>
            </a:r>
            <a:r>
              <a:rPr lang="en-US" sz="2400" b="1" kern="0" spc="-37" dirty="0" err="1" smtClean="0">
                <a:solidFill>
                  <a:srgbClr val="FFFFFF"/>
                </a:solidFill>
                <a:latin typeface="Noto Sans KR" pitchFamily="34" charset="0"/>
                <a:ea typeface="Noto Sans KR" pitchFamily="34" charset="-122"/>
                <a:cs typeface="Noto Sans KR" pitchFamily="34" charset="-120"/>
              </a:rPr>
              <a:t>개발</a:t>
            </a:r>
            <a:r>
              <a:rPr lang="en-US" sz="2400" b="1" kern="0" spc="-37" dirty="0" smtClean="0">
                <a:solidFill>
                  <a:srgbClr val="FFFFFF"/>
                </a:solidFill>
                <a:latin typeface="Noto Sans KR" pitchFamily="34" charset="0"/>
                <a:ea typeface="Noto Sans KR" pitchFamily="34" charset="-122"/>
                <a:cs typeface="Noto Sans KR" pitchFamily="34" charset="-120"/>
              </a:rPr>
              <a:t> </a:t>
            </a:r>
            <a:r>
              <a:rPr lang="en-US" sz="2400" b="1" kern="0" spc="-37" dirty="0">
                <a:solidFill>
                  <a:srgbClr val="FFFFFF"/>
                </a:solidFill>
                <a:latin typeface="Noto Sans KR" pitchFamily="34" charset="0"/>
                <a:ea typeface="Noto Sans KR" pitchFamily="34" charset="-122"/>
                <a:cs typeface="Noto Sans KR" pitchFamily="34" charset="-120"/>
              </a:rPr>
              <a:t>환경</a:t>
            </a:r>
            <a:endParaRPr lang="en-US" sz="2400" dirty="0"/>
          </a:p>
        </p:txBody>
      </p:sp>
      <p:sp>
        <p:nvSpPr>
          <p:cNvPr id="5" name="Text 3"/>
          <p:cNvSpPr txBox="1"/>
          <p:nvPr/>
        </p:nvSpPr>
        <p:spPr>
          <a:xfrm>
            <a:off x="476402" y="685800"/>
            <a:ext cx="2734056"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기술 스택 및 재현성 확보 방법</a:t>
            </a:r>
            <a:endParaRPr lang="en-US" sz="1200" dirty="0"/>
          </a:p>
        </p:txBody>
      </p:sp>
      <p:pic>
        <p:nvPicPr>
          <p:cNvPr id="6" name="Image 0" descr="preencoded.png"/>
          <p:cNvPicPr>
            <a:picLocks noChangeAspect="1"/>
          </p:cNvPicPr>
          <p:nvPr/>
        </p:nvPicPr>
        <p:blipFill>
          <a:blip r:embed="rId3"/>
          <a:srcRect l="-90" r="-90"/>
          <a:stretch/>
        </p:blipFill>
        <p:spPr>
          <a:xfrm>
            <a:off x="11334902" y="418795"/>
            <a:ext cx="381305" cy="304495"/>
          </a:xfrm>
          <a:prstGeom prst="rect">
            <a:avLst/>
          </a:prstGeom>
        </p:spPr>
      </p:pic>
      <p:sp>
        <p:nvSpPr>
          <p:cNvPr id="7" name="Shape 4"/>
          <p:cNvSpPr/>
          <p:nvPr/>
        </p:nvSpPr>
        <p:spPr>
          <a:xfrm>
            <a:off x="476402" y="1371600"/>
            <a:ext cx="5486400" cy="1304849"/>
          </a:xfrm>
          <a:prstGeom prst="roundRect">
            <a:avLst>
              <a:gd name="adj" fmla="val 4092"/>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71600"/>
            <a:ext cx="38405" cy="1304849"/>
          </a:xfrm>
          <a:prstGeom prst="roundRect">
            <a:avLst>
              <a:gd name="adj" fmla="val 139033"/>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685800" y="1595628"/>
            <a:ext cx="190195" cy="190195"/>
          </a:xfrm>
          <a:prstGeom prst="rect">
            <a:avLst/>
          </a:prstGeom>
        </p:spPr>
      </p:pic>
      <p:sp>
        <p:nvSpPr>
          <p:cNvPr id="10" name="Text 6"/>
          <p:cNvSpPr txBox="1"/>
          <p:nvPr/>
        </p:nvSpPr>
        <p:spPr>
          <a:xfrm>
            <a:off x="972007" y="1585570"/>
            <a:ext cx="1221639" cy="210312"/>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프론트엔드</a:t>
            </a:r>
            <a:endParaRPr lang="en-US" sz="1400" dirty="0"/>
          </a:p>
        </p:txBody>
      </p:sp>
      <p:pic>
        <p:nvPicPr>
          <p:cNvPr id="11" name="Image 2" descr="preencoded.png"/>
          <p:cNvPicPr>
            <a:picLocks noChangeAspect="1"/>
          </p:cNvPicPr>
          <p:nvPr/>
        </p:nvPicPr>
        <p:blipFill>
          <a:blip r:embed="rId5"/>
          <a:stretch>
            <a:fillRect/>
          </a:stretch>
        </p:blipFill>
        <p:spPr>
          <a:xfrm>
            <a:off x="685800" y="1943100"/>
            <a:ext cx="580644" cy="256946"/>
          </a:xfrm>
          <a:prstGeom prst="rect">
            <a:avLst/>
          </a:prstGeom>
        </p:spPr>
      </p:pic>
      <p:sp>
        <p:nvSpPr>
          <p:cNvPr id="12" name="Text 7"/>
          <p:cNvSpPr/>
          <p:nvPr/>
        </p:nvSpPr>
        <p:spPr>
          <a:xfrm>
            <a:off x="685800" y="1943100"/>
            <a:ext cx="5815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HTML5</a:t>
            </a:r>
            <a:endParaRPr lang="en-US" sz="1100" dirty="0"/>
          </a:p>
        </p:txBody>
      </p:sp>
      <p:pic>
        <p:nvPicPr>
          <p:cNvPr id="14" name="Image 3" descr="preencoded.png"/>
          <p:cNvPicPr>
            <a:picLocks noChangeAspect="1"/>
          </p:cNvPicPr>
          <p:nvPr/>
        </p:nvPicPr>
        <p:blipFill>
          <a:blip r:embed="rId6"/>
          <a:stretch>
            <a:fillRect/>
          </a:stretch>
        </p:blipFill>
        <p:spPr>
          <a:xfrm>
            <a:off x="1323137" y="1943100"/>
            <a:ext cx="1123798" cy="256946"/>
          </a:xfrm>
          <a:prstGeom prst="rect">
            <a:avLst/>
          </a:prstGeom>
        </p:spPr>
      </p:pic>
      <p:sp>
        <p:nvSpPr>
          <p:cNvPr id="15" name="Text 9"/>
          <p:cNvSpPr/>
          <p:nvPr/>
        </p:nvSpPr>
        <p:spPr>
          <a:xfrm>
            <a:off x="1323137" y="1943100"/>
            <a:ext cx="11247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JavaScript (ES6+)</a:t>
            </a:r>
            <a:endParaRPr lang="en-US" sz="1100" dirty="0"/>
          </a:p>
        </p:txBody>
      </p:sp>
      <p:pic>
        <p:nvPicPr>
          <p:cNvPr id="17" name="Image 4" descr="preencoded.png"/>
          <p:cNvPicPr>
            <a:picLocks noChangeAspect="1"/>
          </p:cNvPicPr>
          <p:nvPr/>
        </p:nvPicPr>
        <p:blipFill>
          <a:blip r:embed="rId7"/>
          <a:stretch>
            <a:fillRect/>
          </a:stretch>
        </p:blipFill>
        <p:spPr>
          <a:xfrm>
            <a:off x="2502713" y="1943100"/>
            <a:ext cx="886054" cy="256946"/>
          </a:xfrm>
          <a:prstGeom prst="rect">
            <a:avLst/>
          </a:prstGeom>
        </p:spPr>
      </p:pic>
      <p:sp>
        <p:nvSpPr>
          <p:cNvPr id="18" name="Text 11"/>
          <p:cNvSpPr/>
          <p:nvPr/>
        </p:nvSpPr>
        <p:spPr>
          <a:xfrm>
            <a:off x="2502713" y="1943100"/>
            <a:ext cx="8860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Tailwind CSS</a:t>
            </a:r>
            <a:endParaRPr lang="en-US" sz="1100" dirty="0"/>
          </a:p>
        </p:txBody>
      </p:sp>
      <p:pic>
        <p:nvPicPr>
          <p:cNvPr id="20" name="Image 5" descr="preencoded.png"/>
          <p:cNvPicPr>
            <a:picLocks noChangeAspect="1"/>
          </p:cNvPicPr>
          <p:nvPr/>
        </p:nvPicPr>
        <p:blipFill>
          <a:blip r:embed="rId8"/>
          <a:stretch>
            <a:fillRect/>
          </a:stretch>
        </p:blipFill>
        <p:spPr>
          <a:xfrm>
            <a:off x="3441802" y="1943100"/>
            <a:ext cx="647395" cy="256946"/>
          </a:xfrm>
          <a:prstGeom prst="rect">
            <a:avLst/>
          </a:prstGeom>
        </p:spPr>
      </p:pic>
      <p:sp>
        <p:nvSpPr>
          <p:cNvPr id="21" name="Text 13"/>
          <p:cNvSpPr/>
          <p:nvPr/>
        </p:nvSpPr>
        <p:spPr>
          <a:xfrm>
            <a:off x="3441802" y="1943100"/>
            <a:ext cx="64831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Plotly.js</a:t>
            </a:r>
            <a:endParaRPr lang="en-US" sz="1100" dirty="0"/>
          </a:p>
        </p:txBody>
      </p:sp>
      <p:pic>
        <p:nvPicPr>
          <p:cNvPr id="23" name="Image 6" descr="preencoded.png"/>
          <p:cNvPicPr>
            <a:picLocks noChangeAspect="1"/>
          </p:cNvPicPr>
          <p:nvPr/>
        </p:nvPicPr>
        <p:blipFill>
          <a:blip r:embed="rId9"/>
          <a:stretch>
            <a:fillRect/>
          </a:stretch>
        </p:blipFill>
        <p:spPr>
          <a:xfrm>
            <a:off x="4139489" y="1943100"/>
            <a:ext cx="981151" cy="256946"/>
          </a:xfrm>
          <a:prstGeom prst="rect">
            <a:avLst/>
          </a:prstGeom>
        </p:spPr>
      </p:pic>
      <p:sp>
        <p:nvSpPr>
          <p:cNvPr id="24" name="Text 15"/>
          <p:cNvSpPr/>
          <p:nvPr/>
        </p:nvSpPr>
        <p:spPr>
          <a:xfrm>
            <a:off x="4139489" y="1943100"/>
            <a:ext cx="9811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Font Awesome</a:t>
            </a:r>
            <a:endParaRPr lang="en-US" sz="1100" dirty="0"/>
          </a:p>
        </p:txBody>
      </p:sp>
      <p:sp>
        <p:nvSpPr>
          <p:cNvPr id="29" name="Shape 19"/>
          <p:cNvSpPr/>
          <p:nvPr/>
        </p:nvSpPr>
        <p:spPr>
          <a:xfrm>
            <a:off x="476402" y="2829154"/>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30" name="Shape 20"/>
          <p:cNvSpPr/>
          <p:nvPr/>
        </p:nvSpPr>
        <p:spPr>
          <a:xfrm>
            <a:off x="476402" y="2829154"/>
            <a:ext cx="38405" cy="1000354"/>
          </a:xfrm>
          <a:prstGeom prst="roundRect">
            <a:avLst>
              <a:gd name="adj" fmla="val 181405"/>
            </a:avLst>
          </a:prstGeom>
          <a:solidFill>
            <a:srgbClr val="10B981"/>
          </a:solidFill>
          <a:ln w="12700">
            <a:solidFill>
              <a:srgbClr val="10B981">
                <a:alpha val="0"/>
              </a:srgbClr>
            </a:solidFill>
            <a:prstDash val="solid"/>
          </a:ln>
        </p:spPr>
      </p:sp>
      <p:pic>
        <p:nvPicPr>
          <p:cNvPr id="31" name="Image 8" descr="preencoded.png"/>
          <p:cNvPicPr>
            <a:picLocks noChangeAspect="1"/>
          </p:cNvPicPr>
          <p:nvPr/>
        </p:nvPicPr>
        <p:blipFill>
          <a:blip r:embed="rId10"/>
          <a:srcRect/>
          <a:stretch/>
        </p:blipFill>
        <p:spPr>
          <a:xfrm>
            <a:off x="685800" y="3053182"/>
            <a:ext cx="190195" cy="190195"/>
          </a:xfrm>
          <a:prstGeom prst="rect">
            <a:avLst/>
          </a:prstGeom>
        </p:spPr>
      </p:pic>
      <p:sp>
        <p:nvSpPr>
          <p:cNvPr id="32" name="Text 21"/>
          <p:cNvSpPr txBox="1"/>
          <p:nvPr/>
        </p:nvSpPr>
        <p:spPr>
          <a:xfrm>
            <a:off x="972007" y="3043123"/>
            <a:ext cx="809244" cy="210312"/>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백엔드</a:t>
            </a:r>
            <a:endParaRPr lang="en-US" sz="1400" dirty="0"/>
          </a:p>
        </p:txBody>
      </p:sp>
      <p:pic>
        <p:nvPicPr>
          <p:cNvPr id="33" name="Image 9" descr="preencoded.png"/>
          <p:cNvPicPr>
            <a:picLocks noChangeAspect="1"/>
          </p:cNvPicPr>
          <p:nvPr/>
        </p:nvPicPr>
        <p:blipFill>
          <a:blip r:embed="rId11"/>
          <a:stretch>
            <a:fillRect/>
          </a:stretch>
        </p:blipFill>
        <p:spPr>
          <a:xfrm>
            <a:off x="685800" y="3400654"/>
            <a:ext cx="847649" cy="256946"/>
          </a:xfrm>
          <a:prstGeom prst="rect">
            <a:avLst/>
          </a:prstGeom>
        </p:spPr>
      </p:pic>
      <p:sp>
        <p:nvSpPr>
          <p:cNvPr id="35" name="Text 23"/>
          <p:cNvSpPr txBox="1"/>
          <p:nvPr/>
        </p:nvSpPr>
        <p:spPr>
          <a:xfrm>
            <a:off x="800100" y="3448202"/>
            <a:ext cx="737006" cy="162763"/>
          </a:xfrm>
          <a:prstGeom prst="rect">
            <a:avLst/>
          </a:prstGeom>
          <a:noFill/>
          <a:ln/>
        </p:spPr>
        <p:txBody>
          <a:bodyPr wrap="square" lIns="0" tIns="0" rIns="0" bIns="0" rtlCol="0" anchor="ctr"/>
          <a:lstStyle/>
          <a:p>
            <a:pPr marL="0" indent="0" algn="l">
              <a:buNone/>
            </a:pPr>
            <a:r>
              <a:rPr lang="en-US" sz="1100" b="1" dirty="0">
                <a:solidFill>
                  <a:srgbClr val="065F46"/>
                </a:solidFill>
                <a:latin typeface="Noto Sans KR" pitchFamily="34" charset="0"/>
                <a:ea typeface="Noto Sans KR" pitchFamily="34" charset="-122"/>
                <a:cs typeface="Noto Sans KR" pitchFamily="34" charset="-120"/>
              </a:rPr>
              <a:t>Python 3.8+</a:t>
            </a:r>
            <a:endParaRPr lang="en-US" sz="1100" dirty="0"/>
          </a:p>
        </p:txBody>
      </p:sp>
      <p:pic>
        <p:nvPicPr>
          <p:cNvPr id="36" name="Image 10" descr="preencoded.png"/>
          <p:cNvPicPr>
            <a:picLocks noChangeAspect="1"/>
          </p:cNvPicPr>
          <p:nvPr/>
        </p:nvPicPr>
        <p:blipFill>
          <a:blip r:embed="rId12"/>
          <a:stretch>
            <a:fillRect/>
          </a:stretch>
        </p:blipFill>
        <p:spPr>
          <a:xfrm>
            <a:off x="1583741" y="3400654"/>
            <a:ext cx="609905" cy="256946"/>
          </a:xfrm>
          <a:prstGeom prst="rect">
            <a:avLst/>
          </a:prstGeom>
        </p:spPr>
      </p:pic>
      <p:sp>
        <p:nvSpPr>
          <p:cNvPr id="37" name="Text 24"/>
          <p:cNvSpPr/>
          <p:nvPr/>
        </p:nvSpPr>
        <p:spPr>
          <a:xfrm>
            <a:off x="1583741" y="3400654"/>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FastAPI</a:t>
            </a:r>
            <a:endParaRPr lang="en-US" sz="1100" dirty="0"/>
          </a:p>
        </p:txBody>
      </p:sp>
      <p:pic>
        <p:nvPicPr>
          <p:cNvPr id="39" name="Image 11" descr="preencoded.png"/>
          <p:cNvPicPr>
            <a:picLocks noChangeAspect="1"/>
          </p:cNvPicPr>
          <p:nvPr/>
        </p:nvPicPr>
        <p:blipFill>
          <a:blip r:embed="rId13"/>
          <a:stretch>
            <a:fillRect/>
          </a:stretch>
        </p:blipFill>
        <p:spPr>
          <a:xfrm>
            <a:off x="2245766" y="3400654"/>
            <a:ext cx="629107" cy="256946"/>
          </a:xfrm>
          <a:prstGeom prst="rect">
            <a:avLst/>
          </a:prstGeom>
        </p:spPr>
      </p:pic>
      <p:sp>
        <p:nvSpPr>
          <p:cNvPr id="40" name="Text 26"/>
          <p:cNvSpPr/>
          <p:nvPr/>
        </p:nvSpPr>
        <p:spPr>
          <a:xfrm>
            <a:off x="2245766" y="3400654"/>
            <a:ext cx="629107"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Uvicorn</a:t>
            </a:r>
            <a:endParaRPr lang="en-US" sz="1100" dirty="0"/>
          </a:p>
        </p:txBody>
      </p:sp>
      <p:pic>
        <p:nvPicPr>
          <p:cNvPr id="42" name="Image 12" descr="preencoded.png"/>
          <p:cNvPicPr>
            <a:picLocks noChangeAspect="1"/>
          </p:cNvPicPr>
          <p:nvPr/>
        </p:nvPicPr>
        <p:blipFill>
          <a:blip r:embed="rId14"/>
          <a:stretch>
            <a:fillRect/>
          </a:stretch>
        </p:blipFill>
        <p:spPr>
          <a:xfrm>
            <a:off x="2925166" y="3400654"/>
            <a:ext cx="685800" cy="256946"/>
          </a:xfrm>
          <a:prstGeom prst="rect">
            <a:avLst/>
          </a:prstGeom>
        </p:spPr>
      </p:pic>
      <p:sp>
        <p:nvSpPr>
          <p:cNvPr id="43" name="Text 28"/>
          <p:cNvSpPr/>
          <p:nvPr/>
        </p:nvSpPr>
        <p:spPr>
          <a:xfrm>
            <a:off x="2925166" y="3400654"/>
            <a:ext cx="68580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Pydantic</a:t>
            </a:r>
            <a:endParaRPr lang="en-US" sz="1100" dirty="0"/>
          </a:p>
        </p:txBody>
      </p:sp>
      <p:pic>
        <p:nvPicPr>
          <p:cNvPr id="45" name="Image 13" descr="preencoded.png"/>
          <p:cNvPicPr>
            <a:picLocks noChangeAspect="1"/>
          </p:cNvPicPr>
          <p:nvPr/>
        </p:nvPicPr>
        <p:blipFill>
          <a:blip r:embed="rId15"/>
          <a:stretch>
            <a:fillRect/>
          </a:stretch>
        </p:blipFill>
        <p:spPr>
          <a:xfrm>
            <a:off x="3660343" y="3400654"/>
            <a:ext cx="1133856" cy="256946"/>
          </a:xfrm>
          <a:prstGeom prst="rect">
            <a:avLst/>
          </a:prstGeom>
        </p:spPr>
      </p:pic>
      <p:sp>
        <p:nvSpPr>
          <p:cNvPr id="46" name="Text 30"/>
          <p:cNvSpPr/>
          <p:nvPr/>
        </p:nvSpPr>
        <p:spPr>
          <a:xfrm>
            <a:off x="3660343" y="3400654"/>
            <a:ext cx="1133856"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CORS Middleware</a:t>
            </a:r>
            <a:endParaRPr lang="en-US" sz="1100" dirty="0"/>
          </a:p>
        </p:txBody>
      </p:sp>
      <p:sp>
        <p:nvSpPr>
          <p:cNvPr id="48" name="Shape 32"/>
          <p:cNvSpPr/>
          <p:nvPr/>
        </p:nvSpPr>
        <p:spPr>
          <a:xfrm>
            <a:off x="476402" y="3976726"/>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49" name="Shape 33"/>
          <p:cNvSpPr/>
          <p:nvPr/>
        </p:nvSpPr>
        <p:spPr>
          <a:xfrm>
            <a:off x="476402" y="3976726"/>
            <a:ext cx="38405" cy="1000354"/>
          </a:xfrm>
          <a:prstGeom prst="roundRect">
            <a:avLst>
              <a:gd name="adj" fmla="val 181405"/>
            </a:avLst>
          </a:prstGeom>
          <a:solidFill>
            <a:srgbClr val="8B5CF6"/>
          </a:solidFill>
          <a:ln w="12700">
            <a:solidFill>
              <a:srgbClr val="8B5CF6">
                <a:alpha val="0"/>
              </a:srgbClr>
            </a:solidFill>
            <a:prstDash val="solid"/>
          </a:ln>
        </p:spPr>
      </p:sp>
      <p:pic>
        <p:nvPicPr>
          <p:cNvPr id="50" name="Image 14" descr="preencoded.png"/>
          <p:cNvPicPr>
            <a:picLocks noChangeAspect="1"/>
          </p:cNvPicPr>
          <p:nvPr/>
        </p:nvPicPr>
        <p:blipFill>
          <a:blip r:embed="rId16"/>
          <a:srcRect/>
          <a:stretch/>
        </p:blipFill>
        <p:spPr>
          <a:xfrm>
            <a:off x="685800" y="4200754"/>
            <a:ext cx="190195" cy="190195"/>
          </a:xfrm>
          <a:prstGeom prst="rect">
            <a:avLst/>
          </a:prstGeom>
        </p:spPr>
      </p:pic>
      <p:sp>
        <p:nvSpPr>
          <p:cNvPr id="51" name="Text 34"/>
          <p:cNvSpPr txBox="1"/>
          <p:nvPr/>
        </p:nvSpPr>
        <p:spPr>
          <a:xfrm>
            <a:off x="972006" y="4190695"/>
            <a:ext cx="1523391" cy="234086"/>
          </a:xfrm>
          <a:prstGeom prst="rect">
            <a:avLst/>
          </a:prstGeom>
          <a:noFill/>
          <a:ln/>
        </p:spPr>
        <p:txBody>
          <a:bodyPr wrap="square" lIns="0" tIns="0" rIns="0" bIns="0" rtlCol="0" anchor="ctr"/>
          <a:lstStyle/>
          <a:p>
            <a:pPr marL="0" indent="0" algn="l">
              <a:buNone/>
            </a:pPr>
            <a:r>
              <a:rPr lang="en-US" sz="1400" b="1" smtClean="0">
                <a:solidFill>
                  <a:srgbClr val="1A355B"/>
                </a:solidFill>
                <a:latin typeface="Noto Sans KR" pitchFamily="34" charset="0"/>
                <a:ea typeface="Noto Sans KR" pitchFamily="34" charset="-122"/>
                <a:cs typeface="Noto Sans KR" pitchFamily="34" charset="-120"/>
              </a:rPr>
              <a:t>딥러닝</a:t>
            </a:r>
            <a:endParaRPr lang="en-US" sz="1400" dirty="0"/>
          </a:p>
        </p:txBody>
      </p:sp>
      <p:pic>
        <p:nvPicPr>
          <p:cNvPr id="52" name="Image 15" descr="preencoded.png"/>
          <p:cNvPicPr>
            <a:picLocks noChangeAspect="1"/>
          </p:cNvPicPr>
          <p:nvPr/>
        </p:nvPicPr>
        <p:blipFill>
          <a:blip r:embed="rId17"/>
          <a:stretch>
            <a:fillRect/>
          </a:stretch>
        </p:blipFill>
        <p:spPr>
          <a:xfrm>
            <a:off x="685800" y="4548226"/>
            <a:ext cx="819302" cy="256946"/>
          </a:xfrm>
          <a:prstGeom prst="rect">
            <a:avLst/>
          </a:prstGeom>
        </p:spPr>
      </p:pic>
      <p:sp>
        <p:nvSpPr>
          <p:cNvPr id="54" name="Text 36"/>
          <p:cNvSpPr txBox="1"/>
          <p:nvPr/>
        </p:nvSpPr>
        <p:spPr>
          <a:xfrm>
            <a:off x="800100" y="4595774"/>
            <a:ext cx="703174" cy="162763"/>
          </a:xfrm>
          <a:prstGeom prst="rect">
            <a:avLst/>
          </a:prstGeom>
          <a:noFill/>
          <a:ln/>
        </p:spPr>
        <p:txBody>
          <a:bodyPr wrap="square" lIns="0" tIns="0" rIns="0" bIns="0" rtlCol="0" anchor="ctr"/>
          <a:lstStyle/>
          <a:p>
            <a:pPr marL="0" indent="0" algn="l">
              <a:buNone/>
            </a:pPr>
            <a:r>
              <a:rPr lang="en-US" sz="1100" b="1" dirty="0">
                <a:solidFill>
                  <a:srgbClr val="6B21A8"/>
                </a:solidFill>
                <a:latin typeface="Noto Sans KR" pitchFamily="34" charset="0"/>
                <a:ea typeface="Noto Sans KR" pitchFamily="34" charset="-122"/>
                <a:cs typeface="Noto Sans KR" pitchFamily="34" charset="-120"/>
              </a:rPr>
              <a:t>PyTorch 1.x</a:t>
            </a:r>
            <a:endParaRPr lang="en-US" sz="1100" dirty="0"/>
          </a:p>
        </p:txBody>
      </p:sp>
      <p:pic>
        <p:nvPicPr>
          <p:cNvPr id="55" name="Image 16" descr="preencoded.png"/>
          <p:cNvPicPr>
            <a:picLocks noChangeAspect="1"/>
          </p:cNvPicPr>
          <p:nvPr/>
        </p:nvPicPr>
        <p:blipFill>
          <a:blip r:embed="rId18"/>
          <a:stretch>
            <a:fillRect/>
          </a:stretch>
        </p:blipFill>
        <p:spPr>
          <a:xfrm>
            <a:off x="1559966" y="4548226"/>
            <a:ext cx="771754" cy="256946"/>
          </a:xfrm>
          <a:prstGeom prst="rect">
            <a:avLst/>
          </a:prstGeom>
        </p:spPr>
      </p:pic>
      <p:sp>
        <p:nvSpPr>
          <p:cNvPr id="56" name="Text 37"/>
          <p:cNvSpPr/>
          <p:nvPr/>
        </p:nvSpPr>
        <p:spPr>
          <a:xfrm>
            <a:off x="1559966" y="4548226"/>
            <a:ext cx="7717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Chemprop</a:t>
            </a:r>
            <a:endParaRPr lang="en-US" sz="1100" dirty="0"/>
          </a:p>
        </p:txBody>
      </p:sp>
      <p:pic>
        <p:nvPicPr>
          <p:cNvPr id="58" name="Image 17" descr="preencoded.png"/>
          <p:cNvPicPr>
            <a:picLocks noChangeAspect="1"/>
          </p:cNvPicPr>
          <p:nvPr/>
        </p:nvPicPr>
        <p:blipFill>
          <a:blip r:embed="rId19"/>
          <a:stretch>
            <a:fillRect/>
          </a:stretch>
        </p:blipFill>
        <p:spPr>
          <a:xfrm>
            <a:off x="2381098" y="4548226"/>
            <a:ext cx="523951" cy="256946"/>
          </a:xfrm>
          <a:prstGeom prst="rect">
            <a:avLst/>
          </a:prstGeom>
        </p:spPr>
      </p:pic>
      <p:sp>
        <p:nvSpPr>
          <p:cNvPr id="59" name="Text 39"/>
          <p:cNvSpPr/>
          <p:nvPr/>
        </p:nvSpPr>
        <p:spPr>
          <a:xfrm>
            <a:off x="2381098" y="4548226"/>
            <a:ext cx="5239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RDKit</a:t>
            </a:r>
            <a:endParaRPr lang="en-US" sz="1100" dirty="0"/>
          </a:p>
        </p:txBody>
      </p:sp>
      <p:pic>
        <p:nvPicPr>
          <p:cNvPr id="61" name="Image 18" descr="preencoded.png"/>
          <p:cNvPicPr>
            <a:picLocks noChangeAspect="1"/>
          </p:cNvPicPr>
          <p:nvPr/>
        </p:nvPicPr>
        <p:blipFill>
          <a:blip r:embed="rId17"/>
          <a:stretch>
            <a:fillRect/>
          </a:stretch>
        </p:blipFill>
        <p:spPr>
          <a:xfrm>
            <a:off x="2956255" y="4548226"/>
            <a:ext cx="819302" cy="256946"/>
          </a:xfrm>
          <a:prstGeom prst="rect">
            <a:avLst/>
          </a:prstGeom>
        </p:spPr>
      </p:pic>
      <p:sp>
        <p:nvSpPr>
          <p:cNvPr id="62" name="Text 41"/>
          <p:cNvSpPr/>
          <p:nvPr/>
        </p:nvSpPr>
        <p:spPr>
          <a:xfrm>
            <a:off x="2956255" y="4548226"/>
            <a:ext cx="8193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Scikit-learn</a:t>
            </a:r>
            <a:endParaRPr lang="en-US" sz="1100" dirty="0"/>
          </a:p>
        </p:txBody>
      </p:sp>
      <p:pic>
        <p:nvPicPr>
          <p:cNvPr id="64" name="Image 19" descr="preencoded.png"/>
          <p:cNvPicPr>
            <a:picLocks noChangeAspect="1"/>
          </p:cNvPicPr>
          <p:nvPr/>
        </p:nvPicPr>
        <p:blipFill>
          <a:blip r:embed="rId20"/>
          <a:stretch>
            <a:fillRect/>
          </a:stretch>
        </p:blipFill>
        <p:spPr>
          <a:xfrm>
            <a:off x="3827678" y="4548226"/>
            <a:ext cx="599846" cy="256946"/>
          </a:xfrm>
          <a:prstGeom prst="rect">
            <a:avLst/>
          </a:prstGeom>
        </p:spPr>
      </p:pic>
      <p:sp>
        <p:nvSpPr>
          <p:cNvPr id="65" name="Text 43"/>
          <p:cNvSpPr/>
          <p:nvPr/>
        </p:nvSpPr>
        <p:spPr>
          <a:xfrm>
            <a:off x="382767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NumPy</a:t>
            </a:r>
            <a:endParaRPr lang="en-US" sz="1100" dirty="0"/>
          </a:p>
        </p:txBody>
      </p:sp>
      <p:pic>
        <p:nvPicPr>
          <p:cNvPr id="67" name="Image 20" descr="preencoded.png"/>
          <p:cNvPicPr>
            <a:picLocks noChangeAspect="1"/>
          </p:cNvPicPr>
          <p:nvPr/>
        </p:nvPicPr>
        <p:blipFill>
          <a:blip r:embed="rId20"/>
          <a:stretch>
            <a:fillRect/>
          </a:stretch>
        </p:blipFill>
        <p:spPr>
          <a:xfrm>
            <a:off x="4484218" y="4548226"/>
            <a:ext cx="599846" cy="256946"/>
          </a:xfrm>
          <a:prstGeom prst="rect">
            <a:avLst/>
          </a:prstGeom>
        </p:spPr>
      </p:pic>
      <p:sp>
        <p:nvSpPr>
          <p:cNvPr id="68" name="Text 45"/>
          <p:cNvSpPr/>
          <p:nvPr/>
        </p:nvSpPr>
        <p:spPr>
          <a:xfrm>
            <a:off x="448421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Pandas</a:t>
            </a:r>
            <a:endParaRPr lang="en-US" sz="1100" dirty="0"/>
          </a:p>
        </p:txBody>
      </p:sp>
      <p:sp>
        <p:nvSpPr>
          <p:cNvPr id="70" name="Shape 47"/>
          <p:cNvSpPr/>
          <p:nvPr/>
        </p:nvSpPr>
        <p:spPr>
          <a:xfrm>
            <a:off x="476402" y="5124298"/>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71" name="Shape 48"/>
          <p:cNvSpPr/>
          <p:nvPr/>
        </p:nvSpPr>
        <p:spPr>
          <a:xfrm>
            <a:off x="476402" y="5124298"/>
            <a:ext cx="38405" cy="1000354"/>
          </a:xfrm>
          <a:prstGeom prst="roundRect">
            <a:avLst>
              <a:gd name="adj" fmla="val 181405"/>
            </a:avLst>
          </a:prstGeom>
          <a:solidFill>
            <a:srgbClr val="F59E0B"/>
          </a:solidFill>
          <a:ln w="12700">
            <a:solidFill>
              <a:srgbClr val="F59E0B">
                <a:alpha val="0"/>
              </a:srgbClr>
            </a:solidFill>
            <a:prstDash val="solid"/>
          </a:ln>
        </p:spPr>
      </p:sp>
      <p:pic>
        <p:nvPicPr>
          <p:cNvPr id="72" name="Image 21" descr="preencoded.png"/>
          <p:cNvPicPr>
            <a:picLocks noChangeAspect="1"/>
          </p:cNvPicPr>
          <p:nvPr/>
        </p:nvPicPr>
        <p:blipFill>
          <a:blip r:embed="rId21"/>
          <a:srcRect l="-1648" r="-1648"/>
          <a:stretch/>
        </p:blipFill>
        <p:spPr>
          <a:xfrm>
            <a:off x="685800" y="5348326"/>
            <a:ext cx="171907" cy="190195"/>
          </a:xfrm>
          <a:prstGeom prst="rect">
            <a:avLst/>
          </a:prstGeom>
        </p:spPr>
      </p:pic>
      <p:sp>
        <p:nvSpPr>
          <p:cNvPr id="73" name="Text 49"/>
          <p:cNvSpPr txBox="1"/>
          <p:nvPr/>
        </p:nvSpPr>
        <p:spPr>
          <a:xfrm>
            <a:off x="952804" y="5339182"/>
            <a:ext cx="1739189" cy="209398"/>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데이터 처리 및 분석</a:t>
            </a:r>
            <a:endParaRPr lang="en-US" sz="1400" dirty="0"/>
          </a:p>
        </p:txBody>
      </p:sp>
      <p:pic>
        <p:nvPicPr>
          <p:cNvPr id="74" name="Image 22" descr="preencoded.png"/>
          <p:cNvPicPr>
            <a:picLocks noChangeAspect="1"/>
          </p:cNvPicPr>
          <p:nvPr/>
        </p:nvPicPr>
        <p:blipFill>
          <a:blip r:embed="rId22"/>
          <a:stretch>
            <a:fillRect/>
          </a:stretch>
        </p:blipFill>
        <p:spPr>
          <a:xfrm>
            <a:off x="685800" y="5695798"/>
            <a:ext cx="1095451" cy="256946"/>
          </a:xfrm>
          <a:prstGeom prst="rect">
            <a:avLst/>
          </a:prstGeom>
        </p:spPr>
      </p:pic>
      <p:sp>
        <p:nvSpPr>
          <p:cNvPr id="75" name="Text 50"/>
          <p:cNvSpPr/>
          <p:nvPr/>
        </p:nvSpPr>
        <p:spPr>
          <a:xfrm>
            <a:off x="685800" y="5695798"/>
            <a:ext cx="10954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R (Bioconductor)</a:t>
            </a:r>
            <a:endParaRPr lang="en-US" sz="1100" dirty="0"/>
          </a:p>
        </p:txBody>
      </p:sp>
      <p:pic>
        <p:nvPicPr>
          <p:cNvPr id="77" name="Image 23" descr="preencoded.png"/>
          <p:cNvPicPr>
            <a:picLocks noChangeAspect="1"/>
          </p:cNvPicPr>
          <p:nvPr/>
        </p:nvPicPr>
        <p:blipFill>
          <a:blip r:embed="rId23"/>
          <a:stretch>
            <a:fillRect/>
          </a:stretch>
        </p:blipFill>
        <p:spPr>
          <a:xfrm>
            <a:off x="1832458" y="5695798"/>
            <a:ext cx="809244" cy="256946"/>
          </a:xfrm>
          <a:prstGeom prst="rect">
            <a:avLst/>
          </a:prstGeom>
        </p:spPr>
      </p:pic>
      <p:sp>
        <p:nvSpPr>
          <p:cNvPr id="78" name="Text 52"/>
          <p:cNvSpPr/>
          <p:nvPr/>
        </p:nvSpPr>
        <p:spPr>
          <a:xfrm>
            <a:off x="1832458" y="5695798"/>
            <a:ext cx="8101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GOSemSim</a:t>
            </a:r>
            <a:endParaRPr lang="en-US" sz="1100" dirty="0"/>
          </a:p>
        </p:txBody>
      </p:sp>
      <p:pic>
        <p:nvPicPr>
          <p:cNvPr id="80" name="Image 24" descr="preencoded.png"/>
          <p:cNvPicPr>
            <a:picLocks noChangeAspect="1"/>
          </p:cNvPicPr>
          <p:nvPr/>
        </p:nvPicPr>
        <p:blipFill>
          <a:blip r:embed="rId24"/>
          <a:stretch>
            <a:fillRect/>
          </a:stretch>
        </p:blipFill>
        <p:spPr>
          <a:xfrm>
            <a:off x="2691994" y="5695798"/>
            <a:ext cx="552298" cy="256946"/>
          </a:xfrm>
          <a:prstGeom prst="rect">
            <a:avLst/>
          </a:prstGeom>
        </p:spPr>
      </p:pic>
      <p:sp>
        <p:nvSpPr>
          <p:cNvPr id="81" name="Text 54"/>
          <p:cNvSpPr/>
          <p:nvPr/>
        </p:nvSpPr>
        <p:spPr>
          <a:xfrm>
            <a:off x="2691994" y="5695798"/>
            <a:ext cx="5532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BLAST</a:t>
            </a:r>
            <a:endParaRPr lang="en-US" sz="1100" dirty="0"/>
          </a:p>
        </p:txBody>
      </p:sp>
      <p:pic>
        <p:nvPicPr>
          <p:cNvPr id="83" name="Image 25" descr="preencoded.png"/>
          <p:cNvPicPr>
            <a:picLocks noChangeAspect="1"/>
          </p:cNvPicPr>
          <p:nvPr/>
        </p:nvPicPr>
        <p:blipFill>
          <a:blip r:embed="rId25"/>
          <a:stretch>
            <a:fillRect/>
          </a:stretch>
        </p:blipFill>
        <p:spPr>
          <a:xfrm>
            <a:off x="3300070" y="5695798"/>
            <a:ext cx="609905" cy="256946"/>
          </a:xfrm>
          <a:prstGeom prst="rect">
            <a:avLst/>
          </a:prstGeom>
        </p:spPr>
      </p:pic>
      <p:sp>
        <p:nvSpPr>
          <p:cNvPr id="84" name="Text 56"/>
          <p:cNvSpPr/>
          <p:nvPr/>
        </p:nvSpPr>
        <p:spPr>
          <a:xfrm>
            <a:off x="3300070" y="5695798"/>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WGCNA</a:t>
            </a:r>
            <a:endParaRPr lang="en-US" sz="1100" dirty="0"/>
          </a:p>
        </p:txBody>
      </p:sp>
      <p:pic>
        <p:nvPicPr>
          <p:cNvPr id="86" name="Image 26" descr="preencoded.png"/>
          <p:cNvPicPr>
            <a:picLocks noChangeAspect="1"/>
          </p:cNvPicPr>
          <p:nvPr/>
        </p:nvPicPr>
        <p:blipFill>
          <a:blip r:embed="rId26"/>
          <a:stretch>
            <a:fillRect/>
          </a:stretch>
        </p:blipFill>
        <p:spPr>
          <a:xfrm>
            <a:off x="3965753" y="5695798"/>
            <a:ext cx="1152144" cy="256946"/>
          </a:xfrm>
          <a:prstGeom prst="rect">
            <a:avLst/>
          </a:prstGeom>
        </p:spPr>
      </p:pic>
      <p:sp>
        <p:nvSpPr>
          <p:cNvPr id="87" name="Text 58"/>
          <p:cNvSpPr/>
          <p:nvPr/>
        </p:nvSpPr>
        <p:spPr>
          <a:xfrm>
            <a:off x="3965753" y="5695798"/>
            <a:ext cx="11530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Jupyter Notebook</a:t>
            </a:r>
            <a:endParaRPr lang="en-US" sz="1100" dirty="0"/>
          </a:p>
        </p:txBody>
      </p:sp>
      <p:sp>
        <p:nvSpPr>
          <p:cNvPr id="89" name="Shape 60"/>
          <p:cNvSpPr/>
          <p:nvPr/>
        </p:nvSpPr>
        <p:spPr>
          <a:xfrm>
            <a:off x="6229807" y="1371600"/>
            <a:ext cx="5486400" cy="3719298"/>
          </a:xfrm>
          <a:prstGeom prst="roundRect">
            <a:avLst>
              <a:gd name="adj" fmla="val 555"/>
            </a:avLst>
          </a:prstGeom>
          <a:solidFill>
            <a:srgbClr val="FFFFFF"/>
          </a:solidFill>
          <a:ln/>
          <a:effectLst>
            <a:outerShdw blurRad="76200" dist="25400" dir="16200000" algn="bl" rotWithShape="0">
              <a:srgbClr val="000000">
                <a:alpha val="8000"/>
              </a:srgbClr>
            </a:outerShdw>
          </a:effectLst>
        </p:spPr>
      </p:sp>
      <p:sp>
        <p:nvSpPr>
          <p:cNvPr id="90" name="Shape 61"/>
          <p:cNvSpPr/>
          <p:nvPr/>
        </p:nvSpPr>
        <p:spPr>
          <a:xfrm>
            <a:off x="6229807" y="1371600"/>
            <a:ext cx="5486400" cy="28346"/>
          </a:xfrm>
          <a:prstGeom prst="roundRect">
            <a:avLst>
              <a:gd name="adj" fmla="val 69373"/>
            </a:avLst>
          </a:prstGeom>
          <a:solidFill>
            <a:srgbClr val="1A355B"/>
          </a:solidFill>
          <a:ln w="12700">
            <a:solidFill>
              <a:srgbClr val="1A355B">
                <a:alpha val="0"/>
              </a:srgbClr>
            </a:solidFill>
            <a:prstDash val="solid"/>
          </a:ln>
        </p:spPr>
      </p:sp>
      <p:pic>
        <p:nvPicPr>
          <p:cNvPr id="91" name="Image 27" descr="preencoded.png"/>
          <p:cNvPicPr>
            <a:picLocks noChangeAspect="1"/>
          </p:cNvPicPr>
          <p:nvPr/>
        </p:nvPicPr>
        <p:blipFill>
          <a:blip r:embed="rId27"/>
          <a:srcRect/>
          <a:stretch/>
        </p:blipFill>
        <p:spPr>
          <a:xfrm>
            <a:off x="6420002" y="1655064"/>
            <a:ext cx="209398" cy="209398"/>
          </a:xfrm>
          <a:prstGeom prst="rect">
            <a:avLst/>
          </a:prstGeom>
        </p:spPr>
      </p:pic>
      <p:sp>
        <p:nvSpPr>
          <p:cNvPr id="92" name="Text 62"/>
          <p:cNvSpPr txBox="1"/>
          <p:nvPr/>
        </p:nvSpPr>
        <p:spPr>
          <a:xfrm>
            <a:off x="6724498" y="1640434"/>
            <a:ext cx="1919881" cy="239572"/>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재현성 확보 방법</a:t>
            </a:r>
            <a:endParaRPr lang="en-US" dirty="0"/>
          </a:p>
        </p:txBody>
      </p:sp>
      <p:sp>
        <p:nvSpPr>
          <p:cNvPr id="93" name="Shape 63"/>
          <p:cNvSpPr/>
          <p:nvPr/>
        </p:nvSpPr>
        <p:spPr>
          <a:xfrm>
            <a:off x="6420002" y="1991062"/>
            <a:ext cx="5105095" cy="638251"/>
          </a:xfrm>
          <a:prstGeom prst="roundRect">
            <a:avLst>
              <a:gd name="adj" fmla="val 16536"/>
            </a:avLst>
          </a:prstGeom>
          <a:solidFill>
            <a:srgbClr val="F8FAFC"/>
          </a:solidFill>
          <a:ln/>
        </p:spPr>
      </p:sp>
      <p:sp>
        <p:nvSpPr>
          <p:cNvPr id="94" name="Shape 64"/>
          <p:cNvSpPr/>
          <p:nvPr/>
        </p:nvSpPr>
        <p:spPr>
          <a:xfrm>
            <a:off x="6420002" y="1991062"/>
            <a:ext cx="28346" cy="638251"/>
          </a:xfrm>
          <a:prstGeom prst="roundRect">
            <a:avLst>
              <a:gd name="adj" fmla="val 328053"/>
            </a:avLst>
          </a:prstGeom>
          <a:solidFill>
            <a:srgbClr val="3B82F6"/>
          </a:solidFill>
          <a:ln w="12700">
            <a:solidFill>
              <a:srgbClr val="3B82F6">
                <a:alpha val="0"/>
              </a:srgbClr>
            </a:solidFill>
            <a:prstDash val="solid"/>
          </a:ln>
        </p:spPr>
      </p:sp>
      <p:sp>
        <p:nvSpPr>
          <p:cNvPr id="95" name="Text 65"/>
          <p:cNvSpPr txBox="1"/>
          <p:nvPr/>
        </p:nvSpPr>
        <p:spPr>
          <a:xfrm>
            <a:off x="6562649" y="2086160"/>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데이터 분할 전략</a:t>
            </a:r>
            <a:endParaRPr lang="en-US" sz="1200" dirty="0"/>
          </a:p>
        </p:txBody>
      </p:sp>
      <p:sp>
        <p:nvSpPr>
          <p:cNvPr id="96" name="Text 66"/>
          <p:cNvSpPr txBox="1"/>
          <p:nvPr/>
        </p:nvSpPr>
        <p:spPr>
          <a:xfrm>
            <a:off x="6562649" y="2281842"/>
            <a:ext cx="4572711" cy="303581"/>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Scaffold Split (80:10:10)</a:t>
            </a:r>
            <a:r>
              <a:rPr lang="en-US" sz="1100" dirty="0">
                <a:solidFill>
                  <a:srgbClr val="1E293B"/>
                </a:solidFill>
                <a:latin typeface="Noto Sans KR" pitchFamily="34" charset="0"/>
                <a:ea typeface="Noto Sans KR" pitchFamily="34" charset="-122"/>
                <a:cs typeface="Noto Sans KR" pitchFamily="34" charset="-120"/>
              </a:rPr>
              <a:t>: 분자 골격 기반 분할로 훈련/검증/테스트 세트 간 구조적 다양성 확보</a:t>
            </a:r>
            <a:endParaRPr lang="en-US" sz="1100" dirty="0"/>
          </a:p>
        </p:txBody>
      </p:sp>
      <p:sp>
        <p:nvSpPr>
          <p:cNvPr id="97" name="Shape 67"/>
          <p:cNvSpPr/>
          <p:nvPr/>
        </p:nvSpPr>
        <p:spPr>
          <a:xfrm>
            <a:off x="6420002" y="2709932"/>
            <a:ext cx="5105095" cy="667511"/>
          </a:xfrm>
          <a:prstGeom prst="roundRect">
            <a:avLst>
              <a:gd name="adj" fmla="val 16536"/>
            </a:avLst>
          </a:prstGeom>
          <a:solidFill>
            <a:srgbClr val="F8FAFC"/>
          </a:solidFill>
          <a:ln/>
        </p:spPr>
      </p:sp>
      <p:sp>
        <p:nvSpPr>
          <p:cNvPr id="98" name="Shape 68"/>
          <p:cNvSpPr/>
          <p:nvPr/>
        </p:nvSpPr>
        <p:spPr>
          <a:xfrm>
            <a:off x="6420002" y="2709932"/>
            <a:ext cx="28346" cy="667511"/>
          </a:xfrm>
          <a:prstGeom prst="roundRect">
            <a:avLst>
              <a:gd name="adj" fmla="val 328053"/>
            </a:avLst>
          </a:prstGeom>
          <a:solidFill>
            <a:srgbClr val="3B82F6"/>
          </a:solidFill>
          <a:ln w="12700">
            <a:solidFill>
              <a:srgbClr val="3B82F6">
                <a:alpha val="0"/>
              </a:srgbClr>
            </a:solidFill>
            <a:prstDash val="solid"/>
          </a:ln>
        </p:spPr>
      </p:sp>
      <p:sp>
        <p:nvSpPr>
          <p:cNvPr id="99" name="Text 69"/>
          <p:cNvSpPr txBox="1"/>
          <p:nvPr/>
        </p:nvSpPr>
        <p:spPr>
          <a:xfrm>
            <a:off x="6562649" y="2805031"/>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임계값 최적화</a:t>
            </a:r>
            <a:endParaRPr lang="en-US" sz="1200" dirty="0"/>
          </a:p>
        </p:txBody>
      </p:sp>
      <p:sp>
        <p:nvSpPr>
          <p:cNvPr id="100" name="Text 70"/>
          <p:cNvSpPr txBox="1"/>
          <p:nvPr/>
        </p:nvSpPr>
        <p:spPr>
          <a:xfrm>
            <a:off x="6562649" y="2999798"/>
            <a:ext cx="4278110" cy="30449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Youden's J Statistic</a:t>
            </a:r>
            <a:r>
              <a:rPr lang="en-US" sz="1100" dirty="0">
                <a:solidFill>
                  <a:srgbClr val="1E293B"/>
                </a:solidFill>
                <a:latin typeface="Noto Sans KR" pitchFamily="34" charset="0"/>
                <a:ea typeface="Noto Sans KR" pitchFamily="34" charset="-122"/>
                <a:cs typeface="Noto Sans KR" pitchFamily="34" charset="-120"/>
              </a:rPr>
              <a:t>: ROC 곡선 기반 최적 분류 임계값 </a:t>
            </a:r>
            <a:r>
              <a:rPr lang="en-US" sz="1100" dirty="0" err="1">
                <a:solidFill>
                  <a:srgbClr val="1E293B"/>
                </a:solidFill>
                <a:latin typeface="Noto Sans KR" pitchFamily="34" charset="0"/>
                <a:ea typeface="Noto Sans KR" pitchFamily="34" charset="-122"/>
                <a:cs typeface="Noto Sans KR" pitchFamily="34" charset="-120"/>
              </a:rPr>
              <a:t>자동</a:t>
            </a:r>
            <a:r>
              <a:rPr lang="en-US" sz="1100" dirty="0">
                <a:solidFill>
                  <a:srgbClr val="1E293B"/>
                </a:solidFill>
                <a:latin typeface="Noto Sans KR" pitchFamily="34" charset="0"/>
                <a:ea typeface="Noto Sans KR" pitchFamily="34" charset="-122"/>
                <a:cs typeface="Noto Sans KR" pitchFamily="34" charset="-120"/>
              </a:rPr>
              <a:t> </a:t>
            </a:r>
            <a:r>
              <a:rPr lang="en-US" sz="1100" dirty="0" err="1" smtClean="0">
                <a:solidFill>
                  <a:srgbClr val="1E293B"/>
                </a:solidFill>
                <a:latin typeface="Noto Sans KR" pitchFamily="34" charset="0"/>
                <a:ea typeface="Noto Sans KR" pitchFamily="34" charset="-122"/>
                <a:cs typeface="Noto Sans KR" pitchFamily="34" charset="-120"/>
              </a:rPr>
              <a:t>결정</a:t>
            </a:r>
            <a:endParaRPr lang="en-US" sz="1100" dirty="0" smtClean="0">
              <a:solidFill>
                <a:srgbClr val="1E293B"/>
              </a:solidFill>
              <a:latin typeface="Noto Sans KR" pitchFamily="34" charset="0"/>
              <a:ea typeface="Noto Sans KR" pitchFamily="34" charset="-122"/>
              <a:cs typeface="Noto Sans KR" pitchFamily="34" charset="-120"/>
            </a:endParaRPr>
          </a:p>
          <a:p>
            <a:pPr marL="0" indent="0" algn="l">
              <a:buNone/>
            </a:pPr>
            <a:r>
              <a:rPr lang="en-US" sz="1100" dirty="0" smtClean="0">
                <a:solidFill>
                  <a:srgbClr val="1E293B"/>
                </a:solidFill>
                <a:latin typeface="Noto Sans KR" pitchFamily="34" charset="0"/>
                <a:ea typeface="Noto Sans KR" pitchFamily="34" charset="-122"/>
                <a:cs typeface="Noto Sans KR" pitchFamily="34" charset="-120"/>
              </a:rPr>
              <a:t>(</a:t>
            </a:r>
            <a:r>
              <a:rPr lang="en-US" sz="1100" dirty="0">
                <a:solidFill>
                  <a:srgbClr val="1E293B"/>
                </a:solidFill>
                <a:latin typeface="Noto Sans KR" pitchFamily="34" charset="0"/>
                <a:ea typeface="Noto Sans KR" pitchFamily="34" charset="-122"/>
                <a:cs typeface="Noto Sans KR" pitchFamily="34" charset="-120"/>
              </a:rPr>
              <a:t>민감도 + 특이도 - 1 최대화)</a:t>
            </a:r>
            <a:endParaRPr lang="en-US" sz="1100" dirty="0"/>
          </a:p>
        </p:txBody>
      </p:sp>
      <p:sp>
        <p:nvSpPr>
          <p:cNvPr id="101" name="Shape 71"/>
          <p:cNvSpPr/>
          <p:nvPr/>
        </p:nvSpPr>
        <p:spPr>
          <a:xfrm>
            <a:off x="6420002" y="3448833"/>
            <a:ext cx="5105095" cy="648417"/>
          </a:xfrm>
          <a:prstGeom prst="roundRect">
            <a:avLst>
              <a:gd name="adj" fmla="val 16536"/>
            </a:avLst>
          </a:prstGeom>
          <a:solidFill>
            <a:srgbClr val="F8FAFC"/>
          </a:solidFill>
          <a:ln/>
        </p:spPr>
      </p:sp>
      <p:sp>
        <p:nvSpPr>
          <p:cNvPr id="102" name="Shape 72"/>
          <p:cNvSpPr/>
          <p:nvPr/>
        </p:nvSpPr>
        <p:spPr>
          <a:xfrm>
            <a:off x="6420002" y="3448833"/>
            <a:ext cx="28346" cy="648417"/>
          </a:xfrm>
          <a:prstGeom prst="roundRect">
            <a:avLst>
              <a:gd name="adj" fmla="val 328053"/>
            </a:avLst>
          </a:prstGeom>
          <a:solidFill>
            <a:srgbClr val="3B82F6"/>
          </a:solidFill>
          <a:ln w="12700">
            <a:solidFill>
              <a:srgbClr val="3B82F6">
                <a:alpha val="0"/>
              </a:srgbClr>
            </a:solidFill>
            <a:prstDash val="solid"/>
          </a:ln>
        </p:spPr>
      </p:sp>
      <p:sp>
        <p:nvSpPr>
          <p:cNvPr id="103" name="Text 73"/>
          <p:cNvSpPr txBox="1"/>
          <p:nvPr/>
        </p:nvSpPr>
        <p:spPr>
          <a:xfrm>
            <a:off x="6562649" y="3543932"/>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모델 앙상블</a:t>
            </a:r>
            <a:endParaRPr lang="en-US" sz="1200" dirty="0"/>
          </a:p>
        </p:txBody>
      </p:sp>
      <p:sp>
        <p:nvSpPr>
          <p:cNvPr id="104" name="Text 74"/>
          <p:cNvSpPr txBox="1"/>
          <p:nvPr/>
        </p:nvSpPr>
        <p:spPr>
          <a:xfrm>
            <a:off x="6562649" y="3739614"/>
            <a:ext cx="4572711" cy="304494"/>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5-Fold Ensemble</a:t>
            </a:r>
            <a:r>
              <a:rPr lang="en-US" sz="1100" dirty="0">
                <a:solidFill>
                  <a:srgbClr val="1E293B"/>
                </a:solidFill>
                <a:latin typeface="Noto Sans KR" pitchFamily="34" charset="0"/>
                <a:ea typeface="Noto Sans KR" pitchFamily="34" charset="-122"/>
                <a:cs typeface="Noto Sans KR" pitchFamily="34" charset="-120"/>
              </a:rPr>
              <a:t>: 서로 다른 초기 가중치로 학습한 5개 모델의 예측 평균으로 강건성 향상</a:t>
            </a:r>
            <a:endParaRPr lang="en-US" sz="1100" dirty="0"/>
          </a:p>
        </p:txBody>
      </p:sp>
      <p:sp>
        <p:nvSpPr>
          <p:cNvPr id="105" name="Shape 75"/>
          <p:cNvSpPr/>
          <p:nvPr/>
        </p:nvSpPr>
        <p:spPr>
          <a:xfrm>
            <a:off x="6420002" y="4185798"/>
            <a:ext cx="5105095" cy="733349"/>
          </a:xfrm>
          <a:prstGeom prst="roundRect">
            <a:avLst>
              <a:gd name="adj" fmla="val 9716"/>
            </a:avLst>
          </a:prstGeom>
          <a:solidFill>
            <a:srgbClr val="F8FAFC"/>
          </a:solidFill>
          <a:ln/>
        </p:spPr>
      </p:sp>
      <p:sp>
        <p:nvSpPr>
          <p:cNvPr id="106" name="Shape 76"/>
          <p:cNvSpPr/>
          <p:nvPr/>
        </p:nvSpPr>
        <p:spPr>
          <a:xfrm>
            <a:off x="6420002" y="4185798"/>
            <a:ext cx="28346" cy="733349"/>
          </a:xfrm>
          <a:prstGeom prst="roundRect">
            <a:avLst>
              <a:gd name="adj" fmla="val 251365"/>
            </a:avLst>
          </a:prstGeom>
          <a:solidFill>
            <a:srgbClr val="3B82F6"/>
          </a:solidFill>
          <a:ln w="12700">
            <a:solidFill>
              <a:srgbClr val="3B82F6">
                <a:alpha val="0"/>
              </a:srgbClr>
            </a:solidFill>
            <a:prstDash val="solid"/>
          </a:ln>
        </p:spPr>
      </p:sp>
      <p:sp>
        <p:nvSpPr>
          <p:cNvPr id="107" name="Text 77"/>
          <p:cNvSpPr txBox="1"/>
          <p:nvPr/>
        </p:nvSpPr>
        <p:spPr>
          <a:xfrm>
            <a:off x="6562649" y="4280896"/>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하이퍼파라미터 최적화</a:t>
            </a:r>
            <a:endParaRPr lang="en-US" sz="1200" dirty="0"/>
          </a:p>
        </p:txBody>
      </p:sp>
      <p:sp>
        <p:nvSpPr>
          <p:cNvPr id="108" name="Text 78"/>
          <p:cNvSpPr txBox="1"/>
          <p:nvPr/>
        </p:nvSpPr>
        <p:spPr>
          <a:xfrm>
            <a:off x="6562649" y="4476577"/>
            <a:ext cx="4572711" cy="342900"/>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Bayesian Optimization</a:t>
            </a:r>
            <a:r>
              <a:rPr lang="en-US" sz="1100" dirty="0">
                <a:solidFill>
                  <a:srgbClr val="1E293B"/>
                </a:solidFill>
                <a:latin typeface="Noto Sans KR" pitchFamily="34" charset="0"/>
                <a:ea typeface="Noto Sans KR" pitchFamily="34" charset="-122"/>
                <a:cs typeface="Noto Sans KR" pitchFamily="34" charset="-120"/>
              </a:rPr>
              <a:t>: Hyperopt 라이브러리로 드롭아웃, hidden size, 메시지 전달 횟수 등 자동 튜닝</a:t>
            </a:r>
            <a:endParaRPr lang="en-US" sz="1100" dirty="0"/>
          </a:p>
        </p:txBody>
      </p:sp>
      <p:pic>
        <p:nvPicPr>
          <p:cNvPr id="135" name="Image 7" descr="preencoded.png">
            <a:extLst>
              <a:ext uri="{FF2B5EF4-FFF2-40B4-BE49-F238E27FC236}">
                <a16:creationId xmlns:a16="http://schemas.microsoft.com/office/drawing/2014/main" id="{0E51FA92-4C00-47E2-B0A1-6591D3E83902}"/>
              </a:ext>
            </a:extLst>
          </p:cNvPr>
          <p:cNvPicPr>
            <a:picLocks noChangeAspect="1"/>
          </p:cNvPicPr>
          <p:nvPr/>
        </p:nvPicPr>
        <p:blipFill>
          <a:blip r:embed="rId28"/>
          <a:stretch>
            <a:fillRect/>
          </a:stretch>
        </p:blipFill>
        <p:spPr>
          <a:xfrm>
            <a:off x="685800" y="2253082"/>
            <a:ext cx="705002" cy="256946"/>
          </a:xfrm>
          <a:prstGeom prst="rect">
            <a:avLst/>
          </a:prstGeom>
        </p:spPr>
      </p:pic>
      <p:sp>
        <p:nvSpPr>
          <p:cNvPr id="136" name="Text 17">
            <a:extLst>
              <a:ext uri="{FF2B5EF4-FFF2-40B4-BE49-F238E27FC236}">
                <a16:creationId xmlns:a16="http://schemas.microsoft.com/office/drawing/2014/main" id="{8C2E366E-3DB4-439B-AED0-528D2D96BE2E}"/>
              </a:ext>
            </a:extLst>
          </p:cNvPr>
          <p:cNvSpPr/>
          <p:nvPr/>
        </p:nvSpPr>
        <p:spPr>
          <a:xfrm>
            <a:off x="685799" y="2253082"/>
            <a:ext cx="71323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Fetch API</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97">
            <a:extLst>
              <a:ext uri="{FF2B5EF4-FFF2-40B4-BE49-F238E27FC236}">
                <a16:creationId xmlns:a16="http://schemas.microsoft.com/office/drawing/2014/main" id="{E16A0586-E24D-4DD0-8080-C50FDA5F572B}"/>
              </a:ext>
            </a:extLst>
          </p:cNvPr>
          <p:cNvSpPr/>
          <p:nvPr/>
        </p:nvSpPr>
        <p:spPr>
          <a:xfrm>
            <a:off x="2267406" y="2851316"/>
            <a:ext cx="7734549" cy="1155368"/>
          </a:xfrm>
          <a:prstGeom prst="roundRect">
            <a:avLst>
              <a:gd name="adj" fmla="val 5327"/>
            </a:avLst>
          </a:prstGeom>
          <a:solidFill>
            <a:srgbClr val="EFF6FF"/>
          </a:solidFill>
          <a:ln w="25400">
            <a:solidFill>
              <a:srgbClr val="BFDBFE"/>
            </a:solidFill>
            <a:prstDash val="solid"/>
          </a:ln>
        </p:spPr>
      </p:sp>
      <p:sp>
        <p:nvSpPr>
          <p:cNvPr id="4" name="Text 99">
            <a:extLst>
              <a:ext uri="{FF2B5EF4-FFF2-40B4-BE49-F238E27FC236}">
                <a16:creationId xmlns:a16="http://schemas.microsoft.com/office/drawing/2014/main" id="{79108938-A584-46DE-BEAB-1175AA00F2D1}"/>
              </a:ext>
            </a:extLst>
          </p:cNvPr>
          <p:cNvSpPr txBox="1"/>
          <p:nvPr/>
        </p:nvSpPr>
        <p:spPr>
          <a:xfrm>
            <a:off x="3485845" y="3074212"/>
            <a:ext cx="5220309" cy="709575"/>
          </a:xfrm>
          <a:prstGeom prst="rect">
            <a:avLst/>
          </a:prstGeom>
          <a:noFill/>
          <a:ln/>
        </p:spPr>
        <p:txBody>
          <a:bodyPr wrap="square" lIns="0" tIns="0" rIns="0" bIns="0" rtlCol="0" anchor="ctr"/>
          <a:lstStyle/>
          <a:p>
            <a:pPr marL="0" indent="0" algn="ctr">
              <a:buNone/>
            </a:pPr>
            <a:r>
              <a:rPr lang="ko-KR" altLang="en-US" sz="3600" b="1" dirty="0">
                <a:latin typeface="Noto Sans KR" pitchFamily="34" charset="0"/>
                <a:ea typeface="Noto Sans KR" pitchFamily="34" charset="-122"/>
              </a:rPr>
              <a:t>감사합니다</a:t>
            </a:r>
            <a:r>
              <a:rPr lang="en-US" altLang="ko-KR" sz="3600" b="1" dirty="0">
                <a:latin typeface="Noto Sans KR" pitchFamily="34" charset="0"/>
                <a:ea typeface="Noto Sans KR" pitchFamily="34" charset="-122"/>
              </a:rPr>
              <a:t>.</a:t>
            </a:r>
            <a:endParaRPr lang="en-US" sz="3600" b="1" dirty="0"/>
          </a:p>
        </p:txBody>
      </p:sp>
    </p:spTree>
    <p:extLst>
      <p:ext uri="{BB962C8B-B14F-4D97-AF65-F5344CB8AC3E}">
        <p14:creationId xmlns:p14="http://schemas.microsoft.com/office/powerpoint/2010/main" val="3576388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45882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백엔드 아키텍처</a:t>
            </a:r>
            <a:endParaRPr lang="en-US" sz="2400" dirty="0"/>
          </a:p>
        </p:txBody>
      </p:sp>
      <p:sp>
        <p:nvSpPr>
          <p:cNvPr id="5" name="Text 3"/>
          <p:cNvSpPr txBox="1"/>
          <p:nvPr/>
        </p:nvSpPr>
        <p:spPr>
          <a:xfrm>
            <a:off x="476402" y="685800"/>
            <a:ext cx="2709367"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FastAPI + model_service.py 구조</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390802"/>
            <a:ext cx="5477256" cy="3685946"/>
          </a:xfrm>
          <a:prstGeom prst="roundRect">
            <a:avLst>
              <a:gd name="adj" fmla="val 513"/>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90802"/>
            <a:ext cx="38405" cy="3685946"/>
          </a:xfrm>
          <a:prstGeom prst="roundRect">
            <a:avLst>
              <a:gd name="adj" fmla="val 49218"/>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l="-775" r="-775"/>
          <a:stretch/>
        </p:blipFill>
        <p:spPr>
          <a:xfrm>
            <a:off x="724205" y="1678838"/>
            <a:ext cx="314554" cy="247802"/>
          </a:xfrm>
          <a:prstGeom prst="rect">
            <a:avLst/>
          </a:prstGeom>
        </p:spPr>
      </p:pic>
      <p:sp>
        <p:nvSpPr>
          <p:cNvPr id="10" name="Text 6"/>
          <p:cNvSpPr txBox="1"/>
          <p:nvPr/>
        </p:nvSpPr>
        <p:spPr>
          <a:xfrm>
            <a:off x="1152144" y="1657807"/>
            <a:ext cx="1745590" cy="257861"/>
          </a:xfrm>
          <a:prstGeom prst="rect">
            <a:avLst/>
          </a:prstGeom>
          <a:noFill/>
          <a:ln/>
        </p:spPr>
        <p:txBody>
          <a:bodyPr wrap="square" lIns="0" tIns="0" rIns="0" bIns="0" rtlCol="0" anchor="ctr"/>
          <a:lstStyle/>
          <a:p>
            <a:pPr marL="0" indent="0" algn="l">
              <a:buNone/>
            </a:pPr>
            <a:r>
              <a:rPr lang="en-US" sz="1300" b="1" dirty="0">
                <a:solidFill>
                  <a:srgbClr val="1A355B"/>
                </a:solidFill>
                <a:latin typeface="Noto Sans KR" pitchFamily="34" charset="0"/>
                <a:ea typeface="Noto Sans KR" pitchFamily="34" charset="-122"/>
                <a:cs typeface="Noto Sans KR" pitchFamily="34" charset="-120"/>
              </a:rPr>
              <a:t>FastAPI 엔드포인트</a:t>
            </a:r>
            <a:endParaRPr lang="en-US" sz="1300" dirty="0"/>
          </a:p>
        </p:txBody>
      </p:sp>
      <p:sp>
        <p:nvSpPr>
          <p:cNvPr id="11" name="Shape 7"/>
          <p:cNvSpPr/>
          <p:nvPr/>
        </p:nvSpPr>
        <p:spPr>
          <a:xfrm>
            <a:off x="724205" y="2124151"/>
            <a:ext cx="5020056" cy="733349"/>
          </a:xfrm>
          <a:prstGeom prst="roundRect">
            <a:avLst>
              <a:gd name="adj" fmla="val 9716"/>
            </a:avLst>
          </a:prstGeom>
          <a:solidFill>
            <a:srgbClr val="F8FAFC"/>
          </a:solidFill>
          <a:ln w="12700">
            <a:solidFill>
              <a:srgbClr val="E2E8F0"/>
            </a:solidFill>
            <a:prstDash val="solid"/>
          </a:ln>
        </p:spPr>
      </p:sp>
      <p:sp>
        <p:nvSpPr>
          <p:cNvPr id="12" name="Text 8"/>
          <p:cNvSpPr txBox="1"/>
          <p:nvPr/>
        </p:nvSpPr>
        <p:spPr>
          <a:xfrm>
            <a:off x="1431036" y="2247595"/>
            <a:ext cx="4284878" cy="257861"/>
          </a:xfrm>
          <a:prstGeom prst="rect">
            <a:avLst/>
          </a:prstGeom>
          <a:noFill/>
          <a:ln/>
        </p:spPr>
        <p:txBody>
          <a:bodyPr wrap="square" lIns="0" tIns="0" rIns="0" bIns="0" rtlCol="0" anchor="ct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/predict</a:t>
            </a:r>
            <a:endParaRPr lang="en-US" sz="1200" dirty="0"/>
          </a:p>
        </p:txBody>
      </p:sp>
      <p:pic>
        <p:nvPicPr>
          <p:cNvPr id="13" name="Image 2" descr="preencoded.png"/>
          <p:cNvPicPr>
            <a:picLocks noChangeAspect="1"/>
          </p:cNvPicPr>
          <p:nvPr/>
        </p:nvPicPr>
        <p:blipFill>
          <a:blip r:embed="rId5"/>
          <a:stretch>
            <a:fillRect/>
          </a:stretch>
        </p:blipFill>
        <p:spPr>
          <a:xfrm>
            <a:off x="866851" y="2266798"/>
            <a:ext cx="476402" cy="237744"/>
          </a:xfrm>
          <a:prstGeom prst="rect">
            <a:avLst/>
          </a:prstGeom>
        </p:spPr>
      </p:pic>
      <p:sp>
        <p:nvSpPr>
          <p:cNvPr id="14" name="Text 9"/>
          <p:cNvSpPr/>
          <p:nvPr/>
        </p:nvSpPr>
        <p:spPr>
          <a:xfrm>
            <a:off x="866851" y="2266798"/>
            <a:ext cx="476402" cy="23865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FFFFFF"/>
                </a:solidFill>
                <a:latin typeface="Noto Sans KR" pitchFamily="34" charset="0"/>
                <a:ea typeface="Noto Sans KR" pitchFamily="34" charset="-122"/>
                <a:cs typeface="Noto Sans KR" pitchFamily="34" charset="-120"/>
              </a:rPr>
              <a:t>POST</a:t>
            </a:r>
            <a:endParaRPr lang="en-US" sz="800" dirty="0"/>
          </a:p>
        </p:txBody>
      </p:sp>
      <p:sp>
        <p:nvSpPr>
          <p:cNvPr id="15" name="Text 10"/>
          <p:cNvSpPr txBox="1"/>
          <p:nvPr/>
        </p:nvSpPr>
        <p:spPr>
          <a:xfrm>
            <a:off x="866851" y="2557577"/>
            <a:ext cx="4924958" cy="171907"/>
          </a:xfrm>
          <a:prstGeom prst="rect">
            <a:avLst/>
          </a:prstGeom>
          <a:noFill/>
          <a:ln/>
        </p:spPr>
        <p:txBody>
          <a:bodyPr wrap="square" lIns="0" tIns="0" rIns="0" bIns="0" rtlCol="0" anchor="ctr"/>
          <a:lstStyle/>
          <a:p>
            <a:pPr marL="0" indent="0" algn="l">
              <a:buNone/>
            </a:pPr>
            <a:r>
              <a:rPr lang="en-US" sz="900" dirty="0">
                <a:solidFill>
                  <a:srgbClr val="64748B"/>
                </a:solidFill>
                <a:latin typeface="Noto Sans KR" pitchFamily="34" charset="0"/>
                <a:ea typeface="Noto Sans KR" pitchFamily="34" charset="-122"/>
                <a:cs typeface="Noto Sans KR" pitchFamily="34" charset="-120"/>
              </a:rPr>
              <a:t>SMILES 입력받아 13개 클러스터별 저해 확률 예측</a:t>
            </a:r>
            <a:endParaRPr lang="en-US" sz="900" dirty="0"/>
          </a:p>
        </p:txBody>
      </p:sp>
      <p:sp>
        <p:nvSpPr>
          <p:cNvPr id="16" name="Shape 11"/>
          <p:cNvSpPr/>
          <p:nvPr/>
        </p:nvSpPr>
        <p:spPr>
          <a:xfrm>
            <a:off x="724205" y="2967228"/>
            <a:ext cx="5020056" cy="733349"/>
          </a:xfrm>
          <a:prstGeom prst="roundRect">
            <a:avLst>
              <a:gd name="adj" fmla="val 9716"/>
            </a:avLst>
          </a:prstGeom>
          <a:solidFill>
            <a:srgbClr val="F8FAFC"/>
          </a:solidFill>
          <a:ln w="12700">
            <a:solidFill>
              <a:srgbClr val="E2E8F0"/>
            </a:solidFill>
            <a:prstDash val="solid"/>
          </a:ln>
        </p:spPr>
      </p:sp>
      <p:sp>
        <p:nvSpPr>
          <p:cNvPr id="17" name="Text 12"/>
          <p:cNvSpPr txBox="1"/>
          <p:nvPr/>
        </p:nvSpPr>
        <p:spPr>
          <a:xfrm>
            <a:off x="1431036" y="3090672"/>
            <a:ext cx="4284878" cy="257861"/>
          </a:xfrm>
          <a:prstGeom prst="rect">
            <a:avLst/>
          </a:prstGeom>
          <a:noFill/>
          <a:ln/>
        </p:spPr>
        <p:txBody>
          <a:bodyPr wrap="square" lIns="0" tIns="0" rIns="0" bIns="0" rtlCol="0" anchor="ct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/properties</a:t>
            </a:r>
            <a:endParaRPr lang="en-US" sz="1200" dirty="0"/>
          </a:p>
        </p:txBody>
      </p:sp>
      <p:pic>
        <p:nvPicPr>
          <p:cNvPr id="18" name="Image 3" descr="preencoded.png"/>
          <p:cNvPicPr>
            <a:picLocks noChangeAspect="1"/>
          </p:cNvPicPr>
          <p:nvPr/>
        </p:nvPicPr>
        <p:blipFill>
          <a:blip r:embed="rId5"/>
          <a:stretch>
            <a:fillRect/>
          </a:stretch>
        </p:blipFill>
        <p:spPr>
          <a:xfrm>
            <a:off x="866851" y="3109874"/>
            <a:ext cx="476402" cy="237744"/>
          </a:xfrm>
          <a:prstGeom prst="rect">
            <a:avLst/>
          </a:prstGeom>
        </p:spPr>
      </p:pic>
      <p:sp>
        <p:nvSpPr>
          <p:cNvPr id="19" name="Text 13"/>
          <p:cNvSpPr/>
          <p:nvPr/>
        </p:nvSpPr>
        <p:spPr>
          <a:xfrm>
            <a:off x="866851" y="3109874"/>
            <a:ext cx="476402" cy="238658"/>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FFFFFF"/>
                </a:solidFill>
                <a:latin typeface="Noto Sans KR" pitchFamily="34" charset="0"/>
                <a:ea typeface="Noto Sans KR" pitchFamily="34" charset="-122"/>
                <a:cs typeface="Noto Sans KR" pitchFamily="34" charset="-120"/>
              </a:rPr>
              <a:t>POST</a:t>
            </a:r>
            <a:endParaRPr lang="en-US" sz="800" dirty="0"/>
          </a:p>
        </p:txBody>
      </p:sp>
      <p:sp>
        <p:nvSpPr>
          <p:cNvPr id="20" name="Text 14"/>
          <p:cNvSpPr txBox="1"/>
          <p:nvPr/>
        </p:nvSpPr>
        <p:spPr>
          <a:xfrm>
            <a:off x="866851" y="3400654"/>
            <a:ext cx="4849063" cy="171907"/>
          </a:xfrm>
          <a:prstGeom prst="rect">
            <a:avLst/>
          </a:prstGeom>
          <a:noFill/>
          <a:ln/>
        </p:spPr>
        <p:txBody>
          <a:bodyPr wrap="square" lIns="0" tIns="0" rIns="0" bIns="0" rtlCol="0" anchor="ctr"/>
          <a:lstStyle/>
          <a:p>
            <a:pPr marL="0" indent="0" algn="l">
              <a:buNone/>
            </a:pPr>
            <a:r>
              <a:rPr lang="en-US" sz="900" dirty="0">
                <a:solidFill>
                  <a:srgbClr val="64748B"/>
                </a:solidFill>
                <a:latin typeface="Noto Sans KR" pitchFamily="34" charset="0"/>
                <a:ea typeface="Noto Sans KR" pitchFamily="34" charset="-122"/>
                <a:cs typeface="Noto Sans KR" pitchFamily="34" charset="-120"/>
              </a:rPr>
              <a:t>SMILES로부터 약물성 지표(MW, LogP, TPSA 등) 계산</a:t>
            </a:r>
            <a:endParaRPr lang="en-US" sz="900" dirty="0"/>
          </a:p>
        </p:txBody>
      </p:sp>
      <p:pic>
        <p:nvPicPr>
          <p:cNvPr id="21" name="Image 4" descr="preencoded.png"/>
          <p:cNvPicPr>
            <a:picLocks noChangeAspect="1"/>
          </p:cNvPicPr>
          <p:nvPr/>
        </p:nvPicPr>
        <p:blipFill>
          <a:blip r:embed="rId6"/>
          <a:srcRect t="-25301" b="-25301"/>
          <a:stretch/>
        </p:blipFill>
        <p:spPr>
          <a:xfrm>
            <a:off x="724205" y="3866998"/>
            <a:ext cx="75895" cy="114300"/>
          </a:xfrm>
          <a:prstGeom prst="rect">
            <a:avLst/>
          </a:prstGeom>
        </p:spPr>
      </p:pic>
      <p:sp>
        <p:nvSpPr>
          <p:cNvPr id="22" name="Text 15"/>
          <p:cNvSpPr txBox="1"/>
          <p:nvPr/>
        </p:nvSpPr>
        <p:spPr>
          <a:xfrm>
            <a:off x="895198" y="3810305"/>
            <a:ext cx="314005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요청 형식</a:t>
            </a:r>
            <a:r>
              <a:rPr lang="en-US" sz="900" dirty="0">
                <a:solidFill>
                  <a:srgbClr val="475569"/>
                </a:solidFill>
                <a:latin typeface="Noto Sans KR" pitchFamily="34" charset="0"/>
                <a:ea typeface="Noto Sans KR" pitchFamily="34" charset="-122"/>
                <a:cs typeface="Noto Sans KR" pitchFamily="34" charset="-120"/>
              </a:rPr>
              <a:t>: JSON {"smiles": "화합물 SMILES 문자열"}</a:t>
            </a:r>
            <a:endParaRPr lang="en-US" sz="900" dirty="0"/>
          </a:p>
        </p:txBody>
      </p:sp>
      <p:pic>
        <p:nvPicPr>
          <p:cNvPr id="23" name="Image 5" descr="preencoded.png"/>
          <p:cNvPicPr>
            <a:picLocks noChangeAspect="1"/>
          </p:cNvPicPr>
          <p:nvPr/>
        </p:nvPicPr>
        <p:blipFill>
          <a:blip r:embed="rId6"/>
          <a:srcRect t="-25301" b="-25301"/>
          <a:stretch/>
        </p:blipFill>
        <p:spPr>
          <a:xfrm>
            <a:off x="724205" y="4134002"/>
            <a:ext cx="75895" cy="114300"/>
          </a:xfrm>
          <a:prstGeom prst="rect">
            <a:avLst/>
          </a:prstGeom>
        </p:spPr>
      </p:pic>
      <p:sp>
        <p:nvSpPr>
          <p:cNvPr id="24" name="Text 16"/>
          <p:cNvSpPr txBox="1"/>
          <p:nvPr/>
        </p:nvSpPr>
        <p:spPr>
          <a:xfrm>
            <a:off x="895198" y="4076395"/>
            <a:ext cx="2936138"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응답 형식</a:t>
            </a:r>
            <a:r>
              <a:rPr lang="en-US" sz="900" dirty="0">
                <a:solidFill>
                  <a:srgbClr val="475569"/>
                </a:solidFill>
                <a:latin typeface="Noto Sans KR" pitchFamily="34" charset="0"/>
                <a:ea typeface="Noto Sans KR" pitchFamily="34" charset="-122"/>
                <a:cs typeface="Noto Sans KR" pitchFamily="34" charset="-120"/>
              </a:rPr>
              <a:t>: JSON (예측 확률 배열 + COG 매핑 정보)</a:t>
            </a:r>
            <a:endParaRPr lang="en-US" sz="900" dirty="0"/>
          </a:p>
        </p:txBody>
      </p:sp>
      <p:pic>
        <p:nvPicPr>
          <p:cNvPr id="25" name="Image 6" descr="preencoded.png"/>
          <p:cNvPicPr>
            <a:picLocks noChangeAspect="1"/>
          </p:cNvPicPr>
          <p:nvPr/>
        </p:nvPicPr>
        <p:blipFill>
          <a:blip r:embed="rId6"/>
          <a:srcRect t="-25301" b="-25301"/>
          <a:stretch/>
        </p:blipFill>
        <p:spPr>
          <a:xfrm>
            <a:off x="724205" y="4401007"/>
            <a:ext cx="75895" cy="114300"/>
          </a:xfrm>
          <a:prstGeom prst="rect">
            <a:avLst/>
          </a:prstGeom>
        </p:spPr>
      </p:pic>
      <p:sp>
        <p:nvSpPr>
          <p:cNvPr id="26" name="Text 17"/>
          <p:cNvSpPr txBox="1"/>
          <p:nvPr/>
        </p:nvSpPr>
        <p:spPr>
          <a:xfrm>
            <a:off x="895198" y="4343400"/>
            <a:ext cx="311719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에러 처리</a:t>
            </a:r>
            <a:r>
              <a:rPr lang="en-US" sz="900" dirty="0">
                <a:solidFill>
                  <a:srgbClr val="475569"/>
                </a:solidFill>
                <a:latin typeface="Noto Sans KR" pitchFamily="34" charset="0"/>
                <a:ea typeface="Noto Sans KR" pitchFamily="34" charset="-122"/>
                <a:cs typeface="Noto Sans KR" pitchFamily="34" charset="-120"/>
              </a:rPr>
              <a:t>: HTTPException으로 유효성 검증 실패 응답</a:t>
            </a:r>
            <a:endParaRPr lang="en-US" sz="900" dirty="0"/>
          </a:p>
        </p:txBody>
      </p:sp>
      <p:pic>
        <p:nvPicPr>
          <p:cNvPr id="27" name="Image 7" descr="preencoded.png"/>
          <p:cNvPicPr>
            <a:picLocks noChangeAspect="1"/>
          </p:cNvPicPr>
          <p:nvPr/>
        </p:nvPicPr>
        <p:blipFill>
          <a:blip r:embed="rId7"/>
          <a:stretch>
            <a:fillRect/>
          </a:stretch>
        </p:blipFill>
        <p:spPr>
          <a:xfrm>
            <a:off x="724205" y="4610405"/>
            <a:ext cx="609905" cy="256946"/>
          </a:xfrm>
          <a:prstGeom prst="rect">
            <a:avLst/>
          </a:prstGeom>
        </p:spPr>
      </p:pic>
      <p:sp>
        <p:nvSpPr>
          <p:cNvPr id="28" name="Text 18"/>
          <p:cNvSpPr/>
          <p:nvPr/>
        </p:nvSpPr>
        <p:spPr>
          <a:xfrm>
            <a:off x="724205" y="4610405"/>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FastAPI</a:t>
            </a:r>
            <a:endParaRPr lang="en-US" sz="800" dirty="0"/>
          </a:p>
        </p:txBody>
      </p:sp>
      <p:sp>
        <p:nvSpPr>
          <p:cNvPr id="29" name="Text 19"/>
          <p:cNvSpPr txBox="1"/>
          <p:nvPr/>
        </p:nvSpPr>
        <p:spPr>
          <a:xfrm>
            <a:off x="838505" y="4657954"/>
            <a:ext cx="457200"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FastAPI</a:t>
            </a:r>
            <a:endParaRPr lang="en-US" sz="800" dirty="0"/>
          </a:p>
        </p:txBody>
      </p:sp>
      <p:pic>
        <p:nvPicPr>
          <p:cNvPr id="30" name="Image 8" descr="preencoded.png"/>
          <p:cNvPicPr>
            <a:picLocks noChangeAspect="1"/>
          </p:cNvPicPr>
          <p:nvPr/>
        </p:nvPicPr>
        <p:blipFill>
          <a:blip r:embed="rId8"/>
          <a:stretch>
            <a:fillRect/>
          </a:stretch>
        </p:blipFill>
        <p:spPr>
          <a:xfrm>
            <a:off x="1404518" y="4610405"/>
            <a:ext cx="629107" cy="256946"/>
          </a:xfrm>
          <a:prstGeom prst="rect">
            <a:avLst/>
          </a:prstGeom>
        </p:spPr>
      </p:pic>
      <p:sp>
        <p:nvSpPr>
          <p:cNvPr id="31" name="Text 20"/>
          <p:cNvSpPr/>
          <p:nvPr/>
        </p:nvSpPr>
        <p:spPr>
          <a:xfrm>
            <a:off x="1404518" y="4610405"/>
            <a:ext cx="629107"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Uvicorn</a:t>
            </a:r>
            <a:endParaRPr lang="en-US" sz="800" dirty="0"/>
          </a:p>
        </p:txBody>
      </p:sp>
      <p:sp>
        <p:nvSpPr>
          <p:cNvPr id="32" name="Text 21"/>
          <p:cNvSpPr txBox="1"/>
          <p:nvPr/>
        </p:nvSpPr>
        <p:spPr>
          <a:xfrm>
            <a:off x="1518818" y="4657954"/>
            <a:ext cx="476402"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Uvicorn</a:t>
            </a:r>
            <a:endParaRPr lang="en-US" sz="800" dirty="0"/>
          </a:p>
        </p:txBody>
      </p:sp>
      <p:pic>
        <p:nvPicPr>
          <p:cNvPr id="33" name="Image 9" descr="preencoded.png"/>
          <p:cNvPicPr>
            <a:picLocks noChangeAspect="1"/>
          </p:cNvPicPr>
          <p:nvPr/>
        </p:nvPicPr>
        <p:blipFill>
          <a:blip r:embed="rId9"/>
          <a:stretch>
            <a:fillRect/>
          </a:stretch>
        </p:blipFill>
        <p:spPr>
          <a:xfrm>
            <a:off x="2104034" y="4610405"/>
            <a:ext cx="1133856" cy="256946"/>
          </a:xfrm>
          <a:prstGeom prst="rect">
            <a:avLst/>
          </a:prstGeom>
        </p:spPr>
      </p:pic>
      <p:sp>
        <p:nvSpPr>
          <p:cNvPr id="34" name="Text 22"/>
          <p:cNvSpPr/>
          <p:nvPr/>
        </p:nvSpPr>
        <p:spPr>
          <a:xfrm>
            <a:off x="2104034" y="4610405"/>
            <a:ext cx="1133856"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CORS Middleware</a:t>
            </a:r>
            <a:endParaRPr lang="en-US" sz="800" dirty="0"/>
          </a:p>
        </p:txBody>
      </p:sp>
      <p:sp>
        <p:nvSpPr>
          <p:cNvPr id="35" name="Text 23"/>
          <p:cNvSpPr txBox="1"/>
          <p:nvPr/>
        </p:nvSpPr>
        <p:spPr>
          <a:xfrm>
            <a:off x="2218334" y="4657954"/>
            <a:ext cx="1011326"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CORS Middleware</a:t>
            </a:r>
            <a:endParaRPr lang="en-US" sz="800" dirty="0"/>
          </a:p>
        </p:txBody>
      </p:sp>
      <p:sp>
        <p:nvSpPr>
          <p:cNvPr id="36" name="Shape 24"/>
          <p:cNvSpPr/>
          <p:nvPr/>
        </p:nvSpPr>
        <p:spPr>
          <a:xfrm>
            <a:off x="476402" y="5262372"/>
            <a:ext cx="5477256" cy="2533802"/>
          </a:xfrm>
          <a:prstGeom prst="roundRect">
            <a:avLst>
              <a:gd name="adj" fmla="val 1085"/>
            </a:avLst>
          </a:prstGeom>
          <a:solidFill>
            <a:srgbClr val="FFFFFF"/>
          </a:solidFill>
          <a:ln/>
          <a:effectLst>
            <a:outerShdw blurRad="76200" dist="25400" dir="16200000" algn="bl" rotWithShape="0">
              <a:srgbClr val="000000">
                <a:alpha val="8000"/>
              </a:srgbClr>
            </a:outerShdw>
          </a:effectLst>
        </p:spPr>
      </p:sp>
      <p:sp>
        <p:nvSpPr>
          <p:cNvPr id="37" name="Shape 25"/>
          <p:cNvSpPr/>
          <p:nvPr/>
        </p:nvSpPr>
        <p:spPr>
          <a:xfrm>
            <a:off x="476402" y="5262372"/>
            <a:ext cx="38405" cy="2533802"/>
          </a:xfrm>
          <a:prstGeom prst="roundRect">
            <a:avLst>
              <a:gd name="adj" fmla="val 71607"/>
            </a:avLst>
          </a:prstGeom>
          <a:solidFill>
            <a:srgbClr val="3B82F6"/>
          </a:solidFill>
          <a:ln w="12700">
            <a:solidFill>
              <a:srgbClr val="3B82F6">
                <a:alpha val="0"/>
              </a:srgbClr>
            </a:solidFill>
            <a:prstDash val="solid"/>
          </a:ln>
        </p:spPr>
      </p:sp>
      <p:pic>
        <p:nvPicPr>
          <p:cNvPr id="38" name="Image 10" descr="preencoded.png"/>
          <p:cNvPicPr>
            <a:picLocks noChangeAspect="1"/>
          </p:cNvPicPr>
          <p:nvPr/>
        </p:nvPicPr>
        <p:blipFill>
          <a:blip r:embed="rId10"/>
          <a:srcRect l="-775" r="-775"/>
          <a:stretch/>
        </p:blipFill>
        <p:spPr>
          <a:xfrm>
            <a:off x="724205" y="5550408"/>
            <a:ext cx="314554" cy="247802"/>
          </a:xfrm>
          <a:prstGeom prst="rect">
            <a:avLst/>
          </a:prstGeom>
        </p:spPr>
      </p:pic>
      <p:sp>
        <p:nvSpPr>
          <p:cNvPr id="39" name="Text 26"/>
          <p:cNvSpPr txBox="1"/>
          <p:nvPr/>
        </p:nvSpPr>
        <p:spPr>
          <a:xfrm>
            <a:off x="1152144" y="5529377"/>
            <a:ext cx="2641702" cy="257861"/>
          </a:xfrm>
          <a:prstGeom prst="rect">
            <a:avLst/>
          </a:prstGeom>
          <a:noFill/>
          <a:ln/>
        </p:spPr>
        <p:txBody>
          <a:bodyPr wrap="square" lIns="0" tIns="0" rIns="0" bIns="0" rtlCol="0" anchor="ctr"/>
          <a:lstStyle/>
          <a:p>
            <a:pPr marL="0" indent="0" algn="l">
              <a:buNone/>
            </a:pPr>
            <a:r>
              <a:rPr lang="en-US" sz="1300" b="1" dirty="0">
                <a:solidFill>
                  <a:srgbClr val="1A355B"/>
                </a:solidFill>
                <a:latin typeface="Noto Sans KR" pitchFamily="34" charset="0"/>
                <a:ea typeface="Noto Sans KR" pitchFamily="34" charset="-122"/>
                <a:cs typeface="Noto Sans KR" pitchFamily="34" charset="-120"/>
              </a:rPr>
              <a:t>model_service.py 핵심 로직</a:t>
            </a:r>
            <a:endParaRPr lang="en-US" sz="1300" dirty="0"/>
          </a:p>
        </p:txBody>
      </p:sp>
      <p:pic>
        <p:nvPicPr>
          <p:cNvPr id="40" name="Image 11" descr="preencoded.png"/>
          <p:cNvPicPr>
            <a:picLocks noChangeAspect="1"/>
          </p:cNvPicPr>
          <p:nvPr/>
        </p:nvPicPr>
        <p:blipFill>
          <a:blip r:embed="rId6"/>
          <a:srcRect t="-25301" b="-25301"/>
          <a:stretch/>
        </p:blipFill>
        <p:spPr>
          <a:xfrm>
            <a:off x="724205" y="6053328"/>
            <a:ext cx="75895" cy="114300"/>
          </a:xfrm>
          <a:prstGeom prst="rect">
            <a:avLst/>
          </a:prstGeom>
        </p:spPr>
      </p:pic>
      <p:sp>
        <p:nvSpPr>
          <p:cNvPr id="41" name="Text 27"/>
          <p:cNvSpPr txBox="1"/>
          <p:nvPr/>
        </p:nvSpPr>
        <p:spPr>
          <a:xfrm>
            <a:off x="895198" y="5995721"/>
            <a:ext cx="354330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MtbModelService 클래스</a:t>
            </a:r>
            <a:r>
              <a:rPr lang="en-US" sz="900" dirty="0">
                <a:solidFill>
                  <a:srgbClr val="475569"/>
                </a:solidFill>
                <a:latin typeface="Noto Sans KR" pitchFamily="34" charset="0"/>
                <a:ea typeface="Noto Sans KR" pitchFamily="34" charset="-122"/>
                <a:cs typeface="Noto Sans KR" pitchFamily="34" charset="-120"/>
              </a:rPr>
              <a:t>: 모델 로드, 예측, 결과 포맷팅 통합</a:t>
            </a:r>
            <a:endParaRPr lang="en-US" sz="900" dirty="0"/>
          </a:p>
        </p:txBody>
      </p:sp>
      <p:pic>
        <p:nvPicPr>
          <p:cNvPr id="42" name="Image 12" descr="preencoded.png"/>
          <p:cNvPicPr>
            <a:picLocks noChangeAspect="1"/>
          </p:cNvPicPr>
          <p:nvPr/>
        </p:nvPicPr>
        <p:blipFill>
          <a:blip r:embed="rId6"/>
          <a:srcRect t="-25301" b="-25301"/>
          <a:stretch/>
        </p:blipFill>
        <p:spPr>
          <a:xfrm>
            <a:off x="724205" y="6319418"/>
            <a:ext cx="75895" cy="114300"/>
          </a:xfrm>
          <a:prstGeom prst="rect">
            <a:avLst/>
          </a:prstGeom>
        </p:spPr>
      </p:pic>
      <p:sp>
        <p:nvSpPr>
          <p:cNvPr id="43" name="Text 28"/>
          <p:cNvSpPr txBox="1"/>
          <p:nvPr/>
        </p:nvSpPr>
        <p:spPr>
          <a:xfrm>
            <a:off x="895198" y="6262726"/>
            <a:ext cx="247345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TASK_NAMES</a:t>
            </a:r>
            <a:r>
              <a:rPr lang="en-US" sz="900" dirty="0">
                <a:solidFill>
                  <a:srgbClr val="475569"/>
                </a:solidFill>
                <a:latin typeface="Noto Sans KR" pitchFamily="34" charset="0"/>
                <a:ea typeface="Noto Sans KR" pitchFamily="34" charset="-122"/>
                <a:cs typeface="Noto Sans KR" pitchFamily="34" charset="-120"/>
              </a:rPr>
              <a:t>: C1~C13 클러스터 명칭 정의</a:t>
            </a:r>
            <a:endParaRPr lang="en-US" sz="900" dirty="0"/>
          </a:p>
        </p:txBody>
      </p:sp>
      <p:pic>
        <p:nvPicPr>
          <p:cNvPr id="44" name="Image 13" descr="preencoded.png"/>
          <p:cNvPicPr>
            <a:picLocks noChangeAspect="1"/>
          </p:cNvPicPr>
          <p:nvPr/>
        </p:nvPicPr>
        <p:blipFill>
          <a:blip r:embed="rId6"/>
          <a:srcRect t="-25301" b="-25301"/>
          <a:stretch/>
        </p:blipFill>
        <p:spPr>
          <a:xfrm>
            <a:off x="724205" y="6586423"/>
            <a:ext cx="75895" cy="114300"/>
          </a:xfrm>
          <a:prstGeom prst="rect">
            <a:avLst/>
          </a:prstGeom>
        </p:spPr>
      </p:pic>
      <p:sp>
        <p:nvSpPr>
          <p:cNvPr id="45" name="Text 29"/>
          <p:cNvSpPr txBox="1"/>
          <p:nvPr/>
        </p:nvSpPr>
        <p:spPr>
          <a:xfrm>
            <a:off x="895198" y="6529730"/>
            <a:ext cx="328269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COG_MAPPING</a:t>
            </a:r>
            <a:r>
              <a:rPr lang="en-US" sz="900" dirty="0">
                <a:solidFill>
                  <a:srgbClr val="475569"/>
                </a:solidFill>
                <a:latin typeface="Noto Sans KR" pitchFamily="34" charset="0"/>
                <a:ea typeface="Noto Sans KR" pitchFamily="34" charset="-122"/>
                <a:cs typeface="Noto Sans KR" pitchFamily="34" charset="-120"/>
              </a:rPr>
              <a:t>: 각 클러스터의 생물학적 기능 한글명 매핑</a:t>
            </a:r>
            <a:endParaRPr lang="en-US" sz="900" dirty="0"/>
          </a:p>
        </p:txBody>
      </p:sp>
      <p:pic>
        <p:nvPicPr>
          <p:cNvPr id="46" name="Image 14" descr="preencoded.png"/>
          <p:cNvPicPr>
            <a:picLocks noChangeAspect="1"/>
          </p:cNvPicPr>
          <p:nvPr/>
        </p:nvPicPr>
        <p:blipFill>
          <a:blip r:embed="rId6"/>
          <a:srcRect t="-25301" b="-25301"/>
          <a:stretch/>
        </p:blipFill>
        <p:spPr>
          <a:xfrm>
            <a:off x="724205" y="6853428"/>
            <a:ext cx="75895" cy="114300"/>
          </a:xfrm>
          <a:prstGeom prst="rect">
            <a:avLst/>
          </a:prstGeom>
        </p:spPr>
      </p:pic>
      <p:sp>
        <p:nvSpPr>
          <p:cNvPr id="47" name="Text 30"/>
          <p:cNvSpPr txBox="1"/>
          <p:nvPr/>
        </p:nvSpPr>
        <p:spPr>
          <a:xfrm>
            <a:off x="895198" y="6795821"/>
            <a:ext cx="3129077"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체크포인트 로드</a:t>
            </a:r>
            <a:r>
              <a:rPr lang="en-US" sz="900" dirty="0">
                <a:solidFill>
                  <a:srgbClr val="475569"/>
                </a:solidFill>
                <a:latin typeface="Noto Sans KR" pitchFamily="34" charset="0"/>
                <a:ea typeface="Noto Sans KR" pitchFamily="34" charset="-122"/>
                <a:cs typeface="Noto Sans KR" pitchFamily="34" charset="-120"/>
              </a:rPr>
              <a:t>: Torch 안전 로더로 .pt 모델 파일 로드</a:t>
            </a:r>
            <a:endParaRPr lang="en-US" sz="900" dirty="0"/>
          </a:p>
        </p:txBody>
      </p:sp>
      <p:pic>
        <p:nvPicPr>
          <p:cNvPr id="48" name="Image 15" descr="preencoded.png"/>
          <p:cNvPicPr>
            <a:picLocks noChangeAspect="1"/>
          </p:cNvPicPr>
          <p:nvPr/>
        </p:nvPicPr>
        <p:blipFill>
          <a:blip r:embed="rId6"/>
          <a:srcRect t="-25301" b="-25301"/>
          <a:stretch/>
        </p:blipFill>
        <p:spPr>
          <a:xfrm>
            <a:off x="724205" y="7119518"/>
            <a:ext cx="75895" cy="114300"/>
          </a:xfrm>
          <a:prstGeom prst="rect">
            <a:avLst/>
          </a:prstGeom>
        </p:spPr>
      </p:pic>
      <p:sp>
        <p:nvSpPr>
          <p:cNvPr id="49" name="Text 31"/>
          <p:cNvSpPr txBox="1"/>
          <p:nvPr/>
        </p:nvSpPr>
        <p:spPr>
          <a:xfrm>
            <a:off x="895198" y="7062826"/>
            <a:ext cx="269382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스케일러 활용</a:t>
            </a:r>
            <a:r>
              <a:rPr lang="en-US" sz="900" dirty="0">
                <a:solidFill>
                  <a:srgbClr val="475569"/>
                </a:solidFill>
                <a:latin typeface="Noto Sans KR" pitchFamily="34" charset="0"/>
                <a:ea typeface="Noto Sans KR" pitchFamily="34" charset="-122"/>
                <a:cs typeface="Noto Sans KR" pitchFamily="34" charset="-120"/>
              </a:rPr>
              <a:t>: 학습 시 정규화 파라미터 복원</a:t>
            </a:r>
            <a:endParaRPr lang="en-US" sz="900" dirty="0"/>
          </a:p>
        </p:txBody>
      </p:sp>
      <p:pic>
        <p:nvPicPr>
          <p:cNvPr id="50" name="Image 16" descr="preencoded.png"/>
          <p:cNvPicPr>
            <a:picLocks noChangeAspect="1"/>
          </p:cNvPicPr>
          <p:nvPr/>
        </p:nvPicPr>
        <p:blipFill>
          <a:blip r:embed="rId11"/>
          <a:stretch>
            <a:fillRect/>
          </a:stretch>
        </p:blipFill>
        <p:spPr>
          <a:xfrm>
            <a:off x="724205" y="7329830"/>
            <a:ext cx="638251" cy="256946"/>
          </a:xfrm>
          <a:prstGeom prst="rect">
            <a:avLst/>
          </a:prstGeom>
        </p:spPr>
      </p:pic>
      <p:sp>
        <p:nvSpPr>
          <p:cNvPr id="51" name="Text 32"/>
          <p:cNvSpPr/>
          <p:nvPr/>
        </p:nvSpPr>
        <p:spPr>
          <a:xfrm>
            <a:off x="724205" y="7329830"/>
            <a:ext cx="6382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PyTorch</a:t>
            </a:r>
            <a:endParaRPr lang="en-US" sz="800" dirty="0"/>
          </a:p>
        </p:txBody>
      </p:sp>
      <p:sp>
        <p:nvSpPr>
          <p:cNvPr id="52" name="Text 33"/>
          <p:cNvSpPr txBox="1"/>
          <p:nvPr/>
        </p:nvSpPr>
        <p:spPr>
          <a:xfrm>
            <a:off x="838505" y="7377379"/>
            <a:ext cx="486461"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PyTorch</a:t>
            </a:r>
            <a:endParaRPr lang="en-US" sz="800" dirty="0"/>
          </a:p>
        </p:txBody>
      </p:sp>
      <p:pic>
        <p:nvPicPr>
          <p:cNvPr id="53" name="Image 17" descr="preencoded.png"/>
          <p:cNvPicPr>
            <a:picLocks noChangeAspect="1"/>
          </p:cNvPicPr>
          <p:nvPr/>
        </p:nvPicPr>
        <p:blipFill>
          <a:blip r:embed="rId12"/>
          <a:stretch>
            <a:fillRect/>
          </a:stretch>
        </p:blipFill>
        <p:spPr>
          <a:xfrm>
            <a:off x="1437437" y="7329830"/>
            <a:ext cx="771754" cy="256946"/>
          </a:xfrm>
          <a:prstGeom prst="rect">
            <a:avLst/>
          </a:prstGeom>
        </p:spPr>
      </p:pic>
      <p:sp>
        <p:nvSpPr>
          <p:cNvPr id="54" name="Text 34"/>
          <p:cNvSpPr/>
          <p:nvPr/>
        </p:nvSpPr>
        <p:spPr>
          <a:xfrm>
            <a:off x="1437437" y="7329830"/>
            <a:ext cx="7717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Chemprop</a:t>
            </a:r>
            <a:endParaRPr lang="en-US" sz="800" dirty="0"/>
          </a:p>
        </p:txBody>
      </p:sp>
      <p:sp>
        <p:nvSpPr>
          <p:cNvPr id="55" name="Text 35"/>
          <p:cNvSpPr txBox="1"/>
          <p:nvPr/>
        </p:nvSpPr>
        <p:spPr>
          <a:xfrm>
            <a:off x="1551737" y="7377379"/>
            <a:ext cx="619963"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Chemprop</a:t>
            </a:r>
            <a:endParaRPr lang="en-US" sz="800" dirty="0"/>
          </a:p>
        </p:txBody>
      </p:sp>
      <p:pic>
        <p:nvPicPr>
          <p:cNvPr id="56" name="Image 18" descr="preencoded.png"/>
          <p:cNvPicPr>
            <a:picLocks noChangeAspect="1"/>
          </p:cNvPicPr>
          <p:nvPr/>
        </p:nvPicPr>
        <p:blipFill>
          <a:blip r:embed="rId13"/>
          <a:stretch>
            <a:fillRect/>
          </a:stretch>
        </p:blipFill>
        <p:spPr>
          <a:xfrm>
            <a:off x="2277770" y="7329830"/>
            <a:ext cx="523951" cy="256946"/>
          </a:xfrm>
          <a:prstGeom prst="rect">
            <a:avLst/>
          </a:prstGeom>
        </p:spPr>
      </p:pic>
      <p:sp>
        <p:nvSpPr>
          <p:cNvPr id="57" name="Text 36"/>
          <p:cNvSpPr/>
          <p:nvPr/>
        </p:nvSpPr>
        <p:spPr>
          <a:xfrm>
            <a:off x="2277770" y="7329830"/>
            <a:ext cx="5239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RDKit</a:t>
            </a:r>
            <a:endParaRPr lang="en-US" sz="800" dirty="0"/>
          </a:p>
        </p:txBody>
      </p:sp>
      <p:sp>
        <p:nvSpPr>
          <p:cNvPr id="58" name="Text 37"/>
          <p:cNvSpPr txBox="1"/>
          <p:nvPr/>
        </p:nvSpPr>
        <p:spPr>
          <a:xfrm>
            <a:off x="2392070" y="7377379"/>
            <a:ext cx="372161"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RDKit</a:t>
            </a:r>
            <a:endParaRPr lang="en-US" sz="800" dirty="0"/>
          </a:p>
        </p:txBody>
      </p:sp>
      <p:sp>
        <p:nvSpPr>
          <p:cNvPr id="59" name="Shape 38"/>
          <p:cNvSpPr/>
          <p:nvPr/>
        </p:nvSpPr>
        <p:spPr>
          <a:xfrm>
            <a:off x="6238951" y="1390802"/>
            <a:ext cx="5477256" cy="3877056"/>
          </a:xfrm>
          <a:prstGeom prst="roundRect">
            <a:avLst>
              <a:gd name="adj" fmla="val 464"/>
            </a:avLst>
          </a:prstGeom>
          <a:solidFill>
            <a:srgbClr val="FFFFFF"/>
          </a:solidFill>
          <a:ln/>
          <a:effectLst>
            <a:outerShdw blurRad="76200" dist="25400" dir="16200000" algn="bl" rotWithShape="0">
              <a:srgbClr val="000000">
                <a:alpha val="8000"/>
              </a:srgbClr>
            </a:outerShdw>
          </a:effectLst>
        </p:spPr>
      </p:sp>
      <p:sp>
        <p:nvSpPr>
          <p:cNvPr id="60" name="Shape 39"/>
          <p:cNvSpPr/>
          <p:nvPr/>
        </p:nvSpPr>
        <p:spPr>
          <a:xfrm>
            <a:off x="6238951" y="1390802"/>
            <a:ext cx="5477256" cy="28346"/>
          </a:xfrm>
          <a:prstGeom prst="roundRect">
            <a:avLst>
              <a:gd name="adj" fmla="val 63407"/>
            </a:avLst>
          </a:prstGeom>
          <a:solidFill>
            <a:srgbClr val="1A355B"/>
          </a:solidFill>
          <a:ln w="12700">
            <a:solidFill>
              <a:srgbClr val="1A355B">
                <a:alpha val="0"/>
              </a:srgbClr>
            </a:solidFill>
            <a:prstDash val="solid"/>
          </a:ln>
        </p:spPr>
      </p:sp>
      <p:sp>
        <p:nvSpPr>
          <p:cNvPr id="61" name="Text 40"/>
          <p:cNvSpPr txBox="1"/>
          <p:nvPr/>
        </p:nvSpPr>
        <p:spPr>
          <a:xfrm>
            <a:off x="6743700" y="1591056"/>
            <a:ext cx="4914900"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예측 파이프라인 (predict 메서드)</a:t>
            </a:r>
            <a:endParaRPr lang="en-US" sz="1200" dirty="0"/>
          </a:p>
        </p:txBody>
      </p:sp>
      <p:pic>
        <p:nvPicPr>
          <p:cNvPr id="62" name="Image 19" descr="preencoded.png"/>
          <p:cNvPicPr>
            <a:picLocks noChangeAspect="1"/>
          </p:cNvPicPr>
          <p:nvPr/>
        </p:nvPicPr>
        <p:blipFill>
          <a:blip r:embed="rId14"/>
          <a:srcRect l="-461" r="-461"/>
          <a:stretch/>
        </p:blipFill>
        <p:spPr>
          <a:xfrm>
            <a:off x="6409944" y="1600200"/>
            <a:ext cx="237744" cy="209398"/>
          </a:xfrm>
          <a:prstGeom prst="rect">
            <a:avLst/>
          </a:prstGeom>
        </p:spPr>
      </p:pic>
      <p:sp>
        <p:nvSpPr>
          <p:cNvPr id="63" name="Shape 41"/>
          <p:cNvSpPr/>
          <p:nvPr/>
        </p:nvSpPr>
        <p:spPr>
          <a:xfrm>
            <a:off x="6409944" y="1952244"/>
            <a:ext cx="5134356" cy="552298"/>
          </a:xfrm>
          <a:prstGeom prst="roundRect">
            <a:avLst>
              <a:gd name="adj" fmla="val 17127"/>
            </a:avLst>
          </a:prstGeom>
          <a:solidFill>
            <a:srgbClr val="F8FAFC"/>
          </a:solidFill>
          <a:ln/>
        </p:spPr>
      </p:sp>
      <p:sp>
        <p:nvSpPr>
          <p:cNvPr id="64" name="Shape 42"/>
          <p:cNvSpPr/>
          <p:nvPr/>
        </p:nvSpPr>
        <p:spPr>
          <a:xfrm>
            <a:off x="6409944" y="1952244"/>
            <a:ext cx="28346" cy="552298"/>
          </a:xfrm>
          <a:prstGeom prst="roundRect">
            <a:avLst>
              <a:gd name="adj" fmla="val 333709"/>
            </a:avLst>
          </a:prstGeom>
          <a:solidFill>
            <a:srgbClr val="3B82F6"/>
          </a:solidFill>
          <a:ln w="12700">
            <a:solidFill>
              <a:srgbClr val="3B82F6">
                <a:alpha val="0"/>
              </a:srgbClr>
            </a:solidFill>
            <a:prstDash val="solid"/>
          </a:ln>
        </p:spPr>
      </p:sp>
      <p:sp>
        <p:nvSpPr>
          <p:cNvPr id="65" name="Shape 43"/>
          <p:cNvSpPr/>
          <p:nvPr/>
        </p:nvSpPr>
        <p:spPr>
          <a:xfrm>
            <a:off x="6534302" y="2095805"/>
            <a:ext cx="267005" cy="267005"/>
          </a:xfrm>
          <a:prstGeom prst="ellipse">
            <a:avLst/>
          </a:prstGeom>
          <a:solidFill>
            <a:srgbClr val="3B82F6"/>
          </a:solidFill>
          <a:ln w="12700">
            <a:solidFill>
              <a:srgbClr val="FFFFFF">
                <a:alpha val="0"/>
              </a:srgbClr>
            </a:solidFill>
            <a:prstDash val="solid"/>
          </a:ln>
        </p:spPr>
      </p:sp>
      <p:sp>
        <p:nvSpPr>
          <p:cNvPr id="66" name="Text 44"/>
          <p:cNvSpPr txBox="1"/>
          <p:nvPr/>
        </p:nvSpPr>
        <p:spPr>
          <a:xfrm>
            <a:off x="6631229" y="2136038"/>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1</a:t>
            </a:r>
            <a:endParaRPr lang="en-US" sz="900" dirty="0"/>
          </a:p>
        </p:txBody>
      </p:sp>
      <p:sp>
        <p:nvSpPr>
          <p:cNvPr id="67" name="Text 45"/>
          <p:cNvSpPr txBox="1"/>
          <p:nvPr/>
        </p:nvSpPr>
        <p:spPr>
          <a:xfrm>
            <a:off x="6915607" y="2048256"/>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SMILES 유효성 검증</a:t>
            </a:r>
            <a:endParaRPr lang="en-US" sz="900" dirty="0"/>
          </a:p>
        </p:txBody>
      </p:sp>
      <p:sp>
        <p:nvSpPr>
          <p:cNvPr id="68" name="Text 46"/>
          <p:cNvSpPr txBox="1"/>
          <p:nvPr/>
        </p:nvSpPr>
        <p:spPr>
          <a:xfrm>
            <a:off x="6915607" y="2253082"/>
            <a:ext cx="464881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RDKit Chem.MolFromSmiles로 분자 객체 생성 시도</a:t>
            </a:r>
            <a:endParaRPr lang="en-US" sz="800" dirty="0"/>
          </a:p>
        </p:txBody>
      </p:sp>
      <p:sp>
        <p:nvSpPr>
          <p:cNvPr id="69" name="Shape 47"/>
          <p:cNvSpPr/>
          <p:nvPr/>
        </p:nvSpPr>
        <p:spPr>
          <a:xfrm>
            <a:off x="6409944" y="2600554"/>
            <a:ext cx="5134356" cy="552298"/>
          </a:xfrm>
          <a:prstGeom prst="roundRect">
            <a:avLst>
              <a:gd name="adj" fmla="val 17127"/>
            </a:avLst>
          </a:prstGeom>
          <a:solidFill>
            <a:srgbClr val="F8FAFC"/>
          </a:solidFill>
          <a:ln/>
        </p:spPr>
      </p:sp>
      <p:sp>
        <p:nvSpPr>
          <p:cNvPr id="70" name="Shape 48"/>
          <p:cNvSpPr/>
          <p:nvPr/>
        </p:nvSpPr>
        <p:spPr>
          <a:xfrm>
            <a:off x="6409944" y="2600554"/>
            <a:ext cx="28346" cy="552298"/>
          </a:xfrm>
          <a:prstGeom prst="roundRect">
            <a:avLst>
              <a:gd name="adj" fmla="val 333709"/>
            </a:avLst>
          </a:prstGeom>
          <a:solidFill>
            <a:srgbClr val="3B82F6"/>
          </a:solidFill>
          <a:ln w="12700">
            <a:solidFill>
              <a:srgbClr val="3B82F6">
                <a:alpha val="0"/>
              </a:srgbClr>
            </a:solidFill>
            <a:prstDash val="solid"/>
          </a:ln>
        </p:spPr>
      </p:sp>
      <p:sp>
        <p:nvSpPr>
          <p:cNvPr id="71" name="Shape 49"/>
          <p:cNvSpPr/>
          <p:nvPr/>
        </p:nvSpPr>
        <p:spPr>
          <a:xfrm>
            <a:off x="6534302" y="2743200"/>
            <a:ext cx="267005" cy="267005"/>
          </a:xfrm>
          <a:prstGeom prst="ellipse">
            <a:avLst/>
          </a:prstGeom>
          <a:solidFill>
            <a:srgbClr val="3B82F6"/>
          </a:solidFill>
          <a:ln w="12700">
            <a:solidFill>
              <a:srgbClr val="FFFFFF">
                <a:alpha val="0"/>
              </a:srgbClr>
            </a:solidFill>
            <a:prstDash val="solid"/>
          </a:ln>
        </p:spPr>
      </p:sp>
      <p:sp>
        <p:nvSpPr>
          <p:cNvPr id="72" name="Text 50"/>
          <p:cNvSpPr txBox="1"/>
          <p:nvPr/>
        </p:nvSpPr>
        <p:spPr>
          <a:xfrm>
            <a:off x="6631229" y="2783434"/>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2</a:t>
            </a:r>
            <a:endParaRPr lang="en-US" sz="900" dirty="0"/>
          </a:p>
        </p:txBody>
      </p:sp>
      <p:sp>
        <p:nvSpPr>
          <p:cNvPr id="73" name="Text 51"/>
          <p:cNvSpPr txBox="1"/>
          <p:nvPr/>
        </p:nvSpPr>
        <p:spPr>
          <a:xfrm>
            <a:off x="6915607" y="2695651"/>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MoleculeDatapoint 생성</a:t>
            </a:r>
            <a:endParaRPr lang="en-US" sz="900" dirty="0"/>
          </a:p>
        </p:txBody>
      </p:sp>
      <p:sp>
        <p:nvSpPr>
          <p:cNvPr id="74" name="Text 52"/>
          <p:cNvSpPr txBox="1"/>
          <p:nvPr/>
        </p:nvSpPr>
        <p:spPr>
          <a:xfrm>
            <a:off x="6915607" y="2900477"/>
            <a:ext cx="464881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Chemprop 데이터 구조로 변환</a:t>
            </a:r>
            <a:endParaRPr lang="en-US" sz="800" dirty="0"/>
          </a:p>
        </p:txBody>
      </p:sp>
      <p:sp>
        <p:nvSpPr>
          <p:cNvPr id="75" name="Shape 53"/>
          <p:cNvSpPr/>
          <p:nvPr/>
        </p:nvSpPr>
        <p:spPr>
          <a:xfrm>
            <a:off x="6409944" y="3247949"/>
            <a:ext cx="5134356" cy="552298"/>
          </a:xfrm>
          <a:prstGeom prst="roundRect">
            <a:avLst>
              <a:gd name="adj" fmla="val 17127"/>
            </a:avLst>
          </a:prstGeom>
          <a:solidFill>
            <a:srgbClr val="F8FAFC"/>
          </a:solidFill>
          <a:ln/>
        </p:spPr>
      </p:sp>
      <p:sp>
        <p:nvSpPr>
          <p:cNvPr id="76" name="Shape 54"/>
          <p:cNvSpPr/>
          <p:nvPr/>
        </p:nvSpPr>
        <p:spPr>
          <a:xfrm>
            <a:off x="6409944" y="3247949"/>
            <a:ext cx="28346" cy="552298"/>
          </a:xfrm>
          <a:prstGeom prst="roundRect">
            <a:avLst>
              <a:gd name="adj" fmla="val 333709"/>
            </a:avLst>
          </a:prstGeom>
          <a:solidFill>
            <a:srgbClr val="3B82F6"/>
          </a:solidFill>
          <a:ln w="12700">
            <a:solidFill>
              <a:srgbClr val="3B82F6">
                <a:alpha val="0"/>
              </a:srgbClr>
            </a:solidFill>
            <a:prstDash val="solid"/>
          </a:ln>
        </p:spPr>
      </p:sp>
      <p:sp>
        <p:nvSpPr>
          <p:cNvPr id="77" name="Shape 55"/>
          <p:cNvSpPr/>
          <p:nvPr/>
        </p:nvSpPr>
        <p:spPr>
          <a:xfrm>
            <a:off x="6534302" y="3390595"/>
            <a:ext cx="267005" cy="267005"/>
          </a:xfrm>
          <a:prstGeom prst="ellipse">
            <a:avLst/>
          </a:prstGeom>
          <a:solidFill>
            <a:srgbClr val="3B82F6"/>
          </a:solidFill>
          <a:ln w="12700">
            <a:solidFill>
              <a:srgbClr val="FFFFFF">
                <a:alpha val="0"/>
              </a:srgbClr>
            </a:solidFill>
            <a:prstDash val="solid"/>
          </a:ln>
        </p:spPr>
      </p:sp>
      <p:sp>
        <p:nvSpPr>
          <p:cNvPr id="78" name="Text 56"/>
          <p:cNvSpPr txBox="1"/>
          <p:nvPr/>
        </p:nvSpPr>
        <p:spPr>
          <a:xfrm>
            <a:off x="6631229" y="3431743"/>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3</a:t>
            </a:r>
            <a:endParaRPr lang="en-US" sz="900" dirty="0"/>
          </a:p>
        </p:txBody>
      </p:sp>
      <p:sp>
        <p:nvSpPr>
          <p:cNvPr id="79" name="Text 57"/>
          <p:cNvSpPr txBox="1"/>
          <p:nvPr/>
        </p:nvSpPr>
        <p:spPr>
          <a:xfrm>
            <a:off x="6915607" y="3343046"/>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RDKit 기술자 계산</a:t>
            </a:r>
            <a:endParaRPr lang="en-US" sz="900" dirty="0"/>
          </a:p>
        </p:txBody>
      </p:sp>
      <p:sp>
        <p:nvSpPr>
          <p:cNvPr id="80" name="Text 58"/>
          <p:cNvSpPr txBox="1"/>
          <p:nvPr/>
        </p:nvSpPr>
        <p:spPr>
          <a:xfrm>
            <a:off x="6915607" y="3547872"/>
            <a:ext cx="4724705"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200개 분자 기술자 벡터 생성 및 정규화</a:t>
            </a:r>
            <a:endParaRPr lang="en-US" sz="800" dirty="0"/>
          </a:p>
        </p:txBody>
      </p:sp>
      <p:sp>
        <p:nvSpPr>
          <p:cNvPr id="81" name="Shape 59"/>
          <p:cNvSpPr/>
          <p:nvPr/>
        </p:nvSpPr>
        <p:spPr>
          <a:xfrm>
            <a:off x="6409944" y="3895344"/>
            <a:ext cx="5134356" cy="552298"/>
          </a:xfrm>
          <a:prstGeom prst="roundRect">
            <a:avLst>
              <a:gd name="adj" fmla="val 17127"/>
            </a:avLst>
          </a:prstGeom>
          <a:solidFill>
            <a:srgbClr val="F8FAFC"/>
          </a:solidFill>
          <a:ln/>
        </p:spPr>
      </p:sp>
      <p:sp>
        <p:nvSpPr>
          <p:cNvPr id="82" name="Shape 60"/>
          <p:cNvSpPr/>
          <p:nvPr/>
        </p:nvSpPr>
        <p:spPr>
          <a:xfrm>
            <a:off x="6409944" y="3895344"/>
            <a:ext cx="28346" cy="552298"/>
          </a:xfrm>
          <a:prstGeom prst="roundRect">
            <a:avLst>
              <a:gd name="adj" fmla="val 333709"/>
            </a:avLst>
          </a:prstGeom>
          <a:solidFill>
            <a:srgbClr val="3B82F6"/>
          </a:solidFill>
          <a:ln w="12700">
            <a:solidFill>
              <a:srgbClr val="3B82F6">
                <a:alpha val="0"/>
              </a:srgbClr>
            </a:solidFill>
            <a:prstDash val="solid"/>
          </a:ln>
        </p:spPr>
      </p:sp>
      <p:sp>
        <p:nvSpPr>
          <p:cNvPr id="83" name="Shape 61"/>
          <p:cNvSpPr/>
          <p:nvPr/>
        </p:nvSpPr>
        <p:spPr>
          <a:xfrm>
            <a:off x="6534302" y="4038905"/>
            <a:ext cx="267005" cy="267005"/>
          </a:xfrm>
          <a:prstGeom prst="ellipse">
            <a:avLst/>
          </a:prstGeom>
          <a:solidFill>
            <a:srgbClr val="3B82F6"/>
          </a:solidFill>
          <a:ln w="12700">
            <a:solidFill>
              <a:srgbClr val="FFFFFF">
                <a:alpha val="0"/>
              </a:srgbClr>
            </a:solidFill>
            <a:prstDash val="solid"/>
          </a:ln>
        </p:spPr>
      </p:sp>
      <p:sp>
        <p:nvSpPr>
          <p:cNvPr id="84" name="Text 62"/>
          <p:cNvSpPr txBox="1"/>
          <p:nvPr/>
        </p:nvSpPr>
        <p:spPr>
          <a:xfrm>
            <a:off x="6631229" y="4079138"/>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4</a:t>
            </a:r>
            <a:endParaRPr lang="en-US" sz="900" dirty="0"/>
          </a:p>
        </p:txBody>
      </p:sp>
      <p:sp>
        <p:nvSpPr>
          <p:cNvPr id="85" name="Text 63"/>
          <p:cNvSpPr txBox="1"/>
          <p:nvPr/>
        </p:nvSpPr>
        <p:spPr>
          <a:xfrm>
            <a:off x="6915607" y="3991356"/>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D-MPNN 추론</a:t>
            </a:r>
            <a:endParaRPr lang="en-US" sz="900" dirty="0"/>
          </a:p>
        </p:txBody>
      </p:sp>
      <p:sp>
        <p:nvSpPr>
          <p:cNvPr id="86" name="Text 64"/>
          <p:cNvSpPr txBox="1"/>
          <p:nvPr/>
        </p:nvSpPr>
        <p:spPr>
          <a:xfrm>
            <a:off x="6915607" y="4196182"/>
            <a:ext cx="4724705"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그래프 신경망으로 C1~C13 활성 확률 예측</a:t>
            </a:r>
            <a:endParaRPr lang="en-US" sz="800" dirty="0"/>
          </a:p>
        </p:txBody>
      </p:sp>
      <p:sp>
        <p:nvSpPr>
          <p:cNvPr id="87" name="Shape 65"/>
          <p:cNvSpPr/>
          <p:nvPr/>
        </p:nvSpPr>
        <p:spPr>
          <a:xfrm>
            <a:off x="6409944" y="4543654"/>
            <a:ext cx="5134356" cy="552298"/>
          </a:xfrm>
          <a:prstGeom prst="roundRect">
            <a:avLst>
              <a:gd name="adj" fmla="val 17127"/>
            </a:avLst>
          </a:prstGeom>
          <a:solidFill>
            <a:srgbClr val="F8FAFC"/>
          </a:solidFill>
          <a:ln/>
        </p:spPr>
      </p:sp>
      <p:sp>
        <p:nvSpPr>
          <p:cNvPr id="88" name="Shape 66"/>
          <p:cNvSpPr/>
          <p:nvPr/>
        </p:nvSpPr>
        <p:spPr>
          <a:xfrm>
            <a:off x="6409944" y="4543654"/>
            <a:ext cx="28346" cy="552298"/>
          </a:xfrm>
          <a:prstGeom prst="roundRect">
            <a:avLst>
              <a:gd name="adj" fmla="val 333709"/>
            </a:avLst>
          </a:prstGeom>
          <a:solidFill>
            <a:srgbClr val="3B82F6"/>
          </a:solidFill>
          <a:ln w="12700">
            <a:solidFill>
              <a:srgbClr val="3B82F6">
                <a:alpha val="0"/>
              </a:srgbClr>
            </a:solidFill>
            <a:prstDash val="solid"/>
          </a:ln>
        </p:spPr>
      </p:sp>
      <p:sp>
        <p:nvSpPr>
          <p:cNvPr id="89" name="Shape 67"/>
          <p:cNvSpPr/>
          <p:nvPr/>
        </p:nvSpPr>
        <p:spPr>
          <a:xfrm>
            <a:off x="6534302" y="4686300"/>
            <a:ext cx="267005" cy="267005"/>
          </a:xfrm>
          <a:prstGeom prst="ellipse">
            <a:avLst/>
          </a:prstGeom>
          <a:solidFill>
            <a:srgbClr val="3B82F6"/>
          </a:solidFill>
          <a:ln w="12700">
            <a:solidFill>
              <a:srgbClr val="FFFFFF">
                <a:alpha val="0"/>
              </a:srgbClr>
            </a:solidFill>
            <a:prstDash val="solid"/>
          </a:ln>
        </p:spPr>
      </p:sp>
      <p:sp>
        <p:nvSpPr>
          <p:cNvPr id="90" name="Text 68"/>
          <p:cNvSpPr txBox="1"/>
          <p:nvPr/>
        </p:nvSpPr>
        <p:spPr>
          <a:xfrm>
            <a:off x="6631229" y="4726534"/>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5</a:t>
            </a:r>
            <a:endParaRPr lang="en-US" sz="900" dirty="0"/>
          </a:p>
        </p:txBody>
      </p:sp>
      <p:sp>
        <p:nvSpPr>
          <p:cNvPr id="91" name="Text 69"/>
          <p:cNvSpPr txBox="1"/>
          <p:nvPr/>
        </p:nvSpPr>
        <p:spPr>
          <a:xfrm>
            <a:off x="6915607" y="4638751"/>
            <a:ext cx="4724705"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결과 포맷팅</a:t>
            </a:r>
            <a:endParaRPr lang="en-US" sz="900" dirty="0"/>
          </a:p>
        </p:txBody>
      </p:sp>
      <p:sp>
        <p:nvSpPr>
          <p:cNvPr id="92" name="Text 70"/>
          <p:cNvSpPr txBox="1"/>
          <p:nvPr/>
        </p:nvSpPr>
        <p:spPr>
          <a:xfrm>
            <a:off x="6915607" y="4843577"/>
            <a:ext cx="4724705"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클러스터명, 확률값, COG 설명을 JSON으로 반환</a:t>
            </a:r>
            <a:endParaRPr lang="en-US" sz="800" dirty="0"/>
          </a:p>
        </p:txBody>
      </p:sp>
      <p:sp>
        <p:nvSpPr>
          <p:cNvPr id="93" name="Shape 71"/>
          <p:cNvSpPr/>
          <p:nvPr/>
        </p:nvSpPr>
        <p:spPr>
          <a:xfrm>
            <a:off x="6238951" y="5458054"/>
            <a:ext cx="5477256" cy="3228746"/>
          </a:xfrm>
          <a:prstGeom prst="roundRect">
            <a:avLst>
              <a:gd name="adj" fmla="val 668"/>
            </a:avLst>
          </a:prstGeom>
          <a:solidFill>
            <a:srgbClr val="FFFFFF"/>
          </a:solidFill>
          <a:ln/>
          <a:effectLst>
            <a:outerShdw blurRad="76200" dist="25400" dir="16200000" algn="bl" rotWithShape="0">
              <a:srgbClr val="000000">
                <a:alpha val="8000"/>
              </a:srgbClr>
            </a:outerShdw>
          </a:effectLst>
        </p:spPr>
      </p:sp>
      <p:sp>
        <p:nvSpPr>
          <p:cNvPr id="94" name="Shape 72"/>
          <p:cNvSpPr/>
          <p:nvPr/>
        </p:nvSpPr>
        <p:spPr>
          <a:xfrm>
            <a:off x="6238951" y="5458054"/>
            <a:ext cx="5477256" cy="28346"/>
          </a:xfrm>
          <a:prstGeom prst="roundRect">
            <a:avLst>
              <a:gd name="adj" fmla="val 76126"/>
            </a:avLst>
          </a:prstGeom>
          <a:solidFill>
            <a:srgbClr val="1A355B"/>
          </a:solidFill>
          <a:ln w="12700">
            <a:solidFill>
              <a:srgbClr val="1A355B">
                <a:alpha val="0"/>
              </a:srgbClr>
            </a:solidFill>
            <a:prstDash val="solid"/>
          </a:ln>
        </p:spPr>
      </p:sp>
      <p:sp>
        <p:nvSpPr>
          <p:cNvPr id="95" name="Text 73"/>
          <p:cNvSpPr txBox="1"/>
          <p:nvPr/>
        </p:nvSpPr>
        <p:spPr>
          <a:xfrm>
            <a:off x="6686093" y="5658307"/>
            <a:ext cx="4972507"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약물성 지표 계산 (get_properties 메서드)</a:t>
            </a:r>
            <a:endParaRPr lang="en-US" sz="1200" dirty="0"/>
          </a:p>
        </p:txBody>
      </p:sp>
      <p:pic>
        <p:nvPicPr>
          <p:cNvPr id="96" name="Image 20" descr="preencoded.png"/>
          <p:cNvPicPr>
            <a:picLocks noChangeAspect="1"/>
          </p:cNvPicPr>
          <p:nvPr/>
        </p:nvPicPr>
        <p:blipFill>
          <a:blip r:embed="rId15"/>
          <a:srcRect t="-600" b="-600"/>
          <a:stretch/>
        </p:blipFill>
        <p:spPr>
          <a:xfrm>
            <a:off x="6409944" y="5667451"/>
            <a:ext cx="181051" cy="209398"/>
          </a:xfrm>
          <a:prstGeom prst="rect">
            <a:avLst/>
          </a:prstGeom>
        </p:spPr>
      </p:pic>
      <p:sp>
        <p:nvSpPr>
          <p:cNvPr id="97" name="Shape 74"/>
          <p:cNvSpPr/>
          <p:nvPr/>
        </p:nvSpPr>
        <p:spPr>
          <a:xfrm>
            <a:off x="6409944" y="6019495"/>
            <a:ext cx="5134356" cy="552298"/>
          </a:xfrm>
          <a:prstGeom prst="roundRect">
            <a:avLst>
              <a:gd name="adj" fmla="val 17127"/>
            </a:avLst>
          </a:prstGeom>
          <a:solidFill>
            <a:srgbClr val="F8FAFC"/>
          </a:solidFill>
          <a:ln/>
        </p:spPr>
      </p:sp>
      <p:sp>
        <p:nvSpPr>
          <p:cNvPr id="98" name="Shape 75"/>
          <p:cNvSpPr/>
          <p:nvPr/>
        </p:nvSpPr>
        <p:spPr>
          <a:xfrm>
            <a:off x="6409944" y="6019495"/>
            <a:ext cx="28346" cy="552298"/>
          </a:xfrm>
          <a:prstGeom prst="roundRect">
            <a:avLst>
              <a:gd name="adj" fmla="val 333709"/>
            </a:avLst>
          </a:prstGeom>
          <a:solidFill>
            <a:srgbClr val="3B82F6"/>
          </a:solidFill>
          <a:ln w="12700">
            <a:solidFill>
              <a:srgbClr val="3B82F6">
                <a:alpha val="0"/>
              </a:srgbClr>
            </a:solidFill>
            <a:prstDash val="solid"/>
          </a:ln>
        </p:spPr>
      </p:sp>
      <p:sp>
        <p:nvSpPr>
          <p:cNvPr id="99" name="Shape 76"/>
          <p:cNvSpPr/>
          <p:nvPr/>
        </p:nvSpPr>
        <p:spPr>
          <a:xfrm>
            <a:off x="6534302" y="6163056"/>
            <a:ext cx="267005" cy="267005"/>
          </a:xfrm>
          <a:prstGeom prst="ellipse">
            <a:avLst/>
          </a:prstGeom>
          <a:solidFill>
            <a:srgbClr val="3B82F6"/>
          </a:solidFill>
          <a:ln w="12700">
            <a:solidFill>
              <a:srgbClr val="FFFFFF">
                <a:alpha val="0"/>
              </a:srgbClr>
            </a:solidFill>
            <a:prstDash val="solid"/>
          </a:ln>
        </p:spPr>
      </p:sp>
      <p:sp>
        <p:nvSpPr>
          <p:cNvPr id="100" name="Text 77"/>
          <p:cNvSpPr txBox="1"/>
          <p:nvPr/>
        </p:nvSpPr>
        <p:spPr>
          <a:xfrm>
            <a:off x="6631229" y="6203290"/>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1</a:t>
            </a:r>
            <a:endParaRPr lang="en-US" sz="900" dirty="0"/>
          </a:p>
        </p:txBody>
      </p:sp>
      <p:sp>
        <p:nvSpPr>
          <p:cNvPr id="101" name="Text 78"/>
          <p:cNvSpPr txBox="1"/>
          <p:nvPr/>
        </p:nvSpPr>
        <p:spPr>
          <a:xfrm>
            <a:off x="6915607" y="6115507"/>
            <a:ext cx="4724705"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분자 객체 생성</a:t>
            </a:r>
            <a:endParaRPr lang="en-US" sz="900" dirty="0"/>
          </a:p>
        </p:txBody>
      </p:sp>
      <p:sp>
        <p:nvSpPr>
          <p:cNvPr id="102" name="Text 79"/>
          <p:cNvSpPr txBox="1"/>
          <p:nvPr/>
        </p:nvSpPr>
        <p:spPr>
          <a:xfrm>
            <a:off x="6915607" y="6319418"/>
            <a:ext cx="464881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RDKit으로 SMILES → Mol 객체 변환</a:t>
            </a:r>
            <a:endParaRPr lang="en-US" sz="800" dirty="0"/>
          </a:p>
        </p:txBody>
      </p:sp>
      <p:sp>
        <p:nvSpPr>
          <p:cNvPr id="103" name="Shape 80"/>
          <p:cNvSpPr/>
          <p:nvPr/>
        </p:nvSpPr>
        <p:spPr>
          <a:xfrm>
            <a:off x="6409944" y="6667805"/>
            <a:ext cx="5134356" cy="552298"/>
          </a:xfrm>
          <a:prstGeom prst="roundRect">
            <a:avLst>
              <a:gd name="adj" fmla="val 17127"/>
            </a:avLst>
          </a:prstGeom>
          <a:solidFill>
            <a:srgbClr val="F8FAFC"/>
          </a:solidFill>
          <a:ln/>
        </p:spPr>
      </p:sp>
      <p:sp>
        <p:nvSpPr>
          <p:cNvPr id="104" name="Shape 81"/>
          <p:cNvSpPr/>
          <p:nvPr/>
        </p:nvSpPr>
        <p:spPr>
          <a:xfrm>
            <a:off x="6409944" y="6667805"/>
            <a:ext cx="28346" cy="552298"/>
          </a:xfrm>
          <a:prstGeom prst="roundRect">
            <a:avLst>
              <a:gd name="adj" fmla="val 333709"/>
            </a:avLst>
          </a:prstGeom>
          <a:solidFill>
            <a:srgbClr val="3B82F6"/>
          </a:solidFill>
          <a:ln w="12700">
            <a:solidFill>
              <a:srgbClr val="3B82F6">
                <a:alpha val="0"/>
              </a:srgbClr>
            </a:solidFill>
            <a:prstDash val="solid"/>
          </a:ln>
        </p:spPr>
      </p:sp>
      <p:sp>
        <p:nvSpPr>
          <p:cNvPr id="105" name="Shape 82"/>
          <p:cNvSpPr/>
          <p:nvPr/>
        </p:nvSpPr>
        <p:spPr>
          <a:xfrm>
            <a:off x="6534302" y="6810451"/>
            <a:ext cx="267005" cy="267005"/>
          </a:xfrm>
          <a:prstGeom prst="ellipse">
            <a:avLst/>
          </a:prstGeom>
          <a:solidFill>
            <a:srgbClr val="3B82F6"/>
          </a:solidFill>
          <a:ln w="12700">
            <a:solidFill>
              <a:srgbClr val="FFFFFF">
                <a:alpha val="0"/>
              </a:srgbClr>
            </a:solidFill>
            <a:prstDash val="solid"/>
          </a:ln>
        </p:spPr>
      </p:sp>
      <p:sp>
        <p:nvSpPr>
          <p:cNvPr id="106" name="Text 83"/>
          <p:cNvSpPr txBox="1"/>
          <p:nvPr/>
        </p:nvSpPr>
        <p:spPr>
          <a:xfrm>
            <a:off x="6631229" y="6850685"/>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2</a:t>
            </a:r>
            <a:endParaRPr lang="en-US" sz="900" dirty="0"/>
          </a:p>
        </p:txBody>
      </p:sp>
      <p:sp>
        <p:nvSpPr>
          <p:cNvPr id="107" name="Text 84"/>
          <p:cNvSpPr txBox="1"/>
          <p:nvPr/>
        </p:nvSpPr>
        <p:spPr>
          <a:xfrm>
            <a:off x="6915607" y="6762902"/>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Lipinski 지표 계산</a:t>
            </a:r>
            <a:endParaRPr lang="en-US" sz="900" dirty="0"/>
          </a:p>
        </p:txBody>
      </p:sp>
      <p:sp>
        <p:nvSpPr>
          <p:cNvPr id="108" name="Text 85"/>
          <p:cNvSpPr txBox="1"/>
          <p:nvPr/>
        </p:nvSpPr>
        <p:spPr>
          <a:xfrm>
            <a:off x="6915607" y="6967728"/>
            <a:ext cx="464881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MW, LogP, HBD, HBA, TPSA 등 약물성 기술자 산출</a:t>
            </a:r>
            <a:endParaRPr lang="en-US" sz="800" dirty="0"/>
          </a:p>
        </p:txBody>
      </p:sp>
      <p:sp>
        <p:nvSpPr>
          <p:cNvPr id="109" name="Shape 86"/>
          <p:cNvSpPr/>
          <p:nvPr/>
        </p:nvSpPr>
        <p:spPr>
          <a:xfrm>
            <a:off x="6409944" y="7315200"/>
            <a:ext cx="5134356" cy="552298"/>
          </a:xfrm>
          <a:prstGeom prst="roundRect">
            <a:avLst>
              <a:gd name="adj" fmla="val 17127"/>
            </a:avLst>
          </a:prstGeom>
          <a:solidFill>
            <a:srgbClr val="F8FAFC"/>
          </a:solidFill>
          <a:ln/>
        </p:spPr>
      </p:sp>
      <p:sp>
        <p:nvSpPr>
          <p:cNvPr id="110" name="Shape 87"/>
          <p:cNvSpPr/>
          <p:nvPr/>
        </p:nvSpPr>
        <p:spPr>
          <a:xfrm>
            <a:off x="6409944" y="7315200"/>
            <a:ext cx="28346" cy="552298"/>
          </a:xfrm>
          <a:prstGeom prst="roundRect">
            <a:avLst>
              <a:gd name="adj" fmla="val 333709"/>
            </a:avLst>
          </a:prstGeom>
          <a:solidFill>
            <a:srgbClr val="3B82F6"/>
          </a:solidFill>
          <a:ln w="12700">
            <a:solidFill>
              <a:srgbClr val="3B82F6">
                <a:alpha val="0"/>
              </a:srgbClr>
            </a:solidFill>
            <a:prstDash val="solid"/>
          </a:ln>
        </p:spPr>
      </p:sp>
      <p:sp>
        <p:nvSpPr>
          <p:cNvPr id="111" name="Shape 88"/>
          <p:cNvSpPr/>
          <p:nvPr/>
        </p:nvSpPr>
        <p:spPr>
          <a:xfrm>
            <a:off x="6534302" y="7457846"/>
            <a:ext cx="267005" cy="267005"/>
          </a:xfrm>
          <a:prstGeom prst="ellipse">
            <a:avLst/>
          </a:prstGeom>
          <a:solidFill>
            <a:srgbClr val="3B82F6"/>
          </a:solidFill>
          <a:ln w="12700">
            <a:solidFill>
              <a:srgbClr val="FFFFFF">
                <a:alpha val="0"/>
              </a:srgbClr>
            </a:solidFill>
            <a:prstDash val="solid"/>
          </a:ln>
        </p:spPr>
      </p:sp>
      <p:sp>
        <p:nvSpPr>
          <p:cNvPr id="112" name="Text 89"/>
          <p:cNvSpPr txBox="1"/>
          <p:nvPr/>
        </p:nvSpPr>
        <p:spPr>
          <a:xfrm>
            <a:off x="6631229" y="7498994"/>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3</a:t>
            </a:r>
            <a:endParaRPr lang="en-US" sz="900" dirty="0"/>
          </a:p>
        </p:txBody>
      </p:sp>
      <p:sp>
        <p:nvSpPr>
          <p:cNvPr id="113" name="Text 90"/>
          <p:cNvSpPr txBox="1"/>
          <p:nvPr/>
        </p:nvSpPr>
        <p:spPr>
          <a:xfrm>
            <a:off x="6915607" y="7410298"/>
            <a:ext cx="4724705"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2D 구조 이미지 생성</a:t>
            </a:r>
            <a:endParaRPr lang="en-US" sz="900" dirty="0"/>
          </a:p>
        </p:txBody>
      </p:sp>
      <p:sp>
        <p:nvSpPr>
          <p:cNvPr id="114" name="Text 91"/>
          <p:cNvSpPr txBox="1"/>
          <p:nvPr/>
        </p:nvSpPr>
        <p:spPr>
          <a:xfrm>
            <a:off x="6915607" y="7615123"/>
            <a:ext cx="464881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Draw.MolToImage로 분자 구조식 렌더링</a:t>
            </a:r>
            <a:endParaRPr lang="en-US" sz="800" dirty="0"/>
          </a:p>
        </p:txBody>
      </p:sp>
      <p:sp>
        <p:nvSpPr>
          <p:cNvPr id="115" name="Shape 92"/>
          <p:cNvSpPr/>
          <p:nvPr/>
        </p:nvSpPr>
        <p:spPr>
          <a:xfrm>
            <a:off x="6409944" y="7962595"/>
            <a:ext cx="5134356" cy="552298"/>
          </a:xfrm>
          <a:prstGeom prst="roundRect">
            <a:avLst>
              <a:gd name="adj" fmla="val 17127"/>
            </a:avLst>
          </a:prstGeom>
          <a:solidFill>
            <a:srgbClr val="F8FAFC"/>
          </a:solidFill>
          <a:ln/>
        </p:spPr>
      </p:sp>
      <p:sp>
        <p:nvSpPr>
          <p:cNvPr id="116" name="Shape 93"/>
          <p:cNvSpPr/>
          <p:nvPr/>
        </p:nvSpPr>
        <p:spPr>
          <a:xfrm>
            <a:off x="6409944" y="7962595"/>
            <a:ext cx="28346" cy="552298"/>
          </a:xfrm>
          <a:prstGeom prst="roundRect">
            <a:avLst>
              <a:gd name="adj" fmla="val 333709"/>
            </a:avLst>
          </a:prstGeom>
          <a:solidFill>
            <a:srgbClr val="3B82F6"/>
          </a:solidFill>
          <a:ln w="12700">
            <a:solidFill>
              <a:srgbClr val="3B82F6">
                <a:alpha val="0"/>
              </a:srgbClr>
            </a:solidFill>
            <a:prstDash val="solid"/>
          </a:ln>
        </p:spPr>
      </p:sp>
      <p:sp>
        <p:nvSpPr>
          <p:cNvPr id="117" name="Shape 94"/>
          <p:cNvSpPr/>
          <p:nvPr/>
        </p:nvSpPr>
        <p:spPr>
          <a:xfrm>
            <a:off x="6534302" y="8106156"/>
            <a:ext cx="267005" cy="267005"/>
          </a:xfrm>
          <a:prstGeom prst="ellipse">
            <a:avLst/>
          </a:prstGeom>
          <a:solidFill>
            <a:srgbClr val="3B82F6"/>
          </a:solidFill>
          <a:ln w="12700">
            <a:solidFill>
              <a:srgbClr val="FFFFFF">
                <a:alpha val="0"/>
              </a:srgbClr>
            </a:solidFill>
            <a:prstDash val="solid"/>
          </a:ln>
        </p:spPr>
      </p:sp>
      <p:sp>
        <p:nvSpPr>
          <p:cNvPr id="118" name="Text 95"/>
          <p:cNvSpPr txBox="1"/>
          <p:nvPr/>
        </p:nvSpPr>
        <p:spPr>
          <a:xfrm>
            <a:off x="6631229" y="8146390"/>
            <a:ext cx="152705" cy="191110"/>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KR" pitchFamily="34" charset="0"/>
                <a:ea typeface="Noto Sans KR" pitchFamily="34" charset="-122"/>
                <a:cs typeface="Noto Sans KR" pitchFamily="34" charset="-120"/>
              </a:rPr>
              <a:t>4</a:t>
            </a:r>
            <a:endParaRPr lang="en-US" sz="900" dirty="0"/>
          </a:p>
        </p:txBody>
      </p:sp>
      <p:sp>
        <p:nvSpPr>
          <p:cNvPr id="119" name="Text 96"/>
          <p:cNvSpPr txBox="1"/>
          <p:nvPr/>
        </p:nvSpPr>
        <p:spPr>
          <a:xfrm>
            <a:off x="6915607" y="8058607"/>
            <a:ext cx="4648810"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Base64 인코딩</a:t>
            </a:r>
            <a:endParaRPr lang="en-US" sz="900" dirty="0"/>
          </a:p>
        </p:txBody>
      </p:sp>
      <p:sp>
        <p:nvSpPr>
          <p:cNvPr id="120" name="Text 97"/>
          <p:cNvSpPr txBox="1"/>
          <p:nvPr/>
        </p:nvSpPr>
        <p:spPr>
          <a:xfrm>
            <a:off x="6915607" y="8262518"/>
            <a:ext cx="4724705"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이미지를 웹 전송 가능한 문자열로 변환</a:t>
            </a:r>
            <a:endParaRPr lang="en-US" sz="800" dirty="0"/>
          </a:p>
        </p:txBody>
      </p:sp>
    </p:spTree>
    <p:extLst>
      <p:ext uri="{BB962C8B-B14F-4D97-AF65-F5344CB8AC3E}">
        <p14:creationId xmlns:p14="http://schemas.microsoft.com/office/powerpoint/2010/main" val="490730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3814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프론트엔드 구조</a:t>
            </a:r>
            <a:endParaRPr lang="en-US" sz="2400" dirty="0"/>
          </a:p>
        </p:txBody>
      </p:sp>
      <p:sp>
        <p:nvSpPr>
          <p:cNvPr id="5" name="Text 3"/>
          <p:cNvSpPr txBox="1"/>
          <p:nvPr/>
        </p:nvSpPr>
        <p:spPr>
          <a:xfrm>
            <a:off x="476402" y="685800"/>
            <a:ext cx="3784702"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index.html + Tailwind CSS + Plotly.js 아키텍처</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390802"/>
            <a:ext cx="5477256" cy="3209544"/>
          </a:xfrm>
          <a:prstGeom prst="roundRect">
            <a:avLst>
              <a:gd name="adj" fmla="val 676"/>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90802"/>
            <a:ext cx="38405" cy="3209544"/>
          </a:xfrm>
          <a:prstGeom prst="roundRect">
            <a:avLst>
              <a:gd name="adj" fmla="val 56521"/>
            </a:avLst>
          </a:prstGeom>
          <a:solidFill>
            <a:srgbClr val="8B5CF6"/>
          </a:solidFill>
          <a:ln w="12700">
            <a:solidFill>
              <a:srgbClr val="8B5CF6">
                <a:alpha val="0"/>
              </a:srgbClr>
            </a:solidFill>
            <a:prstDash val="solid"/>
          </a:ln>
        </p:spPr>
      </p:sp>
      <p:pic>
        <p:nvPicPr>
          <p:cNvPr id="9" name="Image 1" descr="preencoded.png"/>
          <p:cNvPicPr>
            <a:picLocks noChangeAspect="1"/>
          </p:cNvPicPr>
          <p:nvPr/>
        </p:nvPicPr>
        <p:blipFill>
          <a:blip r:embed="rId4"/>
          <a:srcRect l="-775" r="-775"/>
          <a:stretch/>
        </p:blipFill>
        <p:spPr>
          <a:xfrm>
            <a:off x="724205" y="1678838"/>
            <a:ext cx="314554" cy="247802"/>
          </a:xfrm>
          <a:prstGeom prst="rect">
            <a:avLst/>
          </a:prstGeom>
        </p:spPr>
      </p:pic>
      <p:sp>
        <p:nvSpPr>
          <p:cNvPr id="10" name="Text 6"/>
          <p:cNvSpPr txBox="1"/>
          <p:nvPr/>
        </p:nvSpPr>
        <p:spPr>
          <a:xfrm>
            <a:off x="1152144" y="1657807"/>
            <a:ext cx="2004365" cy="257861"/>
          </a:xfrm>
          <a:prstGeom prst="rect">
            <a:avLst/>
          </a:prstGeom>
          <a:noFill/>
          <a:ln/>
        </p:spPr>
        <p:txBody>
          <a:bodyPr wrap="square" lIns="0" tIns="0" rIns="0" bIns="0" rtlCol="0" anchor="ctr"/>
          <a:lstStyle/>
          <a:p>
            <a:pPr marL="0" indent="0" algn="l">
              <a:buNone/>
            </a:pPr>
            <a:r>
              <a:rPr lang="en-US" sz="1300" b="1" dirty="0">
                <a:solidFill>
                  <a:srgbClr val="1A355B"/>
                </a:solidFill>
                <a:latin typeface="Noto Sans KR" pitchFamily="34" charset="0"/>
                <a:ea typeface="Noto Sans KR" pitchFamily="34" charset="-122"/>
                <a:cs typeface="Noto Sans KR" pitchFamily="34" charset="-120"/>
              </a:rPr>
              <a:t>HTML 구조 및 스타일링</a:t>
            </a:r>
            <a:endParaRPr lang="en-US" sz="1300" dirty="0"/>
          </a:p>
        </p:txBody>
      </p:sp>
      <p:sp>
        <p:nvSpPr>
          <p:cNvPr id="11" name="Shape 7"/>
          <p:cNvSpPr/>
          <p:nvPr/>
        </p:nvSpPr>
        <p:spPr>
          <a:xfrm>
            <a:off x="724205" y="2124151"/>
            <a:ext cx="5020056" cy="629107"/>
          </a:xfrm>
          <a:prstGeom prst="roundRect">
            <a:avLst>
              <a:gd name="adj" fmla="val 13214"/>
            </a:avLst>
          </a:prstGeom>
          <a:solidFill>
            <a:srgbClr val="F8FAFC"/>
          </a:solidFill>
          <a:ln w="12700">
            <a:solidFill>
              <a:srgbClr val="E2E8F0"/>
            </a:solidFill>
            <a:prstDash val="solid"/>
          </a:ln>
        </p:spPr>
      </p:sp>
      <p:pic>
        <p:nvPicPr>
          <p:cNvPr id="12" name="Image 2" descr="preencoded.png"/>
          <p:cNvPicPr>
            <a:picLocks noChangeAspect="1"/>
          </p:cNvPicPr>
          <p:nvPr/>
        </p:nvPicPr>
        <p:blipFill>
          <a:blip r:embed="rId5"/>
          <a:srcRect/>
          <a:stretch/>
        </p:blipFill>
        <p:spPr>
          <a:xfrm>
            <a:off x="938174" y="2345436"/>
            <a:ext cx="142646" cy="190195"/>
          </a:xfrm>
          <a:prstGeom prst="rect">
            <a:avLst/>
          </a:prstGeom>
        </p:spPr>
      </p:pic>
      <p:sp>
        <p:nvSpPr>
          <p:cNvPr id="13" name="Text 8"/>
          <p:cNvSpPr txBox="1"/>
          <p:nvPr/>
        </p:nvSpPr>
        <p:spPr>
          <a:xfrm>
            <a:off x="1266444" y="2247595"/>
            <a:ext cx="4448556"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index.html</a:t>
            </a:r>
            <a:endParaRPr lang="en-US" sz="1000" dirty="0"/>
          </a:p>
        </p:txBody>
      </p:sp>
      <p:sp>
        <p:nvSpPr>
          <p:cNvPr id="14" name="Text 9"/>
          <p:cNvSpPr txBox="1"/>
          <p:nvPr/>
        </p:nvSpPr>
        <p:spPr>
          <a:xfrm>
            <a:off x="1266444" y="2467051"/>
            <a:ext cx="4524451"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단일 페이지 애플리케이션(SPA) 구조</a:t>
            </a:r>
            <a:endParaRPr lang="en-US" sz="800" dirty="0"/>
          </a:p>
        </p:txBody>
      </p:sp>
      <p:sp>
        <p:nvSpPr>
          <p:cNvPr id="15" name="Shape 10"/>
          <p:cNvSpPr/>
          <p:nvPr/>
        </p:nvSpPr>
        <p:spPr>
          <a:xfrm>
            <a:off x="724205" y="2862072"/>
            <a:ext cx="5020056" cy="629107"/>
          </a:xfrm>
          <a:prstGeom prst="roundRect">
            <a:avLst>
              <a:gd name="adj" fmla="val 13214"/>
            </a:avLst>
          </a:prstGeom>
          <a:solidFill>
            <a:srgbClr val="F8FAFC"/>
          </a:solidFill>
          <a:ln w="12700">
            <a:solidFill>
              <a:srgbClr val="E2E8F0"/>
            </a:solidFill>
            <a:prstDash val="solid"/>
          </a:ln>
        </p:spPr>
      </p:sp>
      <p:pic>
        <p:nvPicPr>
          <p:cNvPr id="16" name="Image 3" descr="preencoded.png"/>
          <p:cNvPicPr>
            <a:picLocks noChangeAspect="1"/>
          </p:cNvPicPr>
          <p:nvPr/>
        </p:nvPicPr>
        <p:blipFill>
          <a:blip r:embed="rId6"/>
          <a:srcRect/>
          <a:stretch/>
        </p:blipFill>
        <p:spPr>
          <a:xfrm>
            <a:off x="938174" y="3083357"/>
            <a:ext cx="142646" cy="190195"/>
          </a:xfrm>
          <a:prstGeom prst="rect">
            <a:avLst/>
          </a:prstGeom>
        </p:spPr>
      </p:pic>
      <p:sp>
        <p:nvSpPr>
          <p:cNvPr id="17" name="Text 11"/>
          <p:cNvSpPr txBox="1"/>
          <p:nvPr/>
        </p:nvSpPr>
        <p:spPr>
          <a:xfrm>
            <a:off x="1266444" y="2986430"/>
            <a:ext cx="4448556"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Tailwind CSS</a:t>
            </a:r>
            <a:endParaRPr lang="en-US" sz="1000" dirty="0"/>
          </a:p>
        </p:txBody>
      </p:sp>
      <p:sp>
        <p:nvSpPr>
          <p:cNvPr id="18" name="Text 12"/>
          <p:cNvSpPr txBox="1"/>
          <p:nvPr/>
        </p:nvSpPr>
        <p:spPr>
          <a:xfrm>
            <a:off x="1266444" y="3204972"/>
            <a:ext cx="4524451"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유틸리티 기반 스타일링 프레임워크</a:t>
            </a:r>
            <a:endParaRPr lang="en-US" sz="800" dirty="0"/>
          </a:p>
        </p:txBody>
      </p:sp>
      <p:pic>
        <p:nvPicPr>
          <p:cNvPr id="19" name="Image 4" descr="preencoded.png"/>
          <p:cNvPicPr>
            <a:picLocks noChangeAspect="1"/>
          </p:cNvPicPr>
          <p:nvPr/>
        </p:nvPicPr>
        <p:blipFill>
          <a:blip r:embed="rId7"/>
          <a:srcRect t="-25301" b="-25301"/>
          <a:stretch/>
        </p:blipFill>
        <p:spPr>
          <a:xfrm>
            <a:off x="724205" y="3657600"/>
            <a:ext cx="75895" cy="114300"/>
          </a:xfrm>
          <a:prstGeom prst="rect">
            <a:avLst/>
          </a:prstGeom>
        </p:spPr>
      </p:pic>
      <p:sp>
        <p:nvSpPr>
          <p:cNvPr id="20" name="Text 13"/>
          <p:cNvSpPr txBox="1"/>
          <p:nvPr/>
        </p:nvSpPr>
        <p:spPr>
          <a:xfrm>
            <a:off x="895198" y="3600907"/>
            <a:ext cx="2913278"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반응형 레이아웃</a:t>
            </a:r>
            <a:r>
              <a:rPr lang="en-US" sz="900" dirty="0">
                <a:solidFill>
                  <a:srgbClr val="475569"/>
                </a:solidFill>
                <a:latin typeface="Noto Sans KR" pitchFamily="34" charset="0"/>
                <a:ea typeface="Noto Sans KR" pitchFamily="34" charset="-122"/>
                <a:cs typeface="Noto Sans KR" pitchFamily="34" charset="-120"/>
              </a:rPr>
              <a:t>: Flexbox와 Grid로 적응형 UI 구성</a:t>
            </a:r>
            <a:endParaRPr lang="en-US" sz="900" dirty="0"/>
          </a:p>
        </p:txBody>
      </p:sp>
      <p:pic>
        <p:nvPicPr>
          <p:cNvPr id="21" name="Image 5" descr="preencoded.png"/>
          <p:cNvPicPr>
            <a:picLocks noChangeAspect="1"/>
          </p:cNvPicPr>
          <p:nvPr/>
        </p:nvPicPr>
        <p:blipFill>
          <a:blip r:embed="rId7"/>
          <a:srcRect t="-25301" b="-25301"/>
          <a:stretch/>
        </p:blipFill>
        <p:spPr>
          <a:xfrm>
            <a:off x="724205" y="3924605"/>
            <a:ext cx="75895" cy="114300"/>
          </a:xfrm>
          <a:prstGeom prst="rect">
            <a:avLst/>
          </a:prstGeom>
        </p:spPr>
      </p:pic>
      <p:sp>
        <p:nvSpPr>
          <p:cNvPr id="22" name="Text 14"/>
          <p:cNvSpPr txBox="1"/>
          <p:nvPr/>
        </p:nvSpPr>
        <p:spPr>
          <a:xfrm>
            <a:off x="895198" y="3866998"/>
            <a:ext cx="2149754"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다크모드 지원</a:t>
            </a:r>
            <a:r>
              <a:rPr lang="en-US" sz="900" dirty="0">
                <a:solidFill>
                  <a:srgbClr val="475569"/>
                </a:solidFill>
                <a:latin typeface="Noto Sans KR" pitchFamily="34" charset="0"/>
                <a:ea typeface="Noto Sans KR" pitchFamily="34" charset="-122"/>
                <a:cs typeface="Noto Sans KR" pitchFamily="34" charset="-120"/>
              </a:rPr>
              <a:t>: 테마 전환 기능 내장</a:t>
            </a:r>
            <a:endParaRPr lang="en-US" sz="900" dirty="0"/>
          </a:p>
        </p:txBody>
      </p:sp>
      <p:pic>
        <p:nvPicPr>
          <p:cNvPr id="23" name="Image 6" descr="preencoded.png"/>
          <p:cNvPicPr>
            <a:picLocks noChangeAspect="1"/>
          </p:cNvPicPr>
          <p:nvPr/>
        </p:nvPicPr>
        <p:blipFill>
          <a:blip r:embed="rId8"/>
          <a:stretch>
            <a:fillRect/>
          </a:stretch>
        </p:blipFill>
        <p:spPr>
          <a:xfrm>
            <a:off x="724205" y="4134002"/>
            <a:ext cx="580644" cy="256946"/>
          </a:xfrm>
          <a:prstGeom prst="rect">
            <a:avLst/>
          </a:prstGeom>
        </p:spPr>
      </p:pic>
      <p:sp>
        <p:nvSpPr>
          <p:cNvPr id="24" name="Text 15"/>
          <p:cNvSpPr/>
          <p:nvPr/>
        </p:nvSpPr>
        <p:spPr>
          <a:xfrm>
            <a:off x="724205" y="4134002"/>
            <a:ext cx="5815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HTML5</a:t>
            </a:r>
            <a:endParaRPr lang="en-US" sz="800" dirty="0"/>
          </a:p>
        </p:txBody>
      </p:sp>
      <p:sp>
        <p:nvSpPr>
          <p:cNvPr id="25" name="Text 16"/>
          <p:cNvSpPr txBox="1"/>
          <p:nvPr/>
        </p:nvSpPr>
        <p:spPr>
          <a:xfrm>
            <a:off x="838505" y="4181551"/>
            <a:ext cx="428854"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HTML5</a:t>
            </a:r>
            <a:endParaRPr lang="en-US" sz="800" dirty="0"/>
          </a:p>
        </p:txBody>
      </p:sp>
      <p:pic>
        <p:nvPicPr>
          <p:cNvPr id="26" name="Image 7" descr="preencoded.png"/>
          <p:cNvPicPr>
            <a:picLocks noChangeAspect="1"/>
          </p:cNvPicPr>
          <p:nvPr/>
        </p:nvPicPr>
        <p:blipFill>
          <a:blip r:embed="rId9"/>
          <a:stretch>
            <a:fillRect/>
          </a:stretch>
        </p:blipFill>
        <p:spPr>
          <a:xfrm>
            <a:off x="1380744" y="4134002"/>
            <a:ext cx="886054" cy="256946"/>
          </a:xfrm>
          <a:prstGeom prst="rect">
            <a:avLst/>
          </a:prstGeom>
        </p:spPr>
      </p:pic>
      <p:sp>
        <p:nvSpPr>
          <p:cNvPr id="27" name="Text 17"/>
          <p:cNvSpPr/>
          <p:nvPr/>
        </p:nvSpPr>
        <p:spPr>
          <a:xfrm>
            <a:off x="1380744" y="4134002"/>
            <a:ext cx="8860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Tailwind CSS</a:t>
            </a:r>
            <a:endParaRPr lang="en-US" sz="800" dirty="0"/>
          </a:p>
        </p:txBody>
      </p:sp>
      <p:sp>
        <p:nvSpPr>
          <p:cNvPr id="28" name="Text 18"/>
          <p:cNvSpPr txBox="1"/>
          <p:nvPr/>
        </p:nvSpPr>
        <p:spPr>
          <a:xfrm>
            <a:off x="1495044" y="4181551"/>
            <a:ext cx="782726"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Tailwind CSS</a:t>
            </a:r>
            <a:endParaRPr lang="en-US" sz="800" dirty="0"/>
          </a:p>
        </p:txBody>
      </p:sp>
      <p:pic>
        <p:nvPicPr>
          <p:cNvPr id="29" name="Image 8" descr="preencoded.png"/>
          <p:cNvPicPr>
            <a:picLocks noChangeAspect="1"/>
          </p:cNvPicPr>
          <p:nvPr/>
        </p:nvPicPr>
        <p:blipFill>
          <a:blip r:embed="rId10"/>
          <a:stretch>
            <a:fillRect/>
          </a:stretch>
        </p:blipFill>
        <p:spPr>
          <a:xfrm>
            <a:off x="2339035" y="4134002"/>
            <a:ext cx="981151" cy="256946"/>
          </a:xfrm>
          <a:prstGeom prst="rect">
            <a:avLst/>
          </a:prstGeom>
        </p:spPr>
      </p:pic>
      <p:sp>
        <p:nvSpPr>
          <p:cNvPr id="30" name="Text 19"/>
          <p:cNvSpPr/>
          <p:nvPr/>
        </p:nvSpPr>
        <p:spPr>
          <a:xfrm>
            <a:off x="2339035" y="4134002"/>
            <a:ext cx="9811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Font Awesome</a:t>
            </a:r>
            <a:endParaRPr lang="en-US" sz="800" dirty="0"/>
          </a:p>
        </p:txBody>
      </p:sp>
      <p:sp>
        <p:nvSpPr>
          <p:cNvPr id="31" name="Text 20"/>
          <p:cNvSpPr txBox="1"/>
          <p:nvPr/>
        </p:nvSpPr>
        <p:spPr>
          <a:xfrm>
            <a:off x="2453335" y="4181551"/>
            <a:ext cx="829361"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Font Awesome</a:t>
            </a:r>
            <a:endParaRPr lang="en-US" sz="800" dirty="0"/>
          </a:p>
        </p:txBody>
      </p:sp>
      <p:sp>
        <p:nvSpPr>
          <p:cNvPr id="32" name="Shape 21"/>
          <p:cNvSpPr/>
          <p:nvPr/>
        </p:nvSpPr>
        <p:spPr>
          <a:xfrm>
            <a:off x="476402" y="4785970"/>
            <a:ext cx="5477256" cy="3209544"/>
          </a:xfrm>
          <a:prstGeom prst="roundRect">
            <a:avLst>
              <a:gd name="adj" fmla="val 676"/>
            </a:avLst>
          </a:prstGeom>
          <a:solidFill>
            <a:srgbClr val="FFFFFF"/>
          </a:solidFill>
          <a:ln/>
          <a:effectLst>
            <a:outerShdw blurRad="76200" dist="25400" dir="16200000" algn="bl" rotWithShape="0">
              <a:srgbClr val="000000">
                <a:alpha val="8000"/>
              </a:srgbClr>
            </a:outerShdw>
          </a:effectLst>
        </p:spPr>
      </p:sp>
      <p:sp>
        <p:nvSpPr>
          <p:cNvPr id="33" name="Shape 22"/>
          <p:cNvSpPr/>
          <p:nvPr/>
        </p:nvSpPr>
        <p:spPr>
          <a:xfrm>
            <a:off x="476402" y="4785970"/>
            <a:ext cx="38405" cy="3209544"/>
          </a:xfrm>
          <a:prstGeom prst="roundRect">
            <a:avLst>
              <a:gd name="adj" fmla="val 56521"/>
            </a:avLst>
          </a:prstGeom>
          <a:solidFill>
            <a:srgbClr val="8B5CF6"/>
          </a:solidFill>
          <a:ln w="12700">
            <a:solidFill>
              <a:srgbClr val="8B5CF6">
                <a:alpha val="0"/>
              </a:srgbClr>
            </a:solidFill>
            <a:prstDash val="solid"/>
          </a:ln>
        </p:spPr>
      </p:sp>
      <p:pic>
        <p:nvPicPr>
          <p:cNvPr id="34" name="Image 9" descr="preencoded.png"/>
          <p:cNvPicPr>
            <a:picLocks noChangeAspect="1"/>
          </p:cNvPicPr>
          <p:nvPr/>
        </p:nvPicPr>
        <p:blipFill>
          <a:blip r:embed="rId11"/>
          <a:srcRect/>
          <a:stretch/>
        </p:blipFill>
        <p:spPr>
          <a:xfrm>
            <a:off x="724205" y="5074006"/>
            <a:ext cx="247802" cy="247802"/>
          </a:xfrm>
          <a:prstGeom prst="rect">
            <a:avLst/>
          </a:prstGeom>
        </p:spPr>
      </p:pic>
      <p:sp>
        <p:nvSpPr>
          <p:cNvPr id="35" name="Text 23"/>
          <p:cNvSpPr txBox="1"/>
          <p:nvPr/>
        </p:nvSpPr>
        <p:spPr>
          <a:xfrm>
            <a:off x="1086307" y="5052974"/>
            <a:ext cx="1682496" cy="257861"/>
          </a:xfrm>
          <a:prstGeom prst="rect">
            <a:avLst/>
          </a:prstGeom>
          <a:noFill/>
          <a:ln/>
        </p:spPr>
        <p:txBody>
          <a:bodyPr wrap="square" lIns="0" tIns="0" rIns="0" bIns="0" rtlCol="0" anchor="ctr"/>
          <a:lstStyle/>
          <a:p>
            <a:pPr marL="0" indent="0" algn="l">
              <a:buNone/>
            </a:pPr>
            <a:r>
              <a:rPr lang="en-US" sz="1300" b="1" dirty="0">
                <a:solidFill>
                  <a:srgbClr val="1A355B"/>
                </a:solidFill>
                <a:latin typeface="Noto Sans KR" pitchFamily="34" charset="0"/>
                <a:ea typeface="Noto Sans KR" pitchFamily="34" charset="-122"/>
                <a:cs typeface="Noto Sans KR" pitchFamily="34" charset="-120"/>
              </a:rPr>
              <a:t>시각화 및 인터랙션</a:t>
            </a:r>
            <a:endParaRPr lang="en-US" sz="1300" dirty="0"/>
          </a:p>
        </p:txBody>
      </p:sp>
      <p:sp>
        <p:nvSpPr>
          <p:cNvPr id="36" name="Shape 24"/>
          <p:cNvSpPr/>
          <p:nvPr/>
        </p:nvSpPr>
        <p:spPr>
          <a:xfrm>
            <a:off x="724205" y="5519318"/>
            <a:ext cx="5020056" cy="629107"/>
          </a:xfrm>
          <a:prstGeom prst="roundRect">
            <a:avLst>
              <a:gd name="adj" fmla="val 13214"/>
            </a:avLst>
          </a:prstGeom>
          <a:solidFill>
            <a:srgbClr val="F8FAFC"/>
          </a:solidFill>
          <a:ln w="12700">
            <a:solidFill>
              <a:srgbClr val="E2E8F0"/>
            </a:solidFill>
            <a:prstDash val="solid"/>
          </a:ln>
        </p:spPr>
      </p:sp>
      <p:sp>
        <p:nvSpPr>
          <p:cNvPr id="37" name="Text 25"/>
          <p:cNvSpPr txBox="1"/>
          <p:nvPr/>
        </p:nvSpPr>
        <p:spPr>
          <a:xfrm>
            <a:off x="1266444" y="5643677"/>
            <a:ext cx="4448556"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Plotly.js 레이더 차트</a:t>
            </a:r>
            <a:endParaRPr lang="en-US" sz="1000" dirty="0"/>
          </a:p>
        </p:txBody>
      </p:sp>
      <p:sp>
        <p:nvSpPr>
          <p:cNvPr id="38" name="Text 26"/>
          <p:cNvSpPr txBox="1"/>
          <p:nvPr/>
        </p:nvSpPr>
        <p:spPr>
          <a:xfrm>
            <a:off x="1266444" y="5862218"/>
            <a:ext cx="4524451"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13축 레이더 차트로 C1-C13 클러스터 시각화</a:t>
            </a:r>
            <a:endParaRPr lang="en-US" sz="800" dirty="0"/>
          </a:p>
        </p:txBody>
      </p:sp>
      <p:sp>
        <p:nvSpPr>
          <p:cNvPr id="39" name="Shape 27"/>
          <p:cNvSpPr/>
          <p:nvPr/>
        </p:nvSpPr>
        <p:spPr>
          <a:xfrm>
            <a:off x="724205" y="6258154"/>
            <a:ext cx="5020056" cy="629107"/>
          </a:xfrm>
          <a:prstGeom prst="roundRect">
            <a:avLst>
              <a:gd name="adj" fmla="val 13214"/>
            </a:avLst>
          </a:prstGeom>
          <a:solidFill>
            <a:srgbClr val="F8FAFC"/>
          </a:solidFill>
          <a:ln w="12700">
            <a:solidFill>
              <a:srgbClr val="E2E8F0"/>
            </a:solidFill>
            <a:prstDash val="solid"/>
          </a:ln>
        </p:spPr>
      </p:sp>
      <p:pic>
        <p:nvPicPr>
          <p:cNvPr id="40" name="Image 10" descr="preencoded.png"/>
          <p:cNvPicPr>
            <a:picLocks noChangeAspect="1"/>
          </p:cNvPicPr>
          <p:nvPr/>
        </p:nvPicPr>
        <p:blipFill>
          <a:blip r:embed="rId12"/>
          <a:srcRect l="-1648" r="-1648"/>
          <a:stretch/>
        </p:blipFill>
        <p:spPr>
          <a:xfrm>
            <a:off x="923544" y="6479438"/>
            <a:ext cx="171907" cy="190195"/>
          </a:xfrm>
          <a:prstGeom prst="rect">
            <a:avLst/>
          </a:prstGeom>
        </p:spPr>
      </p:pic>
      <p:sp>
        <p:nvSpPr>
          <p:cNvPr id="41" name="Text 28"/>
          <p:cNvSpPr txBox="1"/>
          <p:nvPr/>
        </p:nvSpPr>
        <p:spPr>
          <a:xfrm>
            <a:off x="1266444" y="6381598"/>
            <a:ext cx="4448556"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Vanilla JavaScript</a:t>
            </a:r>
            <a:endParaRPr lang="en-US" sz="1000" dirty="0"/>
          </a:p>
        </p:txBody>
      </p:sp>
      <p:sp>
        <p:nvSpPr>
          <p:cNvPr id="42" name="Text 29"/>
          <p:cNvSpPr txBox="1"/>
          <p:nvPr/>
        </p:nvSpPr>
        <p:spPr>
          <a:xfrm>
            <a:off x="1266444" y="6601054"/>
            <a:ext cx="4448556"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API 호출, DOM 조작, 이벤트 처리</a:t>
            </a:r>
            <a:endParaRPr lang="en-US" sz="800" dirty="0"/>
          </a:p>
        </p:txBody>
      </p:sp>
      <p:pic>
        <p:nvPicPr>
          <p:cNvPr id="43" name="Image 11" descr="preencoded.png"/>
          <p:cNvPicPr>
            <a:picLocks noChangeAspect="1"/>
          </p:cNvPicPr>
          <p:nvPr/>
        </p:nvPicPr>
        <p:blipFill>
          <a:blip r:embed="rId7"/>
          <a:srcRect t="-25301" b="-25301"/>
          <a:stretch/>
        </p:blipFill>
        <p:spPr>
          <a:xfrm>
            <a:off x="724205" y="7053682"/>
            <a:ext cx="75895" cy="114300"/>
          </a:xfrm>
          <a:prstGeom prst="rect">
            <a:avLst/>
          </a:prstGeom>
        </p:spPr>
      </p:pic>
      <p:sp>
        <p:nvSpPr>
          <p:cNvPr id="44" name="Text 30"/>
          <p:cNvSpPr txBox="1"/>
          <p:nvPr/>
        </p:nvSpPr>
        <p:spPr>
          <a:xfrm>
            <a:off x="895198" y="6996074"/>
            <a:ext cx="315376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실시간 업데이트</a:t>
            </a:r>
            <a:r>
              <a:rPr lang="en-US" sz="900" dirty="0">
                <a:solidFill>
                  <a:srgbClr val="475569"/>
                </a:solidFill>
                <a:latin typeface="Noto Sans KR" pitchFamily="34" charset="0"/>
                <a:ea typeface="Noto Sans KR" pitchFamily="34" charset="-122"/>
                <a:cs typeface="Noto Sans KR" pitchFamily="34" charset="-120"/>
              </a:rPr>
              <a:t>: Fetch API로 백엔드와 비동기 통신</a:t>
            </a:r>
            <a:endParaRPr lang="en-US" sz="900" dirty="0"/>
          </a:p>
        </p:txBody>
      </p:sp>
      <p:pic>
        <p:nvPicPr>
          <p:cNvPr id="45" name="Image 12" descr="preencoded.png"/>
          <p:cNvPicPr>
            <a:picLocks noChangeAspect="1"/>
          </p:cNvPicPr>
          <p:nvPr/>
        </p:nvPicPr>
        <p:blipFill>
          <a:blip r:embed="rId7"/>
          <a:srcRect t="-25301" b="-25301"/>
          <a:stretch/>
        </p:blipFill>
        <p:spPr>
          <a:xfrm>
            <a:off x="724205" y="7319772"/>
            <a:ext cx="75895" cy="114300"/>
          </a:xfrm>
          <a:prstGeom prst="rect">
            <a:avLst/>
          </a:prstGeom>
        </p:spPr>
      </p:pic>
      <p:sp>
        <p:nvSpPr>
          <p:cNvPr id="46" name="Text 31"/>
          <p:cNvSpPr txBox="1"/>
          <p:nvPr/>
        </p:nvSpPr>
        <p:spPr>
          <a:xfrm>
            <a:off x="895198" y="7263079"/>
            <a:ext cx="3001061"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인터랙티브 툴팁</a:t>
            </a:r>
            <a:r>
              <a:rPr lang="en-US" sz="900" dirty="0">
                <a:solidFill>
                  <a:srgbClr val="475569"/>
                </a:solidFill>
                <a:latin typeface="Noto Sans KR" pitchFamily="34" charset="0"/>
                <a:ea typeface="Noto Sans KR" pitchFamily="34" charset="-122"/>
                <a:cs typeface="Noto Sans KR" pitchFamily="34" charset="-120"/>
              </a:rPr>
              <a:t>: 호버 시 클러스터 상세 정보 표시</a:t>
            </a:r>
            <a:endParaRPr lang="en-US" sz="900" dirty="0"/>
          </a:p>
        </p:txBody>
      </p:sp>
      <p:pic>
        <p:nvPicPr>
          <p:cNvPr id="47" name="Image 13" descr="preencoded.png"/>
          <p:cNvPicPr>
            <a:picLocks noChangeAspect="1"/>
          </p:cNvPicPr>
          <p:nvPr/>
        </p:nvPicPr>
        <p:blipFill>
          <a:blip r:embed="rId13"/>
          <a:stretch>
            <a:fillRect/>
          </a:stretch>
        </p:blipFill>
        <p:spPr>
          <a:xfrm>
            <a:off x="724205" y="7529170"/>
            <a:ext cx="647395" cy="256946"/>
          </a:xfrm>
          <a:prstGeom prst="rect">
            <a:avLst/>
          </a:prstGeom>
        </p:spPr>
      </p:pic>
      <p:sp>
        <p:nvSpPr>
          <p:cNvPr id="48" name="Text 32"/>
          <p:cNvSpPr/>
          <p:nvPr/>
        </p:nvSpPr>
        <p:spPr>
          <a:xfrm>
            <a:off x="724205" y="7529170"/>
            <a:ext cx="64831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Plotly.js</a:t>
            </a:r>
            <a:endParaRPr lang="en-US" sz="800" dirty="0"/>
          </a:p>
        </p:txBody>
      </p:sp>
      <p:sp>
        <p:nvSpPr>
          <p:cNvPr id="49" name="Text 33"/>
          <p:cNvSpPr txBox="1"/>
          <p:nvPr/>
        </p:nvSpPr>
        <p:spPr>
          <a:xfrm>
            <a:off x="838505" y="7576718"/>
            <a:ext cx="499262"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Plotly.js</a:t>
            </a:r>
            <a:endParaRPr lang="en-US" sz="800" dirty="0"/>
          </a:p>
        </p:txBody>
      </p:sp>
      <p:pic>
        <p:nvPicPr>
          <p:cNvPr id="50" name="Image 14" descr="preencoded.png"/>
          <p:cNvPicPr>
            <a:picLocks noChangeAspect="1"/>
          </p:cNvPicPr>
          <p:nvPr/>
        </p:nvPicPr>
        <p:blipFill>
          <a:blip r:embed="rId14"/>
          <a:stretch>
            <a:fillRect/>
          </a:stretch>
        </p:blipFill>
        <p:spPr>
          <a:xfrm>
            <a:off x="1440180" y="7529170"/>
            <a:ext cx="705002" cy="256946"/>
          </a:xfrm>
          <a:prstGeom prst="rect">
            <a:avLst/>
          </a:prstGeom>
        </p:spPr>
      </p:pic>
      <p:sp>
        <p:nvSpPr>
          <p:cNvPr id="51" name="Text 34"/>
          <p:cNvSpPr/>
          <p:nvPr/>
        </p:nvSpPr>
        <p:spPr>
          <a:xfrm>
            <a:off x="1440180" y="7529170"/>
            <a:ext cx="7050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Fetch API</a:t>
            </a:r>
            <a:endParaRPr lang="en-US" sz="800" dirty="0"/>
          </a:p>
        </p:txBody>
      </p:sp>
      <p:sp>
        <p:nvSpPr>
          <p:cNvPr id="52" name="Text 35"/>
          <p:cNvSpPr txBox="1"/>
          <p:nvPr/>
        </p:nvSpPr>
        <p:spPr>
          <a:xfrm>
            <a:off x="1554480" y="7576718"/>
            <a:ext cx="566928"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Fetch API</a:t>
            </a:r>
            <a:endParaRPr lang="en-US" sz="800" dirty="0"/>
          </a:p>
        </p:txBody>
      </p:sp>
      <p:pic>
        <p:nvPicPr>
          <p:cNvPr id="53" name="Image 15" descr="preencoded.png"/>
          <p:cNvPicPr>
            <a:picLocks noChangeAspect="1"/>
          </p:cNvPicPr>
          <p:nvPr/>
        </p:nvPicPr>
        <p:blipFill>
          <a:blip r:embed="rId15"/>
          <a:stretch>
            <a:fillRect/>
          </a:stretch>
        </p:blipFill>
        <p:spPr>
          <a:xfrm>
            <a:off x="2220163" y="7529170"/>
            <a:ext cx="485546" cy="256946"/>
          </a:xfrm>
          <a:prstGeom prst="rect">
            <a:avLst/>
          </a:prstGeom>
        </p:spPr>
      </p:pic>
      <p:sp>
        <p:nvSpPr>
          <p:cNvPr id="54" name="Text 36"/>
          <p:cNvSpPr/>
          <p:nvPr/>
        </p:nvSpPr>
        <p:spPr>
          <a:xfrm>
            <a:off x="2220163" y="7529170"/>
            <a:ext cx="4864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ES6+</a:t>
            </a:r>
            <a:endParaRPr lang="en-US" sz="800" dirty="0"/>
          </a:p>
        </p:txBody>
      </p:sp>
      <p:sp>
        <p:nvSpPr>
          <p:cNvPr id="55" name="Text 37"/>
          <p:cNvSpPr txBox="1"/>
          <p:nvPr/>
        </p:nvSpPr>
        <p:spPr>
          <a:xfrm>
            <a:off x="2334463" y="7576718"/>
            <a:ext cx="333756"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ES6+</a:t>
            </a:r>
            <a:endParaRPr lang="en-US" sz="800" dirty="0"/>
          </a:p>
        </p:txBody>
      </p:sp>
      <p:sp>
        <p:nvSpPr>
          <p:cNvPr id="56" name="Shape 38"/>
          <p:cNvSpPr/>
          <p:nvPr/>
        </p:nvSpPr>
        <p:spPr>
          <a:xfrm>
            <a:off x="6238951" y="1390802"/>
            <a:ext cx="5477256" cy="6601054"/>
          </a:xfrm>
          <a:prstGeom prst="roundRect">
            <a:avLst>
              <a:gd name="adj" fmla="val 232"/>
            </a:avLst>
          </a:prstGeom>
          <a:solidFill>
            <a:srgbClr val="FFFFFF"/>
          </a:solidFill>
          <a:ln/>
          <a:effectLst>
            <a:outerShdw blurRad="76200" dist="25400" dir="16200000" algn="bl" rotWithShape="0">
              <a:srgbClr val="000000">
                <a:alpha val="8000"/>
              </a:srgbClr>
            </a:outerShdw>
          </a:effectLst>
        </p:spPr>
      </p:sp>
      <p:sp>
        <p:nvSpPr>
          <p:cNvPr id="57" name="Shape 39"/>
          <p:cNvSpPr/>
          <p:nvPr/>
        </p:nvSpPr>
        <p:spPr>
          <a:xfrm>
            <a:off x="6238951" y="1390802"/>
            <a:ext cx="5477256" cy="28346"/>
          </a:xfrm>
          <a:prstGeom prst="roundRect">
            <a:avLst>
              <a:gd name="adj" fmla="val 44881"/>
            </a:avLst>
          </a:prstGeom>
          <a:solidFill>
            <a:srgbClr val="1A355B"/>
          </a:solidFill>
          <a:ln w="12700">
            <a:solidFill>
              <a:srgbClr val="1A355B">
                <a:alpha val="0"/>
              </a:srgbClr>
            </a:solidFill>
            <a:prstDash val="solid"/>
          </a:ln>
        </p:spPr>
      </p:sp>
      <p:sp>
        <p:nvSpPr>
          <p:cNvPr id="58" name="Text 40"/>
          <p:cNvSpPr txBox="1"/>
          <p:nvPr/>
        </p:nvSpPr>
        <p:spPr>
          <a:xfrm>
            <a:off x="7809890" y="1609344"/>
            <a:ext cx="3906317" cy="247802"/>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UI 컴포넌트 구조</a:t>
            </a:r>
            <a:endParaRPr lang="en-US" sz="1200" dirty="0"/>
          </a:p>
        </p:txBody>
      </p:sp>
      <p:pic>
        <p:nvPicPr>
          <p:cNvPr id="59" name="Image 16" descr="preencoded.png"/>
          <p:cNvPicPr>
            <a:picLocks noChangeAspect="1"/>
          </p:cNvPicPr>
          <p:nvPr/>
        </p:nvPicPr>
        <p:blipFill>
          <a:blip r:embed="rId16"/>
          <a:stretch>
            <a:fillRect/>
          </a:stretch>
        </p:blipFill>
        <p:spPr>
          <a:xfrm>
            <a:off x="9019642" y="1638605"/>
            <a:ext cx="1133856" cy="219456"/>
          </a:xfrm>
          <a:prstGeom prst="rect">
            <a:avLst/>
          </a:prstGeom>
        </p:spPr>
      </p:pic>
      <p:sp>
        <p:nvSpPr>
          <p:cNvPr id="60" name="Text 41"/>
          <p:cNvSpPr/>
          <p:nvPr/>
        </p:nvSpPr>
        <p:spPr>
          <a:xfrm>
            <a:off x="9019642" y="1638605"/>
            <a:ext cx="1133856"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3 Layer Architecture</a:t>
            </a:r>
            <a:endParaRPr lang="en-US" sz="800" dirty="0"/>
          </a:p>
        </p:txBody>
      </p:sp>
      <p:sp>
        <p:nvSpPr>
          <p:cNvPr id="61" name="Shape 42"/>
          <p:cNvSpPr/>
          <p:nvPr/>
        </p:nvSpPr>
        <p:spPr>
          <a:xfrm>
            <a:off x="6524244" y="2085746"/>
            <a:ext cx="4905756" cy="1371600"/>
          </a:xfrm>
          <a:prstGeom prst="roundRect">
            <a:avLst>
              <a:gd name="adj" fmla="val 2778"/>
            </a:avLst>
          </a:prstGeom>
          <a:solidFill>
            <a:srgbClr val="EFF6FF"/>
          </a:solidFill>
          <a:ln w="25400">
            <a:solidFill>
              <a:srgbClr val="3B82F6"/>
            </a:solidFill>
            <a:prstDash val="solid"/>
          </a:ln>
        </p:spPr>
      </p:sp>
      <p:pic>
        <p:nvPicPr>
          <p:cNvPr id="62" name="Image 17" descr="preencoded.png"/>
          <p:cNvPicPr>
            <a:picLocks noChangeAspect="1"/>
          </p:cNvPicPr>
          <p:nvPr/>
        </p:nvPicPr>
        <p:blipFill>
          <a:blip r:embed="rId17"/>
          <a:srcRect t="-842" b="-842"/>
          <a:stretch/>
        </p:blipFill>
        <p:spPr>
          <a:xfrm>
            <a:off x="6657746" y="2269541"/>
            <a:ext cx="190195" cy="171907"/>
          </a:xfrm>
          <a:prstGeom prst="rect">
            <a:avLst/>
          </a:prstGeom>
        </p:spPr>
      </p:pic>
      <p:sp>
        <p:nvSpPr>
          <p:cNvPr id="63" name="Text 43"/>
          <p:cNvSpPr txBox="1"/>
          <p:nvPr/>
        </p:nvSpPr>
        <p:spPr>
          <a:xfrm>
            <a:off x="6943954" y="2247595"/>
            <a:ext cx="1848002"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입력 레이어 (Input Layer)</a:t>
            </a:r>
            <a:endParaRPr lang="en-US" sz="1000" dirty="0"/>
          </a:p>
        </p:txBody>
      </p:sp>
      <p:sp>
        <p:nvSpPr>
          <p:cNvPr id="64" name="Shape 44"/>
          <p:cNvSpPr/>
          <p:nvPr/>
        </p:nvSpPr>
        <p:spPr>
          <a:xfrm>
            <a:off x="6657746" y="2609698"/>
            <a:ext cx="2295144" cy="333756"/>
          </a:xfrm>
          <a:prstGeom prst="roundRect">
            <a:avLst>
              <a:gd name="adj" fmla="val 31311"/>
            </a:avLst>
          </a:prstGeom>
          <a:solidFill>
            <a:srgbClr val="FFFFFF"/>
          </a:solidFill>
          <a:ln w="12700">
            <a:solidFill>
              <a:srgbClr val="CBD5E1"/>
            </a:solidFill>
            <a:prstDash val="solid"/>
          </a:ln>
        </p:spPr>
      </p:sp>
      <p:sp>
        <p:nvSpPr>
          <p:cNvPr id="65" name="Text 45"/>
          <p:cNvSpPr txBox="1"/>
          <p:nvPr/>
        </p:nvSpPr>
        <p:spPr>
          <a:xfrm>
            <a:off x="6762902" y="2695651"/>
            <a:ext cx="2169871"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SMILES 텍스트 입력창</a:t>
            </a:r>
            <a:endParaRPr lang="en-US" sz="800" dirty="0"/>
          </a:p>
        </p:txBody>
      </p:sp>
      <p:sp>
        <p:nvSpPr>
          <p:cNvPr id="66" name="Shape 46"/>
          <p:cNvSpPr/>
          <p:nvPr/>
        </p:nvSpPr>
        <p:spPr>
          <a:xfrm>
            <a:off x="9005926" y="2609698"/>
            <a:ext cx="2295144" cy="333756"/>
          </a:xfrm>
          <a:prstGeom prst="roundRect">
            <a:avLst>
              <a:gd name="adj" fmla="val 31311"/>
            </a:avLst>
          </a:prstGeom>
          <a:solidFill>
            <a:srgbClr val="FFFFFF"/>
          </a:solidFill>
          <a:ln w="12700">
            <a:solidFill>
              <a:srgbClr val="CBD5E1"/>
            </a:solidFill>
            <a:prstDash val="solid"/>
          </a:ln>
        </p:spPr>
      </p:sp>
      <p:sp>
        <p:nvSpPr>
          <p:cNvPr id="67" name="Text 47"/>
          <p:cNvSpPr txBox="1"/>
          <p:nvPr/>
        </p:nvSpPr>
        <p:spPr>
          <a:xfrm>
            <a:off x="9111082" y="2695651"/>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예측 실행 버튼</a:t>
            </a:r>
            <a:endParaRPr lang="en-US" sz="800" dirty="0"/>
          </a:p>
        </p:txBody>
      </p:sp>
      <p:sp>
        <p:nvSpPr>
          <p:cNvPr id="68" name="Shape 48"/>
          <p:cNvSpPr/>
          <p:nvPr/>
        </p:nvSpPr>
        <p:spPr>
          <a:xfrm>
            <a:off x="6657746" y="2995574"/>
            <a:ext cx="2295144" cy="333756"/>
          </a:xfrm>
          <a:prstGeom prst="roundRect">
            <a:avLst>
              <a:gd name="adj" fmla="val 31311"/>
            </a:avLst>
          </a:prstGeom>
          <a:solidFill>
            <a:srgbClr val="FFFFFF"/>
          </a:solidFill>
          <a:ln w="12700">
            <a:solidFill>
              <a:srgbClr val="CBD5E1"/>
            </a:solidFill>
            <a:prstDash val="solid"/>
          </a:ln>
        </p:spPr>
      </p:sp>
      <p:sp>
        <p:nvSpPr>
          <p:cNvPr id="69" name="Text 49"/>
          <p:cNvSpPr txBox="1"/>
          <p:nvPr/>
        </p:nvSpPr>
        <p:spPr>
          <a:xfrm>
            <a:off x="6762902" y="3081528"/>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CSV 업로드 인터페이스</a:t>
            </a:r>
            <a:endParaRPr lang="en-US" sz="800" dirty="0"/>
          </a:p>
        </p:txBody>
      </p:sp>
      <p:sp>
        <p:nvSpPr>
          <p:cNvPr id="70" name="Shape 50"/>
          <p:cNvSpPr/>
          <p:nvPr/>
        </p:nvSpPr>
        <p:spPr>
          <a:xfrm>
            <a:off x="9005926" y="2995574"/>
            <a:ext cx="2295144" cy="333756"/>
          </a:xfrm>
          <a:prstGeom prst="roundRect">
            <a:avLst>
              <a:gd name="adj" fmla="val 31311"/>
            </a:avLst>
          </a:prstGeom>
          <a:solidFill>
            <a:srgbClr val="FFFFFF"/>
          </a:solidFill>
          <a:ln w="12700">
            <a:solidFill>
              <a:srgbClr val="CBD5E1"/>
            </a:solidFill>
            <a:prstDash val="solid"/>
          </a:ln>
        </p:spPr>
      </p:sp>
      <p:sp>
        <p:nvSpPr>
          <p:cNvPr id="71" name="Text 51"/>
          <p:cNvSpPr txBox="1"/>
          <p:nvPr/>
        </p:nvSpPr>
        <p:spPr>
          <a:xfrm>
            <a:off x="9111082" y="3081528"/>
            <a:ext cx="2169871"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예시 SMILES 선택</a:t>
            </a:r>
            <a:endParaRPr lang="en-US" sz="800" dirty="0"/>
          </a:p>
        </p:txBody>
      </p:sp>
      <p:sp>
        <p:nvSpPr>
          <p:cNvPr id="72" name="Shape 52"/>
          <p:cNvSpPr/>
          <p:nvPr/>
        </p:nvSpPr>
        <p:spPr>
          <a:xfrm>
            <a:off x="6524244" y="3571646"/>
            <a:ext cx="4905756" cy="1762049"/>
          </a:xfrm>
          <a:prstGeom prst="roundRect">
            <a:avLst>
              <a:gd name="adj" fmla="val 1683"/>
            </a:avLst>
          </a:prstGeom>
          <a:solidFill>
            <a:srgbClr val="ECFDF5"/>
          </a:solidFill>
          <a:ln w="25400">
            <a:solidFill>
              <a:srgbClr val="10B981"/>
            </a:solidFill>
            <a:prstDash val="solid"/>
          </a:ln>
        </p:spPr>
      </p:sp>
      <p:pic>
        <p:nvPicPr>
          <p:cNvPr id="73" name="Image 18" descr="preencoded.png"/>
          <p:cNvPicPr>
            <a:picLocks noChangeAspect="1"/>
          </p:cNvPicPr>
          <p:nvPr/>
        </p:nvPicPr>
        <p:blipFill>
          <a:blip r:embed="rId18"/>
          <a:srcRect t="-842" b="-842"/>
          <a:stretch/>
        </p:blipFill>
        <p:spPr>
          <a:xfrm>
            <a:off x="6657746" y="3755441"/>
            <a:ext cx="190195" cy="171907"/>
          </a:xfrm>
          <a:prstGeom prst="rect">
            <a:avLst/>
          </a:prstGeom>
        </p:spPr>
      </p:pic>
      <p:sp>
        <p:nvSpPr>
          <p:cNvPr id="74" name="Text 53"/>
          <p:cNvSpPr txBox="1"/>
          <p:nvPr/>
        </p:nvSpPr>
        <p:spPr>
          <a:xfrm>
            <a:off x="6943954" y="3733495"/>
            <a:ext cx="2007108"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표시 레이어 (Display Layer)</a:t>
            </a:r>
            <a:endParaRPr lang="en-US" sz="1000" dirty="0"/>
          </a:p>
        </p:txBody>
      </p:sp>
      <p:sp>
        <p:nvSpPr>
          <p:cNvPr id="75" name="Shape 54"/>
          <p:cNvSpPr/>
          <p:nvPr/>
        </p:nvSpPr>
        <p:spPr>
          <a:xfrm>
            <a:off x="6657746" y="4095598"/>
            <a:ext cx="2295144" cy="333756"/>
          </a:xfrm>
          <a:prstGeom prst="roundRect">
            <a:avLst>
              <a:gd name="adj" fmla="val 31311"/>
            </a:avLst>
          </a:prstGeom>
          <a:solidFill>
            <a:srgbClr val="FFFFFF"/>
          </a:solidFill>
          <a:ln w="12700">
            <a:solidFill>
              <a:srgbClr val="CBD5E1"/>
            </a:solidFill>
            <a:prstDash val="solid"/>
          </a:ln>
        </p:spPr>
      </p:sp>
      <p:sp>
        <p:nvSpPr>
          <p:cNvPr id="76" name="Text 55"/>
          <p:cNvSpPr txBox="1"/>
          <p:nvPr/>
        </p:nvSpPr>
        <p:spPr>
          <a:xfrm>
            <a:off x="6762902" y="4181551"/>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분자 구조 2D 렌더링</a:t>
            </a:r>
            <a:endParaRPr lang="en-US" sz="800" dirty="0"/>
          </a:p>
        </p:txBody>
      </p:sp>
      <p:sp>
        <p:nvSpPr>
          <p:cNvPr id="77" name="Shape 56"/>
          <p:cNvSpPr/>
          <p:nvPr/>
        </p:nvSpPr>
        <p:spPr>
          <a:xfrm>
            <a:off x="9005926" y="4095598"/>
            <a:ext cx="2295144" cy="333756"/>
          </a:xfrm>
          <a:prstGeom prst="roundRect">
            <a:avLst>
              <a:gd name="adj" fmla="val 31311"/>
            </a:avLst>
          </a:prstGeom>
          <a:solidFill>
            <a:srgbClr val="FFFFFF"/>
          </a:solidFill>
          <a:ln w="12700">
            <a:solidFill>
              <a:srgbClr val="CBD5E1"/>
            </a:solidFill>
            <a:prstDash val="solid"/>
          </a:ln>
        </p:spPr>
      </p:sp>
      <p:sp>
        <p:nvSpPr>
          <p:cNvPr id="78" name="Text 57"/>
          <p:cNvSpPr txBox="1"/>
          <p:nvPr/>
        </p:nvSpPr>
        <p:spPr>
          <a:xfrm>
            <a:off x="9111082" y="4181551"/>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13축 레이더 차트</a:t>
            </a:r>
            <a:endParaRPr lang="en-US" sz="800" dirty="0"/>
          </a:p>
        </p:txBody>
      </p:sp>
      <p:sp>
        <p:nvSpPr>
          <p:cNvPr id="79" name="Shape 58"/>
          <p:cNvSpPr/>
          <p:nvPr/>
        </p:nvSpPr>
        <p:spPr>
          <a:xfrm>
            <a:off x="6657746" y="4481474"/>
            <a:ext cx="2295144" cy="333756"/>
          </a:xfrm>
          <a:prstGeom prst="roundRect">
            <a:avLst>
              <a:gd name="adj" fmla="val 31311"/>
            </a:avLst>
          </a:prstGeom>
          <a:solidFill>
            <a:srgbClr val="FFFFFF"/>
          </a:solidFill>
          <a:ln w="12700">
            <a:solidFill>
              <a:srgbClr val="CBD5E1"/>
            </a:solidFill>
            <a:prstDash val="solid"/>
          </a:ln>
        </p:spPr>
      </p:sp>
      <p:sp>
        <p:nvSpPr>
          <p:cNvPr id="80" name="Text 59"/>
          <p:cNvSpPr txBox="1"/>
          <p:nvPr/>
        </p:nvSpPr>
        <p:spPr>
          <a:xfrm>
            <a:off x="6762902" y="4567428"/>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약물성 지표 테이블</a:t>
            </a:r>
            <a:endParaRPr lang="en-US" sz="800" dirty="0"/>
          </a:p>
        </p:txBody>
      </p:sp>
      <p:sp>
        <p:nvSpPr>
          <p:cNvPr id="81" name="Shape 60"/>
          <p:cNvSpPr/>
          <p:nvPr/>
        </p:nvSpPr>
        <p:spPr>
          <a:xfrm>
            <a:off x="9005926" y="4481474"/>
            <a:ext cx="2295144" cy="333756"/>
          </a:xfrm>
          <a:prstGeom prst="roundRect">
            <a:avLst>
              <a:gd name="adj" fmla="val 31311"/>
            </a:avLst>
          </a:prstGeom>
          <a:solidFill>
            <a:srgbClr val="FFFFFF"/>
          </a:solidFill>
          <a:ln w="12700">
            <a:solidFill>
              <a:srgbClr val="CBD5E1"/>
            </a:solidFill>
            <a:prstDash val="solid"/>
          </a:ln>
        </p:spPr>
      </p:sp>
      <p:sp>
        <p:nvSpPr>
          <p:cNvPr id="82" name="Text 61"/>
          <p:cNvSpPr txBox="1"/>
          <p:nvPr/>
        </p:nvSpPr>
        <p:spPr>
          <a:xfrm>
            <a:off x="9111082" y="4567428"/>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클러스터별 확률 값</a:t>
            </a:r>
            <a:endParaRPr lang="en-US" sz="800" dirty="0"/>
          </a:p>
        </p:txBody>
      </p:sp>
      <p:sp>
        <p:nvSpPr>
          <p:cNvPr id="83" name="Shape 62"/>
          <p:cNvSpPr/>
          <p:nvPr/>
        </p:nvSpPr>
        <p:spPr>
          <a:xfrm>
            <a:off x="6657746" y="4867351"/>
            <a:ext cx="2295144" cy="333756"/>
          </a:xfrm>
          <a:prstGeom prst="roundRect">
            <a:avLst>
              <a:gd name="adj" fmla="val 31311"/>
            </a:avLst>
          </a:prstGeom>
          <a:solidFill>
            <a:srgbClr val="FFFFFF"/>
          </a:solidFill>
          <a:ln w="12700">
            <a:solidFill>
              <a:srgbClr val="CBD5E1"/>
            </a:solidFill>
            <a:prstDash val="solid"/>
          </a:ln>
        </p:spPr>
      </p:sp>
      <p:sp>
        <p:nvSpPr>
          <p:cNvPr id="84" name="Text 63"/>
          <p:cNvSpPr txBox="1"/>
          <p:nvPr/>
        </p:nvSpPr>
        <p:spPr>
          <a:xfrm>
            <a:off x="6762902" y="4953305"/>
            <a:ext cx="2169871"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COG 기능 설명 패널</a:t>
            </a:r>
            <a:endParaRPr lang="en-US" sz="800" dirty="0"/>
          </a:p>
        </p:txBody>
      </p:sp>
      <p:sp>
        <p:nvSpPr>
          <p:cNvPr id="85" name="Shape 64"/>
          <p:cNvSpPr/>
          <p:nvPr/>
        </p:nvSpPr>
        <p:spPr>
          <a:xfrm>
            <a:off x="9005926" y="4867351"/>
            <a:ext cx="2295144" cy="333756"/>
          </a:xfrm>
          <a:prstGeom prst="roundRect">
            <a:avLst>
              <a:gd name="adj" fmla="val 31311"/>
            </a:avLst>
          </a:prstGeom>
          <a:solidFill>
            <a:srgbClr val="FFFFFF"/>
          </a:solidFill>
          <a:ln w="12700">
            <a:solidFill>
              <a:srgbClr val="CBD5E1"/>
            </a:solidFill>
            <a:prstDash val="solid"/>
          </a:ln>
        </p:spPr>
      </p:sp>
      <p:sp>
        <p:nvSpPr>
          <p:cNvPr id="86" name="Text 65"/>
          <p:cNvSpPr txBox="1"/>
          <p:nvPr/>
        </p:nvSpPr>
        <p:spPr>
          <a:xfrm>
            <a:off x="9111082" y="4953305"/>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로딩 스피너</a:t>
            </a:r>
            <a:endParaRPr lang="en-US" sz="800" dirty="0"/>
          </a:p>
        </p:txBody>
      </p:sp>
      <p:sp>
        <p:nvSpPr>
          <p:cNvPr id="87" name="Shape 66"/>
          <p:cNvSpPr/>
          <p:nvPr/>
        </p:nvSpPr>
        <p:spPr>
          <a:xfrm>
            <a:off x="6524244" y="5443423"/>
            <a:ext cx="4905756" cy="1371600"/>
          </a:xfrm>
          <a:prstGeom prst="roundRect">
            <a:avLst>
              <a:gd name="adj" fmla="val 2778"/>
            </a:avLst>
          </a:prstGeom>
          <a:solidFill>
            <a:srgbClr val="FFFBEB"/>
          </a:solidFill>
          <a:ln w="25400">
            <a:solidFill>
              <a:srgbClr val="F59E0B"/>
            </a:solidFill>
            <a:prstDash val="solid"/>
          </a:ln>
        </p:spPr>
      </p:sp>
      <p:pic>
        <p:nvPicPr>
          <p:cNvPr id="88" name="Image 19" descr="preencoded.png"/>
          <p:cNvPicPr>
            <a:picLocks noChangeAspect="1"/>
          </p:cNvPicPr>
          <p:nvPr/>
        </p:nvPicPr>
        <p:blipFill>
          <a:blip r:embed="rId19"/>
          <a:srcRect t="-1087" b="-1087"/>
          <a:stretch/>
        </p:blipFill>
        <p:spPr>
          <a:xfrm>
            <a:off x="6657746" y="5627218"/>
            <a:ext cx="105156" cy="171907"/>
          </a:xfrm>
          <a:prstGeom prst="rect">
            <a:avLst/>
          </a:prstGeom>
        </p:spPr>
      </p:pic>
      <p:sp>
        <p:nvSpPr>
          <p:cNvPr id="89" name="Text 67"/>
          <p:cNvSpPr txBox="1"/>
          <p:nvPr/>
        </p:nvSpPr>
        <p:spPr>
          <a:xfrm>
            <a:off x="6858000" y="5605272"/>
            <a:ext cx="1927555" cy="200254"/>
          </a:xfrm>
          <a:prstGeom prst="rect">
            <a:avLst/>
          </a:prstGeom>
          <a:noFill/>
          <a:ln/>
        </p:spPr>
        <p:txBody>
          <a:bodyPr wrap="square" lIns="0" tIns="0" rIns="0" bIns="0" rtlCol="0" anchor="ctr"/>
          <a:lstStyle/>
          <a:p>
            <a:pPr marL="0" indent="0" algn="l">
              <a:buNone/>
            </a:pPr>
            <a:r>
              <a:rPr lang="en-US" sz="1000" b="1" dirty="0">
                <a:solidFill>
                  <a:srgbClr val="1E293B"/>
                </a:solidFill>
                <a:latin typeface="Noto Sans KR" pitchFamily="34" charset="0"/>
                <a:ea typeface="Noto Sans KR" pitchFamily="34" charset="-122"/>
                <a:cs typeface="Noto Sans KR" pitchFamily="34" charset="-120"/>
              </a:rPr>
              <a:t>액션 레이어 (Action Layer)</a:t>
            </a:r>
            <a:endParaRPr lang="en-US" sz="1000" dirty="0"/>
          </a:p>
        </p:txBody>
      </p:sp>
      <p:sp>
        <p:nvSpPr>
          <p:cNvPr id="90" name="Shape 68"/>
          <p:cNvSpPr/>
          <p:nvPr/>
        </p:nvSpPr>
        <p:spPr>
          <a:xfrm>
            <a:off x="6657746" y="5967374"/>
            <a:ext cx="2295144" cy="333756"/>
          </a:xfrm>
          <a:prstGeom prst="roundRect">
            <a:avLst>
              <a:gd name="adj" fmla="val 31311"/>
            </a:avLst>
          </a:prstGeom>
          <a:solidFill>
            <a:srgbClr val="FFFFFF"/>
          </a:solidFill>
          <a:ln w="12700">
            <a:solidFill>
              <a:srgbClr val="CBD5E1"/>
            </a:solidFill>
            <a:prstDash val="solid"/>
          </a:ln>
        </p:spPr>
      </p:sp>
      <p:sp>
        <p:nvSpPr>
          <p:cNvPr id="91" name="Text 69"/>
          <p:cNvSpPr txBox="1"/>
          <p:nvPr/>
        </p:nvSpPr>
        <p:spPr>
          <a:xfrm>
            <a:off x="6762902" y="6053328"/>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차트 PNG 내보내기</a:t>
            </a:r>
            <a:endParaRPr lang="en-US" sz="800" dirty="0"/>
          </a:p>
        </p:txBody>
      </p:sp>
      <p:sp>
        <p:nvSpPr>
          <p:cNvPr id="92" name="Shape 70"/>
          <p:cNvSpPr/>
          <p:nvPr/>
        </p:nvSpPr>
        <p:spPr>
          <a:xfrm>
            <a:off x="9005926" y="5967374"/>
            <a:ext cx="2295144" cy="333756"/>
          </a:xfrm>
          <a:prstGeom prst="roundRect">
            <a:avLst>
              <a:gd name="adj" fmla="val 31311"/>
            </a:avLst>
          </a:prstGeom>
          <a:solidFill>
            <a:srgbClr val="FFFFFF"/>
          </a:solidFill>
          <a:ln w="12700">
            <a:solidFill>
              <a:srgbClr val="CBD5E1"/>
            </a:solidFill>
            <a:prstDash val="solid"/>
          </a:ln>
        </p:spPr>
      </p:sp>
      <p:sp>
        <p:nvSpPr>
          <p:cNvPr id="93" name="Text 71"/>
          <p:cNvSpPr txBox="1"/>
          <p:nvPr/>
        </p:nvSpPr>
        <p:spPr>
          <a:xfrm>
            <a:off x="9111082" y="6053328"/>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데이터 CSV 다운로드</a:t>
            </a:r>
            <a:endParaRPr lang="en-US" sz="800" dirty="0"/>
          </a:p>
        </p:txBody>
      </p:sp>
      <p:sp>
        <p:nvSpPr>
          <p:cNvPr id="94" name="Shape 72"/>
          <p:cNvSpPr/>
          <p:nvPr/>
        </p:nvSpPr>
        <p:spPr>
          <a:xfrm>
            <a:off x="6657746" y="6353251"/>
            <a:ext cx="2295144" cy="333756"/>
          </a:xfrm>
          <a:prstGeom prst="roundRect">
            <a:avLst>
              <a:gd name="adj" fmla="val 31311"/>
            </a:avLst>
          </a:prstGeom>
          <a:solidFill>
            <a:srgbClr val="FFFFFF"/>
          </a:solidFill>
          <a:ln w="12700">
            <a:solidFill>
              <a:srgbClr val="CBD5E1"/>
            </a:solidFill>
            <a:prstDash val="solid"/>
          </a:ln>
        </p:spPr>
      </p:sp>
      <p:sp>
        <p:nvSpPr>
          <p:cNvPr id="95" name="Text 73"/>
          <p:cNvSpPr txBox="1"/>
          <p:nvPr/>
        </p:nvSpPr>
        <p:spPr>
          <a:xfrm>
            <a:off x="6762902" y="6439205"/>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분자구조 이미지 저장</a:t>
            </a:r>
            <a:endParaRPr lang="en-US" sz="800" dirty="0"/>
          </a:p>
        </p:txBody>
      </p:sp>
      <p:sp>
        <p:nvSpPr>
          <p:cNvPr id="96" name="Shape 74"/>
          <p:cNvSpPr/>
          <p:nvPr/>
        </p:nvSpPr>
        <p:spPr>
          <a:xfrm>
            <a:off x="9005926" y="6353251"/>
            <a:ext cx="2295144" cy="333756"/>
          </a:xfrm>
          <a:prstGeom prst="roundRect">
            <a:avLst>
              <a:gd name="adj" fmla="val 31311"/>
            </a:avLst>
          </a:prstGeom>
          <a:solidFill>
            <a:srgbClr val="FFFFFF"/>
          </a:solidFill>
          <a:ln w="12700">
            <a:solidFill>
              <a:srgbClr val="CBD5E1"/>
            </a:solidFill>
            <a:prstDash val="solid"/>
          </a:ln>
        </p:spPr>
      </p:sp>
      <p:sp>
        <p:nvSpPr>
          <p:cNvPr id="97" name="Text 75"/>
          <p:cNvSpPr txBox="1"/>
          <p:nvPr/>
        </p:nvSpPr>
        <p:spPr>
          <a:xfrm>
            <a:off x="9111082" y="6439205"/>
            <a:ext cx="2253082" cy="162763"/>
          </a:xfrm>
          <a:prstGeom prst="rect">
            <a:avLst/>
          </a:prstGeom>
          <a:noFill/>
          <a:ln/>
        </p:spPr>
        <p:txBody>
          <a:bodyPr wrap="square" lIns="0" tIns="0" rIns="0" bIns="0" rtlCol="0" anchor="ctr"/>
          <a:lstStyle/>
          <a:p>
            <a:pPr marL="0" indent="0" algn="l">
              <a:buNone/>
            </a:pPr>
            <a:r>
              <a:rPr lang="en-US" sz="800" dirty="0">
                <a:solidFill>
                  <a:srgbClr val="334155"/>
                </a:solidFill>
                <a:latin typeface="Noto Sans KR" pitchFamily="34" charset="0"/>
                <a:ea typeface="Noto Sans KR" pitchFamily="34" charset="-122"/>
                <a:cs typeface="Noto Sans KR" pitchFamily="34" charset="-120"/>
              </a:rPr>
              <a:t>결과 공유 기능</a:t>
            </a:r>
            <a:endParaRPr lang="en-US" sz="800" dirty="0"/>
          </a:p>
        </p:txBody>
      </p:sp>
    </p:spTree>
    <p:extLst>
      <p:ext uri="{BB962C8B-B14F-4D97-AF65-F5344CB8AC3E}">
        <p14:creationId xmlns:p14="http://schemas.microsoft.com/office/powerpoint/2010/main" val="1101661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2924251"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주요 모듈 설명</a:t>
            </a:r>
            <a:endParaRPr lang="en-US" sz="2400" dirty="0"/>
          </a:p>
        </p:txBody>
      </p:sp>
      <p:sp>
        <p:nvSpPr>
          <p:cNvPr id="5" name="Text 3"/>
          <p:cNvSpPr txBox="1"/>
          <p:nvPr/>
        </p:nvSpPr>
        <p:spPr>
          <a:xfrm>
            <a:off x="476402" y="685800"/>
            <a:ext cx="3253435"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model_service.py 핵심 구성 요소 및 기능</a:t>
            </a:r>
            <a:endParaRPr lang="en-US" sz="1200" dirty="0"/>
          </a:p>
        </p:txBody>
      </p:sp>
      <p:pic>
        <p:nvPicPr>
          <p:cNvPr id="6" name="Image 0" descr="preencoded.png"/>
          <p:cNvPicPr>
            <a:picLocks noChangeAspect="1"/>
          </p:cNvPicPr>
          <p:nvPr/>
        </p:nvPicPr>
        <p:blipFill>
          <a:blip r:embed="rId3"/>
          <a:srcRect/>
          <a:stretch/>
        </p:blipFill>
        <p:spPr>
          <a:xfrm>
            <a:off x="11410798" y="418795"/>
            <a:ext cx="304495" cy="304495"/>
          </a:xfrm>
          <a:prstGeom prst="rect">
            <a:avLst/>
          </a:prstGeom>
        </p:spPr>
      </p:pic>
      <p:sp>
        <p:nvSpPr>
          <p:cNvPr id="7" name="Shape 4"/>
          <p:cNvSpPr/>
          <p:nvPr/>
        </p:nvSpPr>
        <p:spPr>
          <a:xfrm>
            <a:off x="476402" y="1390802"/>
            <a:ext cx="4981651" cy="2210105"/>
          </a:xfrm>
          <a:prstGeom prst="roundRect">
            <a:avLst>
              <a:gd name="adj" fmla="val 1427"/>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90802"/>
            <a:ext cx="38405" cy="2210105"/>
          </a:xfrm>
          <a:prstGeom prst="roundRect">
            <a:avLst>
              <a:gd name="adj" fmla="val 82101"/>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705002" y="1647749"/>
            <a:ext cx="228600" cy="228600"/>
          </a:xfrm>
          <a:prstGeom prst="rect">
            <a:avLst/>
          </a:prstGeom>
        </p:spPr>
      </p:pic>
      <p:sp>
        <p:nvSpPr>
          <p:cNvPr id="10" name="Text 6"/>
          <p:cNvSpPr txBox="1"/>
          <p:nvPr/>
        </p:nvSpPr>
        <p:spPr>
          <a:xfrm>
            <a:off x="1047902" y="1638605"/>
            <a:ext cx="1805026"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TASK_NAMES 상수 정의</a:t>
            </a:r>
            <a:endParaRPr lang="en-US" sz="1200" dirty="0"/>
          </a:p>
        </p:txBody>
      </p:sp>
      <p:sp>
        <p:nvSpPr>
          <p:cNvPr id="11" name="Shape 7"/>
          <p:cNvSpPr/>
          <p:nvPr/>
        </p:nvSpPr>
        <p:spPr>
          <a:xfrm>
            <a:off x="705002" y="2057400"/>
            <a:ext cx="4562856" cy="590702"/>
          </a:xfrm>
          <a:prstGeom prst="roundRect">
            <a:avLst>
              <a:gd name="adj" fmla="val 14981"/>
            </a:avLst>
          </a:prstGeom>
          <a:solidFill>
            <a:srgbClr val="F1F5F9"/>
          </a:solidFill>
          <a:ln w="12700">
            <a:solidFill>
              <a:srgbClr val="E2E8F0"/>
            </a:solidFill>
            <a:prstDash val="solid"/>
          </a:ln>
        </p:spPr>
      </p:sp>
      <p:sp>
        <p:nvSpPr>
          <p:cNvPr id="12" name="Text 8"/>
          <p:cNvSpPr txBox="1"/>
          <p:nvPr/>
        </p:nvSpPr>
        <p:spPr>
          <a:xfrm>
            <a:off x="828446" y="2162556"/>
            <a:ext cx="4429354" cy="171907"/>
          </a:xfrm>
          <a:prstGeom prst="rect">
            <a:avLst/>
          </a:prstGeom>
          <a:noFill/>
          <a:ln/>
        </p:spPr>
        <p:txBody>
          <a:bodyPr wrap="square" lIns="0" tIns="0" rIns="0" bIns="0" rtlCol="0" anchor="ctr"/>
          <a:lstStyle/>
          <a:p>
            <a:pPr marL="0" indent="0" algn="l">
              <a:buNone/>
            </a:pPr>
            <a:r>
              <a:rPr lang="en-US" sz="800" b="1" dirty="0">
                <a:solidFill>
                  <a:srgbClr val="DC2626"/>
                </a:solidFill>
                <a:latin typeface="Courier New" pitchFamily="34" charset="0"/>
                <a:ea typeface="Courier New" pitchFamily="34" charset="-122"/>
                <a:cs typeface="Courier New" pitchFamily="34" charset="-120"/>
              </a:rPr>
              <a:t>TASK_NAMES</a:t>
            </a:r>
            <a:r>
              <a:rPr lang="en-US" sz="800" dirty="0">
                <a:solidFill>
                  <a:srgbClr val="334155"/>
                </a:solidFill>
                <a:latin typeface="Courier New" pitchFamily="34" charset="0"/>
                <a:ea typeface="Courier New" pitchFamily="34" charset="-122"/>
                <a:cs typeface="Courier New" pitchFamily="34" charset="-120"/>
              </a:rPr>
              <a:t> = [</a:t>
            </a:r>
            <a:r>
              <a:rPr lang="en-US" sz="800" dirty="0">
                <a:solidFill>
                  <a:srgbClr val="059669"/>
                </a:solidFill>
                <a:latin typeface="Courier New" pitchFamily="34" charset="0"/>
                <a:ea typeface="Courier New" pitchFamily="34" charset="-122"/>
                <a:cs typeface="Courier New" pitchFamily="34" charset="-120"/>
              </a:rPr>
              <a:t>'C1'</a:t>
            </a:r>
            <a:r>
              <a:rPr lang="en-US" sz="800" dirty="0">
                <a:solidFill>
                  <a:srgbClr val="334155"/>
                </a:solidFill>
                <a:latin typeface="Courier New" pitchFamily="34" charset="0"/>
                <a:ea typeface="Courier New" pitchFamily="34" charset="-122"/>
                <a:cs typeface="Courier New" pitchFamily="34" charset="-120"/>
              </a:rPr>
              <a:t>, </a:t>
            </a:r>
            <a:r>
              <a:rPr lang="en-US" sz="800" dirty="0">
                <a:solidFill>
                  <a:srgbClr val="059669"/>
                </a:solidFill>
                <a:latin typeface="Courier New" pitchFamily="34" charset="0"/>
                <a:ea typeface="Courier New" pitchFamily="34" charset="-122"/>
                <a:cs typeface="Courier New" pitchFamily="34" charset="-120"/>
              </a:rPr>
              <a:t>'C2'</a:t>
            </a:r>
            <a:r>
              <a:rPr lang="en-US" sz="800" dirty="0">
                <a:solidFill>
                  <a:srgbClr val="334155"/>
                </a:solidFill>
                <a:latin typeface="Courier New" pitchFamily="34" charset="0"/>
                <a:ea typeface="Courier New" pitchFamily="34" charset="-122"/>
                <a:cs typeface="Courier New" pitchFamily="34" charset="-120"/>
              </a:rPr>
              <a:t>, ..., </a:t>
            </a:r>
            <a:r>
              <a:rPr lang="en-US" sz="800" dirty="0">
                <a:solidFill>
                  <a:srgbClr val="059669"/>
                </a:solidFill>
                <a:latin typeface="Courier New" pitchFamily="34" charset="0"/>
                <a:ea typeface="Courier New" pitchFamily="34" charset="-122"/>
                <a:cs typeface="Courier New" pitchFamily="34" charset="-120"/>
              </a:rPr>
              <a:t>'C13'</a:t>
            </a:r>
            <a:r>
              <a:rPr lang="en-US" sz="800" dirty="0">
                <a:solidFill>
                  <a:srgbClr val="334155"/>
                </a:solidFill>
                <a:latin typeface="Courier New" pitchFamily="34" charset="0"/>
                <a:ea typeface="Courier New" pitchFamily="34" charset="-122"/>
                <a:cs typeface="Courier New" pitchFamily="34" charset="-120"/>
              </a:rPr>
              <a:t>]</a:t>
            </a:r>
            <a:endParaRPr lang="en-US" sz="800" dirty="0"/>
          </a:p>
        </p:txBody>
      </p:sp>
      <p:sp>
        <p:nvSpPr>
          <p:cNvPr id="13" name="Text 9"/>
          <p:cNvSpPr txBox="1"/>
          <p:nvPr/>
        </p:nvSpPr>
        <p:spPr>
          <a:xfrm>
            <a:off x="828446" y="2349094"/>
            <a:ext cx="4506163" cy="171907"/>
          </a:xfrm>
          <a:prstGeom prst="rect">
            <a:avLst/>
          </a:prstGeom>
          <a:noFill/>
          <a:ln/>
        </p:spPr>
        <p:txBody>
          <a:bodyPr wrap="square" lIns="0" tIns="0" rIns="0" bIns="0" rtlCol="0" anchor="ctr"/>
          <a:lstStyle/>
          <a:p>
            <a:pPr marL="0" indent="0" algn="l">
              <a:buNone/>
            </a:pPr>
            <a:r>
              <a:rPr lang="en-US" sz="800" i="1" dirty="0">
                <a:solidFill>
                  <a:srgbClr val="64748B"/>
                </a:solidFill>
                <a:latin typeface="Courier New" pitchFamily="34" charset="0"/>
                <a:ea typeface="Courier New" pitchFamily="34" charset="-122"/>
                <a:cs typeface="Courier New" pitchFamily="34" charset="-120"/>
              </a:rPr>
              <a:t># 13개 유전자 클러스터 명칭</a:t>
            </a:r>
            <a:endParaRPr lang="en-US" sz="800" dirty="0"/>
          </a:p>
        </p:txBody>
      </p:sp>
      <p:pic>
        <p:nvPicPr>
          <p:cNvPr id="14" name="Image 2" descr="preencoded.png"/>
          <p:cNvPicPr>
            <a:picLocks noChangeAspect="1"/>
          </p:cNvPicPr>
          <p:nvPr/>
        </p:nvPicPr>
        <p:blipFill>
          <a:blip r:embed="rId5"/>
          <a:srcRect t="-25301" b="-25301"/>
          <a:stretch/>
        </p:blipFill>
        <p:spPr>
          <a:xfrm>
            <a:off x="705002" y="2792578"/>
            <a:ext cx="75895" cy="114300"/>
          </a:xfrm>
          <a:prstGeom prst="rect">
            <a:avLst/>
          </a:prstGeom>
        </p:spPr>
      </p:pic>
      <p:sp>
        <p:nvSpPr>
          <p:cNvPr id="15" name="Text 10"/>
          <p:cNvSpPr txBox="1"/>
          <p:nvPr/>
        </p:nvSpPr>
        <p:spPr>
          <a:xfrm>
            <a:off x="875995" y="2735885"/>
            <a:ext cx="252831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목적</a:t>
            </a:r>
            <a:r>
              <a:rPr lang="en-US" sz="900" dirty="0">
                <a:solidFill>
                  <a:srgbClr val="475569"/>
                </a:solidFill>
                <a:latin typeface="Noto Sans KR" pitchFamily="34" charset="0"/>
                <a:ea typeface="Noto Sans KR" pitchFamily="34" charset="-122"/>
                <a:cs typeface="Noto Sans KR" pitchFamily="34" charset="-120"/>
              </a:rPr>
              <a:t>: 모델 출력의 13개 작업(task) 라벨 정의</a:t>
            </a:r>
            <a:endParaRPr lang="en-US" sz="900" dirty="0"/>
          </a:p>
        </p:txBody>
      </p:sp>
      <p:pic>
        <p:nvPicPr>
          <p:cNvPr id="16" name="Image 3" descr="preencoded.png"/>
          <p:cNvPicPr>
            <a:picLocks noChangeAspect="1"/>
          </p:cNvPicPr>
          <p:nvPr/>
        </p:nvPicPr>
        <p:blipFill>
          <a:blip r:embed="rId5"/>
          <a:srcRect t="-25301" b="-25301"/>
          <a:stretch/>
        </p:blipFill>
        <p:spPr>
          <a:xfrm>
            <a:off x="705002" y="3040380"/>
            <a:ext cx="75895" cy="114300"/>
          </a:xfrm>
          <a:prstGeom prst="rect">
            <a:avLst/>
          </a:prstGeom>
        </p:spPr>
      </p:pic>
      <p:sp>
        <p:nvSpPr>
          <p:cNvPr id="17" name="Text 11"/>
          <p:cNvSpPr txBox="1"/>
          <p:nvPr/>
        </p:nvSpPr>
        <p:spPr>
          <a:xfrm>
            <a:off x="875995" y="2982773"/>
            <a:ext cx="2278685"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형식</a:t>
            </a:r>
            <a:r>
              <a:rPr lang="en-US" sz="900" dirty="0">
                <a:solidFill>
                  <a:srgbClr val="475569"/>
                </a:solidFill>
                <a:latin typeface="Noto Sans KR" pitchFamily="34" charset="0"/>
                <a:ea typeface="Noto Sans KR" pitchFamily="34" charset="-122"/>
                <a:cs typeface="Noto Sans KR" pitchFamily="34" charset="-120"/>
              </a:rPr>
              <a:t>: 리스트 ['C1', 'C2', 'C3', ..., 'C13']</a:t>
            </a:r>
            <a:endParaRPr lang="en-US" sz="900" dirty="0"/>
          </a:p>
        </p:txBody>
      </p:sp>
      <p:pic>
        <p:nvPicPr>
          <p:cNvPr id="18" name="Image 4" descr="preencoded.png"/>
          <p:cNvPicPr>
            <a:picLocks noChangeAspect="1"/>
          </p:cNvPicPr>
          <p:nvPr/>
        </p:nvPicPr>
        <p:blipFill>
          <a:blip r:embed="rId5"/>
          <a:srcRect t="-25301" b="-25301"/>
          <a:stretch/>
        </p:blipFill>
        <p:spPr>
          <a:xfrm>
            <a:off x="705002" y="3288182"/>
            <a:ext cx="75895" cy="114300"/>
          </a:xfrm>
          <a:prstGeom prst="rect">
            <a:avLst/>
          </a:prstGeom>
        </p:spPr>
      </p:pic>
      <p:sp>
        <p:nvSpPr>
          <p:cNvPr id="19" name="Text 12"/>
          <p:cNvSpPr txBox="1"/>
          <p:nvPr/>
        </p:nvSpPr>
        <p:spPr>
          <a:xfrm>
            <a:off x="875995" y="3230575"/>
            <a:ext cx="293065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활용</a:t>
            </a:r>
            <a:r>
              <a:rPr lang="en-US" sz="900" dirty="0">
                <a:solidFill>
                  <a:srgbClr val="475569"/>
                </a:solidFill>
                <a:latin typeface="Noto Sans KR" pitchFamily="34" charset="0"/>
                <a:ea typeface="Noto Sans KR" pitchFamily="34" charset="-122"/>
                <a:cs typeface="Noto Sans KR" pitchFamily="34" charset="-120"/>
              </a:rPr>
              <a:t>: 예측 결과 배열의 인덱스와 클러스터명 매핑</a:t>
            </a:r>
            <a:endParaRPr lang="en-US" sz="900" dirty="0"/>
          </a:p>
        </p:txBody>
      </p:sp>
      <p:sp>
        <p:nvSpPr>
          <p:cNvPr id="20" name="Shape 13"/>
          <p:cNvSpPr/>
          <p:nvPr/>
        </p:nvSpPr>
        <p:spPr>
          <a:xfrm>
            <a:off x="476402" y="3764585"/>
            <a:ext cx="4981651" cy="3504895"/>
          </a:xfrm>
          <a:prstGeom prst="roundRect">
            <a:avLst>
              <a:gd name="adj" fmla="val 567"/>
            </a:avLst>
          </a:prstGeom>
          <a:solidFill>
            <a:srgbClr val="FFFFFF"/>
          </a:solidFill>
          <a:ln/>
          <a:effectLst>
            <a:outerShdw blurRad="76200" dist="25400" dir="16200000" algn="bl" rotWithShape="0">
              <a:srgbClr val="000000">
                <a:alpha val="8000"/>
              </a:srgbClr>
            </a:outerShdw>
          </a:effectLst>
        </p:spPr>
      </p:sp>
      <p:sp>
        <p:nvSpPr>
          <p:cNvPr id="21" name="Shape 14"/>
          <p:cNvSpPr/>
          <p:nvPr/>
        </p:nvSpPr>
        <p:spPr>
          <a:xfrm>
            <a:off x="476402" y="3764585"/>
            <a:ext cx="38405" cy="3504895"/>
          </a:xfrm>
          <a:prstGeom prst="roundRect">
            <a:avLst>
              <a:gd name="adj" fmla="val 51760"/>
            </a:avLst>
          </a:prstGeom>
          <a:solidFill>
            <a:srgbClr val="8B5CF6"/>
          </a:solidFill>
          <a:ln w="12700">
            <a:solidFill>
              <a:srgbClr val="8B5CF6">
                <a:alpha val="0"/>
              </a:srgbClr>
            </a:solidFill>
            <a:prstDash val="solid"/>
          </a:ln>
        </p:spPr>
      </p:sp>
      <p:pic>
        <p:nvPicPr>
          <p:cNvPr id="22" name="Image 5" descr="preencoded.png"/>
          <p:cNvPicPr>
            <a:picLocks noChangeAspect="1"/>
          </p:cNvPicPr>
          <p:nvPr/>
        </p:nvPicPr>
        <p:blipFill>
          <a:blip r:embed="rId6"/>
          <a:srcRect l="-57" r="-57"/>
          <a:stretch/>
        </p:blipFill>
        <p:spPr>
          <a:xfrm>
            <a:off x="705002" y="4021531"/>
            <a:ext cx="200254" cy="228600"/>
          </a:xfrm>
          <a:prstGeom prst="rect">
            <a:avLst/>
          </a:prstGeom>
        </p:spPr>
      </p:pic>
      <p:sp>
        <p:nvSpPr>
          <p:cNvPr id="23" name="Text 15"/>
          <p:cNvSpPr txBox="1"/>
          <p:nvPr/>
        </p:nvSpPr>
        <p:spPr>
          <a:xfrm>
            <a:off x="1019556" y="4011473"/>
            <a:ext cx="1807769"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COG_MAPPING 딕셔너리</a:t>
            </a:r>
            <a:endParaRPr lang="en-US" sz="1200" dirty="0"/>
          </a:p>
        </p:txBody>
      </p:sp>
      <p:sp>
        <p:nvSpPr>
          <p:cNvPr id="24" name="Shape 16"/>
          <p:cNvSpPr/>
          <p:nvPr/>
        </p:nvSpPr>
        <p:spPr>
          <a:xfrm>
            <a:off x="705002" y="4431182"/>
            <a:ext cx="4562856" cy="1143000"/>
          </a:xfrm>
          <a:prstGeom prst="roundRect">
            <a:avLst>
              <a:gd name="adj" fmla="val 4000"/>
            </a:avLst>
          </a:prstGeom>
          <a:solidFill>
            <a:srgbClr val="F1F5F9"/>
          </a:solidFill>
          <a:ln w="12700">
            <a:solidFill>
              <a:srgbClr val="E2E8F0"/>
            </a:solidFill>
            <a:prstDash val="solid"/>
          </a:ln>
        </p:spPr>
      </p:sp>
      <p:sp>
        <p:nvSpPr>
          <p:cNvPr id="25" name="Text 17"/>
          <p:cNvSpPr txBox="1"/>
          <p:nvPr/>
        </p:nvSpPr>
        <p:spPr>
          <a:xfrm>
            <a:off x="828446" y="4535424"/>
            <a:ext cx="4429354" cy="171907"/>
          </a:xfrm>
          <a:prstGeom prst="rect">
            <a:avLst/>
          </a:prstGeom>
          <a:noFill/>
          <a:ln/>
        </p:spPr>
        <p:txBody>
          <a:bodyPr wrap="square" lIns="0" tIns="0" rIns="0" bIns="0" rtlCol="0" anchor="ctr"/>
          <a:lstStyle/>
          <a:p>
            <a:pPr marL="0" indent="0" algn="l">
              <a:buNone/>
            </a:pPr>
            <a:r>
              <a:rPr lang="en-US" sz="800" b="1" dirty="0">
                <a:solidFill>
                  <a:srgbClr val="DC2626"/>
                </a:solidFill>
                <a:latin typeface="Courier New" pitchFamily="34" charset="0"/>
                <a:ea typeface="Courier New" pitchFamily="34" charset="-122"/>
                <a:cs typeface="Courier New" pitchFamily="34" charset="-120"/>
              </a:rPr>
              <a:t>COG_MAPPING</a:t>
            </a:r>
            <a:r>
              <a:rPr lang="en-US" sz="800" dirty="0">
                <a:solidFill>
                  <a:srgbClr val="334155"/>
                </a:solidFill>
                <a:latin typeface="Courier New" pitchFamily="34" charset="0"/>
                <a:ea typeface="Courier New" pitchFamily="34" charset="-122"/>
                <a:cs typeface="Courier New" pitchFamily="34" charset="-120"/>
              </a:rPr>
              <a:t> = {</a:t>
            </a:r>
            <a:endParaRPr lang="en-US" sz="800" dirty="0"/>
          </a:p>
        </p:txBody>
      </p:sp>
      <p:sp>
        <p:nvSpPr>
          <p:cNvPr id="26" name="Text 18"/>
          <p:cNvSpPr txBox="1"/>
          <p:nvPr/>
        </p:nvSpPr>
        <p:spPr>
          <a:xfrm>
            <a:off x="828446" y="4721962"/>
            <a:ext cx="4429354" cy="171907"/>
          </a:xfrm>
          <a:prstGeom prst="rect">
            <a:avLst/>
          </a:prstGeom>
          <a:noFill/>
          <a:ln/>
        </p:spPr>
        <p:txBody>
          <a:bodyPr wrap="square" lIns="0" tIns="0" rIns="0" bIns="0" rtlCol="0" anchor="ctr"/>
          <a:lstStyle/>
          <a:p>
            <a:pPr marL="0" indent="0" algn="l">
              <a:buNone/>
            </a:pPr>
            <a:r>
              <a:rPr lang="en-US" sz="800" dirty="0">
                <a:solidFill>
                  <a:srgbClr val="059669"/>
                </a:solidFill>
                <a:latin typeface="Courier New" pitchFamily="34" charset="0"/>
                <a:ea typeface="Courier New" pitchFamily="34" charset="-122"/>
                <a:cs typeface="Courier New" pitchFamily="34" charset="-120"/>
              </a:rPr>
              <a:t>'C1'</a:t>
            </a:r>
            <a:r>
              <a:rPr lang="en-US" sz="800" dirty="0">
                <a:solidFill>
                  <a:srgbClr val="334155"/>
                </a:solidFill>
                <a:latin typeface="Courier New" pitchFamily="34" charset="0"/>
                <a:ea typeface="Courier New" pitchFamily="34" charset="-122"/>
                <a:cs typeface="Courier New" pitchFamily="34" charset="-120"/>
              </a:rPr>
              <a:t>: {</a:t>
            </a:r>
            <a:r>
              <a:rPr lang="en-US" sz="800" dirty="0">
                <a:solidFill>
                  <a:srgbClr val="059669"/>
                </a:solidFill>
                <a:latin typeface="Courier New" pitchFamily="34" charset="0"/>
                <a:ea typeface="Courier New" pitchFamily="34" charset="-122"/>
                <a:cs typeface="Courier New" pitchFamily="34" charset="-120"/>
              </a:rPr>
              <a:t>'Name'</a:t>
            </a:r>
            <a:r>
              <a:rPr lang="en-US" sz="800" dirty="0">
                <a:solidFill>
                  <a:srgbClr val="334155"/>
                </a:solidFill>
                <a:latin typeface="Courier New" pitchFamily="34" charset="0"/>
                <a:ea typeface="Courier New" pitchFamily="34" charset="-122"/>
                <a:cs typeface="Courier New" pitchFamily="34" charset="-120"/>
              </a:rPr>
              <a:t>: </a:t>
            </a:r>
            <a:r>
              <a:rPr lang="en-US" sz="800" dirty="0">
                <a:solidFill>
                  <a:srgbClr val="059669"/>
                </a:solidFill>
                <a:latin typeface="Courier New" pitchFamily="34" charset="0"/>
                <a:ea typeface="Courier New" pitchFamily="34" charset="-122"/>
                <a:cs typeface="Courier New" pitchFamily="34" charset="-120"/>
              </a:rPr>
              <a:t>'TCA 회로...'</a:t>
            </a:r>
            <a:r>
              <a:rPr lang="en-US" sz="800" dirty="0">
                <a:solidFill>
                  <a:srgbClr val="334155"/>
                </a:solidFill>
                <a:latin typeface="Courier New" pitchFamily="34" charset="0"/>
                <a:ea typeface="Courier New" pitchFamily="34" charset="-122"/>
                <a:cs typeface="Courier New" pitchFamily="34" charset="-120"/>
              </a:rPr>
              <a:t>},</a:t>
            </a:r>
            <a:endParaRPr lang="en-US" sz="800" dirty="0"/>
          </a:p>
        </p:txBody>
      </p:sp>
      <p:sp>
        <p:nvSpPr>
          <p:cNvPr id="27" name="Text 19"/>
          <p:cNvSpPr txBox="1"/>
          <p:nvPr/>
        </p:nvSpPr>
        <p:spPr>
          <a:xfrm>
            <a:off x="828446" y="4908499"/>
            <a:ext cx="4429354" cy="171907"/>
          </a:xfrm>
          <a:prstGeom prst="rect">
            <a:avLst/>
          </a:prstGeom>
          <a:noFill/>
          <a:ln/>
        </p:spPr>
        <p:txBody>
          <a:bodyPr wrap="square" lIns="0" tIns="0" rIns="0" bIns="0" rtlCol="0" anchor="ctr"/>
          <a:lstStyle/>
          <a:p>
            <a:pPr marL="0" indent="0" algn="l">
              <a:buNone/>
            </a:pPr>
            <a:r>
              <a:rPr lang="en-US" sz="800" dirty="0">
                <a:solidFill>
                  <a:srgbClr val="059669"/>
                </a:solidFill>
                <a:latin typeface="Courier New" pitchFamily="34" charset="0"/>
                <a:ea typeface="Courier New" pitchFamily="34" charset="-122"/>
                <a:cs typeface="Courier New" pitchFamily="34" charset="-120"/>
              </a:rPr>
              <a:t>'C2'</a:t>
            </a:r>
            <a:r>
              <a:rPr lang="en-US" sz="800" dirty="0">
                <a:solidFill>
                  <a:srgbClr val="334155"/>
                </a:solidFill>
                <a:latin typeface="Courier New" pitchFamily="34" charset="0"/>
                <a:ea typeface="Courier New" pitchFamily="34" charset="-122"/>
                <a:cs typeface="Courier New" pitchFamily="34" charset="-120"/>
              </a:rPr>
              <a:t>: {</a:t>
            </a:r>
            <a:r>
              <a:rPr lang="en-US" sz="800" dirty="0">
                <a:solidFill>
                  <a:srgbClr val="059669"/>
                </a:solidFill>
                <a:latin typeface="Courier New" pitchFamily="34" charset="0"/>
                <a:ea typeface="Courier New" pitchFamily="34" charset="-122"/>
                <a:cs typeface="Courier New" pitchFamily="34" charset="-120"/>
              </a:rPr>
              <a:t>'Name'</a:t>
            </a:r>
            <a:r>
              <a:rPr lang="en-US" sz="800" dirty="0">
                <a:solidFill>
                  <a:srgbClr val="334155"/>
                </a:solidFill>
                <a:latin typeface="Courier New" pitchFamily="34" charset="0"/>
                <a:ea typeface="Courier New" pitchFamily="34" charset="-122"/>
                <a:cs typeface="Courier New" pitchFamily="34" charset="-120"/>
              </a:rPr>
              <a:t>: </a:t>
            </a:r>
            <a:r>
              <a:rPr lang="en-US" sz="800" dirty="0">
                <a:solidFill>
                  <a:srgbClr val="059669"/>
                </a:solidFill>
                <a:latin typeface="Courier New" pitchFamily="34" charset="0"/>
                <a:ea typeface="Courier New" pitchFamily="34" charset="-122"/>
                <a:cs typeface="Courier New" pitchFamily="34" charset="-120"/>
              </a:rPr>
              <a:t>'번역 및...'</a:t>
            </a:r>
            <a:r>
              <a:rPr lang="en-US" sz="800" dirty="0">
                <a:solidFill>
                  <a:srgbClr val="334155"/>
                </a:solidFill>
                <a:latin typeface="Courier New" pitchFamily="34" charset="0"/>
                <a:ea typeface="Courier New" pitchFamily="34" charset="-122"/>
                <a:cs typeface="Courier New" pitchFamily="34" charset="-120"/>
              </a:rPr>
              <a:t>},</a:t>
            </a:r>
            <a:endParaRPr lang="en-US" sz="800" dirty="0"/>
          </a:p>
        </p:txBody>
      </p:sp>
      <p:sp>
        <p:nvSpPr>
          <p:cNvPr id="28" name="Text 20"/>
          <p:cNvSpPr txBox="1"/>
          <p:nvPr/>
        </p:nvSpPr>
        <p:spPr>
          <a:xfrm>
            <a:off x="828446" y="5095951"/>
            <a:ext cx="4429354" cy="171907"/>
          </a:xfrm>
          <a:prstGeom prst="rect">
            <a:avLst/>
          </a:prstGeom>
          <a:noFill/>
          <a:ln/>
        </p:spPr>
        <p:txBody>
          <a:bodyPr wrap="square" lIns="0" tIns="0" rIns="0" bIns="0" rtlCol="0" anchor="ctr"/>
          <a:lstStyle/>
          <a:p>
            <a:pPr marL="0" indent="0" algn="l">
              <a:buNone/>
            </a:pPr>
            <a:r>
              <a:rPr lang="en-US" sz="800" dirty="0">
                <a:solidFill>
                  <a:srgbClr val="334155"/>
                </a:solidFill>
                <a:latin typeface="Courier New" pitchFamily="34" charset="0"/>
                <a:ea typeface="Courier New" pitchFamily="34" charset="-122"/>
                <a:cs typeface="Courier New" pitchFamily="34" charset="-120"/>
              </a:rPr>
              <a:t>...</a:t>
            </a:r>
            <a:endParaRPr lang="en-US" sz="800" dirty="0"/>
          </a:p>
        </p:txBody>
      </p:sp>
      <p:sp>
        <p:nvSpPr>
          <p:cNvPr id="29" name="Text 21"/>
          <p:cNvSpPr txBox="1"/>
          <p:nvPr/>
        </p:nvSpPr>
        <p:spPr>
          <a:xfrm>
            <a:off x="828446" y="5282489"/>
            <a:ext cx="4429354" cy="171907"/>
          </a:xfrm>
          <a:prstGeom prst="rect">
            <a:avLst/>
          </a:prstGeom>
          <a:noFill/>
          <a:ln/>
        </p:spPr>
        <p:txBody>
          <a:bodyPr wrap="square" lIns="0" tIns="0" rIns="0" bIns="0" rtlCol="0" anchor="ctr"/>
          <a:lstStyle/>
          <a:p>
            <a:pPr marL="0" indent="0" algn="l">
              <a:buNone/>
            </a:pPr>
            <a:r>
              <a:rPr lang="en-US" sz="800" dirty="0">
                <a:solidFill>
                  <a:srgbClr val="334155"/>
                </a:solidFill>
                <a:latin typeface="Courier New" pitchFamily="34" charset="0"/>
                <a:ea typeface="Courier New" pitchFamily="34" charset="-122"/>
                <a:cs typeface="Courier New" pitchFamily="34" charset="-120"/>
              </a:rPr>
              <a:t>}</a:t>
            </a:r>
            <a:endParaRPr lang="en-US" sz="800" dirty="0"/>
          </a:p>
        </p:txBody>
      </p:sp>
      <p:pic>
        <p:nvPicPr>
          <p:cNvPr id="30" name="Image 6" descr="preencoded.png"/>
          <p:cNvPicPr>
            <a:picLocks noChangeAspect="1"/>
          </p:cNvPicPr>
          <p:nvPr/>
        </p:nvPicPr>
        <p:blipFill>
          <a:blip r:embed="rId7"/>
          <a:srcRect t="-25301" b="-25301"/>
          <a:stretch/>
        </p:blipFill>
        <p:spPr>
          <a:xfrm>
            <a:off x="705002" y="5725973"/>
            <a:ext cx="75895" cy="114300"/>
          </a:xfrm>
          <a:prstGeom prst="rect">
            <a:avLst/>
          </a:prstGeom>
        </p:spPr>
      </p:pic>
      <p:sp>
        <p:nvSpPr>
          <p:cNvPr id="31" name="Text 22"/>
          <p:cNvSpPr txBox="1"/>
          <p:nvPr/>
        </p:nvSpPr>
        <p:spPr>
          <a:xfrm>
            <a:off x="875995" y="5669280"/>
            <a:ext cx="2563063"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구조</a:t>
            </a:r>
            <a:r>
              <a:rPr lang="en-US" sz="900" dirty="0">
                <a:solidFill>
                  <a:srgbClr val="475569"/>
                </a:solidFill>
                <a:latin typeface="Noto Sans KR" pitchFamily="34" charset="0"/>
                <a:ea typeface="Noto Sans KR" pitchFamily="34" charset="-122"/>
                <a:cs typeface="Noto Sans KR" pitchFamily="34" charset="-120"/>
              </a:rPr>
              <a:t>: 클러스터 ID → 생물학적 기능명 매핑</a:t>
            </a:r>
            <a:endParaRPr lang="en-US" sz="900" dirty="0"/>
          </a:p>
        </p:txBody>
      </p:sp>
      <p:pic>
        <p:nvPicPr>
          <p:cNvPr id="32" name="Image 7" descr="preencoded.png"/>
          <p:cNvPicPr>
            <a:picLocks noChangeAspect="1"/>
          </p:cNvPicPr>
          <p:nvPr/>
        </p:nvPicPr>
        <p:blipFill>
          <a:blip r:embed="rId7"/>
          <a:srcRect t="-25301" b="-25301"/>
          <a:stretch/>
        </p:blipFill>
        <p:spPr>
          <a:xfrm>
            <a:off x="705002" y="5973775"/>
            <a:ext cx="75895" cy="114300"/>
          </a:xfrm>
          <a:prstGeom prst="rect">
            <a:avLst/>
          </a:prstGeom>
        </p:spPr>
      </p:pic>
      <p:sp>
        <p:nvSpPr>
          <p:cNvPr id="33" name="Text 23"/>
          <p:cNvSpPr txBox="1"/>
          <p:nvPr/>
        </p:nvSpPr>
        <p:spPr>
          <a:xfrm>
            <a:off x="875995" y="5916168"/>
            <a:ext cx="265176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역할</a:t>
            </a:r>
            <a:r>
              <a:rPr lang="en-US" sz="900" dirty="0">
                <a:solidFill>
                  <a:srgbClr val="475569"/>
                </a:solidFill>
                <a:latin typeface="Noto Sans KR" pitchFamily="34" charset="0"/>
                <a:ea typeface="Noto Sans KR" pitchFamily="34" charset="-122"/>
                <a:cs typeface="Noto Sans KR" pitchFamily="34" charset="-120"/>
              </a:rPr>
              <a:t>: UI에서 사용자에게 클러스터 설명 제공</a:t>
            </a:r>
            <a:endParaRPr lang="en-US" sz="900" dirty="0"/>
          </a:p>
        </p:txBody>
      </p:sp>
      <p:pic>
        <p:nvPicPr>
          <p:cNvPr id="34" name="Image 8" descr="preencoded.png"/>
          <p:cNvPicPr>
            <a:picLocks noChangeAspect="1"/>
          </p:cNvPicPr>
          <p:nvPr/>
        </p:nvPicPr>
        <p:blipFill>
          <a:blip r:embed="rId7"/>
          <a:srcRect t="-25301" b="-25301"/>
          <a:stretch/>
        </p:blipFill>
        <p:spPr>
          <a:xfrm>
            <a:off x="705002" y="6221578"/>
            <a:ext cx="75895" cy="114300"/>
          </a:xfrm>
          <a:prstGeom prst="rect">
            <a:avLst/>
          </a:prstGeom>
        </p:spPr>
      </p:pic>
      <p:sp>
        <p:nvSpPr>
          <p:cNvPr id="35" name="Text 24"/>
          <p:cNvSpPr txBox="1"/>
          <p:nvPr/>
        </p:nvSpPr>
        <p:spPr>
          <a:xfrm>
            <a:off x="875995" y="6163970"/>
            <a:ext cx="2425903"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예시</a:t>
            </a:r>
            <a:r>
              <a:rPr lang="en-US" sz="900" dirty="0">
                <a:solidFill>
                  <a:srgbClr val="475569"/>
                </a:solidFill>
                <a:latin typeface="Noto Sans KR" pitchFamily="34" charset="0"/>
                <a:ea typeface="Noto Sans KR" pitchFamily="34" charset="-122"/>
                <a:cs typeface="Noto Sans KR" pitchFamily="34" charset="-120"/>
              </a:rPr>
              <a:t>: 'C1' → 'TCA 회로 및 중심 탄소 대사'</a:t>
            </a:r>
            <a:endParaRPr lang="en-US" sz="900" dirty="0"/>
          </a:p>
        </p:txBody>
      </p:sp>
      <p:sp>
        <p:nvSpPr>
          <p:cNvPr id="36" name="Shape 25"/>
          <p:cNvSpPr/>
          <p:nvPr/>
        </p:nvSpPr>
        <p:spPr>
          <a:xfrm>
            <a:off x="705002" y="6411773"/>
            <a:ext cx="4562856" cy="666598"/>
          </a:xfrm>
          <a:prstGeom prst="roundRect">
            <a:avLst>
              <a:gd name="adj" fmla="val 7839"/>
            </a:avLst>
          </a:prstGeom>
          <a:solidFill>
            <a:srgbClr val="F8FAFC"/>
          </a:solidFill>
          <a:ln w="12700">
            <a:solidFill>
              <a:srgbClr val="E2E8F0"/>
            </a:solidFill>
            <a:prstDash val="solid"/>
          </a:ln>
        </p:spPr>
      </p:sp>
      <p:sp>
        <p:nvSpPr>
          <p:cNvPr id="37" name="Text 26"/>
          <p:cNvSpPr txBox="1"/>
          <p:nvPr/>
        </p:nvSpPr>
        <p:spPr>
          <a:xfrm>
            <a:off x="809244" y="6516929"/>
            <a:ext cx="4429354" cy="457200"/>
          </a:xfrm>
          <a:prstGeom prst="rect">
            <a:avLst/>
          </a:prstGeom>
          <a:noFill/>
          <a:ln/>
        </p:spPr>
        <p:txBody>
          <a:bodyPr wrap="square" lIns="0" tIns="0" rIns="0" bIns="0" rtlCol="0" anchor="t"/>
          <a:lstStyle/>
          <a:p>
            <a:pPr marL="0" indent="0" algn="l">
              <a:buNone/>
            </a:pPr>
            <a:r>
              <a:rPr lang="en-US" sz="800" dirty="0">
                <a:solidFill>
                  <a:srgbClr val="475569"/>
                </a:solidFill>
                <a:latin typeface="Noto Sans KR" pitchFamily="34" charset="0"/>
                <a:ea typeface="Noto Sans KR" pitchFamily="34" charset="-122"/>
                <a:cs typeface="Noto Sans KR" pitchFamily="34" charset="-120"/>
              </a:rPr>
              <a:t>C1: TCA 회로 / C2: 번역·tRNA / C3: 비방향족 아미노산 / C4: 방향족 아미노산 / C5: 스트레스 방어 / C6: tRNA 변형 / C7: 엽산·퓨린 / C8: DNA 복제 / C9: 지질 합성 / C10: 당분해 / C11: 펩티도글리칸 / C12: 퓨린·피리미딘 / C13: 포르피린</a:t>
            </a:r>
            <a:endParaRPr lang="en-US" sz="800" dirty="0"/>
          </a:p>
        </p:txBody>
      </p:sp>
      <p:sp>
        <p:nvSpPr>
          <p:cNvPr id="38" name="Shape 27"/>
          <p:cNvSpPr/>
          <p:nvPr/>
        </p:nvSpPr>
        <p:spPr>
          <a:xfrm>
            <a:off x="476402" y="7440473"/>
            <a:ext cx="4981651" cy="2486254"/>
          </a:xfrm>
          <a:prstGeom prst="roundRect">
            <a:avLst>
              <a:gd name="adj" fmla="val 1127"/>
            </a:avLst>
          </a:prstGeom>
          <a:solidFill>
            <a:srgbClr val="FFFFFF"/>
          </a:solidFill>
          <a:ln/>
          <a:effectLst>
            <a:outerShdw blurRad="76200" dist="25400" dir="16200000" algn="bl" rotWithShape="0">
              <a:srgbClr val="000000">
                <a:alpha val="8000"/>
              </a:srgbClr>
            </a:outerShdw>
          </a:effectLst>
        </p:spPr>
      </p:sp>
      <p:sp>
        <p:nvSpPr>
          <p:cNvPr id="39" name="Shape 28"/>
          <p:cNvSpPr/>
          <p:nvPr/>
        </p:nvSpPr>
        <p:spPr>
          <a:xfrm>
            <a:off x="476402" y="7440473"/>
            <a:ext cx="38405" cy="2486254"/>
          </a:xfrm>
          <a:prstGeom prst="roundRect">
            <a:avLst>
              <a:gd name="adj" fmla="val 72979"/>
            </a:avLst>
          </a:prstGeom>
          <a:solidFill>
            <a:srgbClr val="F59E0B"/>
          </a:solidFill>
          <a:ln w="12700">
            <a:solidFill>
              <a:srgbClr val="F59E0B">
                <a:alpha val="0"/>
              </a:srgbClr>
            </a:solidFill>
            <a:prstDash val="solid"/>
          </a:ln>
        </p:spPr>
      </p:sp>
      <p:pic>
        <p:nvPicPr>
          <p:cNvPr id="40" name="Image 9" descr="preencoded.png"/>
          <p:cNvPicPr>
            <a:picLocks noChangeAspect="1"/>
          </p:cNvPicPr>
          <p:nvPr/>
        </p:nvPicPr>
        <p:blipFill>
          <a:blip r:embed="rId8"/>
          <a:srcRect/>
          <a:stretch/>
        </p:blipFill>
        <p:spPr>
          <a:xfrm>
            <a:off x="705002" y="7697419"/>
            <a:ext cx="228600" cy="228600"/>
          </a:xfrm>
          <a:prstGeom prst="rect">
            <a:avLst/>
          </a:prstGeom>
        </p:spPr>
      </p:pic>
      <p:sp>
        <p:nvSpPr>
          <p:cNvPr id="41" name="Text 29"/>
          <p:cNvSpPr txBox="1"/>
          <p:nvPr/>
        </p:nvSpPr>
        <p:spPr>
          <a:xfrm>
            <a:off x="1047902" y="7688275"/>
            <a:ext cx="2016252"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오류 처리 및 유효성 검증</a:t>
            </a:r>
            <a:endParaRPr lang="en-US" sz="1200" dirty="0"/>
          </a:p>
        </p:txBody>
      </p:sp>
      <p:pic>
        <p:nvPicPr>
          <p:cNvPr id="42" name="Image 10" descr="preencoded.png"/>
          <p:cNvPicPr>
            <a:picLocks noChangeAspect="1"/>
          </p:cNvPicPr>
          <p:nvPr/>
        </p:nvPicPr>
        <p:blipFill>
          <a:blip r:embed="rId9"/>
          <a:srcRect t="-25301" b="-25301"/>
          <a:stretch/>
        </p:blipFill>
        <p:spPr>
          <a:xfrm>
            <a:off x="705002" y="8164678"/>
            <a:ext cx="75895" cy="114300"/>
          </a:xfrm>
          <a:prstGeom prst="rect">
            <a:avLst/>
          </a:prstGeom>
        </p:spPr>
      </p:pic>
      <p:sp>
        <p:nvSpPr>
          <p:cNvPr id="43" name="Text 30"/>
          <p:cNvSpPr txBox="1"/>
          <p:nvPr/>
        </p:nvSpPr>
        <p:spPr>
          <a:xfrm>
            <a:off x="875995" y="8107070"/>
            <a:ext cx="3276295"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SMILES 검증</a:t>
            </a:r>
            <a:r>
              <a:rPr lang="en-US" sz="900" dirty="0">
                <a:solidFill>
                  <a:srgbClr val="475569"/>
                </a:solidFill>
                <a:latin typeface="Noto Sans KR" pitchFamily="34" charset="0"/>
                <a:ea typeface="Noto Sans KR" pitchFamily="34" charset="-122"/>
                <a:cs typeface="Noto Sans KR" pitchFamily="34" charset="-120"/>
              </a:rPr>
              <a:t>: RDKit MolFromSmiles 실패 시 예외 발생</a:t>
            </a:r>
            <a:endParaRPr lang="en-US" sz="900" dirty="0"/>
          </a:p>
        </p:txBody>
      </p:sp>
      <p:pic>
        <p:nvPicPr>
          <p:cNvPr id="44" name="Image 11" descr="preencoded.png"/>
          <p:cNvPicPr>
            <a:picLocks noChangeAspect="1"/>
          </p:cNvPicPr>
          <p:nvPr/>
        </p:nvPicPr>
        <p:blipFill>
          <a:blip r:embed="rId9"/>
          <a:srcRect t="-25301" b="-25301"/>
          <a:stretch/>
        </p:blipFill>
        <p:spPr>
          <a:xfrm>
            <a:off x="705002" y="8412480"/>
            <a:ext cx="75895" cy="114300"/>
          </a:xfrm>
          <a:prstGeom prst="rect">
            <a:avLst/>
          </a:prstGeom>
        </p:spPr>
      </p:pic>
      <p:sp>
        <p:nvSpPr>
          <p:cNvPr id="45" name="Text 31"/>
          <p:cNvSpPr txBox="1"/>
          <p:nvPr/>
        </p:nvSpPr>
        <p:spPr>
          <a:xfrm>
            <a:off x="875995" y="8354873"/>
            <a:ext cx="3609137"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모델 로드 안전성</a:t>
            </a:r>
            <a:r>
              <a:rPr lang="en-US" sz="900" dirty="0">
                <a:solidFill>
                  <a:srgbClr val="475569"/>
                </a:solidFill>
                <a:latin typeface="Noto Sans KR" pitchFamily="34" charset="0"/>
                <a:ea typeface="Noto Sans KR" pitchFamily="34" charset="-122"/>
                <a:cs typeface="Noto Sans KR" pitchFamily="34" charset="-120"/>
              </a:rPr>
              <a:t>: torch.serialization.add_safe_globals 사용</a:t>
            </a:r>
            <a:endParaRPr lang="en-US" sz="900" dirty="0"/>
          </a:p>
        </p:txBody>
      </p:sp>
      <p:pic>
        <p:nvPicPr>
          <p:cNvPr id="46" name="Image 12" descr="preencoded.png"/>
          <p:cNvPicPr>
            <a:picLocks noChangeAspect="1"/>
          </p:cNvPicPr>
          <p:nvPr/>
        </p:nvPicPr>
        <p:blipFill>
          <a:blip r:embed="rId9"/>
          <a:srcRect t="-25301" b="-25301"/>
          <a:stretch/>
        </p:blipFill>
        <p:spPr>
          <a:xfrm>
            <a:off x="705002" y="8659368"/>
            <a:ext cx="75895" cy="114300"/>
          </a:xfrm>
          <a:prstGeom prst="rect">
            <a:avLst/>
          </a:prstGeom>
        </p:spPr>
      </p:pic>
      <p:sp>
        <p:nvSpPr>
          <p:cNvPr id="47" name="Text 32"/>
          <p:cNvSpPr txBox="1"/>
          <p:nvPr/>
        </p:nvSpPr>
        <p:spPr>
          <a:xfrm>
            <a:off x="875995" y="8602675"/>
            <a:ext cx="3083357"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예외 처리</a:t>
            </a:r>
            <a:r>
              <a:rPr lang="en-US" sz="900" dirty="0">
                <a:solidFill>
                  <a:srgbClr val="475569"/>
                </a:solidFill>
                <a:latin typeface="Noto Sans KR" pitchFamily="34" charset="0"/>
                <a:ea typeface="Noto Sans KR" pitchFamily="34" charset="-122"/>
                <a:cs typeface="Noto Sans KR" pitchFamily="34" charset="-120"/>
              </a:rPr>
              <a:t>: try-except 블록으로 HTTPException 반환</a:t>
            </a:r>
            <a:endParaRPr lang="en-US" sz="900" dirty="0"/>
          </a:p>
        </p:txBody>
      </p:sp>
      <p:pic>
        <p:nvPicPr>
          <p:cNvPr id="48" name="Image 13" descr="preencoded.png"/>
          <p:cNvPicPr>
            <a:picLocks noChangeAspect="1"/>
          </p:cNvPicPr>
          <p:nvPr/>
        </p:nvPicPr>
        <p:blipFill>
          <a:blip r:embed="rId9"/>
          <a:srcRect t="-25301" b="-25301"/>
          <a:stretch/>
        </p:blipFill>
        <p:spPr>
          <a:xfrm>
            <a:off x="705002" y="8907170"/>
            <a:ext cx="75895" cy="114300"/>
          </a:xfrm>
          <a:prstGeom prst="rect">
            <a:avLst/>
          </a:prstGeom>
        </p:spPr>
      </p:pic>
      <p:sp>
        <p:nvSpPr>
          <p:cNvPr id="49" name="Text 33"/>
          <p:cNvSpPr txBox="1"/>
          <p:nvPr/>
        </p:nvSpPr>
        <p:spPr>
          <a:xfrm>
            <a:off x="875995" y="8850478"/>
            <a:ext cx="2717597"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입력 검증</a:t>
            </a:r>
            <a:r>
              <a:rPr lang="en-US" sz="900" dirty="0">
                <a:solidFill>
                  <a:srgbClr val="475569"/>
                </a:solidFill>
                <a:latin typeface="Noto Sans KR" pitchFamily="34" charset="0"/>
                <a:ea typeface="Noto Sans KR" pitchFamily="34" charset="-122"/>
                <a:cs typeface="Noto Sans KR" pitchFamily="34" charset="-120"/>
              </a:rPr>
              <a:t>: 빈 문자열, 잘못된 형식 사전 차단</a:t>
            </a:r>
            <a:endParaRPr lang="en-US" sz="900" dirty="0"/>
          </a:p>
        </p:txBody>
      </p:sp>
      <p:sp>
        <p:nvSpPr>
          <p:cNvPr id="50" name="Shape 34"/>
          <p:cNvSpPr/>
          <p:nvPr/>
        </p:nvSpPr>
        <p:spPr>
          <a:xfrm>
            <a:off x="705002" y="9116568"/>
            <a:ext cx="4562856" cy="619049"/>
          </a:xfrm>
          <a:prstGeom prst="roundRect">
            <a:avLst>
              <a:gd name="adj" fmla="val 13635"/>
            </a:avLst>
          </a:prstGeom>
          <a:solidFill>
            <a:srgbClr val="FFFBEB"/>
          </a:solidFill>
          <a:ln w="12700">
            <a:solidFill>
              <a:srgbClr val="FDE68A"/>
            </a:solidFill>
            <a:prstDash val="solid"/>
          </a:ln>
        </p:spPr>
      </p:sp>
      <p:sp>
        <p:nvSpPr>
          <p:cNvPr id="51" name="Text 35"/>
          <p:cNvSpPr txBox="1"/>
          <p:nvPr/>
        </p:nvSpPr>
        <p:spPr>
          <a:xfrm>
            <a:off x="990295" y="9240926"/>
            <a:ext cx="4344314"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안전성 강화</a:t>
            </a:r>
            <a:endParaRPr lang="en-US" sz="800" dirty="0"/>
          </a:p>
        </p:txBody>
      </p:sp>
      <p:pic>
        <p:nvPicPr>
          <p:cNvPr id="52" name="Image 14" descr="preencoded.png"/>
          <p:cNvPicPr>
            <a:picLocks noChangeAspect="1"/>
          </p:cNvPicPr>
          <p:nvPr/>
        </p:nvPicPr>
        <p:blipFill>
          <a:blip r:embed="rId10"/>
          <a:srcRect/>
          <a:stretch/>
        </p:blipFill>
        <p:spPr>
          <a:xfrm>
            <a:off x="828446" y="9266530"/>
            <a:ext cx="105156" cy="105156"/>
          </a:xfrm>
          <a:prstGeom prst="rect">
            <a:avLst/>
          </a:prstGeom>
        </p:spPr>
      </p:pic>
      <p:sp>
        <p:nvSpPr>
          <p:cNvPr id="53" name="Text 36"/>
          <p:cNvSpPr txBox="1"/>
          <p:nvPr/>
        </p:nvSpPr>
        <p:spPr>
          <a:xfrm>
            <a:off x="828446" y="9454896"/>
            <a:ext cx="4506163" cy="162763"/>
          </a:xfrm>
          <a:prstGeom prst="rect">
            <a:avLst/>
          </a:prstGeom>
          <a:noFill/>
          <a:ln/>
        </p:spPr>
        <p:txBody>
          <a:bodyPr wrap="square" lIns="0" tIns="0" rIns="0" bIns="0" rtlCol="0" anchor="ctr"/>
          <a:lstStyle/>
          <a:p>
            <a:pPr marL="0" indent="0" algn="l">
              <a:buNone/>
            </a:pPr>
            <a:r>
              <a:rPr lang="en-US" sz="800" dirty="0">
                <a:solidFill>
                  <a:srgbClr val="78350F"/>
                </a:solidFill>
                <a:latin typeface="Noto Sans KR" pitchFamily="34" charset="0"/>
                <a:ea typeface="Noto Sans KR" pitchFamily="34" charset="-122"/>
                <a:cs typeface="Noto Sans KR" pitchFamily="34" charset="-120"/>
              </a:rPr>
              <a:t>PyTorch 2.6+ 안전 로더, 입력 위생 처리, 상세한 에러 메시지로 사용자 경험 개선</a:t>
            </a:r>
            <a:endParaRPr lang="en-US" sz="800" dirty="0"/>
          </a:p>
        </p:txBody>
      </p:sp>
      <p:sp>
        <p:nvSpPr>
          <p:cNvPr id="54" name="Shape 37"/>
          <p:cNvSpPr/>
          <p:nvPr/>
        </p:nvSpPr>
        <p:spPr>
          <a:xfrm>
            <a:off x="5740603" y="1390802"/>
            <a:ext cx="5982005" cy="4028846"/>
          </a:xfrm>
          <a:prstGeom prst="roundRect">
            <a:avLst>
              <a:gd name="adj" fmla="val 429"/>
            </a:avLst>
          </a:prstGeom>
          <a:solidFill>
            <a:srgbClr val="FFFFFF"/>
          </a:solidFill>
          <a:ln/>
          <a:effectLst>
            <a:outerShdw blurRad="76200" dist="25400" dir="16200000" algn="bl" rotWithShape="0">
              <a:srgbClr val="000000">
                <a:alpha val="8000"/>
              </a:srgbClr>
            </a:outerShdw>
          </a:effectLst>
        </p:spPr>
      </p:sp>
      <p:sp>
        <p:nvSpPr>
          <p:cNvPr id="55" name="Shape 38"/>
          <p:cNvSpPr/>
          <p:nvPr/>
        </p:nvSpPr>
        <p:spPr>
          <a:xfrm>
            <a:off x="5740603" y="1390802"/>
            <a:ext cx="38405" cy="4028846"/>
          </a:xfrm>
          <a:prstGeom prst="roundRect">
            <a:avLst>
              <a:gd name="adj" fmla="val 45030"/>
            </a:avLst>
          </a:prstGeom>
          <a:solidFill>
            <a:srgbClr val="10B981"/>
          </a:solidFill>
          <a:ln w="12700">
            <a:solidFill>
              <a:srgbClr val="10B981">
                <a:alpha val="0"/>
              </a:srgbClr>
            </a:solidFill>
            <a:prstDash val="solid"/>
          </a:ln>
        </p:spPr>
      </p:sp>
      <p:pic>
        <p:nvPicPr>
          <p:cNvPr id="56" name="Image 15" descr="preencoded.png"/>
          <p:cNvPicPr>
            <a:picLocks noChangeAspect="1"/>
          </p:cNvPicPr>
          <p:nvPr/>
        </p:nvPicPr>
        <p:blipFill>
          <a:blip r:embed="rId11"/>
          <a:srcRect l="-80" r="-80"/>
          <a:stretch/>
        </p:blipFill>
        <p:spPr>
          <a:xfrm>
            <a:off x="5969203" y="1647749"/>
            <a:ext cx="286207" cy="228600"/>
          </a:xfrm>
          <a:prstGeom prst="rect">
            <a:avLst/>
          </a:prstGeom>
        </p:spPr>
      </p:pic>
      <p:sp>
        <p:nvSpPr>
          <p:cNvPr id="57" name="Text 39"/>
          <p:cNvSpPr txBox="1"/>
          <p:nvPr/>
        </p:nvSpPr>
        <p:spPr>
          <a:xfrm>
            <a:off x="6369710" y="1638605"/>
            <a:ext cx="1593799"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주요 메서드 및 기능</a:t>
            </a:r>
            <a:endParaRPr lang="en-US" sz="1200" dirty="0"/>
          </a:p>
        </p:txBody>
      </p:sp>
      <p:sp>
        <p:nvSpPr>
          <p:cNvPr id="58" name="Shape 40"/>
          <p:cNvSpPr/>
          <p:nvPr/>
        </p:nvSpPr>
        <p:spPr>
          <a:xfrm>
            <a:off x="5969203" y="2057400"/>
            <a:ext cx="2734056" cy="552298"/>
          </a:xfrm>
          <a:prstGeom prst="roundRect">
            <a:avLst>
              <a:gd name="adj" fmla="val 11418"/>
            </a:avLst>
          </a:prstGeom>
          <a:solidFill>
            <a:srgbClr val="F8FAFC"/>
          </a:solidFill>
          <a:ln w="12700">
            <a:solidFill>
              <a:srgbClr val="E2E8F0"/>
            </a:solidFill>
            <a:prstDash val="solid"/>
          </a:ln>
        </p:spPr>
      </p:sp>
      <p:sp>
        <p:nvSpPr>
          <p:cNvPr id="59" name="Text 41"/>
          <p:cNvSpPr txBox="1"/>
          <p:nvPr/>
        </p:nvSpPr>
        <p:spPr>
          <a:xfrm>
            <a:off x="6074359" y="2162556"/>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__init__()</a:t>
            </a:r>
            <a:endParaRPr lang="en-US" sz="900" dirty="0"/>
          </a:p>
        </p:txBody>
      </p:sp>
      <p:sp>
        <p:nvSpPr>
          <p:cNvPr id="60" name="Text 42"/>
          <p:cNvSpPr txBox="1"/>
          <p:nvPr/>
        </p:nvSpPr>
        <p:spPr>
          <a:xfrm>
            <a:off x="6074359" y="2371954"/>
            <a:ext cx="2714854"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모델 체크포인트 로드, 스케일러 복원, COG 매핑 초기화</a:t>
            </a:r>
            <a:endParaRPr lang="en-US" sz="800" dirty="0"/>
          </a:p>
        </p:txBody>
      </p:sp>
      <p:sp>
        <p:nvSpPr>
          <p:cNvPr id="61" name="Shape 43"/>
          <p:cNvSpPr/>
          <p:nvPr/>
        </p:nvSpPr>
        <p:spPr>
          <a:xfrm>
            <a:off x="8794699" y="2057400"/>
            <a:ext cx="2734056" cy="552298"/>
          </a:xfrm>
          <a:prstGeom prst="roundRect">
            <a:avLst>
              <a:gd name="adj" fmla="val 11418"/>
            </a:avLst>
          </a:prstGeom>
          <a:solidFill>
            <a:srgbClr val="F8FAFC"/>
          </a:solidFill>
          <a:ln w="12700">
            <a:solidFill>
              <a:srgbClr val="E2E8F0"/>
            </a:solidFill>
            <a:prstDash val="solid"/>
          </a:ln>
        </p:spPr>
      </p:sp>
      <p:sp>
        <p:nvSpPr>
          <p:cNvPr id="62" name="Text 44"/>
          <p:cNvSpPr txBox="1"/>
          <p:nvPr/>
        </p:nvSpPr>
        <p:spPr>
          <a:xfrm>
            <a:off x="8899855" y="2162556"/>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predict(smiles)</a:t>
            </a:r>
            <a:endParaRPr lang="en-US" sz="900" dirty="0"/>
          </a:p>
        </p:txBody>
      </p:sp>
      <p:sp>
        <p:nvSpPr>
          <p:cNvPr id="63" name="Text 45"/>
          <p:cNvSpPr txBox="1"/>
          <p:nvPr/>
        </p:nvSpPr>
        <p:spPr>
          <a:xfrm>
            <a:off x="8899855" y="2371954"/>
            <a:ext cx="2878531"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SMILES → C1-C13 저해 확률 예측, 200 RDKit 기술자 통합</a:t>
            </a:r>
            <a:endParaRPr lang="en-US" sz="800" dirty="0"/>
          </a:p>
        </p:txBody>
      </p:sp>
      <p:sp>
        <p:nvSpPr>
          <p:cNvPr id="64" name="Shape 46"/>
          <p:cNvSpPr/>
          <p:nvPr/>
        </p:nvSpPr>
        <p:spPr>
          <a:xfrm>
            <a:off x="5969203" y="2704795"/>
            <a:ext cx="2734056" cy="552298"/>
          </a:xfrm>
          <a:prstGeom prst="roundRect">
            <a:avLst>
              <a:gd name="adj" fmla="val 11418"/>
            </a:avLst>
          </a:prstGeom>
          <a:solidFill>
            <a:srgbClr val="F8FAFC"/>
          </a:solidFill>
          <a:ln w="12700">
            <a:solidFill>
              <a:srgbClr val="E2E8F0"/>
            </a:solidFill>
            <a:prstDash val="solid"/>
          </a:ln>
        </p:spPr>
      </p:sp>
      <p:sp>
        <p:nvSpPr>
          <p:cNvPr id="65" name="Text 47"/>
          <p:cNvSpPr txBox="1"/>
          <p:nvPr/>
        </p:nvSpPr>
        <p:spPr>
          <a:xfrm>
            <a:off x="6074359" y="2809951"/>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get_properties()</a:t>
            </a:r>
            <a:endParaRPr lang="en-US" sz="900" dirty="0"/>
          </a:p>
        </p:txBody>
      </p:sp>
      <p:sp>
        <p:nvSpPr>
          <p:cNvPr id="66" name="Text 48"/>
          <p:cNvSpPr txBox="1"/>
          <p:nvPr/>
        </p:nvSpPr>
        <p:spPr>
          <a:xfrm>
            <a:off x="6074359" y="3019349"/>
            <a:ext cx="2625242"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분자량, LogP, HBD/HBA, TPSA 등 약물성 지표 계산</a:t>
            </a:r>
            <a:endParaRPr lang="en-US" sz="800" dirty="0"/>
          </a:p>
        </p:txBody>
      </p:sp>
      <p:sp>
        <p:nvSpPr>
          <p:cNvPr id="67" name="Shape 49"/>
          <p:cNvSpPr/>
          <p:nvPr/>
        </p:nvSpPr>
        <p:spPr>
          <a:xfrm>
            <a:off x="8794699" y="2704795"/>
            <a:ext cx="2734056" cy="552298"/>
          </a:xfrm>
          <a:prstGeom prst="roundRect">
            <a:avLst>
              <a:gd name="adj" fmla="val 11418"/>
            </a:avLst>
          </a:prstGeom>
          <a:solidFill>
            <a:srgbClr val="F8FAFC"/>
          </a:solidFill>
          <a:ln w="12700">
            <a:solidFill>
              <a:srgbClr val="E2E8F0"/>
            </a:solidFill>
            <a:prstDash val="solid"/>
          </a:ln>
        </p:spPr>
      </p:sp>
      <p:sp>
        <p:nvSpPr>
          <p:cNvPr id="68" name="Text 50"/>
          <p:cNvSpPr txBox="1"/>
          <p:nvPr/>
        </p:nvSpPr>
        <p:spPr>
          <a:xfrm>
            <a:off x="8899855" y="2809951"/>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generate_image()</a:t>
            </a:r>
            <a:endParaRPr lang="en-US" sz="900" dirty="0"/>
          </a:p>
        </p:txBody>
      </p:sp>
      <p:sp>
        <p:nvSpPr>
          <p:cNvPr id="69" name="Text 51"/>
          <p:cNvSpPr txBox="1"/>
          <p:nvPr/>
        </p:nvSpPr>
        <p:spPr>
          <a:xfrm>
            <a:off x="8899855" y="3019349"/>
            <a:ext cx="2625242"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RDKit Draw.MolToImage로 2D 구조식 PNG 생성</a:t>
            </a:r>
            <a:endParaRPr lang="en-US" sz="800" dirty="0"/>
          </a:p>
        </p:txBody>
      </p:sp>
      <p:sp>
        <p:nvSpPr>
          <p:cNvPr id="70" name="Shape 52"/>
          <p:cNvSpPr/>
          <p:nvPr/>
        </p:nvSpPr>
        <p:spPr>
          <a:xfrm>
            <a:off x="5969203" y="3353105"/>
            <a:ext cx="2734056" cy="552298"/>
          </a:xfrm>
          <a:prstGeom prst="roundRect">
            <a:avLst>
              <a:gd name="adj" fmla="val 11418"/>
            </a:avLst>
          </a:prstGeom>
          <a:solidFill>
            <a:srgbClr val="F8FAFC"/>
          </a:solidFill>
          <a:ln w="12700">
            <a:solidFill>
              <a:srgbClr val="E2E8F0"/>
            </a:solidFill>
            <a:prstDash val="solid"/>
          </a:ln>
        </p:spPr>
      </p:sp>
      <p:sp>
        <p:nvSpPr>
          <p:cNvPr id="71" name="Text 53"/>
          <p:cNvSpPr txBox="1"/>
          <p:nvPr/>
        </p:nvSpPr>
        <p:spPr>
          <a:xfrm>
            <a:off x="6074359" y="3457346"/>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_validate_smiles()</a:t>
            </a:r>
            <a:endParaRPr lang="en-US" sz="900" dirty="0"/>
          </a:p>
        </p:txBody>
      </p:sp>
      <p:sp>
        <p:nvSpPr>
          <p:cNvPr id="72" name="Text 54"/>
          <p:cNvSpPr txBox="1"/>
          <p:nvPr/>
        </p:nvSpPr>
        <p:spPr>
          <a:xfrm>
            <a:off x="6074359" y="3666744"/>
            <a:ext cx="2714854"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SMILES 유효성 검사 및 분자 객체 생성 확인</a:t>
            </a:r>
            <a:endParaRPr lang="en-US" sz="800" dirty="0"/>
          </a:p>
        </p:txBody>
      </p:sp>
      <p:sp>
        <p:nvSpPr>
          <p:cNvPr id="73" name="Shape 55"/>
          <p:cNvSpPr/>
          <p:nvPr/>
        </p:nvSpPr>
        <p:spPr>
          <a:xfrm>
            <a:off x="8794699" y="3353105"/>
            <a:ext cx="2734056" cy="552298"/>
          </a:xfrm>
          <a:prstGeom prst="roundRect">
            <a:avLst>
              <a:gd name="adj" fmla="val 11418"/>
            </a:avLst>
          </a:prstGeom>
          <a:solidFill>
            <a:srgbClr val="F8FAFC"/>
          </a:solidFill>
          <a:ln w="12700">
            <a:solidFill>
              <a:srgbClr val="E2E8F0"/>
            </a:solidFill>
            <a:prstDash val="solid"/>
          </a:ln>
        </p:spPr>
      </p:sp>
      <p:sp>
        <p:nvSpPr>
          <p:cNvPr id="74" name="Text 56"/>
          <p:cNvSpPr txBox="1"/>
          <p:nvPr/>
        </p:nvSpPr>
        <p:spPr>
          <a:xfrm>
            <a:off x="8899855" y="3457346"/>
            <a:ext cx="2625242" cy="171907"/>
          </a:xfrm>
          <a:prstGeom prst="rect">
            <a:avLst/>
          </a:prstGeom>
          <a:noFill/>
          <a:ln/>
        </p:spPr>
        <p:txBody>
          <a:bodyPr wrap="square" lIns="0" tIns="0" rIns="0" bIns="0" rtlCol="0" anchor="ctr"/>
          <a:lstStyle/>
          <a:p>
            <a:pPr marL="0" indent="0" algn="l">
              <a:buNone/>
            </a:pPr>
            <a:r>
              <a:rPr lang="en-US" sz="900" b="1" dirty="0">
                <a:solidFill>
                  <a:srgbClr val="1E293B"/>
                </a:solidFill>
                <a:latin typeface="Courier New" pitchFamily="34" charset="0"/>
                <a:ea typeface="Courier New" pitchFamily="34" charset="-122"/>
                <a:cs typeface="Courier New" pitchFamily="34" charset="-120"/>
              </a:rPr>
              <a:t>_calculate_descriptors()</a:t>
            </a:r>
            <a:endParaRPr lang="en-US" sz="900" dirty="0"/>
          </a:p>
        </p:txBody>
      </p:sp>
      <p:sp>
        <p:nvSpPr>
          <p:cNvPr id="75" name="Text 57"/>
          <p:cNvSpPr txBox="1"/>
          <p:nvPr/>
        </p:nvSpPr>
        <p:spPr>
          <a:xfrm>
            <a:off x="8899855" y="3666744"/>
            <a:ext cx="2625242" cy="133502"/>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RDKit 200개 분자 기술자 계산 및 정규화</a:t>
            </a:r>
            <a:endParaRPr lang="en-US" sz="800" dirty="0"/>
          </a:p>
        </p:txBody>
      </p:sp>
      <p:pic>
        <p:nvPicPr>
          <p:cNvPr id="76" name="Image 16" descr="preencoded.png"/>
          <p:cNvPicPr>
            <a:picLocks noChangeAspect="1"/>
          </p:cNvPicPr>
          <p:nvPr/>
        </p:nvPicPr>
        <p:blipFill>
          <a:blip r:embed="rId12"/>
          <a:srcRect t="-25301" b="-25301"/>
          <a:stretch/>
        </p:blipFill>
        <p:spPr>
          <a:xfrm>
            <a:off x="5969203" y="4095598"/>
            <a:ext cx="75895" cy="114300"/>
          </a:xfrm>
          <a:prstGeom prst="rect">
            <a:avLst/>
          </a:prstGeom>
        </p:spPr>
      </p:pic>
      <p:sp>
        <p:nvSpPr>
          <p:cNvPr id="77" name="Text 58"/>
          <p:cNvSpPr txBox="1"/>
          <p:nvPr/>
        </p:nvSpPr>
        <p:spPr>
          <a:xfrm>
            <a:off x="6141110" y="4038905"/>
            <a:ext cx="423367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체크포인트 로드</a:t>
            </a:r>
            <a:r>
              <a:rPr lang="en-US" sz="900" dirty="0">
                <a:solidFill>
                  <a:srgbClr val="475569"/>
                </a:solidFill>
                <a:latin typeface="Noto Sans KR" pitchFamily="34" charset="0"/>
                <a:ea typeface="Noto Sans KR" pitchFamily="34" charset="-122"/>
                <a:cs typeface="Noto Sans KR" pitchFamily="34" charset="-120"/>
              </a:rPr>
              <a:t>: chemprop.utils.load_checkpoint로 .pt 모델 파일 로드</a:t>
            </a:r>
            <a:endParaRPr lang="en-US" sz="900" dirty="0"/>
          </a:p>
        </p:txBody>
      </p:sp>
      <p:pic>
        <p:nvPicPr>
          <p:cNvPr id="78" name="Image 17" descr="preencoded.png"/>
          <p:cNvPicPr>
            <a:picLocks noChangeAspect="1"/>
          </p:cNvPicPr>
          <p:nvPr/>
        </p:nvPicPr>
        <p:blipFill>
          <a:blip r:embed="rId12"/>
          <a:srcRect t="-25301" b="-25301"/>
          <a:stretch/>
        </p:blipFill>
        <p:spPr>
          <a:xfrm>
            <a:off x="5969203" y="4343400"/>
            <a:ext cx="75895" cy="114300"/>
          </a:xfrm>
          <a:prstGeom prst="rect">
            <a:avLst/>
          </a:prstGeom>
        </p:spPr>
      </p:pic>
      <p:sp>
        <p:nvSpPr>
          <p:cNvPr id="79" name="Text 59"/>
          <p:cNvSpPr txBox="1"/>
          <p:nvPr/>
        </p:nvSpPr>
        <p:spPr>
          <a:xfrm>
            <a:off x="6141110" y="4286707"/>
            <a:ext cx="401421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스케일러 로드</a:t>
            </a:r>
            <a:r>
              <a:rPr lang="en-US" sz="900" dirty="0">
                <a:solidFill>
                  <a:srgbClr val="475569"/>
                </a:solidFill>
                <a:latin typeface="Noto Sans KR" pitchFamily="34" charset="0"/>
                <a:ea typeface="Noto Sans KR" pitchFamily="34" charset="-122"/>
                <a:cs typeface="Noto Sans KR" pitchFamily="34" charset="-120"/>
              </a:rPr>
              <a:t>: chemprop.utils.load_scalers로 정규화 파라미터 복원</a:t>
            </a:r>
            <a:endParaRPr lang="en-US" sz="900" dirty="0"/>
          </a:p>
        </p:txBody>
      </p:sp>
      <p:pic>
        <p:nvPicPr>
          <p:cNvPr id="80" name="Image 18" descr="preencoded.png"/>
          <p:cNvPicPr>
            <a:picLocks noChangeAspect="1"/>
          </p:cNvPicPr>
          <p:nvPr/>
        </p:nvPicPr>
        <p:blipFill>
          <a:blip r:embed="rId12"/>
          <a:srcRect t="-25301" b="-25301"/>
          <a:stretch/>
        </p:blipFill>
        <p:spPr>
          <a:xfrm>
            <a:off x="5969203" y="4591202"/>
            <a:ext cx="75895" cy="114300"/>
          </a:xfrm>
          <a:prstGeom prst="rect">
            <a:avLst/>
          </a:prstGeom>
        </p:spPr>
      </p:pic>
      <p:sp>
        <p:nvSpPr>
          <p:cNvPr id="81" name="Text 60"/>
          <p:cNvSpPr txBox="1"/>
          <p:nvPr/>
        </p:nvSpPr>
        <p:spPr>
          <a:xfrm>
            <a:off x="6141110" y="4533595"/>
            <a:ext cx="326532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MoleculeDataset</a:t>
            </a:r>
            <a:r>
              <a:rPr lang="en-US" sz="900" dirty="0">
                <a:solidFill>
                  <a:srgbClr val="475569"/>
                </a:solidFill>
                <a:latin typeface="Noto Sans KR" pitchFamily="34" charset="0"/>
                <a:ea typeface="Noto Sans KR" pitchFamily="34" charset="-122"/>
                <a:cs typeface="Noto Sans KR" pitchFamily="34" charset="-120"/>
              </a:rPr>
              <a:t>: Chemprop 데이터 구조로 입력 변환</a:t>
            </a:r>
            <a:endParaRPr lang="en-US" sz="900" dirty="0"/>
          </a:p>
        </p:txBody>
      </p:sp>
      <p:pic>
        <p:nvPicPr>
          <p:cNvPr id="82" name="Image 19" descr="preencoded.png"/>
          <p:cNvPicPr>
            <a:picLocks noChangeAspect="1"/>
          </p:cNvPicPr>
          <p:nvPr/>
        </p:nvPicPr>
        <p:blipFill>
          <a:blip r:embed="rId12"/>
          <a:srcRect t="-25301" b="-25301"/>
          <a:stretch/>
        </p:blipFill>
        <p:spPr>
          <a:xfrm>
            <a:off x="5969203" y="4839005"/>
            <a:ext cx="75895" cy="114300"/>
          </a:xfrm>
          <a:prstGeom prst="rect">
            <a:avLst/>
          </a:prstGeom>
        </p:spPr>
      </p:pic>
      <p:sp>
        <p:nvSpPr>
          <p:cNvPr id="83" name="Text 61"/>
          <p:cNvSpPr txBox="1"/>
          <p:nvPr/>
        </p:nvSpPr>
        <p:spPr>
          <a:xfrm>
            <a:off x="6141110" y="4781398"/>
            <a:ext cx="3095244"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예측 실행</a:t>
            </a:r>
            <a:r>
              <a:rPr lang="en-US" sz="900" dirty="0">
                <a:solidFill>
                  <a:srgbClr val="475569"/>
                </a:solidFill>
                <a:latin typeface="Noto Sans KR" pitchFamily="34" charset="0"/>
                <a:ea typeface="Noto Sans KR" pitchFamily="34" charset="-122"/>
                <a:cs typeface="Noto Sans KR" pitchFamily="34" charset="-120"/>
              </a:rPr>
              <a:t>: chemprop.train.predict 함수로 배치 추론</a:t>
            </a:r>
            <a:endParaRPr lang="en-US" sz="900" dirty="0"/>
          </a:p>
        </p:txBody>
      </p:sp>
      <p:pic>
        <p:nvPicPr>
          <p:cNvPr id="84" name="Image 20" descr="preencoded.png"/>
          <p:cNvPicPr>
            <a:picLocks noChangeAspect="1"/>
          </p:cNvPicPr>
          <p:nvPr/>
        </p:nvPicPr>
        <p:blipFill>
          <a:blip r:embed="rId13"/>
          <a:stretch>
            <a:fillRect/>
          </a:stretch>
        </p:blipFill>
        <p:spPr>
          <a:xfrm>
            <a:off x="5969203" y="5009998"/>
            <a:ext cx="571500" cy="219456"/>
          </a:xfrm>
          <a:prstGeom prst="rect">
            <a:avLst/>
          </a:prstGeom>
        </p:spPr>
      </p:pic>
      <p:sp>
        <p:nvSpPr>
          <p:cNvPr id="85" name="Text 62"/>
          <p:cNvSpPr/>
          <p:nvPr/>
        </p:nvSpPr>
        <p:spPr>
          <a:xfrm>
            <a:off x="5969203" y="5009998"/>
            <a:ext cx="5715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PyTorch</a:t>
            </a:r>
            <a:endParaRPr lang="en-US" sz="800" dirty="0"/>
          </a:p>
        </p:txBody>
      </p:sp>
      <p:pic>
        <p:nvPicPr>
          <p:cNvPr id="86" name="Image 21" descr="preencoded.png"/>
          <p:cNvPicPr>
            <a:picLocks noChangeAspect="1"/>
          </p:cNvPicPr>
          <p:nvPr/>
        </p:nvPicPr>
        <p:blipFill>
          <a:blip r:embed="rId14"/>
          <a:stretch>
            <a:fillRect/>
          </a:stretch>
        </p:blipFill>
        <p:spPr>
          <a:xfrm>
            <a:off x="6589166" y="5009998"/>
            <a:ext cx="685800" cy="219456"/>
          </a:xfrm>
          <a:prstGeom prst="rect">
            <a:avLst/>
          </a:prstGeom>
        </p:spPr>
      </p:pic>
      <p:sp>
        <p:nvSpPr>
          <p:cNvPr id="87" name="Text 63"/>
          <p:cNvSpPr/>
          <p:nvPr/>
        </p:nvSpPr>
        <p:spPr>
          <a:xfrm>
            <a:off x="6589166" y="5009998"/>
            <a:ext cx="6858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Chemprop</a:t>
            </a:r>
            <a:endParaRPr lang="en-US" sz="800" dirty="0"/>
          </a:p>
        </p:txBody>
      </p:sp>
      <p:pic>
        <p:nvPicPr>
          <p:cNvPr id="88" name="Image 22" descr="preencoded.png"/>
          <p:cNvPicPr>
            <a:picLocks noChangeAspect="1"/>
          </p:cNvPicPr>
          <p:nvPr/>
        </p:nvPicPr>
        <p:blipFill>
          <a:blip r:embed="rId15"/>
          <a:stretch>
            <a:fillRect/>
          </a:stretch>
        </p:blipFill>
        <p:spPr>
          <a:xfrm>
            <a:off x="7323430" y="5009998"/>
            <a:ext cx="457200" cy="219456"/>
          </a:xfrm>
          <a:prstGeom prst="rect">
            <a:avLst/>
          </a:prstGeom>
        </p:spPr>
      </p:pic>
      <p:sp>
        <p:nvSpPr>
          <p:cNvPr id="89" name="Text 64"/>
          <p:cNvSpPr/>
          <p:nvPr/>
        </p:nvSpPr>
        <p:spPr>
          <a:xfrm>
            <a:off x="7323430" y="5009998"/>
            <a:ext cx="4572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RDKit</a:t>
            </a:r>
            <a:endParaRPr lang="en-US" sz="800" dirty="0"/>
          </a:p>
        </p:txBody>
      </p:sp>
      <p:pic>
        <p:nvPicPr>
          <p:cNvPr id="90" name="Image 23" descr="preencoded.png"/>
          <p:cNvPicPr>
            <a:picLocks noChangeAspect="1"/>
          </p:cNvPicPr>
          <p:nvPr/>
        </p:nvPicPr>
        <p:blipFill>
          <a:blip r:embed="rId16"/>
          <a:stretch>
            <a:fillRect/>
          </a:stretch>
        </p:blipFill>
        <p:spPr>
          <a:xfrm>
            <a:off x="7833665" y="5009998"/>
            <a:ext cx="724205" cy="219456"/>
          </a:xfrm>
          <a:prstGeom prst="rect">
            <a:avLst/>
          </a:prstGeom>
        </p:spPr>
      </p:pic>
      <p:sp>
        <p:nvSpPr>
          <p:cNvPr id="91" name="Text 65"/>
          <p:cNvSpPr/>
          <p:nvPr/>
        </p:nvSpPr>
        <p:spPr>
          <a:xfrm>
            <a:off x="7833665" y="5009998"/>
            <a:ext cx="724205"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66534"/>
                </a:solidFill>
                <a:latin typeface="Noto Sans KR" pitchFamily="34" charset="0"/>
                <a:ea typeface="Noto Sans KR" pitchFamily="34" charset="-122"/>
                <a:cs typeface="Noto Sans KR" pitchFamily="34" charset="-120"/>
              </a:rPr>
              <a:t>Descriptors</a:t>
            </a:r>
            <a:endParaRPr lang="en-US" sz="800" dirty="0"/>
          </a:p>
        </p:txBody>
      </p:sp>
      <p:sp>
        <p:nvSpPr>
          <p:cNvPr id="92" name="Shape 66"/>
          <p:cNvSpPr/>
          <p:nvPr/>
        </p:nvSpPr>
        <p:spPr>
          <a:xfrm>
            <a:off x="5740603" y="5591556"/>
            <a:ext cx="5982005" cy="2829154"/>
          </a:xfrm>
          <a:prstGeom prst="roundRect">
            <a:avLst>
              <a:gd name="adj" fmla="val 871"/>
            </a:avLst>
          </a:prstGeom>
          <a:solidFill>
            <a:srgbClr val="FFFFFF"/>
          </a:solidFill>
          <a:ln/>
          <a:effectLst>
            <a:outerShdw blurRad="76200" dist="25400" dir="16200000" algn="bl" rotWithShape="0">
              <a:srgbClr val="000000">
                <a:alpha val="8000"/>
              </a:srgbClr>
            </a:outerShdw>
          </a:effectLst>
        </p:spPr>
      </p:sp>
      <p:sp>
        <p:nvSpPr>
          <p:cNvPr id="93" name="Shape 67"/>
          <p:cNvSpPr/>
          <p:nvPr/>
        </p:nvSpPr>
        <p:spPr>
          <a:xfrm>
            <a:off x="5740603" y="5591556"/>
            <a:ext cx="38405" cy="2829154"/>
          </a:xfrm>
          <a:prstGeom prst="roundRect">
            <a:avLst>
              <a:gd name="adj" fmla="val 64133"/>
            </a:avLst>
          </a:prstGeom>
          <a:solidFill>
            <a:srgbClr val="10B981"/>
          </a:solidFill>
          <a:ln w="12700">
            <a:solidFill>
              <a:srgbClr val="10B981">
                <a:alpha val="0"/>
              </a:srgbClr>
            </a:solidFill>
            <a:prstDash val="solid"/>
          </a:ln>
        </p:spPr>
      </p:sp>
      <p:pic>
        <p:nvPicPr>
          <p:cNvPr id="94" name="Image 24" descr="preencoded.png"/>
          <p:cNvPicPr>
            <a:picLocks noChangeAspect="1"/>
          </p:cNvPicPr>
          <p:nvPr/>
        </p:nvPicPr>
        <p:blipFill>
          <a:blip r:embed="rId17"/>
          <a:srcRect/>
          <a:stretch/>
        </p:blipFill>
        <p:spPr>
          <a:xfrm>
            <a:off x="5969203" y="5848502"/>
            <a:ext cx="228600" cy="228600"/>
          </a:xfrm>
          <a:prstGeom prst="rect">
            <a:avLst/>
          </a:prstGeom>
        </p:spPr>
      </p:pic>
      <p:sp>
        <p:nvSpPr>
          <p:cNvPr id="95" name="Text 68"/>
          <p:cNvSpPr txBox="1"/>
          <p:nvPr/>
        </p:nvSpPr>
        <p:spPr>
          <a:xfrm>
            <a:off x="6312103" y="5838444"/>
            <a:ext cx="1972361"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분자 이미지 생성 (RDKit)</a:t>
            </a:r>
            <a:endParaRPr lang="en-US" sz="1200" dirty="0"/>
          </a:p>
        </p:txBody>
      </p:sp>
      <p:sp>
        <p:nvSpPr>
          <p:cNvPr id="96" name="Shape 69"/>
          <p:cNvSpPr/>
          <p:nvPr/>
        </p:nvSpPr>
        <p:spPr>
          <a:xfrm>
            <a:off x="5969203" y="6258154"/>
            <a:ext cx="5562295" cy="961949"/>
          </a:xfrm>
          <a:prstGeom prst="roundRect">
            <a:avLst>
              <a:gd name="adj" fmla="val 5647"/>
            </a:avLst>
          </a:prstGeom>
          <a:solidFill>
            <a:srgbClr val="F1F5F9"/>
          </a:solidFill>
          <a:ln w="12700">
            <a:solidFill>
              <a:srgbClr val="E2E8F0"/>
            </a:solidFill>
            <a:prstDash val="solid"/>
          </a:ln>
        </p:spPr>
      </p:sp>
      <p:sp>
        <p:nvSpPr>
          <p:cNvPr id="97" name="Text 70"/>
          <p:cNvSpPr txBox="1"/>
          <p:nvPr/>
        </p:nvSpPr>
        <p:spPr>
          <a:xfrm>
            <a:off x="6093562" y="6362395"/>
            <a:ext cx="5429707" cy="171907"/>
          </a:xfrm>
          <a:prstGeom prst="rect">
            <a:avLst/>
          </a:prstGeom>
          <a:noFill/>
          <a:ln/>
        </p:spPr>
        <p:txBody>
          <a:bodyPr wrap="square" lIns="0" tIns="0" rIns="0" bIns="0" rtlCol="0" anchor="ctr"/>
          <a:lstStyle/>
          <a:p>
            <a:pPr marL="0" indent="0" algn="l">
              <a:buNone/>
            </a:pPr>
            <a:r>
              <a:rPr lang="en-US" sz="800" b="1" dirty="0">
                <a:solidFill>
                  <a:srgbClr val="DC2626"/>
                </a:solidFill>
                <a:latin typeface="Courier New" pitchFamily="34" charset="0"/>
                <a:ea typeface="Courier New" pitchFamily="34" charset="-122"/>
                <a:cs typeface="Courier New" pitchFamily="34" charset="-120"/>
              </a:rPr>
              <a:t>from</a:t>
            </a:r>
            <a:r>
              <a:rPr lang="en-US" sz="800" dirty="0">
                <a:solidFill>
                  <a:srgbClr val="334155"/>
                </a:solidFill>
                <a:latin typeface="Courier New" pitchFamily="34" charset="0"/>
                <a:ea typeface="Courier New" pitchFamily="34" charset="-122"/>
                <a:cs typeface="Courier New" pitchFamily="34" charset="-120"/>
              </a:rPr>
              <a:t> rdkit.Chem </a:t>
            </a:r>
            <a:r>
              <a:rPr lang="en-US" sz="800" b="1" dirty="0">
                <a:solidFill>
                  <a:srgbClr val="DC2626"/>
                </a:solidFill>
                <a:latin typeface="Courier New" pitchFamily="34" charset="0"/>
                <a:ea typeface="Courier New" pitchFamily="34" charset="-122"/>
                <a:cs typeface="Courier New" pitchFamily="34" charset="-120"/>
              </a:rPr>
              <a:t>import</a:t>
            </a:r>
            <a:r>
              <a:rPr lang="en-US" sz="800" dirty="0">
                <a:solidFill>
                  <a:srgbClr val="334155"/>
                </a:solidFill>
                <a:latin typeface="Courier New" pitchFamily="34" charset="0"/>
                <a:ea typeface="Courier New" pitchFamily="34" charset="-122"/>
                <a:cs typeface="Courier New" pitchFamily="34" charset="-120"/>
              </a:rPr>
              <a:t> Draw</a:t>
            </a:r>
            <a:endParaRPr lang="en-US" sz="800" dirty="0"/>
          </a:p>
        </p:txBody>
      </p:sp>
      <p:sp>
        <p:nvSpPr>
          <p:cNvPr id="98" name="Text 71"/>
          <p:cNvSpPr txBox="1"/>
          <p:nvPr/>
        </p:nvSpPr>
        <p:spPr>
          <a:xfrm>
            <a:off x="6093562" y="6548933"/>
            <a:ext cx="5429707" cy="171907"/>
          </a:xfrm>
          <a:prstGeom prst="rect">
            <a:avLst/>
          </a:prstGeom>
          <a:noFill/>
          <a:ln/>
        </p:spPr>
        <p:txBody>
          <a:bodyPr wrap="square" lIns="0" tIns="0" rIns="0" bIns="0" rtlCol="0" anchor="ctr"/>
          <a:lstStyle/>
          <a:p>
            <a:pPr marL="0" indent="0" algn="l">
              <a:buNone/>
            </a:pPr>
            <a:r>
              <a:rPr lang="en-US" sz="800" dirty="0">
                <a:solidFill>
                  <a:srgbClr val="334155"/>
                </a:solidFill>
                <a:latin typeface="Courier New" pitchFamily="34" charset="0"/>
                <a:ea typeface="Courier New" pitchFamily="34" charset="-122"/>
                <a:cs typeface="Courier New" pitchFamily="34" charset="-120"/>
              </a:rPr>
              <a:t>mol = Chem.MolFromSmiles(smiles)</a:t>
            </a:r>
            <a:endParaRPr lang="en-US" sz="800" dirty="0"/>
          </a:p>
        </p:txBody>
      </p:sp>
      <p:sp>
        <p:nvSpPr>
          <p:cNvPr id="99" name="Text 72"/>
          <p:cNvSpPr txBox="1"/>
          <p:nvPr/>
        </p:nvSpPr>
        <p:spPr>
          <a:xfrm>
            <a:off x="6093562" y="6736385"/>
            <a:ext cx="5429707" cy="171907"/>
          </a:xfrm>
          <a:prstGeom prst="rect">
            <a:avLst/>
          </a:prstGeom>
          <a:noFill/>
          <a:ln/>
        </p:spPr>
        <p:txBody>
          <a:bodyPr wrap="square" lIns="0" tIns="0" rIns="0" bIns="0" rtlCol="0" anchor="ctr"/>
          <a:lstStyle/>
          <a:p>
            <a:pPr marL="0" indent="0" algn="l">
              <a:buNone/>
            </a:pPr>
            <a:r>
              <a:rPr lang="en-US" sz="800" dirty="0">
                <a:solidFill>
                  <a:srgbClr val="334155"/>
                </a:solidFill>
                <a:latin typeface="Courier New" pitchFamily="34" charset="0"/>
                <a:ea typeface="Courier New" pitchFamily="34" charset="-122"/>
                <a:cs typeface="Courier New" pitchFamily="34" charset="-120"/>
              </a:rPr>
              <a:t>img = Draw.MolToImage(mol, size=(300,300))</a:t>
            </a:r>
            <a:endParaRPr lang="en-US" sz="800" dirty="0"/>
          </a:p>
        </p:txBody>
      </p:sp>
      <p:sp>
        <p:nvSpPr>
          <p:cNvPr id="100" name="Text 73"/>
          <p:cNvSpPr txBox="1"/>
          <p:nvPr/>
        </p:nvSpPr>
        <p:spPr>
          <a:xfrm>
            <a:off x="6093562" y="6922922"/>
            <a:ext cx="5429707" cy="171907"/>
          </a:xfrm>
          <a:prstGeom prst="rect">
            <a:avLst/>
          </a:prstGeom>
          <a:noFill/>
          <a:ln/>
        </p:spPr>
        <p:txBody>
          <a:bodyPr wrap="square" lIns="0" tIns="0" rIns="0" bIns="0" rtlCol="0" anchor="ctr"/>
          <a:lstStyle/>
          <a:p>
            <a:pPr marL="0" indent="0" algn="l">
              <a:buNone/>
            </a:pPr>
            <a:r>
              <a:rPr lang="en-US" sz="800" i="1" dirty="0">
                <a:solidFill>
                  <a:srgbClr val="64748B"/>
                </a:solidFill>
                <a:latin typeface="Courier New" pitchFamily="34" charset="0"/>
                <a:ea typeface="Courier New" pitchFamily="34" charset="-122"/>
                <a:cs typeface="Courier New" pitchFamily="34" charset="-120"/>
              </a:rPr>
              <a:t># Base64 인코딩하여 웹 전송</a:t>
            </a:r>
            <a:endParaRPr lang="en-US" sz="800" dirty="0"/>
          </a:p>
        </p:txBody>
      </p:sp>
      <p:pic>
        <p:nvPicPr>
          <p:cNvPr id="101" name="Image 25" descr="preencoded.png"/>
          <p:cNvPicPr>
            <a:picLocks noChangeAspect="1"/>
          </p:cNvPicPr>
          <p:nvPr/>
        </p:nvPicPr>
        <p:blipFill>
          <a:blip r:embed="rId12"/>
          <a:srcRect t="-25301" b="-25301"/>
          <a:stretch/>
        </p:blipFill>
        <p:spPr>
          <a:xfrm>
            <a:off x="5969203" y="7366406"/>
            <a:ext cx="75895" cy="114300"/>
          </a:xfrm>
          <a:prstGeom prst="rect">
            <a:avLst/>
          </a:prstGeom>
        </p:spPr>
      </p:pic>
      <p:sp>
        <p:nvSpPr>
          <p:cNvPr id="102" name="Text 74"/>
          <p:cNvSpPr txBox="1"/>
          <p:nvPr/>
        </p:nvSpPr>
        <p:spPr>
          <a:xfrm>
            <a:off x="6141110" y="7308799"/>
            <a:ext cx="1213409"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입력</a:t>
            </a:r>
            <a:r>
              <a:rPr lang="en-US" sz="900" dirty="0">
                <a:solidFill>
                  <a:srgbClr val="475569"/>
                </a:solidFill>
                <a:latin typeface="Noto Sans KR" pitchFamily="34" charset="0"/>
                <a:ea typeface="Noto Sans KR" pitchFamily="34" charset="-122"/>
                <a:cs typeface="Noto Sans KR" pitchFamily="34" charset="-120"/>
              </a:rPr>
              <a:t>: SMILES 문자열</a:t>
            </a:r>
            <a:endParaRPr lang="en-US" sz="900" dirty="0"/>
          </a:p>
        </p:txBody>
      </p:sp>
      <p:pic>
        <p:nvPicPr>
          <p:cNvPr id="103" name="Image 26" descr="preencoded.png"/>
          <p:cNvPicPr>
            <a:picLocks noChangeAspect="1"/>
          </p:cNvPicPr>
          <p:nvPr/>
        </p:nvPicPr>
        <p:blipFill>
          <a:blip r:embed="rId12"/>
          <a:srcRect t="-25301" b="-25301"/>
          <a:stretch/>
        </p:blipFill>
        <p:spPr>
          <a:xfrm>
            <a:off x="5969203" y="7614209"/>
            <a:ext cx="75895" cy="114300"/>
          </a:xfrm>
          <a:prstGeom prst="rect">
            <a:avLst/>
          </a:prstGeom>
        </p:spPr>
      </p:pic>
      <p:sp>
        <p:nvSpPr>
          <p:cNvPr id="104" name="Text 75"/>
          <p:cNvSpPr txBox="1"/>
          <p:nvPr/>
        </p:nvSpPr>
        <p:spPr>
          <a:xfrm>
            <a:off x="6141110" y="7556602"/>
            <a:ext cx="341985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처리</a:t>
            </a:r>
            <a:r>
              <a:rPr lang="en-US" sz="900" dirty="0">
                <a:solidFill>
                  <a:srgbClr val="475569"/>
                </a:solidFill>
                <a:latin typeface="Noto Sans KR" pitchFamily="34" charset="0"/>
                <a:ea typeface="Noto Sans KR" pitchFamily="34" charset="-122"/>
                <a:cs typeface="Noto Sans KR" pitchFamily="34" charset="-120"/>
              </a:rPr>
              <a:t>: RDKit Chem.MolFromSmiles → Draw.MolToImage</a:t>
            </a:r>
            <a:endParaRPr lang="en-US" sz="900" dirty="0"/>
          </a:p>
        </p:txBody>
      </p:sp>
      <p:pic>
        <p:nvPicPr>
          <p:cNvPr id="105" name="Image 27" descr="preencoded.png"/>
          <p:cNvPicPr>
            <a:picLocks noChangeAspect="1"/>
          </p:cNvPicPr>
          <p:nvPr/>
        </p:nvPicPr>
        <p:blipFill>
          <a:blip r:embed="rId12"/>
          <a:srcRect t="-25301" b="-25301"/>
          <a:stretch/>
        </p:blipFill>
        <p:spPr>
          <a:xfrm>
            <a:off x="5969203" y="7862011"/>
            <a:ext cx="75895" cy="114300"/>
          </a:xfrm>
          <a:prstGeom prst="rect">
            <a:avLst/>
          </a:prstGeom>
        </p:spPr>
      </p:pic>
      <p:sp>
        <p:nvSpPr>
          <p:cNvPr id="106" name="Text 76"/>
          <p:cNvSpPr txBox="1"/>
          <p:nvPr/>
        </p:nvSpPr>
        <p:spPr>
          <a:xfrm>
            <a:off x="6141110" y="7804404"/>
            <a:ext cx="274320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출력</a:t>
            </a:r>
            <a:r>
              <a:rPr lang="en-US" sz="900" dirty="0">
                <a:solidFill>
                  <a:srgbClr val="475569"/>
                </a:solidFill>
                <a:latin typeface="Noto Sans KR" pitchFamily="34" charset="0"/>
                <a:ea typeface="Noto Sans KR" pitchFamily="34" charset="-122"/>
                <a:cs typeface="Noto Sans KR" pitchFamily="34" charset="-120"/>
              </a:rPr>
              <a:t>: PIL Image 객체 → Base64 인코딩 문자열</a:t>
            </a:r>
            <a:endParaRPr lang="en-US" sz="900" dirty="0"/>
          </a:p>
        </p:txBody>
      </p:sp>
      <p:pic>
        <p:nvPicPr>
          <p:cNvPr id="107" name="Image 28" descr="preencoded.png"/>
          <p:cNvPicPr>
            <a:picLocks noChangeAspect="1"/>
          </p:cNvPicPr>
          <p:nvPr/>
        </p:nvPicPr>
        <p:blipFill>
          <a:blip r:embed="rId12"/>
          <a:srcRect t="-25301" b="-25301"/>
          <a:stretch/>
        </p:blipFill>
        <p:spPr>
          <a:xfrm>
            <a:off x="5969203" y="8108899"/>
            <a:ext cx="75895" cy="114300"/>
          </a:xfrm>
          <a:prstGeom prst="rect">
            <a:avLst/>
          </a:prstGeom>
        </p:spPr>
      </p:pic>
      <p:sp>
        <p:nvSpPr>
          <p:cNvPr id="108" name="Text 77"/>
          <p:cNvSpPr txBox="1"/>
          <p:nvPr/>
        </p:nvSpPr>
        <p:spPr>
          <a:xfrm>
            <a:off x="6141110" y="8052206"/>
            <a:ext cx="415686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활용</a:t>
            </a:r>
            <a:r>
              <a:rPr lang="en-US" sz="900" dirty="0">
                <a:solidFill>
                  <a:srgbClr val="475569"/>
                </a:solidFill>
                <a:latin typeface="Noto Sans KR" pitchFamily="34" charset="0"/>
                <a:ea typeface="Noto Sans KR" pitchFamily="34" charset="-122"/>
                <a:cs typeface="Noto Sans KR" pitchFamily="34" charset="-120"/>
              </a:rPr>
              <a:t>: 웹 UI에서 &lt;img src="data:image/png;base64,..." /&gt; 형태로 표시</a:t>
            </a:r>
            <a:endParaRPr lang="en-US" sz="900" dirty="0"/>
          </a:p>
        </p:txBody>
      </p:sp>
      <p:sp>
        <p:nvSpPr>
          <p:cNvPr id="109" name="Shape 78"/>
          <p:cNvSpPr/>
          <p:nvPr/>
        </p:nvSpPr>
        <p:spPr>
          <a:xfrm>
            <a:off x="5740603" y="8585302"/>
            <a:ext cx="5982005" cy="2048256"/>
          </a:xfrm>
          <a:prstGeom prst="roundRect">
            <a:avLst>
              <a:gd name="adj" fmla="val 1661"/>
            </a:avLst>
          </a:prstGeom>
          <a:solidFill>
            <a:srgbClr val="FFFFFF"/>
          </a:solidFill>
          <a:ln/>
          <a:effectLst>
            <a:outerShdw blurRad="76200" dist="25400" dir="16200000" algn="bl" rotWithShape="0">
              <a:srgbClr val="000000">
                <a:alpha val="8000"/>
              </a:srgbClr>
            </a:outerShdw>
          </a:effectLst>
        </p:spPr>
      </p:sp>
      <p:sp>
        <p:nvSpPr>
          <p:cNvPr id="110" name="Shape 79"/>
          <p:cNvSpPr/>
          <p:nvPr/>
        </p:nvSpPr>
        <p:spPr>
          <a:xfrm>
            <a:off x="5740603" y="8585302"/>
            <a:ext cx="38405" cy="2048256"/>
          </a:xfrm>
          <a:prstGeom prst="roundRect">
            <a:avLst>
              <a:gd name="adj" fmla="val 88593"/>
            </a:avLst>
          </a:prstGeom>
          <a:solidFill>
            <a:srgbClr val="10B981"/>
          </a:solidFill>
          <a:ln w="12700">
            <a:solidFill>
              <a:srgbClr val="10B981">
                <a:alpha val="0"/>
              </a:srgbClr>
            </a:solidFill>
            <a:prstDash val="solid"/>
          </a:ln>
        </p:spPr>
      </p:sp>
      <p:pic>
        <p:nvPicPr>
          <p:cNvPr id="111" name="Image 29" descr="preencoded.png"/>
          <p:cNvPicPr>
            <a:picLocks noChangeAspect="1"/>
          </p:cNvPicPr>
          <p:nvPr/>
        </p:nvPicPr>
        <p:blipFill>
          <a:blip r:embed="rId18"/>
          <a:srcRect l="-133" r="-133"/>
          <a:stretch/>
        </p:blipFill>
        <p:spPr>
          <a:xfrm>
            <a:off x="5969203" y="8843162"/>
            <a:ext cx="171907" cy="228600"/>
          </a:xfrm>
          <a:prstGeom prst="rect">
            <a:avLst/>
          </a:prstGeom>
        </p:spPr>
      </p:pic>
      <p:sp>
        <p:nvSpPr>
          <p:cNvPr id="112" name="Text 80"/>
          <p:cNvSpPr txBox="1"/>
          <p:nvPr/>
        </p:nvSpPr>
        <p:spPr>
          <a:xfrm>
            <a:off x="6255410" y="8833104"/>
            <a:ext cx="2340864"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메트릭 산출 및 스케일러 로드</a:t>
            </a:r>
            <a:endParaRPr lang="en-US" sz="1200" dirty="0"/>
          </a:p>
        </p:txBody>
      </p:sp>
      <p:pic>
        <p:nvPicPr>
          <p:cNvPr id="113" name="Image 30" descr="preencoded.png"/>
          <p:cNvPicPr>
            <a:picLocks noChangeAspect="1"/>
          </p:cNvPicPr>
          <p:nvPr/>
        </p:nvPicPr>
        <p:blipFill>
          <a:blip r:embed="rId12"/>
          <a:srcRect t="-25301" b="-25301"/>
          <a:stretch/>
        </p:blipFill>
        <p:spPr>
          <a:xfrm>
            <a:off x="5969203" y="9309506"/>
            <a:ext cx="75895" cy="114300"/>
          </a:xfrm>
          <a:prstGeom prst="rect">
            <a:avLst/>
          </a:prstGeom>
        </p:spPr>
      </p:pic>
      <p:sp>
        <p:nvSpPr>
          <p:cNvPr id="114" name="Text 81"/>
          <p:cNvSpPr txBox="1"/>
          <p:nvPr/>
        </p:nvSpPr>
        <p:spPr>
          <a:xfrm>
            <a:off x="6141110" y="9251899"/>
            <a:ext cx="404530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스케일러 역할</a:t>
            </a:r>
            <a:r>
              <a:rPr lang="en-US" sz="900" dirty="0">
                <a:solidFill>
                  <a:srgbClr val="475569"/>
                </a:solidFill>
                <a:latin typeface="Noto Sans KR" pitchFamily="34" charset="0"/>
                <a:ea typeface="Noto Sans KR" pitchFamily="34" charset="-122"/>
                <a:cs typeface="Noto Sans KR" pitchFamily="34" charset="-120"/>
              </a:rPr>
              <a:t>: 학습 시 사용한 정규화 파라미터(평균, 표준편차) 복원</a:t>
            </a:r>
            <a:endParaRPr lang="en-US" sz="900" dirty="0"/>
          </a:p>
        </p:txBody>
      </p:sp>
      <p:pic>
        <p:nvPicPr>
          <p:cNvPr id="115" name="Image 31" descr="preencoded.png"/>
          <p:cNvPicPr>
            <a:picLocks noChangeAspect="1"/>
          </p:cNvPicPr>
          <p:nvPr/>
        </p:nvPicPr>
        <p:blipFill>
          <a:blip r:embed="rId12"/>
          <a:srcRect t="-25301" b="-25301"/>
          <a:stretch/>
        </p:blipFill>
        <p:spPr>
          <a:xfrm>
            <a:off x="5969203" y="9557309"/>
            <a:ext cx="75895" cy="114300"/>
          </a:xfrm>
          <a:prstGeom prst="rect">
            <a:avLst/>
          </a:prstGeom>
        </p:spPr>
      </p:pic>
      <p:sp>
        <p:nvSpPr>
          <p:cNvPr id="116" name="Text 82"/>
          <p:cNvSpPr txBox="1"/>
          <p:nvPr/>
        </p:nvSpPr>
        <p:spPr>
          <a:xfrm>
            <a:off x="6141110" y="9499702"/>
            <a:ext cx="248259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적용 대상</a:t>
            </a:r>
            <a:r>
              <a:rPr lang="en-US" sz="900" dirty="0">
                <a:solidFill>
                  <a:srgbClr val="475569"/>
                </a:solidFill>
                <a:latin typeface="Noto Sans KR" pitchFamily="34" charset="0"/>
                <a:ea typeface="Noto Sans KR" pitchFamily="34" charset="-122"/>
                <a:cs typeface="Noto Sans KR" pitchFamily="34" charset="-120"/>
              </a:rPr>
              <a:t>: 200개 RDKit 분자 기술자 정규화</a:t>
            </a:r>
            <a:endParaRPr lang="en-US" sz="900" dirty="0"/>
          </a:p>
        </p:txBody>
      </p:sp>
      <p:pic>
        <p:nvPicPr>
          <p:cNvPr id="117" name="Image 32" descr="preencoded.png"/>
          <p:cNvPicPr>
            <a:picLocks noChangeAspect="1"/>
          </p:cNvPicPr>
          <p:nvPr/>
        </p:nvPicPr>
        <p:blipFill>
          <a:blip r:embed="rId12"/>
          <a:srcRect t="-25301" b="-25301"/>
          <a:stretch/>
        </p:blipFill>
        <p:spPr>
          <a:xfrm>
            <a:off x="5969203" y="9805111"/>
            <a:ext cx="75895" cy="114300"/>
          </a:xfrm>
          <a:prstGeom prst="rect">
            <a:avLst/>
          </a:prstGeom>
        </p:spPr>
      </p:pic>
      <p:sp>
        <p:nvSpPr>
          <p:cNvPr id="118" name="Text 83"/>
          <p:cNvSpPr txBox="1"/>
          <p:nvPr/>
        </p:nvSpPr>
        <p:spPr>
          <a:xfrm>
            <a:off x="6141110" y="9747504"/>
            <a:ext cx="2812694"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일관성 보장</a:t>
            </a:r>
            <a:r>
              <a:rPr lang="en-US" sz="900" dirty="0">
                <a:solidFill>
                  <a:srgbClr val="475569"/>
                </a:solidFill>
                <a:latin typeface="Noto Sans KR" pitchFamily="34" charset="0"/>
                <a:ea typeface="Noto Sans KR" pitchFamily="34" charset="-122"/>
                <a:cs typeface="Noto Sans KR" pitchFamily="34" charset="-120"/>
              </a:rPr>
              <a:t>: 학습과 동일한 스케일로 추론 수행</a:t>
            </a:r>
            <a:endParaRPr lang="en-US" sz="900" dirty="0"/>
          </a:p>
        </p:txBody>
      </p:sp>
      <p:pic>
        <p:nvPicPr>
          <p:cNvPr id="119" name="Image 33" descr="preencoded.png"/>
          <p:cNvPicPr>
            <a:picLocks noChangeAspect="1"/>
          </p:cNvPicPr>
          <p:nvPr/>
        </p:nvPicPr>
        <p:blipFill>
          <a:blip r:embed="rId12"/>
          <a:srcRect t="-25301" b="-25301"/>
          <a:stretch/>
        </p:blipFill>
        <p:spPr>
          <a:xfrm>
            <a:off x="5969203" y="10051999"/>
            <a:ext cx="75895" cy="114300"/>
          </a:xfrm>
          <a:prstGeom prst="rect">
            <a:avLst/>
          </a:prstGeom>
        </p:spPr>
      </p:pic>
      <p:sp>
        <p:nvSpPr>
          <p:cNvPr id="120" name="Text 84"/>
          <p:cNvSpPr txBox="1"/>
          <p:nvPr/>
        </p:nvSpPr>
        <p:spPr>
          <a:xfrm>
            <a:off x="6141110" y="9995306"/>
            <a:ext cx="279715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메트릭</a:t>
            </a:r>
            <a:r>
              <a:rPr lang="en-US" sz="900" dirty="0">
                <a:solidFill>
                  <a:srgbClr val="475569"/>
                </a:solidFill>
                <a:latin typeface="Noto Sans KR" pitchFamily="34" charset="0"/>
                <a:ea typeface="Noto Sans KR" pitchFamily="34" charset="-122"/>
                <a:cs typeface="Noto Sans KR" pitchFamily="34" charset="-120"/>
              </a:rPr>
              <a:t>: 시그모이드 활성화 후 0~1 확률값 출력</a:t>
            </a:r>
            <a:endParaRPr lang="en-US" sz="900" dirty="0"/>
          </a:p>
        </p:txBody>
      </p:sp>
      <p:pic>
        <p:nvPicPr>
          <p:cNvPr id="121" name="Image 34" descr="preencoded.png"/>
          <p:cNvPicPr>
            <a:picLocks noChangeAspect="1"/>
          </p:cNvPicPr>
          <p:nvPr/>
        </p:nvPicPr>
        <p:blipFill>
          <a:blip r:embed="rId19"/>
          <a:stretch>
            <a:fillRect/>
          </a:stretch>
        </p:blipFill>
        <p:spPr>
          <a:xfrm>
            <a:off x="5969203" y="10223906"/>
            <a:ext cx="905256" cy="219456"/>
          </a:xfrm>
          <a:prstGeom prst="rect">
            <a:avLst/>
          </a:prstGeom>
        </p:spPr>
      </p:pic>
      <p:sp>
        <p:nvSpPr>
          <p:cNvPr id="122" name="Text 85"/>
          <p:cNvSpPr/>
          <p:nvPr/>
        </p:nvSpPr>
        <p:spPr>
          <a:xfrm>
            <a:off x="5969203" y="10223906"/>
            <a:ext cx="905256"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StandardScaler</a:t>
            </a:r>
            <a:endParaRPr lang="en-US" sz="800" dirty="0"/>
          </a:p>
        </p:txBody>
      </p:sp>
      <p:pic>
        <p:nvPicPr>
          <p:cNvPr id="123" name="Image 35" descr="preencoded.png"/>
          <p:cNvPicPr>
            <a:picLocks noChangeAspect="1"/>
          </p:cNvPicPr>
          <p:nvPr/>
        </p:nvPicPr>
        <p:blipFill>
          <a:blip r:embed="rId20"/>
          <a:stretch>
            <a:fillRect/>
          </a:stretch>
        </p:blipFill>
        <p:spPr>
          <a:xfrm>
            <a:off x="6926580" y="10223906"/>
            <a:ext cx="923544" cy="219456"/>
          </a:xfrm>
          <a:prstGeom prst="rect">
            <a:avLst/>
          </a:prstGeom>
        </p:spPr>
      </p:pic>
      <p:sp>
        <p:nvSpPr>
          <p:cNvPr id="124" name="Text 86"/>
          <p:cNvSpPr/>
          <p:nvPr/>
        </p:nvSpPr>
        <p:spPr>
          <a:xfrm>
            <a:off x="6926580" y="10223906"/>
            <a:ext cx="924458"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Chemprop Utils</a:t>
            </a:r>
            <a:endParaRPr lang="en-US" sz="800" dirty="0"/>
          </a:p>
        </p:txBody>
      </p:sp>
    </p:spTree>
    <p:extLst>
      <p:ext uri="{BB962C8B-B14F-4D97-AF65-F5344CB8AC3E}">
        <p14:creationId xmlns:p14="http://schemas.microsoft.com/office/powerpoint/2010/main" val="501119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129077"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코드 리뷰·개발 환경</a:t>
            </a:r>
            <a:endParaRPr lang="en-US" sz="2400" dirty="0"/>
          </a:p>
        </p:txBody>
      </p:sp>
      <p:sp>
        <p:nvSpPr>
          <p:cNvPr id="5" name="Text 3"/>
          <p:cNvSpPr txBox="1"/>
          <p:nvPr/>
        </p:nvSpPr>
        <p:spPr>
          <a:xfrm>
            <a:off x="476402" y="685800"/>
            <a:ext cx="2734056"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기술 스택 및 재현성 확보 방법</a:t>
            </a:r>
            <a:endParaRPr lang="en-US" sz="1200" dirty="0"/>
          </a:p>
        </p:txBody>
      </p:sp>
      <p:pic>
        <p:nvPicPr>
          <p:cNvPr id="6" name="Image 0" descr="preencoded.png"/>
          <p:cNvPicPr>
            <a:picLocks noChangeAspect="1"/>
          </p:cNvPicPr>
          <p:nvPr/>
        </p:nvPicPr>
        <p:blipFill>
          <a:blip r:embed="rId3"/>
          <a:srcRect l="-90" r="-90"/>
          <a:stretch/>
        </p:blipFill>
        <p:spPr>
          <a:xfrm>
            <a:off x="11334902" y="418795"/>
            <a:ext cx="381305" cy="304495"/>
          </a:xfrm>
          <a:prstGeom prst="rect">
            <a:avLst/>
          </a:prstGeom>
        </p:spPr>
      </p:pic>
      <p:sp>
        <p:nvSpPr>
          <p:cNvPr id="7" name="Shape 4"/>
          <p:cNvSpPr/>
          <p:nvPr/>
        </p:nvSpPr>
        <p:spPr>
          <a:xfrm>
            <a:off x="476402" y="1371600"/>
            <a:ext cx="5486400" cy="1304849"/>
          </a:xfrm>
          <a:prstGeom prst="roundRect">
            <a:avLst>
              <a:gd name="adj" fmla="val 4092"/>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71600"/>
            <a:ext cx="38405" cy="1304849"/>
          </a:xfrm>
          <a:prstGeom prst="roundRect">
            <a:avLst>
              <a:gd name="adj" fmla="val 139033"/>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685800" y="1595628"/>
            <a:ext cx="190195" cy="190195"/>
          </a:xfrm>
          <a:prstGeom prst="rect">
            <a:avLst/>
          </a:prstGeom>
        </p:spPr>
      </p:pic>
      <p:sp>
        <p:nvSpPr>
          <p:cNvPr id="10" name="Text 6"/>
          <p:cNvSpPr txBox="1"/>
          <p:nvPr/>
        </p:nvSpPr>
        <p:spPr>
          <a:xfrm>
            <a:off x="972007" y="1585570"/>
            <a:ext cx="711403" cy="200254"/>
          </a:xfrm>
          <a:prstGeom prst="rect">
            <a:avLst/>
          </a:prstGeom>
          <a:noFill/>
          <a:ln/>
        </p:spPr>
        <p:txBody>
          <a:bodyPr wrap="square" lIns="0" tIns="0" rIns="0" bIns="0" rtlCol="0" anchor="ctr"/>
          <a:lstStyle/>
          <a:p>
            <a:pPr marL="0" indent="0" algn="l">
              <a:buNone/>
            </a:pPr>
            <a:r>
              <a:rPr lang="en-US" sz="1000" b="1" dirty="0">
                <a:solidFill>
                  <a:srgbClr val="1A355B"/>
                </a:solidFill>
                <a:latin typeface="Noto Sans KR" pitchFamily="34" charset="0"/>
                <a:ea typeface="Noto Sans KR" pitchFamily="34" charset="-122"/>
                <a:cs typeface="Noto Sans KR" pitchFamily="34" charset="-120"/>
              </a:rPr>
              <a:t>프론트엔드</a:t>
            </a:r>
            <a:endParaRPr lang="en-US" sz="1000" dirty="0"/>
          </a:p>
        </p:txBody>
      </p:sp>
      <p:pic>
        <p:nvPicPr>
          <p:cNvPr id="11" name="Image 2" descr="preencoded.png"/>
          <p:cNvPicPr>
            <a:picLocks noChangeAspect="1"/>
          </p:cNvPicPr>
          <p:nvPr/>
        </p:nvPicPr>
        <p:blipFill>
          <a:blip r:embed="rId5"/>
          <a:stretch>
            <a:fillRect/>
          </a:stretch>
        </p:blipFill>
        <p:spPr>
          <a:xfrm>
            <a:off x="685800" y="1943100"/>
            <a:ext cx="580644" cy="256946"/>
          </a:xfrm>
          <a:prstGeom prst="rect">
            <a:avLst/>
          </a:prstGeom>
        </p:spPr>
      </p:pic>
      <p:sp>
        <p:nvSpPr>
          <p:cNvPr id="12" name="Text 7"/>
          <p:cNvSpPr/>
          <p:nvPr/>
        </p:nvSpPr>
        <p:spPr>
          <a:xfrm>
            <a:off x="685800" y="1943100"/>
            <a:ext cx="5815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HTML5</a:t>
            </a:r>
            <a:endParaRPr lang="en-US" sz="800" dirty="0"/>
          </a:p>
        </p:txBody>
      </p:sp>
      <p:sp>
        <p:nvSpPr>
          <p:cNvPr id="13" name="Text 8"/>
          <p:cNvSpPr txBox="1"/>
          <p:nvPr/>
        </p:nvSpPr>
        <p:spPr>
          <a:xfrm>
            <a:off x="800100" y="1990649"/>
            <a:ext cx="428854"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HTML5</a:t>
            </a:r>
            <a:endParaRPr lang="en-US" sz="800" dirty="0"/>
          </a:p>
        </p:txBody>
      </p:sp>
      <p:pic>
        <p:nvPicPr>
          <p:cNvPr id="14" name="Image 3" descr="preencoded.png"/>
          <p:cNvPicPr>
            <a:picLocks noChangeAspect="1"/>
          </p:cNvPicPr>
          <p:nvPr/>
        </p:nvPicPr>
        <p:blipFill>
          <a:blip r:embed="rId6"/>
          <a:stretch>
            <a:fillRect/>
          </a:stretch>
        </p:blipFill>
        <p:spPr>
          <a:xfrm>
            <a:off x="1323137" y="1943100"/>
            <a:ext cx="1123798" cy="256946"/>
          </a:xfrm>
          <a:prstGeom prst="rect">
            <a:avLst/>
          </a:prstGeom>
        </p:spPr>
      </p:pic>
      <p:sp>
        <p:nvSpPr>
          <p:cNvPr id="15" name="Text 9"/>
          <p:cNvSpPr/>
          <p:nvPr/>
        </p:nvSpPr>
        <p:spPr>
          <a:xfrm>
            <a:off x="1323137" y="1943100"/>
            <a:ext cx="11247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JavaScript (ES6+)</a:t>
            </a:r>
            <a:endParaRPr lang="en-US" sz="800" dirty="0"/>
          </a:p>
        </p:txBody>
      </p:sp>
      <p:sp>
        <p:nvSpPr>
          <p:cNvPr id="16" name="Text 10"/>
          <p:cNvSpPr txBox="1"/>
          <p:nvPr/>
        </p:nvSpPr>
        <p:spPr>
          <a:xfrm>
            <a:off x="1437437" y="1990649"/>
            <a:ext cx="1066190"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JavaScript (ES6+)</a:t>
            </a:r>
            <a:endParaRPr lang="en-US" sz="800" dirty="0"/>
          </a:p>
        </p:txBody>
      </p:sp>
      <p:pic>
        <p:nvPicPr>
          <p:cNvPr id="17" name="Image 4" descr="preencoded.png"/>
          <p:cNvPicPr>
            <a:picLocks noChangeAspect="1"/>
          </p:cNvPicPr>
          <p:nvPr/>
        </p:nvPicPr>
        <p:blipFill>
          <a:blip r:embed="rId7"/>
          <a:stretch>
            <a:fillRect/>
          </a:stretch>
        </p:blipFill>
        <p:spPr>
          <a:xfrm>
            <a:off x="2502713" y="1943100"/>
            <a:ext cx="886054" cy="256946"/>
          </a:xfrm>
          <a:prstGeom prst="rect">
            <a:avLst/>
          </a:prstGeom>
        </p:spPr>
      </p:pic>
      <p:sp>
        <p:nvSpPr>
          <p:cNvPr id="18" name="Text 11"/>
          <p:cNvSpPr/>
          <p:nvPr/>
        </p:nvSpPr>
        <p:spPr>
          <a:xfrm>
            <a:off x="2502713" y="1943100"/>
            <a:ext cx="8860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Tailwind CSS</a:t>
            </a:r>
            <a:endParaRPr lang="en-US" sz="800" dirty="0"/>
          </a:p>
        </p:txBody>
      </p:sp>
      <p:sp>
        <p:nvSpPr>
          <p:cNvPr id="19" name="Text 12"/>
          <p:cNvSpPr txBox="1"/>
          <p:nvPr/>
        </p:nvSpPr>
        <p:spPr>
          <a:xfrm>
            <a:off x="2617013" y="1990649"/>
            <a:ext cx="782726"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Tailwind CSS</a:t>
            </a:r>
            <a:endParaRPr lang="en-US" sz="800" dirty="0"/>
          </a:p>
        </p:txBody>
      </p:sp>
      <p:pic>
        <p:nvPicPr>
          <p:cNvPr id="20" name="Image 5" descr="preencoded.png"/>
          <p:cNvPicPr>
            <a:picLocks noChangeAspect="1"/>
          </p:cNvPicPr>
          <p:nvPr/>
        </p:nvPicPr>
        <p:blipFill>
          <a:blip r:embed="rId8"/>
          <a:stretch>
            <a:fillRect/>
          </a:stretch>
        </p:blipFill>
        <p:spPr>
          <a:xfrm>
            <a:off x="3441802" y="1943100"/>
            <a:ext cx="647395" cy="256946"/>
          </a:xfrm>
          <a:prstGeom prst="rect">
            <a:avLst/>
          </a:prstGeom>
        </p:spPr>
      </p:pic>
      <p:sp>
        <p:nvSpPr>
          <p:cNvPr id="21" name="Text 13"/>
          <p:cNvSpPr/>
          <p:nvPr/>
        </p:nvSpPr>
        <p:spPr>
          <a:xfrm>
            <a:off x="3441802" y="1943100"/>
            <a:ext cx="64831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Plotly.js</a:t>
            </a:r>
            <a:endParaRPr lang="en-US" sz="800" dirty="0"/>
          </a:p>
        </p:txBody>
      </p:sp>
      <p:sp>
        <p:nvSpPr>
          <p:cNvPr id="22" name="Text 14"/>
          <p:cNvSpPr txBox="1"/>
          <p:nvPr/>
        </p:nvSpPr>
        <p:spPr>
          <a:xfrm>
            <a:off x="3556102" y="1990649"/>
            <a:ext cx="499262"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Plotly.js</a:t>
            </a:r>
            <a:endParaRPr lang="en-US" sz="800" dirty="0"/>
          </a:p>
        </p:txBody>
      </p:sp>
      <p:pic>
        <p:nvPicPr>
          <p:cNvPr id="23" name="Image 6" descr="preencoded.png"/>
          <p:cNvPicPr>
            <a:picLocks noChangeAspect="1"/>
          </p:cNvPicPr>
          <p:nvPr/>
        </p:nvPicPr>
        <p:blipFill>
          <a:blip r:embed="rId9"/>
          <a:stretch>
            <a:fillRect/>
          </a:stretch>
        </p:blipFill>
        <p:spPr>
          <a:xfrm>
            <a:off x="4139489" y="1943100"/>
            <a:ext cx="981151" cy="256946"/>
          </a:xfrm>
          <a:prstGeom prst="rect">
            <a:avLst/>
          </a:prstGeom>
        </p:spPr>
      </p:pic>
      <p:sp>
        <p:nvSpPr>
          <p:cNvPr id="24" name="Text 15"/>
          <p:cNvSpPr/>
          <p:nvPr/>
        </p:nvSpPr>
        <p:spPr>
          <a:xfrm>
            <a:off x="4139489" y="1943100"/>
            <a:ext cx="9811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Font Awesome</a:t>
            </a:r>
            <a:endParaRPr lang="en-US" sz="800" dirty="0"/>
          </a:p>
        </p:txBody>
      </p:sp>
      <p:sp>
        <p:nvSpPr>
          <p:cNvPr id="25" name="Text 16"/>
          <p:cNvSpPr txBox="1"/>
          <p:nvPr/>
        </p:nvSpPr>
        <p:spPr>
          <a:xfrm>
            <a:off x="4253789" y="1990649"/>
            <a:ext cx="829361"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Font Awesome</a:t>
            </a:r>
            <a:endParaRPr lang="en-US" sz="800" dirty="0"/>
          </a:p>
        </p:txBody>
      </p:sp>
      <p:pic>
        <p:nvPicPr>
          <p:cNvPr id="26" name="Image 7" descr="preencoded.png"/>
          <p:cNvPicPr>
            <a:picLocks noChangeAspect="1"/>
          </p:cNvPicPr>
          <p:nvPr/>
        </p:nvPicPr>
        <p:blipFill>
          <a:blip r:embed="rId10"/>
          <a:stretch>
            <a:fillRect/>
          </a:stretch>
        </p:blipFill>
        <p:spPr>
          <a:xfrm>
            <a:off x="685800" y="2253082"/>
            <a:ext cx="705002" cy="256946"/>
          </a:xfrm>
          <a:prstGeom prst="rect">
            <a:avLst/>
          </a:prstGeom>
        </p:spPr>
      </p:pic>
      <p:sp>
        <p:nvSpPr>
          <p:cNvPr id="27" name="Text 17"/>
          <p:cNvSpPr/>
          <p:nvPr/>
        </p:nvSpPr>
        <p:spPr>
          <a:xfrm>
            <a:off x="685800" y="2253082"/>
            <a:ext cx="7050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Fetch API</a:t>
            </a:r>
            <a:endParaRPr lang="en-US" sz="800" dirty="0"/>
          </a:p>
        </p:txBody>
      </p:sp>
      <p:sp>
        <p:nvSpPr>
          <p:cNvPr id="28" name="Text 18"/>
          <p:cNvSpPr txBox="1"/>
          <p:nvPr/>
        </p:nvSpPr>
        <p:spPr>
          <a:xfrm>
            <a:off x="800100" y="2300630"/>
            <a:ext cx="566928"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Fetch API</a:t>
            </a:r>
            <a:endParaRPr lang="en-US" sz="800" dirty="0"/>
          </a:p>
        </p:txBody>
      </p:sp>
      <p:sp>
        <p:nvSpPr>
          <p:cNvPr id="29" name="Shape 19"/>
          <p:cNvSpPr/>
          <p:nvPr/>
        </p:nvSpPr>
        <p:spPr>
          <a:xfrm>
            <a:off x="476402" y="2829154"/>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30" name="Shape 20"/>
          <p:cNvSpPr/>
          <p:nvPr/>
        </p:nvSpPr>
        <p:spPr>
          <a:xfrm>
            <a:off x="476402" y="2829154"/>
            <a:ext cx="38405" cy="1000354"/>
          </a:xfrm>
          <a:prstGeom prst="roundRect">
            <a:avLst>
              <a:gd name="adj" fmla="val 181405"/>
            </a:avLst>
          </a:prstGeom>
          <a:solidFill>
            <a:srgbClr val="10B981"/>
          </a:solidFill>
          <a:ln w="12700">
            <a:solidFill>
              <a:srgbClr val="10B981">
                <a:alpha val="0"/>
              </a:srgbClr>
            </a:solidFill>
            <a:prstDash val="solid"/>
          </a:ln>
        </p:spPr>
      </p:sp>
      <p:pic>
        <p:nvPicPr>
          <p:cNvPr id="31" name="Image 8" descr="preencoded.png"/>
          <p:cNvPicPr>
            <a:picLocks noChangeAspect="1"/>
          </p:cNvPicPr>
          <p:nvPr/>
        </p:nvPicPr>
        <p:blipFill>
          <a:blip r:embed="rId11"/>
          <a:srcRect/>
          <a:stretch/>
        </p:blipFill>
        <p:spPr>
          <a:xfrm>
            <a:off x="685800" y="3053182"/>
            <a:ext cx="190195" cy="190195"/>
          </a:xfrm>
          <a:prstGeom prst="rect">
            <a:avLst/>
          </a:prstGeom>
        </p:spPr>
      </p:pic>
      <p:sp>
        <p:nvSpPr>
          <p:cNvPr id="32" name="Text 21"/>
          <p:cNvSpPr txBox="1"/>
          <p:nvPr/>
        </p:nvSpPr>
        <p:spPr>
          <a:xfrm>
            <a:off x="972007" y="3043123"/>
            <a:ext cx="448056" cy="200254"/>
          </a:xfrm>
          <a:prstGeom prst="rect">
            <a:avLst/>
          </a:prstGeom>
          <a:noFill/>
          <a:ln/>
        </p:spPr>
        <p:txBody>
          <a:bodyPr wrap="square" lIns="0" tIns="0" rIns="0" bIns="0" rtlCol="0" anchor="ctr"/>
          <a:lstStyle/>
          <a:p>
            <a:pPr marL="0" indent="0" algn="l">
              <a:buNone/>
            </a:pPr>
            <a:r>
              <a:rPr lang="en-US" sz="1000" b="1" dirty="0">
                <a:solidFill>
                  <a:srgbClr val="1A355B"/>
                </a:solidFill>
                <a:latin typeface="Noto Sans KR" pitchFamily="34" charset="0"/>
                <a:ea typeface="Noto Sans KR" pitchFamily="34" charset="-122"/>
                <a:cs typeface="Noto Sans KR" pitchFamily="34" charset="-120"/>
              </a:rPr>
              <a:t>백엔드</a:t>
            </a:r>
            <a:endParaRPr lang="en-US" sz="1000" dirty="0"/>
          </a:p>
        </p:txBody>
      </p:sp>
      <p:pic>
        <p:nvPicPr>
          <p:cNvPr id="33" name="Image 9" descr="preencoded.png"/>
          <p:cNvPicPr>
            <a:picLocks noChangeAspect="1"/>
          </p:cNvPicPr>
          <p:nvPr/>
        </p:nvPicPr>
        <p:blipFill>
          <a:blip r:embed="rId12"/>
          <a:stretch>
            <a:fillRect/>
          </a:stretch>
        </p:blipFill>
        <p:spPr>
          <a:xfrm>
            <a:off x="685800" y="3400654"/>
            <a:ext cx="847649" cy="256946"/>
          </a:xfrm>
          <a:prstGeom prst="rect">
            <a:avLst/>
          </a:prstGeom>
        </p:spPr>
      </p:pic>
      <p:sp>
        <p:nvSpPr>
          <p:cNvPr id="34" name="Text 22"/>
          <p:cNvSpPr/>
          <p:nvPr/>
        </p:nvSpPr>
        <p:spPr>
          <a:xfrm>
            <a:off x="685800" y="3400654"/>
            <a:ext cx="848563"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065F46"/>
                </a:solidFill>
                <a:latin typeface="Noto Sans KR" pitchFamily="34" charset="0"/>
                <a:ea typeface="Noto Sans KR" pitchFamily="34" charset="-122"/>
                <a:cs typeface="Noto Sans KR" pitchFamily="34" charset="-120"/>
              </a:rPr>
              <a:t>Python 3.8+</a:t>
            </a:r>
            <a:endParaRPr lang="en-US" sz="800" dirty="0"/>
          </a:p>
        </p:txBody>
      </p:sp>
      <p:sp>
        <p:nvSpPr>
          <p:cNvPr id="35" name="Text 23"/>
          <p:cNvSpPr txBox="1"/>
          <p:nvPr/>
        </p:nvSpPr>
        <p:spPr>
          <a:xfrm>
            <a:off x="800100" y="3448202"/>
            <a:ext cx="737006" cy="162763"/>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KR" pitchFamily="34" charset="0"/>
                <a:ea typeface="Noto Sans KR" pitchFamily="34" charset="-122"/>
                <a:cs typeface="Noto Sans KR" pitchFamily="34" charset="-120"/>
              </a:rPr>
              <a:t>Python 3.8+</a:t>
            </a:r>
            <a:endParaRPr lang="en-US" sz="800" dirty="0"/>
          </a:p>
        </p:txBody>
      </p:sp>
      <p:pic>
        <p:nvPicPr>
          <p:cNvPr id="36" name="Image 10" descr="preencoded.png"/>
          <p:cNvPicPr>
            <a:picLocks noChangeAspect="1"/>
          </p:cNvPicPr>
          <p:nvPr/>
        </p:nvPicPr>
        <p:blipFill>
          <a:blip r:embed="rId13"/>
          <a:stretch>
            <a:fillRect/>
          </a:stretch>
        </p:blipFill>
        <p:spPr>
          <a:xfrm>
            <a:off x="1583741" y="3400654"/>
            <a:ext cx="609905" cy="256946"/>
          </a:xfrm>
          <a:prstGeom prst="rect">
            <a:avLst/>
          </a:prstGeom>
        </p:spPr>
      </p:pic>
      <p:sp>
        <p:nvSpPr>
          <p:cNvPr id="37" name="Text 24"/>
          <p:cNvSpPr/>
          <p:nvPr/>
        </p:nvSpPr>
        <p:spPr>
          <a:xfrm>
            <a:off x="1583741" y="3400654"/>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065F46"/>
                </a:solidFill>
                <a:latin typeface="Noto Sans KR" pitchFamily="34" charset="0"/>
                <a:ea typeface="Noto Sans KR" pitchFamily="34" charset="-122"/>
                <a:cs typeface="Noto Sans KR" pitchFamily="34" charset="-120"/>
              </a:rPr>
              <a:t>FastAPI</a:t>
            </a:r>
            <a:endParaRPr lang="en-US" sz="800" dirty="0"/>
          </a:p>
        </p:txBody>
      </p:sp>
      <p:sp>
        <p:nvSpPr>
          <p:cNvPr id="38" name="Text 25"/>
          <p:cNvSpPr txBox="1"/>
          <p:nvPr/>
        </p:nvSpPr>
        <p:spPr>
          <a:xfrm>
            <a:off x="1698041" y="3448202"/>
            <a:ext cx="457200" cy="162763"/>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KR" pitchFamily="34" charset="0"/>
                <a:ea typeface="Noto Sans KR" pitchFamily="34" charset="-122"/>
                <a:cs typeface="Noto Sans KR" pitchFamily="34" charset="-120"/>
              </a:rPr>
              <a:t>FastAPI</a:t>
            </a:r>
            <a:endParaRPr lang="en-US" sz="800" dirty="0"/>
          </a:p>
        </p:txBody>
      </p:sp>
      <p:pic>
        <p:nvPicPr>
          <p:cNvPr id="39" name="Image 11" descr="preencoded.png"/>
          <p:cNvPicPr>
            <a:picLocks noChangeAspect="1"/>
          </p:cNvPicPr>
          <p:nvPr/>
        </p:nvPicPr>
        <p:blipFill>
          <a:blip r:embed="rId14"/>
          <a:stretch>
            <a:fillRect/>
          </a:stretch>
        </p:blipFill>
        <p:spPr>
          <a:xfrm>
            <a:off x="2245766" y="3400654"/>
            <a:ext cx="629107" cy="256946"/>
          </a:xfrm>
          <a:prstGeom prst="rect">
            <a:avLst/>
          </a:prstGeom>
        </p:spPr>
      </p:pic>
      <p:sp>
        <p:nvSpPr>
          <p:cNvPr id="40" name="Text 26"/>
          <p:cNvSpPr/>
          <p:nvPr/>
        </p:nvSpPr>
        <p:spPr>
          <a:xfrm>
            <a:off x="2245766" y="3400654"/>
            <a:ext cx="629107"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065F46"/>
                </a:solidFill>
                <a:latin typeface="Noto Sans KR" pitchFamily="34" charset="0"/>
                <a:ea typeface="Noto Sans KR" pitchFamily="34" charset="-122"/>
                <a:cs typeface="Noto Sans KR" pitchFamily="34" charset="-120"/>
              </a:rPr>
              <a:t>Uvicorn</a:t>
            </a:r>
            <a:endParaRPr lang="en-US" sz="800" dirty="0"/>
          </a:p>
        </p:txBody>
      </p:sp>
      <p:sp>
        <p:nvSpPr>
          <p:cNvPr id="41" name="Text 27"/>
          <p:cNvSpPr txBox="1"/>
          <p:nvPr/>
        </p:nvSpPr>
        <p:spPr>
          <a:xfrm>
            <a:off x="2360066" y="3448202"/>
            <a:ext cx="476402" cy="162763"/>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KR" pitchFamily="34" charset="0"/>
                <a:ea typeface="Noto Sans KR" pitchFamily="34" charset="-122"/>
                <a:cs typeface="Noto Sans KR" pitchFamily="34" charset="-120"/>
              </a:rPr>
              <a:t>Uvicorn</a:t>
            </a:r>
            <a:endParaRPr lang="en-US" sz="800" dirty="0"/>
          </a:p>
        </p:txBody>
      </p:sp>
      <p:pic>
        <p:nvPicPr>
          <p:cNvPr id="42" name="Image 12" descr="preencoded.png"/>
          <p:cNvPicPr>
            <a:picLocks noChangeAspect="1"/>
          </p:cNvPicPr>
          <p:nvPr/>
        </p:nvPicPr>
        <p:blipFill>
          <a:blip r:embed="rId15"/>
          <a:stretch>
            <a:fillRect/>
          </a:stretch>
        </p:blipFill>
        <p:spPr>
          <a:xfrm>
            <a:off x="2925166" y="3400654"/>
            <a:ext cx="685800" cy="256946"/>
          </a:xfrm>
          <a:prstGeom prst="rect">
            <a:avLst/>
          </a:prstGeom>
        </p:spPr>
      </p:pic>
      <p:sp>
        <p:nvSpPr>
          <p:cNvPr id="43" name="Text 28"/>
          <p:cNvSpPr/>
          <p:nvPr/>
        </p:nvSpPr>
        <p:spPr>
          <a:xfrm>
            <a:off x="2925166" y="3400654"/>
            <a:ext cx="68580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065F46"/>
                </a:solidFill>
                <a:latin typeface="Noto Sans KR" pitchFamily="34" charset="0"/>
                <a:ea typeface="Noto Sans KR" pitchFamily="34" charset="-122"/>
                <a:cs typeface="Noto Sans KR" pitchFamily="34" charset="-120"/>
              </a:rPr>
              <a:t>Pydantic</a:t>
            </a:r>
            <a:endParaRPr lang="en-US" sz="800" dirty="0"/>
          </a:p>
        </p:txBody>
      </p:sp>
      <p:sp>
        <p:nvSpPr>
          <p:cNvPr id="44" name="Text 29"/>
          <p:cNvSpPr txBox="1"/>
          <p:nvPr/>
        </p:nvSpPr>
        <p:spPr>
          <a:xfrm>
            <a:off x="3039466" y="3448202"/>
            <a:ext cx="538582" cy="162763"/>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KR" pitchFamily="34" charset="0"/>
                <a:ea typeface="Noto Sans KR" pitchFamily="34" charset="-122"/>
                <a:cs typeface="Noto Sans KR" pitchFamily="34" charset="-120"/>
              </a:rPr>
              <a:t>Pydantic</a:t>
            </a:r>
            <a:endParaRPr lang="en-US" sz="800" dirty="0"/>
          </a:p>
        </p:txBody>
      </p:sp>
      <p:pic>
        <p:nvPicPr>
          <p:cNvPr id="45" name="Image 13" descr="preencoded.png"/>
          <p:cNvPicPr>
            <a:picLocks noChangeAspect="1"/>
          </p:cNvPicPr>
          <p:nvPr/>
        </p:nvPicPr>
        <p:blipFill>
          <a:blip r:embed="rId16"/>
          <a:stretch>
            <a:fillRect/>
          </a:stretch>
        </p:blipFill>
        <p:spPr>
          <a:xfrm>
            <a:off x="3660343" y="3400654"/>
            <a:ext cx="1133856" cy="256946"/>
          </a:xfrm>
          <a:prstGeom prst="rect">
            <a:avLst/>
          </a:prstGeom>
        </p:spPr>
      </p:pic>
      <p:sp>
        <p:nvSpPr>
          <p:cNvPr id="46" name="Text 30"/>
          <p:cNvSpPr/>
          <p:nvPr/>
        </p:nvSpPr>
        <p:spPr>
          <a:xfrm>
            <a:off x="3660343" y="3400654"/>
            <a:ext cx="1133856"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065F46"/>
                </a:solidFill>
                <a:latin typeface="Noto Sans KR" pitchFamily="34" charset="0"/>
                <a:ea typeface="Noto Sans KR" pitchFamily="34" charset="-122"/>
                <a:cs typeface="Noto Sans KR" pitchFamily="34" charset="-120"/>
              </a:rPr>
              <a:t>CORS Middleware</a:t>
            </a:r>
            <a:endParaRPr lang="en-US" sz="800" dirty="0"/>
          </a:p>
        </p:txBody>
      </p:sp>
      <p:sp>
        <p:nvSpPr>
          <p:cNvPr id="47" name="Text 31"/>
          <p:cNvSpPr txBox="1"/>
          <p:nvPr/>
        </p:nvSpPr>
        <p:spPr>
          <a:xfrm>
            <a:off x="3774643" y="3448202"/>
            <a:ext cx="1011326" cy="162763"/>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KR" pitchFamily="34" charset="0"/>
                <a:ea typeface="Noto Sans KR" pitchFamily="34" charset="-122"/>
                <a:cs typeface="Noto Sans KR" pitchFamily="34" charset="-120"/>
              </a:rPr>
              <a:t>CORS Middleware</a:t>
            </a:r>
            <a:endParaRPr lang="en-US" sz="800" dirty="0"/>
          </a:p>
        </p:txBody>
      </p:sp>
      <p:sp>
        <p:nvSpPr>
          <p:cNvPr id="48" name="Shape 32"/>
          <p:cNvSpPr/>
          <p:nvPr/>
        </p:nvSpPr>
        <p:spPr>
          <a:xfrm>
            <a:off x="476402" y="3976726"/>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49" name="Shape 33"/>
          <p:cNvSpPr/>
          <p:nvPr/>
        </p:nvSpPr>
        <p:spPr>
          <a:xfrm>
            <a:off x="476402" y="3976726"/>
            <a:ext cx="38405" cy="1000354"/>
          </a:xfrm>
          <a:prstGeom prst="roundRect">
            <a:avLst>
              <a:gd name="adj" fmla="val 181405"/>
            </a:avLst>
          </a:prstGeom>
          <a:solidFill>
            <a:srgbClr val="8B5CF6"/>
          </a:solidFill>
          <a:ln w="12700">
            <a:solidFill>
              <a:srgbClr val="8B5CF6">
                <a:alpha val="0"/>
              </a:srgbClr>
            </a:solidFill>
            <a:prstDash val="solid"/>
          </a:ln>
        </p:spPr>
      </p:sp>
      <p:pic>
        <p:nvPicPr>
          <p:cNvPr id="50" name="Image 14" descr="preencoded.png"/>
          <p:cNvPicPr>
            <a:picLocks noChangeAspect="1"/>
          </p:cNvPicPr>
          <p:nvPr/>
        </p:nvPicPr>
        <p:blipFill>
          <a:blip r:embed="rId17"/>
          <a:srcRect/>
          <a:stretch/>
        </p:blipFill>
        <p:spPr>
          <a:xfrm>
            <a:off x="685800" y="4200754"/>
            <a:ext cx="190195" cy="190195"/>
          </a:xfrm>
          <a:prstGeom prst="rect">
            <a:avLst/>
          </a:prstGeom>
        </p:spPr>
      </p:pic>
      <p:sp>
        <p:nvSpPr>
          <p:cNvPr id="51" name="Text 34"/>
          <p:cNvSpPr txBox="1"/>
          <p:nvPr/>
        </p:nvSpPr>
        <p:spPr>
          <a:xfrm>
            <a:off x="972007" y="4190695"/>
            <a:ext cx="1253642" cy="200254"/>
          </a:xfrm>
          <a:prstGeom prst="rect">
            <a:avLst/>
          </a:prstGeom>
          <a:noFill/>
          <a:ln/>
        </p:spPr>
        <p:txBody>
          <a:bodyPr wrap="square" lIns="0" tIns="0" rIns="0" bIns="0" rtlCol="0" anchor="ctr"/>
          <a:lstStyle/>
          <a:p>
            <a:pPr marL="0" indent="0" algn="l">
              <a:buNone/>
            </a:pPr>
            <a:r>
              <a:rPr lang="en-US" sz="1000" b="1" dirty="0">
                <a:solidFill>
                  <a:srgbClr val="1A355B"/>
                </a:solidFill>
                <a:latin typeface="Noto Sans KR" pitchFamily="34" charset="0"/>
                <a:ea typeface="Noto Sans KR" pitchFamily="34" charset="-122"/>
                <a:cs typeface="Noto Sans KR" pitchFamily="34" charset="-120"/>
              </a:rPr>
              <a:t>딥러닝 / 머신러닝</a:t>
            </a:r>
            <a:endParaRPr lang="en-US" sz="1000" dirty="0"/>
          </a:p>
        </p:txBody>
      </p:sp>
      <p:pic>
        <p:nvPicPr>
          <p:cNvPr id="52" name="Image 15" descr="preencoded.png"/>
          <p:cNvPicPr>
            <a:picLocks noChangeAspect="1"/>
          </p:cNvPicPr>
          <p:nvPr/>
        </p:nvPicPr>
        <p:blipFill>
          <a:blip r:embed="rId18"/>
          <a:stretch>
            <a:fillRect/>
          </a:stretch>
        </p:blipFill>
        <p:spPr>
          <a:xfrm>
            <a:off x="685800" y="4548226"/>
            <a:ext cx="819302" cy="256946"/>
          </a:xfrm>
          <a:prstGeom prst="rect">
            <a:avLst/>
          </a:prstGeom>
        </p:spPr>
      </p:pic>
      <p:sp>
        <p:nvSpPr>
          <p:cNvPr id="53" name="Text 35"/>
          <p:cNvSpPr/>
          <p:nvPr/>
        </p:nvSpPr>
        <p:spPr>
          <a:xfrm>
            <a:off x="685800" y="4548226"/>
            <a:ext cx="8193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PyTorch 1.x</a:t>
            </a:r>
            <a:endParaRPr lang="en-US" sz="800" dirty="0"/>
          </a:p>
        </p:txBody>
      </p:sp>
      <p:sp>
        <p:nvSpPr>
          <p:cNvPr id="54" name="Text 36"/>
          <p:cNvSpPr txBox="1"/>
          <p:nvPr/>
        </p:nvSpPr>
        <p:spPr>
          <a:xfrm>
            <a:off x="800100" y="4595774"/>
            <a:ext cx="703174"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PyTorch 1.x</a:t>
            </a:r>
            <a:endParaRPr lang="en-US" sz="800" dirty="0"/>
          </a:p>
        </p:txBody>
      </p:sp>
      <p:pic>
        <p:nvPicPr>
          <p:cNvPr id="55" name="Image 16" descr="preencoded.png"/>
          <p:cNvPicPr>
            <a:picLocks noChangeAspect="1"/>
          </p:cNvPicPr>
          <p:nvPr/>
        </p:nvPicPr>
        <p:blipFill>
          <a:blip r:embed="rId19"/>
          <a:stretch>
            <a:fillRect/>
          </a:stretch>
        </p:blipFill>
        <p:spPr>
          <a:xfrm>
            <a:off x="1559966" y="4548226"/>
            <a:ext cx="771754" cy="256946"/>
          </a:xfrm>
          <a:prstGeom prst="rect">
            <a:avLst/>
          </a:prstGeom>
        </p:spPr>
      </p:pic>
      <p:sp>
        <p:nvSpPr>
          <p:cNvPr id="56" name="Text 37"/>
          <p:cNvSpPr/>
          <p:nvPr/>
        </p:nvSpPr>
        <p:spPr>
          <a:xfrm>
            <a:off x="1559966" y="4548226"/>
            <a:ext cx="7717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Chemprop</a:t>
            </a:r>
            <a:endParaRPr lang="en-US" sz="800" dirty="0"/>
          </a:p>
        </p:txBody>
      </p:sp>
      <p:sp>
        <p:nvSpPr>
          <p:cNvPr id="57" name="Text 38"/>
          <p:cNvSpPr txBox="1"/>
          <p:nvPr/>
        </p:nvSpPr>
        <p:spPr>
          <a:xfrm>
            <a:off x="1674266" y="4595774"/>
            <a:ext cx="619963"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Chemprop</a:t>
            </a:r>
            <a:endParaRPr lang="en-US" sz="800" dirty="0"/>
          </a:p>
        </p:txBody>
      </p:sp>
      <p:pic>
        <p:nvPicPr>
          <p:cNvPr id="58" name="Image 17" descr="preencoded.png"/>
          <p:cNvPicPr>
            <a:picLocks noChangeAspect="1"/>
          </p:cNvPicPr>
          <p:nvPr/>
        </p:nvPicPr>
        <p:blipFill>
          <a:blip r:embed="rId20"/>
          <a:stretch>
            <a:fillRect/>
          </a:stretch>
        </p:blipFill>
        <p:spPr>
          <a:xfrm>
            <a:off x="2381098" y="4548226"/>
            <a:ext cx="523951" cy="256946"/>
          </a:xfrm>
          <a:prstGeom prst="rect">
            <a:avLst/>
          </a:prstGeom>
        </p:spPr>
      </p:pic>
      <p:sp>
        <p:nvSpPr>
          <p:cNvPr id="59" name="Text 39"/>
          <p:cNvSpPr/>
          <p:nvPr/>
        </p:nvSpPr>
        <p:spPr>
          <a:xfrm>
            <a:off x="2381098" y="4548226"/>
            <a:ext cx="5239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RDKit</a:t>
            </a:r>
            <a:endParaRPr lang="en-US" sz="800" dirty="0"/>
          </a:p>
        </p:txBody>
      </p:sp>
      <p:sp>
        <p:nvSpPr>
          <p:cNvPr id="60" name="Text 40"/>
          <p:cNvSpPr txBox="1"/>
          <p:nvPr/>
        </p:nvSpPr>
        <p:spPr>
          <a:xfrm>
            <a:off x="2495398" y="4595774"/>
            <a:ext cx="372161"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RDKit</a:t>
            </a:r>
            <a:endParaRPr lang="en-US" sz="800" dirty="0"/>
          </a:p>
        </p:txBody>
      </p:sp>
      <p:pic>
        <p:nvPicPr>
          <p:cNvPr id="61" name="Image 18" descr="preencoded.png"/>
          <p:cNvPicPr>
            <a:picLocks noChangeAspect="1"/>
          </p:cNvPicPr>
          <p:nvPr/>
        </p:nvPicPr>
        <p:blipFill>
          <a:blip r:embed="rId18"/>
          <a:stretch>
            <a:fillRect/>
          </a:stretch>
        </p:blipFill>
        <p:spPr>
          <a:xfrm>
            <a:off x="2956255" y="4548226"/>
            <a:ext cx="819302" cy="256946"/>
          </a:xfrm>
          <a:prstGeom prst="rect">
            <a:avLst/>
          </a:prstGeom>
        </p:spPr>
      </p:pic>
      <p:sp>
        <p:nvSpPr>
          <p:cNvPr id="62" name="Text 41"/>
          <p:cNvSpPr/>
          <p:nvPr/>
        </p:nvSpPr>
        <p:spPr>
          <a:xfrm>
            <a:off x="2956255" y="4548226"/>
            <a:ext cx="8193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Scikit-learn</a:t>
            </a:r>
            <a:endParaRPr lang="en-US" sz="800" dirty="0"/>
          </a:p>
        </p:txBody>
      </p:sp>
      <p:sp>
        <p:nvSpPr>
          <p:cNvPr id="63" name="Text 42"/>
          <p:cNvSpPr txBox="1"/>
          <p:nvPr/>
        </p:nvSpPr>
        <p:spPr>
          <a:xfrm>
            <a:off x="3070555" y="4595774"/>
            <a:ext cx="703174"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Scikit-learn</a:t>
            </a:r>
            <a:endParaRPr lang="en-US" sz="800" dirty="0"/>
          </a:p>
        </p:txBody>
      </p:sp>
      <p:pic>
        <p:nvPicPr>
          <p:cNvPr id="64" name="Image 19" descr="preencoded.png"/>
          <p:cNvPicPr>
            <a:picLocks noChangeAspect="1"/>
          </p:cNvPicPr>
          <p:nvPr/>
        </p:nvPicPr>
        <p:blipFill>
          <a:blip r:embed="rId21"/>
          <a:stretch>
            <a:fillRect/>
          </a:stretch>
        </p:blipFill>
        <p:spPr>
          <a:xfrm>
            <a:off x="3827678" y="4548226"/>
            <a:ext cx="599846" cy="256946"/>
          </a:xfrm>
          <a:prstGeom prst="rect">
            <a:avLst/>
          </a:prstGeom>
        </p:spPr>
      </p:pic>
      <p:sp>
        <p:nvSpPr>
          <p:cNvPr id="65" name="Text 43"/>
          <p:cNvSpPr/>
          <p:nvPr/>
        </p:nvSpPr>
        <p:spPr>
          <a:xfrm>
            <a:off x="382767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NumPy</a:t>
            </a:r>
            <a:endParaRPr lang="en-US" sz="800" dirty="0"/>
          </a:p>
        </p:txBody>
      </p:sp>
      <p:sp>
        <p:nvSpPr>
          <p:cNvPr id="66" name="Text 44"/>
          <p:cNvSpPr txBox="1"/>
          <p:nvPr/>
        </p:nvSpPr>
        <p:spPr>
          <a:xfrm>
            <a:off x="3941978" y="4595774"/>
            <a:ext cx="448056"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NumPy</a:t>
            </a:r>
            <a:endParaRPr lang="en-US" sz="800" dirty="0"/>
          </a:p>
        </p:txBody>
      </p:sp>
      <p:pic>
        <p:nvPicPr>
          <p:cNvPr id="67" name="Image 20" descr="preencoded.png"/>
          <p:cNvPicPr>
            <a:picLocks noChangeAspect="1"/>
          </p:cNvPicPr>
          <p:nvPr/>
        </p:nvPicPr>
        <p:blipFill>
          <a:blip r:embed="rId21"/>
          <a:stretch>
            <a:fillRect/>
          </a:stretch>
        </p:blipFill>
        <p:spPr>
          <a:xfrm>
            <a:off x="4484218" y="4548226"/>
            <a:ext cx="599846" cy="256946"/>
          </a:xfrm>
          <a:prstGeom prst="rect">
            <a:avLst/>
          </a:prstGeom>
        </p:spPr>
      </p:pic>
      <p:sp>
        <p:nvSpPr>
          <p:cNvPr id="68" name="Text 45"/>
          <p:cNvSpPr/>
          <p:nvPr/>
        </p:nvSpPr>
        <p:spPr>
          <a:xfrm>
            <a:off x="448421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Pandas</a:t>
            </a:r>
            <a:endParaRPr lang="en-US" sz="800" dirty="0"/>
          </a:p>
        </p:txBody>
      </p:sp>
      <p:sp>
        <p:nvSpPr>
          <p:cNvPr id="69" name="Text 46"/>
          <p:cNvSpPr txBox="1"/>
          <p:nvPr/>
        </p:nvSpPr>
        <p:spPr>
          <a:xfrm>
            <a:off x="4598518" y="4595774"/>
            <a:ext cx="448056" cy="162763"/>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Pandas</a:t>
            </a:r>
            <a:endParaRPr lang="en-US" sz="800" dirty="0"/>
          </a:p>
        </p:txBody>
      </p:sp>
      <p:sp>
        <p:nvSpPr>
          <p:cNvPr id="70" name="Shape 47"/>
          <p:cNvSpPr/>
          <p:nvPr/>
        </p:nvSpPr>
        <p:spPr>
          <a:xfrm>
            <a:off x="476402" y="5124298"/>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71" name="Shape 48"/>
          <p:cNvSpPr/>
          <p:nvPr/>
        </p:nvSpPr>
        <p:spPr>
          <a:xfrm>
            <a:off x="476402" y="5124298"/>
            <a:ext cx="38405" cy="1000354"/>
          </a:xfrm>
          <a:prstGeom prst="roundRect">
            <a:avLst>
              <a:gd name="adj" fmla="val 181405"/>
            </a:avLst>
          </a:prstGeom>
          <a:solidFill>
            <a:srgbClr val="F59E0B"/>
          </a:solidFill>
          <a:ln w="12700">
            <a:solidFill>
              <a:srgbClr val="F59E0B">
                <a:alpha val="0"/>
              </a:srgbClr>
            </a:solidFill>
            <a:prstDash val="solid"/>
          </a:ln>
        </p:spPr>
      </p:sp>
      <p:pic>
        <p:nvPicPr>
          <p:cNvPr id="72" name="Image 21" descr="preencoded.png"/>
          <p:cNvPicPr>
            <a:picLocks noChangeAspect="1"/>
          </p:cNvPicPr>
          <p:nvPr/>
        </p:nvPicPr>
        <p:blipFill>
          <a:blip r:embed="rId22"/>
          <a:srcRect l="-1648" r="-1648"/>
          <a:stretch/>
        </p:blipFill>
        <p:spPr>
          <a:xfrm>
            <a:off x="685800" y="5348326"/>
            <a:ext cx="171907" cy="190195"/>
          </a:xfrm>
          <a:prstGeom prst="rect">
            <a:avLst/>
          </a:prstGeom>
        </p:spPr>
      </p:pic>
      <p:sp>
        <p:nvSpPr>
          <p:cNvPr id="73" name="Text 49"/>
          <p:cNvSpPr txBox="1"/>
          <p:nvPr/>
        </p:nvSpPr>
        <p:spPr>
          <a:xfrm>
            <a:off x="952805" y="5339182"/>
            <a:ext cx="1394460" cy="200254"/>
          </a:xfrm>
          <a:prstGeom prst="rect">
            <a:avLst/>
          </a:prstGeom>
          <a:noFill/>
          <a:ln/>
        </p:spPr>
        <p:txBody>
          <a:bodyPr wrap="square" lIns="0" tIns="0" rIns="0" bIns="0" rtlCol="0" anchor="ctr"/>
          <a:lstStyle/>
          <a:p>
            <a:pPr marL="0" indent="0" algn="l">
              <a:buNone/>
            </a:pPr>
            <a:r>
              <a:rPr lang="en-US" sz="1000" b="1" dirty="0">
                <a:solidFill>
                  <a:srgbClr val="1A355B"/>
                </a:solidFill>
                <a:latin typeface="Noto Sans KR" pitchFamily="34" charset="0"/>
                <a:ea typeface="Noto Sans KR" pitchFamily="34" charset="-122"/>
                <a:cs typeface="Noto Sans KR" pitchFamily="34" charset="-120"/>
              </a:rPr>
              <a:t>데이터 처리 및 분석</a:t>
            </a:r>
            <a:endParaRPr lang="en-US" sz="1000" dirty="0"/>
          </a:p>
        </p:txBody>
      </p:sp>
      <p:pic>
        <p:nvPicPr>
          <p:cNvPr id="74" name="Image 22" descr="preencoded.png"/>
          <p:cNvPicPr>
            <a:picLocks noChangeAspect="1"/>
          </p:cNvPicPr>
          <p:nvPr/>
        </p:nvPicPr>
        <p:blipFill>
          <a:blip r:embed="rId23"/>
          <a:stretch>
            <a:fillRect/>
          </a:stretch>
        </p:blipFill>
        <p:spPr>
          <a:xfrm>
            <a:off x="685800" y="5695798"/>
            <a:ext cx="1095451" cy="256946"/>
          </a:xfrm>
          <a:prstGeom prst="rect">
            <a:avLst/>
          </a:prstGeom>
        </p:spPr>
      </p:pic>
      <p:sp>
        <p:nvSpPr>
          <p:cNvPr id="75" name="Text 50"/>
          <p:cNvSpPr/>
          <p:nvPr/>
        </p:nvSpPr>
        <p:spPr>
          <a:xfrm>
            <a:off x="685800" y="5695798"/>
            <a:ext cx="10954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92400E"/>
                </a:solidFill>
                <a:latin typeface="Noto Sans KR" pitchFamily="34" charset="0"/>
                <a:ea typeface="Noto Sans KR" pitchFamily="34" charset="-122"/>
                <a:cs typeface="Noto Sans KR" pitchFamily="34" charset="-120"/>
              </a:rPr>
              <a:t>R (Bioconductor)</a:t>
            </a:r>
            <a:endParaRPr lang="en-US" sz="800" dirty="0"/>
          </a:p>
        </p:txBody>
      </p:sp>
      <p:sp>
        <p:nvSpPr>
          <p:cNvPr id="76" name="Text 51"/>
          <p:cNvSpPr txBox="1"/>
          <p:nvPr/>
        </p:nvSpPr>
        <p:spPr>
          <a:xfrm>
            <a:off x="800100" y="5743346"/>
            <a:ext cx="1032358"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R (Bioconductor)</a:t>
            </a:r>
            <a:endParaRPr lang="en-US" sz="800" dirty="0"/>
          </a:p>
        </p:txBody>
      </p:sp>
      <p:pic>
        <p:nvPicPr>
          <p:cNvPr id="77" name="Image 23" descr="preencoded.png"/>
          <p:cNvPicPr>
            <a:picLocks noChangeAspect="1"/>
          </p:cNvPicPr>
          <p:nvPr/>
        </p:nvPicPr>
        <p:blipFill>
          <a:blip r:embed="rId24"/>
          <a:stretch>
            <a:fillRect/>
          </a:stretch>
        </p:blipFill>
        <p:spPr>
          <a:xfrm>
            <a:off x="1832458" y="5695798"/>
            <a:ext cx="809244" cy="256946"/>
          </a:xfrm>
          <a:prstGeom prst="rect">
            <a:avLst/>
          </a:prstGeom>
        </p:spPr>
      </p:pic>
      <p:sp>
        <p:nvSpPr>
          <p:cNvPr id="78" name="Text 52"/>
          <p:cNvSpPr/>
          <p:nvPr/>
        </p:nvSpPr>
        <p:spPr>
          <a:xfrm>
            <a:off x="1832458" y="5695798"/>
            <a:ext cx="8101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92400E"/>
                </a:solidFill>
                <a:latin typeface="Noto Sans KR" pitchFamily="34" charset="0"/>
                <a:ea typeface="Noto Sans KR" pitchFamily="34" charset="-122"/>
                <a:cs typeface="Noto Sans KR" pitchFamily="34" charset="-120"/>
              </a:rPr>
              <a:t>GOSemSim</a:t>
            </a:r>
            <a:endParaRPr lang="en-US" sz="800" dirty="0"/>
          </a:p>
        </p:txBody>
      </p:sp>
      <p:sp>
        <p:nvSpPr>
          <p:cNvPr id="79" name="Text 53"/>
          <p:cNvSpPr txBox="1"/>
          <p:nvPr/>
        </p:nvSpPr>
        <p:spPr>
          <a:xfrm>
            <a:off x="1946758" y="5743346"/>
            <a:ext cx="657454"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GOSemSim</a:t>
            </a:r>
            <a:endParaRPr lang="en-US" sz="800" dirty="0"/>
          </a:p>
        </p:txBody>
      </p:sp>
      <p:pic>
        <p:nvPicPr>
          <p:cNvPr id="80" name="Image 24" descr="preencoded.png"/>
          <p:cNvPicPr>
            <a:picLocks noChangeAspect="1"/>
          </p:cNvPicPr>
          <p:nvPr/>
        </p:nvPicPr>
        <p:blipFill>
          <a:blip r:embed="rId25"/>
          <a:stretch>
            <a:fillRect/>
          </a:stretch>
        </p:blipFill>
        <p:spPr>
          <a:xfrm>
            <a:off x="2691994" y="5695798"/>
            <a:ext cx="552298" cy="256946"/>
          </a:xfrm>
          <a:prstGeom prst="rect">
            <a:avLst/>
          </a:prstGeom>
        </p:spPr>
      </p:pic>
      <p:sp>
        <p:nvSpPr>
          <p:cNvPr id="81" name="Text 54"/>
          <p:cNvSpPr/>
          <p:nvPr/>
        </p:nvSpPr>
        <p:spPr>
          <a:xfrm>
            <a:off x="2691994" y="5695798"/>
            <a:ext cx="5532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92400E"/>
                </a:solidFill>
                <a:latin typeface="Noto Sans KR" pitchFamily="34" charset="0"/>
                <a:ea typeface="Noto Sans KR" pitchFamily="34" charset="-122"/>
                <a:cs typeface="Noto Sans KR" pitchFamily="34" charset="-120"/>
              </a:rPr>
              <a:t>BLAST</a:t>
            </a:r>
            <a:endParaRPr lang="en-US" sz="800" dirty="0"/>
          </a:p>
        </p:txBody>
      </p:sp>
      <p:sp>
        <p:nvSpPr>
          <p:cNvPr id="82" name="Text 55"/>
          <p:cNvSpPr txBox="1"/>
          <p:nvPr/>
        </p:nvSpPr>
        <p:spPr>
          <a:xfrm>
            <a:off x="2806294" y="5743346"/>
            <a:ext cx="400507"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BLAST</a:t>
            </a:r>
            <a:endParaRPr lang="en-US" sz="800" dirty="0"/>
          </a:p>
        </p:txBody>
      </p:sp>
      <p:pic>
        <p:nvPicPr>
          <p:cNvPr id="83" name="Image 25" descr="preencoded.png"/>
          <p:cNvPicPr>
            <a:picLocks noChangeAspect="1"/>
          </p:cNvPicPr>
          <p:nvPr/>
        </p:nvPicPr>
        <p:blipFill>
          <a:blip r:embed="rId26"/>
          <a:stretch>
            <a:fillRect/>
          </a:stretch>
        </p:blipFill>
        <p:spPr>
          <a:xfrm>
            <a:off x="3300070" y="5695798"/>
            <a:ext cx="609905" cy="256946"/>
          </a:xfrm>
          <a:prstGeom prst="rect">
            <a:avLst/>
          </a:prstGeom>
        </p:spPr>
      </p:pic>
      <p:sp>
        <p:nvSpPr>
          <p:cNvPr id="84" name="Text 56"/>
          <p:cNvSpPr/>
          <p:nvPr/>
        </p:nvSpPr>
        <p:spPr>
          <a:xfrm>
            <a:off x="3300070" y="5695798"/>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92400E"/>
                </a:solidFill>
                <a:latin typeface="Noto Sans KR" pitchFamily="34" charset="0"/>
                <a:ea typeface="Noto Sans KR" pitchFamily="34" charset="-122"/>
                <a:cs typeface="Noto Sans KR" pitchFamily="34" charset="-120"/>
              </a:rPr>
              <a:t>WGCNA</a:t>
            </a:r>
            <a:endParaRPr lang="en-US" sz="800" dirty="0"/>
          </a:p>
        </p:txBody>
      </p:sp>
      <p:sp>
        <p:nvSpPr>
          <p:cNvPr id="85" name="Text 57"/>
          <p:cNvSpPr txBox="1"/>
          <p:nvPr/>
        </p:nvSpPr>
        <p:spPr>
          <a:xfrm>
            <a:off x="3414370" y="5743346"/>
            <a:ext cx="457200"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WGCNA</a:t>
            </a:r>
            <a:endParaRPr lang="en-US" sz="800" dirty="0"/>
          </a:p>
        </p:txBody>
      </p:sp>
      <p:pic>
        <p:nvPicPr>
          <p:cNvPr id="86" name="Image 26" descr="preencoded.png"/>
          <p:cNvPicPr>
            <a:picLocks noChangeAspect="1"/>
          </p:cNvPicPr>
          <p:nvPr/>
        </p:nvPicPr>
        <p:blipFill>
          <a:blip r:embed="rId27"/>
          <a:stretch>
            <a:fillRect/>
          </a:stretch>
        </p:blipFill>
        <p:spPr>
          <a:xfrm>
            <a:off x="3965753" y="5695798"/>
            <a:ext cx="1152144" cy="256946"/>
          </a:xfrm>
          <a:prstGeom prst="rect">
            <a:avLst/>
          </a:prstGeom>
        </p:spPr>
      </p:pic>
      <p:sp>
        <p:nvSpPr>
          <p:cNvPr id="87" name="Text 58"/>
          <p:cNvSpPr/>
          <p:nvPr/>
        </p:nvSpPr>
        <p:spPr>
          <a:xfrm>
            <a:off x="3965753" y="5695798"/>
            <a:ext cx="11530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92400E"/>
                </a:solidFill>
                <a:latin typeface="Noto Sans KR" pitchFamily="34" charset="0"/>
                <a:ea typeface="Noto Sans KR" pitchFamily="34" charset="-122"/>
                <a:cs typeface="Noto Sans KR" pitchFamily="34" charset="-120"/>
              </a:rPr>
              <a:t>Jupyter Notebook</a:t>
            </a:r>
            <a:endParaRPr lang="en-US" sz="800" dirty="0"/>
          </a:p>
        </p:txBody>
      </p:sp>
      <p:sp>
        <p:nvSpPr>
          <p:cNvPr id="88" name="Text 59"/>
          <p:cNvSpPr txBox="1"/>
          <p:nvPr/>
        </p:nvSpPr>
        <p:spPr>
          <a:xfrm>
            <a:off x="4080053" y="5743346"/>
            <a:ext cx="1077163" cy="162763"/>
          </a:xfrm>
          <a:prstGeom prst="rect">
            <a:avLst/>
          </a:prstGeom>
          <a:noFill/>
          <a:ln/>
        </p:spPr>
        <p:txBody>
          <a:bodyPr wrap="square" lIns="0" tIns="0" rIns="0" bIns="0" rtlCol="0" anchor="ctr"/>
          <a:lstStyle/>
          <a:p>
            <a:pPr marL="0" indent="0" algn="l">
              <a:buNone/>
            </a:pPr>
            <a:r>
              <a:rPr lang="en-US" sz="800" b="1" dirty="0">
                <a:solidFill>
                  <a:srgbClr val="92400E"/>
                </a:solidFill>
                <a:latin typeface="Noto Sans KR" pitchFamily="34" charset="0"/>
                <a:ea typeface="Noto Sans KR" pitchFamily="34" charset="-122"/>
                <a:cs typeface="Noto Sans KR" pitchFamily="34" charset="-120"/>
              </a:rPr>
              <a:t>Jupyter Notebook</a:t>
            </a:r>
            <a:endParaRPr lang="en-US" sz="800" dirty="0"/>
          </a:p>
        </p:txBody>
      </p:sp>
      <p:sp>
        <p:nvSpPr>
          <p:cNvPr id="89" name="Shape 60"/>
          <p:cNvSpPr/>
          <p:nvPr/>
        </p:nvSpPr>
        <p:spPr>
          <a:xfrm>
            <a:off x="6229807" y="1371600"/>
            <a:ext cx="5486400" cy="3543300"/>
          </a:xfrm>
          <a:prstGeom prst="roundRect">
            <a:avLst>
              <a:gd name="adj" fmla="val 555"/>
            </a:avLst>
          </a:prstGeom>
          <a:solidFill>
            <a:srgbClr val="FFFFFF"/>
          </a:solidFill>
          <a:ln/>
          <a:effectLst>
            <a:outerShdw blurRad="76200" dist="25400" dir="16200000" algn="bl" rotWithShape="0">
              <a:srgbClr val="000000">
                <a:alpha val="8000"/>
              </a:srgbClr>
            </a:outerShdw>
          </a:effectLst>
        </p:spPr>
      </p:sp>
      <p:sp>
        <p:nvSpPr>
          <p:cNvPr id="90" name="Shape 61"/>
          <p:cNvSpPr/>
          <p:nvPr/>
        </p:nvSpPr>
        <p:spPr>
          <a:xfrm>
            <a:off x="6229807" y="1371600"/>
            <a:ext cx="5486400" cy="28346"/>
          </a:xfrm>
          <a:prstGeom prst="roundRect">
            <a:avLst>
              <a:gd name="adj" fmla="val 69373"/>
            </a:avLst>
          </a:prstGeom>
          <a:solidFill>
            <a:srgbClr val="1A355B"/>
          </a:solidFill>
          <a:ln w="12700">
            <a:solidFill>
              <a:srgbClr val="1A355B">
                <a:alpha val="0"/>
              </a:srgbClr>
            </a:solidFill>
            <a:prstDash val="solid"/>
          </a:ln>
        </p:spPr>
      </p:sp>
      <p:pic>
        <p:nvPicPr>
          <p:cNvPr id="91" name="Image 27" descr="preencoded.png"/>
          <p:cNvPicPr>
            <a:picLocks noChangeAspect="1"/>
          </p:cNvPicPr>
          <p:nvPr/>
        </p:nvPicPr>
        <p:blipFill>
          <a:blip r:embed="rId28"/>
          <a:srcRect/>
          <a:stretch/>
        </p:blipFill>
        <p:spPr>
          <a:xfrm>
            <a:off x="6420002" y="1655064"/>
            <a:ext cx="209398" cy="209398"/>
          </a:xfrm>
          <a:prstGeom prst="rect">
            <a:avLst/>
          </a:prstGeom>
        </p:spPr>
      </p:pic>
      <p:sp>
        <p:nvSpPr>
          <p:cNvPr id="92" name="Text 62"/>
          <p:cNvSpPr txBox="1"/>
          <p:nvPr/>
        </p:nvSpPr>
        <p:spPr>
          <a:xfrm>
            <a:off x="6724498" y="1640434"/>
            <a:ext cx="1250899" cy="21945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재현성 확보 방법</a:t>
            </a:r>
            <a:endParaRPr lang="en-US" sz="1100" dirty="0"/>
          </a:p>
        </p:txBody>
      </p:sp>
      <p:sp>
        <p:nvSpPr>
          <p:cNvPr id="93" name="Shape 63"/>
          <p:cNvSpPr/>
          <p:nvPr/>
        </p:nvSpPr>
        <p:spPr>
          <a:xfrm>
            <a:off x="6420002" y="2038198"/>
            <a:ext cx="5105095" cy="562356"/>
          </a:xfrm>
          <a:prstGeom prst="roundRect">
            <a:avLst>
              <a:gd name="adj" fmla="val 16536"/>
            </a:avLst>
          </a:prstGeom>
          <a:solidFill>
            <a:srgbClr val="F8FAFC"/>
          </a:solidFill>
          <a:ln/>
        </p:spPr>
      </p:sp>
      <p:sp>
        <p:nvSpPr>
          <p:cNvPr id="94" name="Shape 64"/>
          <p:cNvSpPr/>
          <p:nvPr/>
        </p:nvSpPr>
        <p:spPr>
          <a:xfrm>
            <a:off x="6420002" y="2038198"/>
            <a:ext cx="28346" cy="562356"/>
          </a:xfrm>
          <a:prstGeom prst="roundRect">
            <a:avLst>
              <a:gd name="adj" fmla="val 328053"/>
            </a:avLst>
          </a:prstGeom>
          <a:solidFill>
            <a:srgbClr val="3B82F6"/>
          </a:solidFill>
          <a:ln w="12700">
            <a:solidFill>
              <a:srgbClr val="3B82F6">
                <a:alpha val="0"/>
              </a:srgbClr>
            </a:solidFill>
            <a:prstDash val="solid"/>
          </a:ln>
        </p:spPr>
      </p:sp>
      <p:sp>
        <p:nvSpPr>
          <p:cNvPr id="95" name="Text 65"/>
          <p:cNvSpPr txBox="1"/>
          <p:nvPr/>
        </p:nvSpPr>
        <p:spPr>
          <a:xfrm>
            <a:off x="6562649" y="2133295"/>
            <a:ext cx="5039258"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데이터 분할 전략</a:t>
            </a:r>
            <a:endParaRPr lang="en-US" sz="800" dirty="0"/>
          </a:p>
        </p:txBody>
      </p:sp>
      <p:sp>
        <p:nvSpPr>
          <p:cNvPr id="96" name="Text 66"/>
          <p:cNvSpPr txBox="1"/>
          <p:nvPr/>
        </p:nvSpPr>
        <p:spPr>
          <a:xfrm>
            <a:off x="6562649" y="2328977"/>
            <a:ext cx="5534863"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Scaffold Split (80:10:10)</a:t>
            </a:r>
            <a:r>
              <a:rPr lang="en-US" sz="900" dirty="0">
                <a:solidFill>
                  <a:srgbClr val="1E293B"/>
                </a:solidFill>
                <a:latin typeface="Noto Sans KR" pitchFamily="34" charset="0"/>
                <a:ea typeface="Noto Sans KR" pitchFamily="34" charset="-122"/>
                <a:cs typeface="Noto Sans KR" pitchFamily="34" charset="-120"/>
              </a:rPr>
              <a:t>: 분자 골격 기반 분할로 훈련/검증/테스트 세트 간 구조적 다양성 확보</a:t>
            </a:r>
            <a:endParaRPr lang="en-US" sz="900" dirty="0"/>
          </a:p>
        </p:txBody>
      </p:sp>
      <p:sp>
        <p:nvSpPr>
          <p:cNvPr id="97" name="Shape 67"/>
          <p:cNvSpPr/>
          <p:nvPr/>
        </p:nvSpPr>
        <p:spPr>
          <a:xfrm>
            <a:off x="6420002" y="2691079"/>
            <a:ext cx="5105095" cy="562356"/>
          </a:xfrm>
          <a:prstGeom prst="roundRect">
            <a:avLst>
              <a:gd name="adj" fmla="val 16536"/>
            </a:avLst>
          </a:prstGeom>
          <a:solidFill>
            <a:srgbClr val="F8FAFC"/>
          </a:solidFill>
          <a:ln/>
        </p:spPr>
      </p:sp>
      <p:sp>
        <p:nvSpPr>
          <p:cNvPr id="98" name="Shape 68"/>
          <p:cNvSpPr/>
          <p:nvPr/>
        </p:nvSpPr>
        <p:spPr>
          <a:xfrm>
            <a:off x="6420002" y="2691079"/>
            <a:ext cx="28346" cy="562356"/>
          </a:xfrm>
          <a:prstGeom prst="roundRect">
            <a:avLst>
              <a:gd name="adj" fmla="val 328053"/>
            </a:avLst>
          </a:prstGeom>
          <a:solidFill>
            <a:srgbClr val="3B82F6"/>
          </a:solidFill>
          <a:ln w="12700">
            <a:solidFill>
              <a:srgbClr val="3B82F6">
                <a:alpha val="0"/>
              </a:srgbClr>
            </a:solidFill>
            <a:prstDash val="solid"/>
          </a:ln>
        </p:spPr>
      </p:sp>
      <p:sp>
        <p:nvSpPr>
          <p:cNvPr id="99" name="Text 69"/>
          <p:cNvSpPr txBox="1"/>
          <p:nvPr/>
        </p:nvSpPr>
        <p:spPr>
          <a:xfrm>
            <a:off x="6562649" y="2786177"/>
            <a:ext cx="5039258"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임계값 최적화</a:t>
            </a:r>
            <a:endParaRPr lang="en-US" sz="800" dirty="0"/>
          </a:p>
        </p:txBody>
      </p:sp>
      <p:sp>
        <p:nvSpPr>
          <p:cNvPr id="100" name="Text 70"/>
          <p:cNvSpPr txBox="1"/>
          <p:nvPr/>
        </p:nvSpPr>
        <p:spPr>
          <a:xfrm>
            <a:off x="6562649" y="2980944"/>
            <a:ext cx="5534863"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Youden's J Statistic</a:t>
            </a:r>
            <a:r>
              <a:rPr lang="en-US" sz="900" dirty="0">
                <a:solidFill>
                  <a:srgbClr val="1E293B"/>
                </a:solidFill>
                <a:latin typeface="Noto Sans KR" pitchFamily="34" charset="0"/>
                <a:ea typeface="Noto Sans KR" pitchFamily="34" charset="-122"/>
                <a:cs typeface="Noto Sans KR" pitchFamily="34" charset="-120"/>
              </a:rPr>
              <a:t>: ROC 곡선 기반 최적 분류 임계값 자동 결정 (민감도 + 특이도 - 1 최대화)</a:t>
            </a:r>
            <a:endParaRPr lang="en-US" sz="900" dirty="0"/>
          </a:p>
        </p:txBody>
      </p:sp>
      <p:sp>
        <p:nvSpPr>
          <p:cNvPr id="101" name="Shape 71"/>
          <p:cNvSpPr/>
          <p:nvPr/>
        </p:nvSpPr>
        <p:spPr>
          <a:xfrm>
            <a:off x="6420002" y="3343046"/>
            <a:ext cx="5105095" cy="562356"/>
          </a:xfrm>
          <a:prstGeom prst="roundRect">
            <a:avLst>
              <a:gd name="adj" fmla="val 16536"/>
            </a:avLst>
          </a:prstGeom>
          <a:solidFill>
            <a:srgbClr val="F8FAFC"/>
          </a:solidFill>
          <a:ln/>
        </p:spPr>
      </p:sp>
      <p:sp>
        <p:nvSpPr>
          <p:cNvPr id="102" name="Shape 72"/>
          <p:cNvSpPr/>
          <p:nvPr/>
        </p:nvSpPr>
        <p:spPr>
          <a:xfrm>
            <a:off x="6420002" y="3343046"/>
            <a:ext cx="28346" cy="562356"/>
          </a:xfrm>
          <a:prstGeom prst="roundRect">
            <a:avLst>
              <a:gd name="adj" fmla="val 328053"/>
            </a:avLst>
          </a:prstGeom>
          <a:solidFill>
            <a:srgbClr val="3B82F6"/>
          </a:solidFill>
          <a:ln w="12700">
            <a:solidFill>
              <a:srgbClr val="3B82F6">
                <a:alpha val="0"/>
              </a:srgbClr>
            </a:solidFill>
            <a:prstDash val="solid"/>
          </a:ln>
        </p:spPr>
      </p:sp>
      <p:sp>
        <p:nvSpPr>
          <p:cNvPr id="103" name="Text 73"/>
          <p:cNvSpPr txBox="1"/>
          <p:nvPr/>
        </p:nvSpPr>
        <p:spPr>
          <a:xfrm>
            <a:off x="6562649" y="3438144"/>
            <a:ext cx="5039258"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모델 앙상블</a:t>
            </a:r>
            <a:endParaRPr lang="en-US" sz="800" dirty="0"/>
          </a:p>
        </p:txBody>
      </p:sp>
      <p:sp>
        <p:nvSpPr>
          <p:cNvPr id="104" name="Text 74"/>
          <p:cNvSpPr txBox="1"/>
          <p:nvPr/>
        </p:nvSpPr>
        <p:spPr>
          <a:xfrm>
            <a:off x="6562649" y="3633826"/>
            <a:ext cx="5175504"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5-Fold Ensemble</a:t>
            </a:r>
            <a:r>
              <a:rPr lang="en-US" sz="900" dirty="0">
                <a:solidFill>
                  <a:srgbClr val="1E293B"/>
                </a:solidFill>
                <a:latin typeface="Noto Sans KR" pitchFamily="34" charset="0"/>
                <a:ea typeface="Noto Sans KR" pitchFamily="34" charset="-122"/>
                <a:cs typeface="Noto Sans KR" pitchFamily="34" charset="-120"/>
              </a:rPr>
              <a:t>: 서로 다른 초기 가중치로 학습한 5개 모델의 예측 평균으로 강건성 향상</a:t>
            </a:r>
            <a:endParaRPr lang="en-US" sz="900" dirty="0"/>
          </a:p>
        </p:txBody>
      </p:sp>
      <p:sp>
        <p:nvSpPr>
          <p:cNvPr id="105" name="Shape 75"/>
          <p:cNvSpPr/>
          <p:nvPr/>
        </p:nvSpPr>
        <p:spPr>
          <a:xfrm>
            <a:off x="6420002" y="3995928"/>
            <a:ext cx="5105095" cy="733349"/>
          </a:xfrm>
          <a:prstGeom prst="roundRect">
            <a:avLst>
              <a:gd name="adj" fmla="val 9716"/>
            </a:avLst>
          </a:prstGeom>
          <a:solidFill>
            <a:srgbClr val="F8FAFC"/>
          </a:solidFill>
          <a:ln/>
        </p:spPr>
      </p:sp>
      <p:sp>
        <p:nvSpPr>
          <p:cNvPr id="106" name="Shape 76"/>
          <p:cNvSpPr/>
          <p:nvPr/>
        </p:nvSpPr>
        <p:spPr>
          <a:xfrm>
            <a:off x="6420002" y="3995928"/>
            <a:ext cx="28346" cy="733349"/>
          </a:xfrm>
          <a:prstGeom prst="roundRect">
            <a:avLst>
              <a:gd name="adj" fmla="val 251365"/>
            </a:avLst>
          </a:prstGeom>
          <a:solidFill>
            <a:srgbClr val="3B82F6"/>
          </a:solidFill>
          <a:ln w="12700">
            <a:solidFill>
              <a:srgbClr val="3B82F6">
                <a:alpha val="0"/>
              </a:srgbClr>
            </a:solidFill>
            <a:prstDash val="solid"/>
          </a:ln>
        </p:spPr>
      </p:sp>
      <p:sp>
        <p:nvSpPr>
          <p:cNvPr id="107" name="Text 77"/>
          <p:cNvSpPr txBox="1"/>
          <p:nvPr/>
        </p:nvSpPr>
        <p:spPr>
          <a:xfrm>
            <a:off x="6562649" y="4091026"/>
            <a:ext cx="5039258"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하이퍼파라미터 최적화</a:t>
            </a:r>
            <a:endParaRPr lang="en-US" sz="800" dirty="0"/>
          </a:p>
        </p:txBody>
      </p:sp>
      <p:sp>
        <p:nvSpPr>
          <p:cNvPr id="108" name="Text 78"/>
          <p:cNvSpPr txBox="1"/>
          <p:nvPr/>
        </p:nvSpPr>
        <p:spPr>
          <a:xfrm>
            <a:off x="6562649" y="4286707"/>
            <a:ext cx="4924958" cy="342900"/>
          </a:xfrm>
          <a:prstGeom prst="rect">
            <a:avLst/>
          </a:prstGeom>
          <a:noFill/>
          <a:ln/>
        </p:spPr>
        <p:txBody>
          <a:bodyPr wrap="square" lIns="0" tIns="0" rIns="0" bIns="0" rtlCol="0" anchor="t"/>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Bayesian Optimization</a:t>
            </a:r>
            <a:r>
              <a:rPr lang="en-US" sz="900" dirty="0">
                <a:solidFill>
                  <a:srgbClr val="1E293B"/>
                </a:solidFill>
                <a:latin typeface="Noto Sans KR" pitchFamily="34" charset="0"/>
                <a:ea typeface="Noto Sans KR" pitchFamily="34" charset="-122"/>
                <a:cs typeface="Noto Sans KR" pitchFamily="34" charset="-120"/>
              </a:rPr>
              <a:t>: Hyperopt 라이브러리로 드롭아웃, hidden size, 메시지 전달 횟수 등 자동 튜닝</a:t>
            </a:r>
            <a:endParaRPr lang="en-US" sz="900" dirty="0"/>
          </a:p>
        </p:txBody>
      </p:sp>
      <p:sp>
        <p:nvSpPr>
          <p:cNvPr id="109" name="Shape 79"/>
          <p:cNvSpPr/>
          <p:nvPr/>
        </p:nvSpPr>
        <p:spPr>
          <a:xfrm>
            <a:off x="6229807" y="5067605"/>
            <a:ext cx="5486400" cy="3534156"/>
          </a:xfrm>
          <a:prstGeom prst="roundRect">
            <a:avLst>
              <a:gd name="adj" fmla="val 558"/>
            </a:avLst>
          </a:prstGeom>
          <a:solidFill>
            <a:srgbClr val="FFFFFF"/>
          </a:solidFill>
          <a:ln/>
          <a:effectLst>
            <a:outerShdw blurRad="76200" dist="25400" dir="16200000" algn="bl" rotWithShape="0">
              <a:srgbClr val="000000">
                <a:alpha val="8000"/>
              </a:srgbClr>
            </a:outerShdw>
          </a:effectLst>
        </p:spPr>
      </p:sp>
      <p:sp>
        <p:nvSpPr>
          <p:cNvPr id="110" name="Shape 80"/>
          <p:cNvSpPr/>
          <p:nvPr/>
        </p:nvSpPr>
        <p:spPr>
          <a:xfrm>
            <a:off x="6229807" y="5067605"/>
            <a:ext cx="5486400" cy="28346"/>
          </a:xfrm>
          <a:prstGeom prst="roundRect">
            <a:avLst>
              <a:gd name="adj" fmla="val 69560"/>
            </a:avLst>
          </a:prstGeom>
          <a:solidFill>
            <a:srgbClr val="F59E0B"/>
          </a:solidFill>
          <a:ln w="12700">
            <a:solidFill>
              <a:srgbClr val="F59E0B">
                <a:alpha val="0"/>
              </a:srgbClr>
            </a:solidFill>
            <a:prstDash val="solid"/>
          </a:ln>
        </p:spPr>
      </p:sp>
      <p:pic>
        <p:nvPicPr>
          <p:cNvPr id="111" name="Image 28" descr="preencoded.png"/>
          <p:cNvPicPr>
            <a:picLocks noChangeAspect="1"/>
          </p:cNvPicPr>
          <p:nvPr/>
        </p:nvPicPr>
        <p:blipFill>
          <a:blip r:embed="rId29"/>
          <a:srcRect/>
          <a:stretch/>
        </p:blipFill>
        <p:spPr>
          <a:xfrm>
            <a:off x="6400800" y="5319979"/>
            <a:ext cx="142646" cy="190195"/>
          </a:xfrm>
          <a:prstGeom prst="rect">
            <a:avLst/>
          </a:prstGeom>
        </p:spPr>
      </p:pic>
      <p:sp>
        <p:nvSpPr>
          <p:cNvPr id="112" name="Text 81"/>
          <p:cNvSpPr txBox="1"/>
          <p:nvPr/>
        </p:nvSpPr>
        <p:spPr>
          <a:xfrm>
            <a:off x="6638544" y="5309921"/>
            <a:ext cx="1166774" cy="200254"/>
          </a:xfrm>
          <a:prstGeom prst="rect">
            <a:avLst/>
          </a:prstGeom>
          <a:noFill/>
          <a:ln/>
        </p:spPr>
        <p:txBody>
          <a:bodyPr wrap="square" lIns="0" tIns="0" rIns="0" bIns="0" rtlCol="0" anchor="ctr"/>
          <a:lstStyle/>
          <a:p>
            <a:pPr marL="0" indent="0" algn="l">
              <a:buNone/>
            </a:pPr>
            <a:r>
              <a:rPr lang="en-US" sz="1000" b="1" dirty="0">
                <a:solidFill>
                  <a:srgbClr val="1A355B"/>
                </a:solidFill>
                <a:latin typeface="Noto Sans KR" pitchFamily="34" charset="0"/>
                <a:ea typeface="Noto Sans KR" pitchFamily="34" charset="-122"/>
                <a:cs typeface="Noto Sans KR" pitchFamily="34" charset="-120"/>
              </a:rPr>
              <a:t>주요 데이터 파일</a:t>
            </a:r>
            <a:endParaRPr lang="en-US" sz="1000" dirty="0"/>
          </a:p>
        </p:txBody>
      </p:sp>
      <p:sp>
        <p:nvSpPr>
          <p:cNvPr id="113" name="Shape 82"/>
          <p:cNvSpPr/>
          <p:nvPr/>
        </p:nvSpPr>
        <p:spPr>
          <a:xfrm>
            <a:off x="6400800" y="5667451"/>
            <a:ext cx="5143500" cy="495605"/>
          </a:xfrm>
          <a:prstGeom prst="roundRect">
            <a:avLst>
              <a:gd name="adj" fmla="val 14192"/>
            </a:avLst>
          </a:prstGeom>
          <a:solidFill>
            <a:srgbClr val="F8FAFC"/>
          </a:solidFill>
          <a:ln w="12700">
            <a:solidFill>
              <a:srgbClr val="E2E8F0"/>
            </a:solidFill>
            <a:prstDash val="solid"/>
          </a:ln>
        </p:spPr>
      </p:sp>
      <p:pic>
        <p:nvPicPr>
          <p:cNvPr id="114" name="Image 29" descr="preencoded.png"/>
          <p:cNvPicPr>
            <a:picLocks noChangeAspect="1"/>
          </p:cNvPicPr>
          <p:nvPr/>
        </p:nvPicPr>
        <p:blipFill>
          <a:blip r:embed="rId30"/>
          <a:srcRect/>
          <a:stretch/>
        </p:blipFill>
        <p:spPr>
          <a:xfrm>
            <a:off x="6543446" y="5845759"/>
            <a:ext cx="152705" cy="152705"/>
          </a:xfrm>
          <a:prstGeom prst="rect">
            <a:avLst/>
          </a:prstGeom>
        </p:spPr>
      </p:pic>
      <p:sp>
        <p:nvSpPr>
          <p:cNvPr id="115" name="Text 83"/>
          <p:cNvSpPr txBox="1"/>
          <p:nvPr/>
        </p:nvSpPr>
        <p:spPr>
          <a:xfrm>
            <a:off x="6829654" y="5753405"/>
            <a:ext cx="4724705"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47K_SMILES_Zscore.csv</a:t>
            </a:r>
            <a:endParaRPr lang="en-US" sz="800" dirty="0"/>
          </a:p>
        </p:txBody>
      </p:sp>
      <p:sp>
        <p:nvSpPr>
          <p:cNvPr id="116" name="Text 84"/>
          <p:cNvSpPr txBox="1"/>
          <p:nvPr/>
        </p:nvSpPr>
        <p:spPr>
          <a:xfrm>
            <a:off x="6829654" y="5928970"/>
            <a:ext cx="4724705"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47,217개 화합물 × 152개 변이균주 CGIP 데이터</a:t>
            </a:r>
            <a:endParaRPr lang="en-US" sz="800" dirty="0"/>
          </a:p>
        </p:txBody>
      </p:sp>
      <p:sp>
        <p:nvSpPr>
          <p:cNvPr id="117" name="Shape 85"/>
          <p:cNvSpPr/>
          <p:nvPr/>
        </p:nvSpPr>
        <p:spPr>
          <a:xfrm>
            <a:off x="6400800" y="6234379"/>
            <a:ext cx="5143500" cy="495605"/>
          </a:xfrm>
          <a:prstGeom prst="roundRect">
            <a:avLst>
              <a:gd name="adj" fmla="val 14192"/>
            </a:avLst>
          </a:prstGeom>
          <a:solidFill>
            <a:srgbClr val="F8FAFC"/>
          </a:solidFill>
          <a:ln w="12700">
            <a:solidFill>
              <a:srgbClr val="E2E8F0"/>
            </a:solidFill>
            <a:prstDash val="solid"/>
          </a:ln>
        </p:spPr>
      </p:sp>
      <p:pic>
        <p:nvPicPr>
          <p:cNvPr id="118" name="Image 30" descr="preencoded.png"/>
          <p:cNvPicPr>
            <a:picLocks noChangeAspect="1"/>
          </p:cNvPicPr>
          <p:nvPr/>
        </p:nvPicPr>
        <p:blipFill>
          <a:blip r:embed="rId31"/>
          <a:srcRect t="-100" b="-100"/>
          <a:stretch/>
        </p:blipFill>
        <p:spPr>
          <a:xfrm>
            <a:off x="6562649" y="6412687"/>
            <a:ext cx="114300" cy="152705"/>
          </a:xfrm>
          <a:prstGeom prst="rect">
            <a:avLst/>
          </a:prstGeom>
        </p:spPr>
      </p:pic>
      <p:sp>
        <p:nvSpPr>
          <p:cNvPr id="119" name="Text 86"/>
          <p:cNvSpPr txBox="1"/>
          <p:nvPr/>
        </p:nvSpPr>
        <p:spPr>
          <a:xfrm>
            <a:off x="6829654" y="6319418"/>
            <a:ext cx="4724705"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data_processing_final.ipynb</a:t>
            </a:r>
            <a:endParaRPr lang="en-US" sz="800" dirty="0"/>
          </a:p>
        </p:txBody>
      </p:sp>
      <p:sp>
        <p:nvSpPr>
          <p:cNvPr id="120" name="Text 87"/>
          <p:cNvSpPr txBox="1"/>
          <p:nvPr/>
        </p:nvSpPr>
        <p:spPr>
          <a:xfrm>
            <a:off x="6829654" y="6495898"/>
            <a:ext cx="48006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클러스터별 Z-score 중앙값 계산 및 전처리</a:t>
            </a:r>
            <a:endParaRPr lang="en-US" sz="800" dirty="0"/>
          </a:p>
        </p:txBody>
      </p:sp>
      <p:sp>
        <p:nvSpPr>
          <p:cNvPr id="121" name="Shape 88"/>
          <p:cNvSpPr/>
          <p:nvPr/>
        </p:nvSpPr>
        <p:spPr>
          <a:xfrm>
            <a:off x="6400800" y="6801307"/>
            <a:ext cx="5143500" cy="495605"/>
          </a:xfrm>
          <a:prstGeom prst="roundRect">
            <a:avLst>
              <a:gd name="adj" fmla="val 14192"/>
            </a:avLst>
          </a:prstGeom>
          <a:solidFill>
            <a:srgbClr val="F8FAFC"/>
          </a:solidFill>
          <a:ln w="12700">
            <a:solidFill>
              <a:srgbClr val="E2E8F0"/>
            </a:solidFill>
            <a:prstDash val="solid"/>
          </a:ln>
        </p:spPr>
      </p:sp>
      <p:pic>
        <p:nvPicPr>
          <p:cNvPr id="122" name="Image 31" descr="preencoded.png"/>
          <p:cNvPicPr>
            <a:picLocks noChangeAspect="1"/>
          </p:cNvPicPr>
          <p:nvPr/>
        </p:nvPicPr>
        <p:blipFill>
          <a:blip r:embed="rId31"/>
          <a:srcRect t="-100" b="-100"/>
          <a:stretch/>
        </p:blipFill>
        <p:spPr>
          <a:xfrm>
            <a:off x="6562649" y="6979615"/>
            <a:ext cx="114300" cy="152705"/>
          </a:xfrm>
          <a:prstGeom prst="rect">
            <a:avLst/>
          </a:prstGeom>
        </p:spPr>
      </p:pic>
      <p:sp>
        <p:nvSpPr>
          <p:cNvPr id="123" name="Text 89"/>
          <p:cNvSpPr txBox="1"/>
          <p:nvPr/>
        </p:nvSpPr>
        <p:spPr>
          <a:xfrm>
            <a:off x="6829654" y="6886346"/>
            <a:ext cx="4724705"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main_final.ipynb</a:t>
            </a:r>
            <a:endParaRPr lang="en-US" sz="800" dirty="0"/>
          </a:p>
        </p:txBody>
      </p:sp>
      <p:sp>
        <p:nvSpPr>
          <p:cNvPr id="124" name="Text 90"/>
          <p:cNvSpPr txBox="1"/>
          <p:nvPr/>
        </p:nvSpPr>
        <p:spPr>
          <a:xfrm>
            <a:off x="6829654" y="7062826"/>
            <a:ext cx="48006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D-MPNN 모델 학습 및 최적화 파이프라인</a:t>
            </a:r>
            <a:endParaRPr lang="en-US" sz="800" dirty="0"/>
          </a:p>
        </p:txBody>
      </p:sp>
      <p:sp>
        <p:nvSpPr>
          <p:cNvPr id="125" name="Shape 91"/>
          <p:cNvSpPr/>
          <p:nvPr/>
        </p:nvSpPr>
        <p:spPr>
          <a:xfrm>
            <a:off x="6400800" y="7367321"/>
            <a:ext cx="5143500" cy="495605"/>
          </a:xfrm>
          <a:prstGeom prst="roundRect">
            <a:avLst>
              <a:gd name="adj" fmla="val 14192"/>
            </a:avLst>
          </a:prstGeom>
          <a:solidFill>
            <a:srgbClr val="F8FAFC"/>
          </a:solidFill>
          <a:ln w="12700">
            <a:solidFill>
              <a:srgbClr val="E2E8F0"/>
            </a:solidFill>
            <a:prstDash val="solid"/>
          </a:ln>
        </p:spPr>
      </p:sp>
      <p:pic>
        <p:nvPicPr>
          <p:cNvPr id="126" name="Image 32" descr="preencoded.png"/>
          <p:cNvPicPr>
            <a:picLocks noChangeAspect="1"/>
          </p:cNvPicPr>
          <p:nvPr/>
        </p:nvPicPr>
        <p:blipFill>
          <a:blip r:embed="rId32"/>
          <a:srcRect t="-401" b="-401"/>
          <a:stretch/>
        </p:blipFill>
        <p:spPr>
          <a:xfrm>
            <a:off x="6534302" y="7546543"/>
            <a:ext cx="171907" cy="152705"/>
          </a:xfrm>
          <a:prstGeom prst="rect">
            <a:avLst/>
          </a:prstGeom>
        </p:spPr>
      </p:pic>
      <p:sp>
        <p:nvSpPr>
          <p:cNvPr id="127" name="Text 92"/>
          <p:cNvSpPr txBox="1"/>
          <p:nvPr/>
        </p:nvSpPr>
        <p:spPr>
          <a:xfrm>
            <a:off x="6829654" y="7453274"/>
            <a:ext cx="4724705"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hierarchical_clustering_new.R</a:t>
            </a:r>
            <a:endParaRPr lang="en-US" sz="800" dirty="0"/>
          </a:p>
        </p:txBody>
      </p:sp>
      <p:sp>
        <p:nvSpPr>
          <p:cNvPr id="128" name="Text 93"/>
          <p:cNvSpPr txBox="1"/>
          <p:nvPr/>
        </p:nvSpPr>
        <p:spPr>
          <a:xfrm>
            <a:off x="6829654" y="7629754"/>
            <a:ext cx="48006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유전자 계층적 군집화 및 13개 COG 클러스터 정의</a:t>
            </a:r>
            <a:endParaRPr lang="en-US" sz="800" dirty="0"/>
          </a:p>
        </p:txBody>
      </p:sp>
      <p:sp>
        <p:nvSpPr>
          <p:cNvPr id="129" name="Shape 94"/>
          <p:cNvSpPr/>
          <p:nvPr/>
        </p:nvSpPr>
        <p:spPr>
          <a:xfrm>
            <a:off x="6400800" y="7934249"/>
            <a:ext cx="5143500" cy="495605"/>
          </a:xfrm>
          <a:prstGeom prst="roundRect">
            <a:avLst>
              <a:gd name="adj" fmla="val 14192"/>
            </a:avLst>
          </a:prstGeom>
          <a:solidFill>
            <a:srgbClr val="F8FAFC"/>
          </a:solidFill>
          <a:ln w="12700">
            <a:solidFill>
              <a:srgbClr val="E2E8F0"/>
            </a:solidFill>
            <a:prstDash val="solid"/>
          </a:ln>
        </p:spPr>
      </p:sp>
      <p:sp>
        <p:nvSpPr>
          <p:cNvPr id="130" name="Text 95"/>
          <p:cNvSpPr txBox="1"/>
          <p:nvPr/>
        </p:nvSpPr>
        <p:spPr>
          <a:xfrm>
            <a:off x="6829654" y="8020202"/>
            <a:ext cx="4724705"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Mtub_Ecoli_homologs_gene.html</a:t>
            </a:r>
            <a:endParaRPr lang="en-US" sz="800" dirty="0"/>
          </a:p>
        </p:txBody>
      </p:sp>
      <p:sp>
        <p:nvSpPr>
          <p:cNvPr id="131" name="Text 96"/>
          <p:cNvSpPr txBox="1"/>
          <p:nvPr/>
        </p:nvSpPr>
        <p:spPr>
          <a:xfrm>
            <a:off x="6829654" y="8196682"/>
            <a:ext cx="4724705"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Mtb-E.coli 유전자 상동성 분석 결과</a:t>
            </a:r>
            <a:endParaRPr lang="en-US" sz="800" dirty="0"/>
          </a:p>
        </p:txBody>
      </p:sp>
      <p:sp>
        <p:nvSpPr>
          <p:cNvPr id="132" name="Shape 97"/>
          <p:cNvSpPr/>
          <p:nvPr/>
        </p:nvSpPr>
        <p:spPr>
          <a:xfrm>
            <a:off x="6229807" y="8844077"/>
            <a:ext cx="5486400" cy="990295"/>
          </a:xfrm>
          <a:prstGeom prst="roundRect">
            <a:avLst>
              <a:gd name="adj" fmla="val 5327"/>
            </a:avLst>
          </a:prstGeom>
          <a:solidFill>
            <a:srgbClr val="EFF6FF"/>
          </a:solidFill>
          <a:ln w="25400">
            <a:solidFill>
              <a:srgbClr val="BFDBFE"/>
            </a:solidFill>
            <a:prstDash val="solid"/>
          </a:ln>
        </p:spPr>
      </p:sp>
      <p:sp>
        <p:nvSpPr>
          <p:cNvPr id="133" name="Text 98"/>
          <p:cNvSpPr txBox="1"/>
          <p:nvPr/>
        </p:nvSpPr>
        <p:spPr>
          <a:xfrm>
            <a:off x="6381598" y="8996782"/>
            <a:ext cx="5372100" cy="162763"/>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프로젝트 재현성 요약</a:t>
            </a:r>
            <a:endParaRPr lang="en-US" sz="800" dirty="0"/>
          </a:p>
        </p:txBody>
      </p:sp>
      <p:sp>
        <p:nvSpPr>
          <p:cNvPr id="134" name="Text 99"/>
          <p:cNvSpPr txBox="1"/>
          <p:nvPr/>
        </p:nvSpPr>
        <p:spPr>
          <a:xfrm>
            <a:off x="6381598" y="9210751"/>
            <a:ext cx="5257800" cy="476402"/>
          </a:xfrm>
          <a:prstGeom prst="rect">
            <a:avLst/>
          </a:prstGeom>
          <a:noFill/>
          <a:ln/>
        </p:spPr>
        <p:txBody>
          <a:bodyPr wrap="square" lIns="0" tIns="0" rIns="0" bIns="0" rtlCol="0" anchor="t"/>
          <a:lstStyle/>
          <a:p>
            <a:pPr marL="0" indent="0" algn="l">
              <a:buNone/>
            </a:pPr>
            <a:r>
              <a:rPr lang="en-US" sz="800" dirty="0">
                <a:solidFill>
                  <a:srgbClr val="1E3A8A"/>
                </a:solidFill>
                <a:latin typeface="Noto Sans KR" pitchFamily="34" charset="0"/>
                <a:ea typeface="Noto Sans KR" pitchFamily="34" charset="-122"/>
                <a:cs typeface="Noto Sans KR" pitchFamily="34" charset="-120"/>
              </a:rPr>
              <a:t>고정된 랜덤 시드, Scaffold 기반 데이터 분할, Bayesian 최적화로 결정된 하이퍼파라미터, 그리고 5개 모델 앙상블 전략을 통해 실험의 완전한 재현성을 확보했습니다. 모든 코드와 데이터는 버전 관리되며, 학습된 모델 체크포인트(.pt)와 스케일러 파라미터가 배포 환경에 포함됩니다.</a:t>
            </a:r>
            <a:endParaRPr lang="en-US" sz="800" dirty="0"/>
          </a:p>
        </p:txBody>
      </p:sp>
    </p:spTree>
    <p:extLst>
      <p:ext uri="{BB962C8B-B14F-4D97-AF65-F5344CB8AC3E}">
        <p14:creationId xmlns:p14="http://schemas.microsoft.com/office/powerpoint/2010/main" val="181202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43357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시연: UI 화면 1</a:t>
            </a:r>
            <a:endParaRPr lang="en-US" sz="2400" dirty="0"/>
          </a:p>
        </p:txBody>
      </p:sp>
      <p:sp>
        <p:nvSpPr>
          <p:cNvPr id="5" name="Text 3"/>
          <p:cNvSpPr txBox="1"/>
          <p:nvPr/>
        </p:nvSpPr>
        <p:spPr>
          <a:xfrm>
            <a:off x="476402" y="685800"/>
            <a:ext cx="348295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SMILES 입력 인터페이스 및 분자 구조 시각화</a:t>
            </a:r>
            <a:endParaRPr lang="en-US" sz="1200" dirty="0"/>
          </a:p>
        </p:txBody>
      </p:sp>
      <p:pic>
        <p:nvPicPr>
          <p:cNvPr id="6" name="Image 0" descr="preencoded.png"/>
          <p:cNvPicPr>
            <a:picLocks noChangeAspect="1"/>
          </p:cNvPicPr>
          <p:nvPr/>
        </p:nvPicPr>
        <p:blipFill>
          <a:blip r:embed="rId3"/>
          <a:srcRect l="-50" r="-50"/>
          <a:stretch/>
        </p:blipFill>
        <p:spPr>
          <a:xfrm>
            <a:off x="11373307" y="418795"/>
            <a:ext cx="342900" cy="304495"/>
          </a:xfrm>
          <a:prstGeom prst="rect">
            <a:avLst/>
          </a:prstGeom>
        </p:spPr>
      </p:pic>
      <p:sp>
        <p:nvSpPr>
          <p:cNvPr id="7" name="Shape 4"/>
          <p:cNvSpPr/>
          <p:nvPr/>
        </p:nvSpPr>
        <p:spPr>
          <a:xfrm>
            <a:off x="476402" y="1371600"/>
            <a:ext cx="4572000" cy="3409798"/>
          </a:xfrm>
          <a:prstGeom prst="roundRect">
            <a:avLst>
              <a:gd name="adj" fmla="val 599"/>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71600"/>
            <a:ext cx="38405" cy="3409798"/>
          </a:xfrm>
          <a:prstGeom prst="roundRect">
            <a:avLst>
              <a:gd name="adj" fmla="val 53205"/>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l="-133" r="-133"/>
          <a:stretch/>
        </p:blipFill>
        <p:spPr>
          <a:xfrm>
            <a:off x="705002" y="1628546"/>
            <a:ext cx="171907" cy="228600"/>
          </a:xfrm>
          <a:prstGeom prst="rect">
            <a:avLst/>
          </a:prstGeom>
        </p:spPr>
      </p:pic>
      <p:sp>
        <p:nvSpPr>
          <p:cNvPr id="10" name="Text 6"/>
          <p:cNvSpPr txBox="1"/>
          <p:nvPr/>
        </p:nvSpPr>
        <p:spPr>
          <a:xfrm>
            <a:off x="990295" y="1619402"/>
            <a:ext cx="1918411"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입력 및 전처리 프로세스</a:t>
            </a:r>
            <a:endParaRPr lang="en-US" sz="1200" dirty="0"/>
          </a:p>
        </p:txBody>
      </p:sp>
      <p:sp>
        <p:nvSpPr>
          <p:cNvPr id="11" name="Shape 7"/>
          <p:cNvSpPr/>
          <p:nvPr/>
        </p:nvSpPr>
        <p:spPr>
          <a:xfrm>
            <a:off x="705002" y="2038198"/>
            <a:ext cx="4153205" cy="552298"/>
          </a:xfrm>
          <a:prstGeom prst="roundRect">
            <a:avLst>
              <a:gd name="adj" fmla="val 17127"/>
            </a:avLst>
          </a:prstGeom>
          <a:solidFill>
            <a:srgbClr val="F8FAFC"/>
          </a:solidFill>
          <a:ln/>
        </p:spPr>
      </p:sp>
      <p:sp>
        <p:nvSpPr>
          <p:cNvPr id="12" name="Shape 8"/>
          <p:cNvSpPr/>
          <p:nvPr/>
        </p:nvSpPr>
        <p:spPr>
          <a:xfrm>
            <a:off x="705002" y="2038198"/>
            <a:ext cx="28346" cy="552298"/>
          </a:xfrm>
          <a:prstGeom prst="roundRect">
            <a:avLst>
              <a:gd name="adj" fmla="val 333709"/>
            </a:avLst>
          </a:prstGeom>
          <a:solidFill>
            <a:srgbClr val="3B82F6"/>
          </a:solidFill>
          <a:ln w="12700">
            <a:solidFill>
              <a:srgbClr val="3B82F6">
                <a:alpha val="0"/>
              </a:srgbClr>
            </a:solidFill>
            <a:prstDash val="solid"/>
          </a:ln>
        </p:spPr>
      </p:sp>
      <p:sp>
        <p:nvSpPr>
          <p:cNvPr id="13" name="Shape 9"/>
          <p:cNvSpPr/>
          <p:nvPr/>
        </p:nvSpPr>
        <p:spPr>
          <a:xfrm>
            <a:off x="828446" y="2161642"/>
            <a:ext cx="304495" cy="304495"/>
          </a:xfrm>
          <a:prstGeom prst="ellipse">
            <a:avLst/>
          </a:prstGeom>
          <a:solidFill>
            <a:srgbClr val="3B82F6"/>
          </a:solidFill>
          <a:ln w="12700">
            <a:solidFill>
              <a:srgbClr val="FFFFFF">
                <a:alpha val="0"/>
              </a:srgbClr>
            </a:solidFill>
            <a:prstDash val="solid"/>
          </a:ln>
        </p:spPr>
      </p:sp>
      <p:sp>
        <p:nvSpPr>
          <p:cNvPr id="14" name="Text 10"/>
          <p:cNvSpPr txBox="1"/>
          <p:nvPr/>
        </p:nvSpPr>
        <p:spPr>
          <a:xfrm>
            <a:off x="941832" y="2213762"/>
            <a:ext cx="162763"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KR" pitchFamily="34" charset="0"/>
                <a:ea typeface="Noto Sans KR" pitchFamily="34" charset="-122"/>
                <a:cs typeface="Noto Sans KR" pitchFamily="34" charset="-120"/>
              </a:rPr>
              <a:t>1</a:t>
            </a:r>
            <a:endParaRPr lang="en-US" sz="1000" dirty="0"/>
          </a:p>
        </p:txBody>
      </p:sp>
      <p:sp>
        <p:nvSpPr>
          <p:cNvPr id="15" name="Text 11"/>
          <p:cNvSpPr txBox="1"/>
          <p:nvPr/>
        </p:nvSpPr>
        <p:spPr>
          <a:xfrm>
            <a:off x="1248156" y="2133295"/>
            <a:ext cx="3629254"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SMILES 입력</a:t>
            </a:r>
            <a:endParaRPr lang="en-US" sz="900" dirty="0"/>
          </a:p>
        </p:txBody>
      </p:sp>
      <p:sp>
        <p:nvSpPr>
          <p:cNvPr id="16" name="Text 12"/>
          <p:cNvSpPr txBox="1"/>
          <p:nvPr/>
        </p:nvSpPr>
        <p:spPr>
          <a:xfrm>
            <a:off x="1248156" y="2348179"/>
            <a:ext cx="3706063"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사용자가 화합물의 SMILES 문자열을 텍스트 입력창에 입력</a:t>
            </a:r>
            <a:endParaRPr lang="en-US" sz="800" dirty="0"/>
          </a:p>
        </p:txBody>
      </p:sp>
      <p:sp>
        <p:nvSpPr>
          <p:cNvPr id="17" name="Shape 13"/>
          <p:cNvSpPr/>
          <p:nvPr/>
        </p:nvSpPr>
        <p:spPr>
          <a:xfrm>
            <a:off x="705002" y="2703881"/>
            <a:ext cx="4153205" cy="552298"/>
          </a:xfrm>
          <a:prstGeom prst="roundRect">
            <a:avLst>
              <a:gd name="adj" fmla="val 17127"/>
            </a:avLst>
          </a:prstGeom>
          <a:solidFill>
            <a:srgbClr val="F8FAFC"/>
          </a:solidFill>
          <a:ln/>
        </p:spPr>
      </p:sp>
      <p:sp>
        <p:nvSpPr>
          <p:cNvPr id="18" name="Shape 14"/>
          <p:cNvSpPr/>
          <p:nvPr/>
        </p:nvSpPr>
        <p:spPr>
          <a:xfrm>
            <a:off x="705002" y="2703881"/>
            <a:ext cx="28346" cy="552298"/>
          </a:xfrm>
          <a:prstGeom prst="roundRect">
            <a:avLst>
              <a:gd name="adj" fmla="val 333709"/>
            </a:avLst>
          </a:prstGeom>
          <a:solidFill>
            <a:srgbClr val="3B82F6"/>
          </a:solidFill>
          <a:ln w="12700">
            <a:solidFill>
              <a:srgbClr val="3B82F6">
                <a:alpha val="0"/>
              </a:srgbClr>
            </a:solidFill>
            <a:prstDash val="solid"/>
          </a:ln>
        </p:spPr>
      </p:sp>
      <p:sp>
        <p:nvSpPr>
          <p:cNvPr id="19" name="Shape 15"/>
          <p:cNvSpPr/>
          <p:nvPr/>
        </p:nvSpPr>
        <p:spPr>
          <a:xfrm>
            <a:off x="828446" y="2827325"/>
            <a:ext cx="304495" cy="304495"/>
          </a:xfrm>
          <a:prstGeom prst="ellipse">
            <a:avLst/>
          </a:prstGeom>
          <a:solidFill>
            <a:srgbClr val="3B82F6"/>
          </a:solidFill>
          <a:ln w="12700">
            <a:solidFill>
              <a:srgbClr val="FFFFFF">
                <a:alpha val="0"/>
              </a:srgbClr>
            </a:solidFill>
            <a:prstDash val="solid"/>
          </a:ln>
        </p:spPr>
      </p:sp>
      <p:sp>
        <p:nvSpPr>
          <p:cNvPr id="20" name="Text 16"/>
          <p:cNvSpPr txBox="1"/>
          <p:nvPr/>
        </p:nvSpPr>
        <p:spPr>
          <a:xfrm>
            <a:off x="941832" y="2880360"/>
            <a:ext cx="162763"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KR" pitchFamily="34" charset="0"/>
                <a:ea typeface="Noto Sans KR" pitchFamily="34" charset="-122"/>
                <a:cs typeface="Noto Sans KR" pitchFamily="34" charset="-120"/>
              </a:rPr>
              <a:t>2</a:t>
            </a:r>
            <a:endParaRPr lang="en-US" sz="1000" dirty="0"/>
          </a:p>
        </p:txBody>
      </p:sp>
      <p:sp>
        <p:nvSpPr>
          <p:cNvPr id="21" name="Text 17"/>
          <p:cNvSpPr txBox="1"/>
          <p:nvPr/>
        </p:nvSpPr>
        <p:spPr>
          <a:xfrm>
            <a:off x="1248156" y="2799893"/>
            <a:ext cx="3706063"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유효성 검증</a:t>
            </a:r>
            <a:endParaRPr lang="en-US" sz="900" dirty="0"/>
          </a:p>
        </p:txBody>
      </p:sp>
      <p:sp>
        <p:nvSpPr>
          <p:cNvPr id="22" name="Text 18"/>
          <p:cNvSpPr txBox="1"/>
          <p:nvPr/>
        </p:nvSpPr>
        <p:spPr>
          <a:xfrm>
            <a:off x="1248156" y="3013862"/>
            <a:ext cx="3629254"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RDKit으로 SMILES 구문 검사 및 분자 객체 생성 가능 여부 확인</a:t>
            </a:r>
            <a:endParaRPr lang="en-US" sz="800" dirty="0"/>
          </a:p>
        </p:txBody>
      </p:sp>
      <p:sp>
        <p:nvSpPr>
          <p:cNvPr id="23" name="Shape 19"/>
          <p:cNvSpPr/>
          <p:nvPr/>
        </p:nvSpPr>
        <p:spPr>
          <a:xfrm>
            <a:off x="705002" y="3370478"/>
            <a:ext cx="4153205" cy="552298"/>
          </a:xfrm>
          <a:prstGeom prst="roundRect">
            <a:avLst>
              <a:gd name="adj" fmla="val 17127"/>
            </a:avLst>
          </a:prstGeom>
          <a:solidFill>
            <a:srgbClr val="F8FAFC"/>
          </a:solidFill>
          <a:ln/>
        </p:spPr>
      </p:sp>
      <p:sp>
        <p:nvSpPr>
          <p:cNvPr id="24" name="Shape 20"/>
          <p:cNvSpPr/>
          <p:nvPr/>
        </p:nvSpPr>
        <p:spPr>
          <a:xfrm>
            <a:off x="705002" y="3370478"/>
            <a:ext cx="28346" cy="552298"/>
          </a:xfrm>
          <a:prstGeom prst="roundRect">
            <a:avLst>
              <a:gd name="adj" fmla="val 333709"/>
            </a:avLst>
          </a:prstGeom>
          <a:solidFill>
            <a:srgbClr val="3B82F6"/>
          </a:solidFill>
          <a:ln w="12700">
            <a:solidFill>
              <a:srgbClr val="3B82F6">
                <a:alpha val="0"/>
              </a:srgbClr>
            </a:solidFill>
            <a:prstDash val="solid"/>
          </a:ln>
        </p:spPr>
      </p:sp>
      <p:sp>
        <p:nvSpPr>
          <p:cNvPr id="25" name="Shape 21"/>
          <p:cNvSpPr/>
          <p:nvPr/>
        </p:nvSpPr>
        <p:spPr>
          <a:xfrm>
            <a:off x="828446" y="3493008"/>
            <a:ext cx="304495" cy="304495"/>
          </a:xfrm>
          <a:prstGeom prst="ellipse">
            <a:avLst/>
          </a:prstGeom>
          <a:solidFill>
            <a:srgbClr val="3B82F6"/>
          </a:solidFill>
          <a:ln w="12700">
            <a:solidFill>
              <a:srgbClr val="FFFFFF">
                <a:alpha val="0"/>
              </a:srgbClr>
            </a:solidFill>
            <a:prstDash val="solid"/>
          </a:ln>
        </p:spPr>
      </p:sp>
      <p:sp>
        <p:nvSpPr>
          <p:cNvPr id="26" name="Text 22"/>
          <p:cNvSpPr txBox="1"/>
          <p:nvPr/>
        </p:nvSpPr>
        <p:spPr>
          <a:xfrm>
            <a:off x="941832" y="3546043"/>
            <a:ext cx="162763"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KR" pitchFamily="34" charset="0"/>
                <a:ea typeface="Noto Sans KR" pitchFamily="34" charset="-122"/>
                <a:cs typeface="Noto Sans KR" pitchFamily="34" charset="-120"/>
              </a:rPr>
              <a:t>3</a:t>
            </a:r>
            <a:endParaRPr lang="en-US" sz="1000" dirty="0"/>
          </a:p>
        </p:txBody>
      </p:sp>
      <p:sp>
        <p:nvSpPr>
          <p:cNvPr id="27" name="Text 23"/>
          <p:cNvSpPr txBox="1"/>
          <p:nvPr/>
        </p:nvSpPr>
        <p:spPr>
          <a:xfrm>
            <a:off x="1248156" y="3465576"/>
            <a:ext cx="3706063"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분자 구조 렌더링</a:t>
            </a:r>
            <a:endParaRPr lang="en-US" sz="900" dirty="0"/>
          </a:p>
        </p:txBody>
      </p:sp>
      <p:sp>
        <p:nvSpPr>
          <p:cNvPr id="28" name="Text 24"/>
          <p:cNvSpPr txBox="1"/>
          <p:nvPr/>
        </p:nvSpPr>
        <p:spPr>
          <a:xfrm>
            <a:off x="1248156" y="3679546"/>
            <a:ext cx="3706063"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2D 분자 구조식을 자동으로 생성하여 시각화 영역에 표시</a:t>
            </a:r>
            <a:endParaRPr lang="en-US" sz="800" dirty="0"/>
          </a:p>
        </p:txBody>
      </p:sp>
      <p:sp>
        <p:nvSpPr>
          <p:cNvPr id="29" name="Shape 25"/>
          <p:cNvSpPr/>
          <p:nvPr/>
        </p:nvSpPr>
        <p:spPr>
          <a:xfrm>
            <a:off x="705002" y="4036162"/>
            <a:ext cx="4153205" cy="552298"/>
          </a:xfrm>
          <a:prstGeom prst="roundRect">
            <a:avLst>
              <a:gd name="adj" fmla="val 17127"/>
            </a:avLst>
          </a:prstGeom>
          <a:solidFill>
            <a:srgbClr val="F8FAFC"/>
          </a:solidFill>
          <a:ln/>
        </p:spPr>
      </p:sp>
      <p:sp>
        <p:nvSpPr>
          <p:cNvPr id="30" name="Shape 26"/>
          <p:cNvSpPr/>
          <p:nvPr/>
        </p:nvSpPr>
        <p:spPr>
          <a:xfrm>
            <a:off x="705002" y="4036162"/>
            <a:ext cx="28346" cy="552298"/>
          </a:xfrm>
          <a:prstGeom prst="roundRect">
            <a:avLst>
              <a:gd name="adj" fmla="val 333709"/>
            </a:avLst>
          </a:prstGeom>
          <a:solidFill>
            <a:srgbClr val="3B82F6"/>
          </a:solidFill>
          <a:ln w="12700">
            <a:solidFill>
              <a:srgbClr val="3B82F6">
                <a:alpha val="0"/>
              </a:srgbClr>
            </a:solidFill>
            <a:prstDash val="solid"/>
          </a:ln>
        </p:spPr>
      </p:sp>
      <p:sp>
        <p:nvSpPr>
          <p:cNvPr id="31" name="Shape 27"/>
          <p:cNvSpPr/>
          <p:nvPr/>
        </p:nvSpPr>
        <p:spPr>
          <a:xfrm>
            <a:off x="828446" y="4159606"/>
            <a:ext cx="304495" cy="304495"/>
          </a:xfrm>
          <a:prstGeom prst="ellipse">
            <a:avLst/>
          </a:prstGeom>
          <a:solidFill>
            <a:srgbClr val="3B82F6"/>
          </a:solidFill>
          <a:ln w="12700">
            <a:solidFill>
              <a:srgbClr val="FFFFFF">
                <a:alpha val="0"/>
              </a:srgbClr>
            </a:solidFill>
            <a:prstDash val="solid"/>
          </a:ln>
        </p:spPr>
      </p:sp>
      <p:sp>
        <p:nvSpPr>
          <p:cNvPr id="32" name="Text 28"/>
          <p:cNvSpPr txBox="1"/>
          <p:nvPr/>
        </p:nvSpPr>
        <p:spPr>
          <a:xfrm>
            <a:off x="941832" y="4211726"/>
            <a:ext cx="162763"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KR" pitchFamily="34" charset="0"/>
                <a:ea typeface="Noto Sans KR" pitchFamily="34" charset="-122"/>
                <a:cs typeface="Noto Sans KR" pitchFamily="34" charset="-120"/>
              </a:rPr>
              <a:t>4</a:t>
            </a:r>
            <a:endParaRPr lang="en-US" sz="1000" dirty="0"/>
          </a:p>
        </p:txBody>
      </p:sp>
      <p:sp>
        <p:nvSpPr>
          <p:cNvPr id="33" name="Text 29"/>
          <p:cNvSpPr txBox="1"/>
          <p:nvPr/>
        </p:nvSpPr>
        <p:spPr>
          <a:xfrm>
            <a:off x="1248156" y="4131259"/>
            <a:ext cx="3706063"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기본 물성 계산</a:t>
            </a:r>
            <a:endParaRPr lang="en-US" sz="900" dirty="0"/>
          </a:p>
        </p:txBody>
      </p:sp>
      <p:sp>
        <p:nvSpPr>
          <p:cNvPr id="34" name="Text 30"/>
          <p:cNvSpPr txBox="1"/>
          <p:nvPr/>
        </p:nvSpPr>
        <p:spPr>
          <a:xfrm>
            <a:off x="1248156" y="4345229"/>
            <a:ext cx="3629254"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분자량, LogP, 수소결합 주개/받개, TPSA 등 약물성 지표 즉시 산출</a:t>
            </a:r>
            <a:endParaRPr lang="en-US" sz="800" dirty="0"/>
          </a:p>
        </p:txBody>
      </p:sp>
      <p:sp>
        <p:nvSpPr>
          <p:cNvPr id="35" name="Shape 31"/>
          <p:cNvSpPr/>
          <p:nvPr/>
        </p:nvSpPr>
        <p:spPr>
          <a:xfrm>
            <a:off x="476402" y="4949647"/>
            <a:ext cx="4572000" cy="2229307"/>
          </a:xfrm>
          <a:prstGeom prst="roundRect">
            <a:avLst>
              <a:gd name="adj" fmla="val 1402"/>
            </a:avLst>
          </a:prstGeom>
          <a:solidFill>
            <a:srgbClr val="FFFFFF"/>
          </a:solidFill>
          <a:ln/>
          <a:effectLst>
            <a:outerShdw blurRad="76200" dist="25400" dir="16200000" algn="bl" rotWithShape="0">
              <a:srgbClr val="000000">
                <a:alpha val="8000"/>
              </a:srgbClr>
            </a:outerShdw>
          </a:effectLst>
        </p:spPr>
      </p:sp>
      <p:sp>
        <p:nvSpPr>
          <p:cNvPr id="36" name="Shape 32"/>
          <p:cNvSpPr/>
          <p:nvPr/>
        </p:nvSpPr>
        <p:spPr>
          <a:xfrm>
            <a:off x="476402" y="4949647"/>
            <a:ext cx="4572000" cy="28346"/>
          </a:xfrm>
          <a:prstGeom prst="roundRect">
            <a:avLst>
              <a:gd name="adj" fmla="val 110286"/>
            </a:avLst>
          </a:prstGeom>
          <a:solidFill>
            <a:srgbClr val="10B981"/>
          </a:solidFill>
          <a:ln w="12700">
            <a:solidFill>
              <a:srgbClr val="10B981">
                <a:alpha val="0"/>
              </a:srgbClr>
            </a:solidFill>
            <a:prstDash val="solid"/>
          </a:ln>
        </p:spPr>
      </p:sp>
      <p:sp>
        <p:nvSpPr>
          <p:cNvPr id="37" name="Text 33"/>
          <p:cNvSpPr txBox="1"/>
          <p:nvPr/>
        </p:nvSpPr>
        <p:spPr>
          <a:xfrm>
            <a:off x="742493" y="5149901"/>
            <a:ext cx="4325112" cy="21945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핵심 기능</a:t>
            </a:r>
            <a:endParaRPr lang="en-US" sz="1100" dirty="0"/>
          </a:p>
        </p:txBody>
      </p:sp>
      <p:pic>
        <p:nvPicPr>
          <p:cNvPr id="38" name="Image 2" descr="preencoded.png"/>
          <p:cNvPicPr>
            <a:picLocks noChangeAspect="1"/>
          </p:cNvPicPr>
          <p:nvPr/>
        </p:nvPicPr>
        <p:blipFill>
          <a:blip r:embed="rId5"/>
          <a:srcRect t="-12400" b="-12400"/>
          <a:stretch/>
        </p:blipFill>
        <p:spPr>
          <a:xfrm>
            <a:off x="647395" y="5506517"/>
            <a:ext cx="114300" cy="142646"/>
          </a:xfrm>
          <a:prstGeom prst="rect">
            <a:avLst/>
          </a:prstGeom>
        </p:spPr>
      </p:pic>
      <p:sp>
        <p:nvSpPr>
          <p:cNvPr id="39" name="Text 34"/>
          <p:cNvSpPr txBox="1"/>
          <p:nvPr/>
        </p:nvSpPr>
        <p:spPr>
          <a:xfrm>
            <a:off x="857707" y="5478170"/>
            <a:ext cx="3263494"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실시간 검증</a:t>
            </a:r>
            <a:r>
              <a:rPr lang="en-US" sz="900" dirty="0">
                <a:solidFill>
                  <a:srgbClr val="475569"/>
                </a:solidFill>
                <a:latin typeface="Noto Sans KR" pitchFamily="34" charset="0"/>
                <a:ea typeface="Noto Sans KR" pitchFamily="34" charset="-122"/>
                <a:cs typeface="Noto Sans KR" pitchFamily="34" charset="-120"/>
              </a:rPr>
              <a:t>: 입력 즉시 SMILES 유효성 확인 및 피드백</a:t>
            </a:r>
            <a:endParaRPr lang="en-US" sz="900" dirty="0"/>
          </a:p>
        </p:txBody>
      </p:sp>
      <p:pic>
        <p:nvPicPr>
          <p:cNvPr id="40" name="Image 3" descr="preencoded.png"/>
          <p:cNvPicPr>
            <a:picLocks noChangeAspect="1"/>
          </p:cNvPicPr>
          <p:nvPr/>
        </p:nvPicPr>
        <p:blipFill>
          <a:blip r:embed="rId5"/>
          <a:srcRect t="-12400" b="-12400"/>
          <a:stretch/>
        </p:blipFill>
        <p:spPr>
          <a:xfrm>
            <a:off x="647395" y="5754319"/>
            <a:ext cx="114300" cy="142646"/>
          </a:xfrm>
          <a:prstGeom prst="rect">
            <a:avLst/>
          </a:prstGeom>
        </p:spPr>
      </p:pic>
      <p:sp>
        <p:nvSpPr>
          <p:cNvPr id="41" name="Text 35"/>
          <p:cNvSpPr txBox="1"/>
          <p:nvPr/>
        </p:nvSpPr>
        <p:spPr>
          <a:xfrm>
            <a:off x="857707" y="5725973"/>
            <a:ext cx="2585009"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자동 렌더링</a:t>
            </a:r>
            <a:r>
              <a:rPr lang="en-US" sz="900" dirty="0">
                <a:solidFill>
                  <a:srgbClr val="475569"/>
                </a:solidFill>
                <a:latin typeface="Noto Sans KR" pitchFamily="34" charset="0"/>
                <a:ea typeface="Noto Sans KR" pitchFamily="34" charset="-122"/>
                <a:cs typeface="Noto Sans KR" pitchFamily="34" charset="-120"/>
              </a:rPr>
              <a:t>: RDKit 기반 2D 구조식 자동 생성</a:t>
            </a:r>
            <a:endParaRPr lang="en-US" sz="900" dirty="0"/>
          </a:p>
        </p:txBody>
      </p:sp>
      <p:pic>
        <p:nvPicPr>
          <p:cNvPr id="42" name="Image 4" descr="preencoded.png"/>
          <p:cNvPicPr>
            <a:picLocks noChangeAspect="1"/>
          </p:cNvPicPr>
          <p:nvPr/>
        </p:nvPicPr>
        <p:blipFill>
          <a:blip r:embed="rId5"/>
          <a:srcRect t="-12400" b="-12400"/>
          <a:stretch/>
        </p:blipFill>
        <p:spPr>
          <a:xfrm>
            <a:off x="647395" y="6002122"/>
            <a:ext cx="114300" cy="142646"/>
          </a:xfrm>
          <a:prstGeom prst="rect">
            <a:avLst/>
          </a:prstGeom>
        </p:spPr>
      </p:pic>
      <p:sp>
        <p:nvSpPr>
          <p:cNvPr id="43" name="Text 36"/>
          <p:cNvSpPr txBox="1"/>
          <p:nvPr/>
        </p:nvSpPr>
        <p:spPr>
          <a:xfrm>
            <a:off x="857707" y="5973775"/>
            <a:ext cx="2551176"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즉시 분석</a:t>
            </a:r>
            <a:r>
              <a:rPr lang="en-US" sz="900" dirty="0">
                <a:solidFill>
                  <a:srgbClr val="475569"/>
                </a:solidFill>
                <a:latin typeface="Noto Sans KR" pitchFamily="34" charset="0"/>
                <a:ea typeface="Noto Sans KR" pitchFamily="34" charset="-122"/>
                <a:cs typeface="Noto Sans KR" pitchFamily="34" charset="-120"/>
              </a:rPr>
              <a:t>: Lipinski 지표 실시간 계산 및 표시</a:t>
            </a:r>
            <a:endParaRPr lang="en-US" sz="900" dirty="0"/>
          </a:p>
        </p:txBody>
      </p:sp>
      <p:pic>
        <p:nvPicPr>
          <p:cNvPr id="44" name="Image 5" descr="preencoded.png"/>
          <p:cNvPicPr>
            <a:picLocks noChangeAspect="1"/>
          </p:cNvPicPr>
          <p:nvPr/>
        </p:nvPicPr>
        <p:blipFill>
          <a:blip r:embed="rId5"/>
          <a:srcRect t="-12400" b="-12400"/>
          <a:stretch/>
        </p:blipFill>
        <p:spPr>
          <a:xfrm>
            <a:off x="647395" y="6249924"/>
            <a:ext cx="114300" cy="142646"/>
          </a:xfrm>
          <a:prstGeom prst="rect">
            <a:avLst/>
          </a:prstGeom>
        </p:spPr>
      </p:pic>
      <p:sp>
        <p:nvSpPr>
          <p:cNvPr id="45" name="Text 37"/>
          <p:cNvSpPr txBox="1"/>
          <p:nvPr/>
        </p:nvSpPr>
        <p:spPr>
          <a:xfrm>
            <a:off x="857707" y="6220663"/>
            <a:ext cx="2769718"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직관적 UI</a:t>
            </a:r>
            <a:r>
              <a:rPr lang="en-US" sz="900" dirty="0">
                <a:solidFill>
                  <a:srgbClr val="475569"/>
                </a:solidFill>
                <a:latin typeface="Noto Sans KR" pitchFamily="34" charset="0"/>
                <a:ea typeface="Noto Sans KR" pitchFamily="34" charset="-122"/>
                <a:cs typeface="Noto Sans KR" pitchFamily="34" charset="-120"/>
              </a:rPr>
              <a:t>: 입력부터 결과까지 원클릭 워크플로</a:t>
            </a:r>
            <a:endParaRPr lang="en-US" sz="900" dirty="0"/>
          </a:p>
        </p:txBody>
      </p:sp>
      <p:pic>
        <p:nvPicPr>
          <p:cNvPr id="46" name="Image 6" descr="preencoded.png"/>
          <p:cNvPicPr>
            <a:picLocks noChangeAspect="1"/>
          </p:cNvPicPr>
          <p:nvPr/>
        </p:nvPicPr>
        <p:blipFill>
          <a:blip r:embed="rId5"/>
          <a:srcRect t="-12400" b="-12400"/>
          <a:stretch/>
        </p:blipFill>
        <p:spPr>
          <a:xfrm>
            <a:off x="647395" y="6496812"/>
            <a:ext cx="114300" cy="142646"/>
          </a:xfrm>
          <a:prstGeom prst="rect">
            <a:avLst/>
          </a:prstGeom>
        </p:spPr>
      </p:pic>
      <p:sp>
        <p:nvSpPr>
          <p:cNvPr id="47" name="Text 38"/>
          <p:cNvSpPr txBox="1"/>
          <p:nvPr/>
        </p:nvSpPr>
        <p:spPr>
          <a:xfrm>
            <a:off x="857707" y="6468466"/>
            <a:ext cx="2494483"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예시 제공</a:t>
            </a:r>
            <a:r>
              <a:rPr lang="en-US" sz="900" dirty="0">
                <a:solidFill>
                  <a:srgbClr val="475569"/>
                </a:solidFill>
                <a:latin typeface="Noto Sans KR" pitchFamily="34" charset="0"/>
                <a:ea typeface="Noto Sans KR" pitchFamily="34" charset="-122"/>
                <a:cs typeface="Noto Sans KR" pitchFamily="34" charset="-120"/>
              </a:rPr>
              <a:t>: 샘플 SMILES로 빠른 테스트 가능</a:t>
            </a:r>
            <a:endParaRPr lang="en-US" sz="900" dirty="0"/>
          </a:p>
        </p:txBody>
      </p:sp>
      <p:pic>
        <p:nvPicPr>
          <p:cNvPr id="48" name="Image 7" descr="preencoded.png"/>
          <p:cNvPicPr>
            <a:picLocks noChangeAspect="1"/>
          </p:cNvPicPr>
          <p:nvPr/>
        </p:nvPicPr>
        <p:blipFill>
          <a:blip r:embed="rId6"/>
          <a:stretch>
            <a:fillRect/>
          </a:stretch>
        </p:blipFill>
        <p:spPr>
          <a:xfrm>
            <a:off x="647395" y="6783019"/>
            <a:ext cx="457200" cy="219456"/>
          </a:xfrm>
          <a:prstGeom prst="rect">
            <a:avLst/>
          </a:prstGeom>
        </p:spPr>
      </p:pic>
      <p:sp>
        <p:nvSpPr>
          <p:cNvPr id="49" name="Text 39"/>
          <p:cNvSpPr/>
          <p:nvPr/>
        </p:nvSpPr>
        <p:spPr>
          <a:xfrm>
            <a:off x="647395" y="6783019"/>
            <a:ext cx="4572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RDKit</a:t>
            </a:r>
            <a:endParaRPr lang="en-US" sz="800" dirty="0"/>
          </a:p>
        </p:txBody>
      </p:sp>
      <p:sp>
        <p:nvSpPr>
          <p:cNvPr id="50" name="Text 40"/>
          <p:cNvSpPr txBox="1"/>
          <p:nvPr/>
        </p:nvSpPr>
        <p:spPr>
          <a:xfrm>
            <a:off x="743407" y="6821424"/>
            <a:ext cx="342900"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RDKit</a:t>
            </a:r>
            <a:endParaRPr lang="en-US" sz="800" dirty="0"/>
          </a:p>
        </p:txBody>
      </p:sp>
      <p:pic>
        <p:nvPicPr>
          <p:cNvPr id="51" name="Image 8" descr="preencoded.png"/>
          <p:cNvPicPr>
            <a:picLocks noChangeAspect="1"/>
          </p:cNvPicPr>
          <p:nvPr/>
        </p:nvPicPr>
        <p:blipFill>
          <a:blip r:embed="rId7"/>
          <a:stretch>
            <a:fillRect/>
          </a:stretch>
        </p:blipFill>
        <p:spPr>
          <a:xfrm>
            <a:off x="1100938" y="6783019"/>
            <a:ext cx="533095" cy="219456"/>
          </a:xfrm>
          <a:prstGeom prst="rect">
            <a:avLst/>
          </a:prstGeom>
        </p:spPr>
      </p:pic>
      <p:sp>
        <p:nvSpPr>
          <p:cNvPr id="52" name="Text 41"/>
          <p:cNvSpPr/>
          <p:nvPr/>
        </p:nvSpPr>
        <p:spPr>
          <a:xfrm>
            <a:off x="1100938" y="6783019"/>
            <a:ext cx="53401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FastAPI</a:t>
            </a:r>
            <a:endParaRPr lang="en-US" sz="800" dirty="0"/>
          </a:p>
        </p:txBody>
      </p:sp>
      <p:sp>
        <p:nvSpPr>
          <p:cNvPr id="53" name="Text 42"/>
          <p:cNvSpPr txBox="1"/>
          <p:nvPr/>
        </p:nvSpPr>
        <p:spPr>
          <a:xfrm>
            <a:off x="1196035" y="6821424"/>
            <a:ext cx="419710"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FastAPI</a:t>
            </a:r>
            <a:endParaRPr lang="en-US" sz="800" dirty="0"/>
          </a:p>
        </p:txBody>
      </p:sp>
      <p:pic>
        <p:nvPicPr>
          <p:cNvPr id="54" name="Image 9" descr="preencoded.png"/>
          <p:cNvPicPr>
            <a:picLocks noChangeAspect="1"/>
          </p:cNvPicPr>
          <p:nvPr/>
        </p:nvPicPr>
        <p:blipFill>
          <a:blip r:embed="rId8"/>
          <a:stretch>
            <a:fillRect/>
          </a:stretch>
        </p:blipFill>
        <p:spPr>
          <a:xfrm>
            <a:off x="1633118" y="6783019"/>
            <a:ext cx="657454" cy="219456"/>
          </a:xfrm>
          <a:prstGeom prst="rect">
            <a:avLst/>
          </a:prstGeom>
        </p:spPr>
      </p:pic>
      <p:sp>
        <p:nvSpPr>
          <p:cNvPr id="55" name="Text 43"/>
          <p:cNvSpPr/>
          <p:nvPr/>
        </p:nvSpPr>
        <p:spPr>
          <a:xfrm>
            <a:off x="1633118" y="6783019"/>
            <a:ext cx="657454"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66534"/>
                </a:solidFill>
                <a:latin typeface="Noto Sans KR" pitchFamily="34" charset="0"/>
                <a:ea typeface="Noto Sans KR" pitchFamily="34" charset="-122"/>
                <a:cs typeface="Noto Sans KR" pitchFamily="34" charset="-120"/>
              </a:rPr>
              <a:t>실시간 처리</a:t>
            </a:r>
            <a:endParaRPr lang="en-US" sz="800" dirty="0"/>
          </a:p>
        </p:txBody>
      </p:sp>
      <p:sp>
        <p:nvSpPr>
          <p:cNvPr id="56" name="Text 44"/>
          <p:cNvSpPr txBox="1"/>
          <p:nvPr/>
        </p:nvSpPr>
        <p:spPr>
          <a:xfrm>
            <a:off x="1728216" y="6821424"/>
            <a:ext cx="569671" cy="143561"/>
          </a:xfrm>
          <a:prstGeom prst="rect">
            <a:avLst/>
          </a:prstGeom>
          <a:noFill/>
          <a:ln/>
        </p:spPr>
        <p:txBody>
          <a:bodyPr wrap="square" lIns="0" tIns="0" rIns="0" bIns="0" rtlCol="0" anchor="ctr"/>
          <a:lstStyle/>
          <a:p>
            <a:pPr marL="0" indent="0" algn="l">
              <a:buNone/>
            </a:pPr>
            <a:r>
              <a:rPr lang="en-US" sz="800" b="1" dirty="0">
                <a:solidFill>
                  <a:srgbClr val="166534"/>
                </a:solidFill>
                <a:latin typeface="Noto Sans KR" pitchFamily="34" charset="0"/>
                <a:ea typeface="Noto Sans KR" pitchFamily="34" charset="-122"/>
                <a:cs typeface="Noto Sans KR" pitchFamily="34" charset="-120"/>
              </a:rPr>
              <a:t>실시간 처리</a:t>
            </a:r>
            <a:endParaRPr lang="en-US" sz="800" dirty="0"/>
          </a:p>
        </p:txBody>
      </p:sp>
      <p:pic>
        <p:nvPicPr>
          <p:cNvPr id="96" name="그림 95">
            <a:extLst>
              <a:ext uri="{FF2B5EF4-FFF2-40B4-BE49-F238E27FC236}">
                <a16:creationId xmlns:a16="http://schemas.microsoft.com/office/drawing/2014/main" id="{2A562D7C-19A1-4123-8E6C-F3799FDE2C21}"/>
              </a:ext>
            </a:extLst>
          </p:cNvPr>
          <p:cNvPicPr>
            <a:picLocks noChangeAspect="1"/>
          </p:cNvPicPr>
          <p:nvPr/>
        </p:nvPicPr>
        <p:blipFill>
          <a:blip r:embed="rId9"/>
          <a:stretch>
            <a:fillRect/>
          </a:stretch>
        </p:blipFill>
        <p:spPr>
          <a:xfrm>
            <a:off x="5620207" y="1865552"/>
            <a:ext cx="12192000" cy="4252107"/>
          </a:xfrm>
          <a:prstGeom prst="rect">
            <a:avLst/>
          </a:prstGeom>
        </p:spPr>
      </p:pic>
    </p:spTree>
    <p:extLst>
      <p:ext uri="{BB962C8B-B14F-4D97-AF65-F5344CB8AC3E}">
        <p14:creationId xmlns:p14="http://schemas.microsoft.com/office/powerpoint/2010/main" val="3598211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676802" cy="457200"/>
          </a:xfrm>
          <a:prstGeom prst="rect">
            <a:avLst/>
          </a:prstGeom>
          <a:noFill/>
          <a:ln/>
        </p:spPr>
        <p:txBody>
          <a:bodyPr wrap="square" lIns="0" tIns="0" rIns="0" bIns="0" rtlCol="0" anchor="ctr"/>
          <a:lstStyle/>
          <a:p>
            <a:pPr marL="0" indent="0" algn="l">
              <a:buNone/>
            </a:pPr>
            <a:r>
              <a:rPr lang="en-US" sz="2400" b="1" kern="0" spc="-37" dirty="0">
                <a:solidFill>
                  <a:srgbClr val="FFFFFF"/>
                </a:solidFill>
                <a:latin typeface="Noto Sans KR" pitchFamily="34" charset="0"/>
                <a:ea typeface="Noto Sans KR" pitchFamily="34" charset="-122"/>
                <a:cs typeface="Noto Sans KR" pitchFamily="34" charset="-120"/>
              </a:rPr>
              <a:t>솔루션 시연: UI 화면 2</a:t>
            </a:r>
            <a:endParaRPr lang="en-US" sz="2400" dirty="0"/>
          </a:p>
        </p:txBody>
      </p:sp>
      <p:sp>
        <p:nvSpPr>
          <p:cNvPr id="5" name="Text 3"/>
          <p:cNvSpPr txBox="1"/>
          <p:nvPr/>
        </p:nvSpPr>
        <p:spPr>
          <a:xfrm>
            <a:off x="476402" y="685800"/>
            <a:ext cx="4031590"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13개 클러스터 레이더 차트 예측 결과 및 활성도 분석</a:t>
            </a:r>
            <a:endParaRPr lang="en-US" sz="1200" dirty="0"/>
          </a:p>
        </p:txBody>
      </p:sp>
      <p:sp>
        <p:nvSpPr>
          <p:cNvPr id="6" name="Shape 4"/>
          <p:cNvSpPr/>
          <p:nvPr/>
        </p:nvSpPr>
        <p:spPr>
          <a:xfrm>
            <a:off x="476402" y="1371600"/>
            <a:ext cx="4572000" cy="2857500"/>
          </a:xfrm>
          <a:prstGeom prst="roundRect">
            <a:avLst>
              <a:gd name="adj" fmla="val 853"/>
            </a:avLst>
          </a:prstGeom>
          <a:solidFill>
            <a:srgbClr val="FFFFFF"/>
          </a:solidFill>
          <a:ln/>
          <a:effectLst>
            <a:outerShdw blurRad="76200" dist="25400" dir="16200000" algn="bl" rotWithShape="0">
              <a:srgbClr val="000000">
                <a:alpha val="8000"/>
              </a:srgbClr>
            </a:outerShdw>
          </a:effectLst>
        </p:spPr>
      </p:sp>
      <p:sp>
        <p:nvSpPr>
          <p:cNvPr id="7" name="Shape 5"/>
          <p:cNvSpPr/>
          <p:nvPr/>
        </p:nvSpPr>
        <p:spPr>
          <a:xfrm>
            <a:off x="476402" y="1371600"/>
            <a:ext cx="38405" cy="2857500"/>
          </a:xfrm>
          <a:prstGeom prst="roundRect">
            <a:avLst>
              <a:gd name="adj" fmla="val 63492"/>
            </a:avLst>
          </a:prstGeom>
          <a:solidFill>
            <a:srgbClr val="10B981"/>
          </a:solidFill>
          <a:ln w="12700">
            <a:solidFill>
              <a:srgbClr val="10B981">
                <a:alpha val="0"/>
              </a:srgbClr>
            </a:solidFill>
            <a:prstDash val="solid"/>
          </a:ln>
        </p:spPr>
      </p:sp>
      <p:pic>
        <p:nvPicPr>
          <p:cNvPr id="8" name="Image 0" descr="preencoded.png"/>
          <p:cNvPicPr>
            <a:picLocks noChangeAspect="1"/>
          </p:cNvPicPr>
          <p:nvPr/>
        </p:nvPicPr>
        <p:blipFill>
          <a:blip r:embed="rId3"/>
          <a:srcRect l="-133" r="-133"/>
          <a:stretch/>
        </p:blipFill>
        <p:spPr>
          <a:xfrm>
            <a:off x="705002" y="1628546"/>
            <a:ext cx="171907" cy="228600"/>
          </a:xfrm>
          <a:prstGeom prst="rect">
            <a:avLst/>
          </a:prstGeom>
        </p:spPr>
      </p:pic>
      <p:sp>
        <p:nvSpPr>
          <p:cNvPr id="9" name="Text 6"/>
          <p:cNvSpPr txBox="1"/>
          <p:nvPr/>
        </p:nvSpPr>
        <p:spPr>
          <a:xfrm>
            <a:off x="990295" y="1619402"/>
            <a:ext cx="1755648" cy="228600"/>
          </a:xfrm>
          <a:prstGeom prst="rect">
            <a:avLst/>
          </a:prstGeom>
          <a:noFill/>
          <a:ln/>
        </p:spPr>
        <p:txBody>
          <a:bodyPr wrap="square" lIns="0" tIns="0" rIns="0" bIns="0" rtlCol="0" anchor="ctr"/>
          <a:lstStyle/>
          <a:p>
            <a:pPr marL="0" indent="0" algn="l">
              <a:buNone/>
            </a:pPr>
            <a:r>
              <a:rPr lang="en-US" sz="1200" b="1" dirty="0">
                <a:solidFill>
                  <a:srgbClr val="1A355B"/>
                </a:solidFill>
                <a:latin typeface="Noto Sans KR" pitchFamily="34" charset="0"/>
                <a:ea typeface="Noto Sans KR" pitchFamily="34" charset="-122"/>
                <a:cs typeface="Noto Sans KR" pitchFamily="34" charset="-120"/>
              </a:rPr>
              <a:t>결과 해석 및 인사이트</a:t>
            </a:r>
            <a:endParaRPr lang="en-US" sz="1200" dirty="0"/>
          </a:p>
        </p:txBody>
      </p:sp>
      <p:sp>
        <p:nvSpPr>
          <p:cNvPr id="10" name="Shape 7"/>
          <p:cNvSpPr/>
          <p:nvPr/>
        </p:nvSpPr>
        <p:spPr>
          <a:xfrm>
            <a:off x="705002" y="2038198"/>
            <a:ext cx="4153205" cy="590702"/>
          </a:xfrm>
          <a:prstGeom prst="roundRect">
            <a:avLst>
              <a:gd name="adj" fmla="val 14981"/>
            </a:avLst>
          </a:prstGeom>
          <a:solidFill>
            <a:srgbClr val="F8FAFC"/>
          </a:solidFill>
          <a:ln/>
        </p:spPr>
      </p:sp>
      <p:sp>
        <p:nvSpPr>
          <p:cNvPr id="11" name="Shape 8"/>
          <p:cNvSpPr/>
          <p:nvPr/>
        </p:nvSpPr>
        <p:spPr>
          <a:xfrm>
            <a:off x="705002" y="2038198"/>
            <a:ext cx="28346" cy="590702"/>
          </a:xfrm>
          <a:prstGeom prst="roundRect">
            <a:avLst>
              <a:gd name="adj" fmla="val 312179"/>
            </a:avLst>
          </a:prstGeom>
          <a:solidFill>
            <a:srgbClr val="10B981"/>
          </a:solidFill>
          <a:ln w="12700">
            <a:solidFill>
              <a:srgbClr val="10B981">
                <a:alpha val="0"/>
              </a:srgbClr>
            </a:solidFill>
            <a:prstDash val="solid"/>
          </a:ln>
        </p:spPr>
      </p:sp>
      <p:pic>
        <p:nvPicPr>
          <p:cNvPr id="12" name="Image 1" descr="preencoded.png"/>
          <p:cNvPicPr>
            <a:picLocks noChangeAspect="1"/>
          </p:cNvPicPr>
          <p:nvPr/>
        </p:nvPicPr>
        <p:blipFill>
          <a:blip r:embed="rId4"/>
          <a:srcRect/>
          <a:stretch/>
        </p:blipFill>
        <p:spPr>
          <a:xfrm>
            <a:off x="847649" y="2221992"/>
            <a:ext cx="171907" cy="171907"/>
          </a:xfrm>
          <a:prstGeom prst="rect">
            <a:avLst/>
          </a:prstGeom>
        </p:spPr>
      </p:pic>
      <p:sp>
        <p:nvSpPr>
          <p:cNvPr id="13" name="Text 9"/>
          <p:cNvSpPr txBox="1"/>
          <p:nvPr/>
        </p:nvSpPr>
        <p:spPr>
          <a:xfrm>
            <a:off x="1133856" y="2152498"/>
            <a:ext cx="3801161"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활성 클러스터 식별</a:t>
            </a:r>
            <a:endParaRPr lang="en-US" sz="900" dirty="0"/>
          </a:p>
        </p:txBody>
      </p:sp>
      <p:sp>
        <p:nvSpPr>
          <p:cNvPr id="14" name="Text 10"/>
          <p:cNvSpPr txBox="1"/>
          <p:nvPr/>
        </p:nvSpPr>
        <p:spPr>
          <a:xfrm>
            <a:off x="1133856" y="2367382"/>
            <a:ext cx="4076395"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예측 확률이 임계값을 초과하는 클러스터를 자동 하이라이트하여 우선 표적 제시</a:t>
            </a:r>
            <a:endParaRPr lang="en-US" sz="800" dirty="0"/>
          </a:p>
        </p:txBody>
      </p:sp>
      <p:sp>
        <p:nvSpPr>
          <p:cNvPr id="15" name="Shape 11"/>
          <p:cNvSpPr/>
          <p:nvPr/>
        </p:nvSpPr>
        <p:spPr>
          <a:xfrm>
            <a:off x="705002" y="2742286"/>
            <a:ext cx="4153205" cy="590702"/>
          </a:xfrm>
          <a:prstGeom prst="roundRect">
            <a:avLst>
              <a:gd name="adj" fmla="val 14981"/>
            </a:avLst>
          </a:prstGeom>
          <a:solidFill>
            <a:srgbClr val="F8FAFC"/>
          </a:solidFill>
          <a:ln/>
        </p:spPr>
      </p:sp>
      <p:sp>
        <p:nvSpPr>
          <p:cNvPr id="16" name="Shape 12"/>
          <p:cNvSpPr/>
          <p:nvPr/>
        </p:nvSpPr>
        <p:spPr>
          <a:xfrm>
            <a:off x="705002" y="2742286"/>
            <a:ext cx="28346" cy="590702"/>
          </a:xfrm>
          <a:prstGeom prst="roundRect">
            <a:avLst>
              <a:gd name="adj" fmla="val 312179"/>
            </a:avLst>
          </a:prstGeom>
          <a:solidFill>
            <a:srgbClr val="10B981"/>
          </a:solidFill>
          <a:ln w="12700">
            <a:solidFill>
              <a:srgbClr val="10B981">
                <a:alpha val="0"/>
              </a:srgbClr>
            </a:solidFill>
            <a:prstDash val="solid"/>
          </a:ln>
        </p:spPr>
      </p:sp>
      <p:pic>
        <p:nvPicPr>
          <p:cNvPr id="17" name="Image 2" descr="preencoded.png"/>
          <p:cNvPicPr>
            <a:picLocks noChangeAspect="1"/>
          </p:cNvPicPr>
          <p:nvPr/>
        </p:nvPicPr>
        <p:blipFill>
          <a:blip r:embed="rId5"/>
          <a:srcRect t="-842" b="-842"/>
          <a:stretch/>
        </p:blipFill>
        <p:spPr>
          <a:xfrm>
            <a:off x="847649" y="2926080"/>
            <a:ext cx="190195" cy="171907"/>
          </a:xfrm>
          <a:prstGeom prst="rect">
            <a:avLst/>
          </a:prstGeom>
        </p:spPr>
      </p:pic>
      <p:sp>
        <p:nvSpPr>
          <p:cNvPr id="18" name="Text 13"/>
          <p:cNvSpPr txBox="1"/>
          <p:nvPr/>
        </p:nvSpPr>
        <p:spPr>
          <a:xfrm>
            <a:off x="1152144" y="2856586"/>
            <a:ext cx="3706063"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작용기전(MoA) 추론</a:t>
            </a:r>
            <a:endParaRPr lang="en-US" sz="900" dirty="0"/>
          </a:p>
        </p:txBody>
      </p:sp>
      <p:sp>
        <p:nvSpPr>
          <p:cNvPr id="19" name="Text 14"/>
          <p:cNvSpPr txBox="1"/>
          <p:nvPr/>
        </p:nvSpPr>
        <p:spPr>
          <a:xfrm>
            <a:off x="1152144" y="3070555"/>
            <a:ext cx="4101084"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활성 클러스터의 생물학적 기능을 통해 화합물의 작용 경로 및 표적 단백질 추정</a:t>
            </a:r>
            <a:endParaRPr lang="en-US" sz="800" dirty="0"/>
          </a:p>
        </p:txBody>
      </p:sp>
      <p:sp>
        <p:nvSpPr>
          <p:cNvPr id="20" name="Shape 15"/>
          <p:cNvSpPr/>
          <p:nvPr/>
        </p:nvSpPr>
        <p:spPr>
          <a:xfrm>
            <a:off x="705002" y="3446374"/>
            <a:ext cx="4153205" cy="590702"/>
          </a:xfrm>
          <a:prstGeom prst="roundRect">
            <a:avLst>
              <a:gd name="adj" fmla="val 14981"/>
            </a:avLst>
          </a:prstGeom>
          <a:solidFill>
            <a:srgbClr val="F8FAFC"/>
          </a:solidFill>
          <a:ln/>
        </p:spPr>
      </p:sp>
      <p:sp>
        <p:nvSpPr>
          <p:cNvPr id="21" name="Shape 16"/>
          <p:cNvSpPr/>
          <p:nvPr/>
        </p:nvSpPr>
        <p:spPr>
          <a:xfrm>
            <a:off x="705002" y="3446374"/>
            <a:ext cx="28346" cy="590702"/>
          </a:xfrm>
          <a:prstGeom prst="roundRect">
            <a:avLst>
              <a:gd name="adj" fmla="val 312179"/>
            </a:avLst>
          </a:prstGeom>
          <a:solidFill>
            <a:srgbClr val="10B981"/>
          </a:solidFill>
          <a:ln w="12700">
            <a:solidFill>
              <a:srgbClr val="10B981">
                <a:alpha val="0"/>
              </a:srgbClr>
            </a:solidFill>
            <a:prstDash val="solid"/>
          </a:ln>
        </p:spPr>
      </p:sp>
      <p:pic>
        <p:nvPicPr>
          <p:cNvPr id="22" name="Image 3" descr="preencoded.png"/>
          <p:cNvPicPr>
            <a:picLocks noChangeAspect="1"/>
          </p:cNvPicPr>
          <p:nvPr/>
        </p:nvPicPr>
        <p:blipFill>
          <a:blip r:embed="rId6"/>
          <a:srcRect l="-1064" r="-1064"/>
          <a:stretch/>
        </p:blipFill>
        <p:spPr>
          <a:xfrm>
            <a:off x="847649" y="3629254"/>
            <a:ext cx="219456" cy="171907"/>
          </a:xfrm>
          <a:prstGeom prst="rect">
            <a:avLst/>
          </a:prstGeom>
        </p:spPr>
      </p:pic>
      <p:sp>
        <p:nvSpPr>
          <p:cNvPr id="23" name="Text 17"/>
          <p:cNvSpPr txBox="1"/>
          <p:nvPr/>
        </p:nvSpPr>
        <p:spPr>
          <a:xfrm>
            <a:off x="1181405" y="3560674"/>
            <a:ext cx="3753612" cy="191110"/>
          </a:xfrm>
          <a:prstGeom prst="rect">
            <a:avLst/>
          </a:prstGeom>
          <a:noFill/>
          <a:ln/>
        </p:spPr>
        <p:txBody>
          <a:bodyPr wrap="square" lIns="0" tIns="0" rIns="0" bIns="0" rtlCol="0" anchor="ctr"/>
          <a:lstStyle/>
          <a:p>
            <a:pPr marL="0" indent="0" algn="l">
              <a:buNone/>
            </a:pPr>
            <a:r>
              <a:rPr lang="en-US" sz="900" b="1" dirty="0">
                <a:solidFill>
                  <a:srgbClr val="1E293B"/>
                </a:solidFill>
                <a:latin typeface="Noto Sans KR" pitchFamily="34" charset="0"/>
                <a:ea typeface="Noto Sans KR" pitchFamily="34" charset="-122"/>
                <a:cs typeface="Noto Sans KR" pitchFamily="34" charset="-120"/>
              </a:rPr>
              <a:t>약물성 평가</a:t>
            </a:r>
            <a:endParaRPr lang="en-US" sz="900" dirty="0"/>
          </a:p>
        </p:txBody>
      </p:sp>
      <p:sp>
        <p:nvSpPr>
          <p:cNvPr id="24" name="Text 18"/>
          <p:cNvSpPr txBox="1"/>
          <p:nvPr/>
        </p:nvSpPr>
        <p:spPr>
          <a:xfrm>
            <a:off x="1181405" y="3774643"/>
            <a:ext cx="4176065" cy="152705"/>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Lipinski's Rule of Five 준수 여부를 통해 경구 생체이용률 가능성 사전 판단</a:t>
            </a:r>
            <a:endParaRPr lang="en-US" sz="800" dirty="0"/>
          </a:p>
        </p:txBody>
      </p:sp>
      <p:sp>
        <p:nvSpPr>
          <p:cNvPr id="25" name="Shape 19"/>
          <p:cNvSpPr/>
          <p:nvPr/>
        </p:nvSpPr>
        <p:spPr>
          <a:xfrm>
            <a:off x="476402" y="4398264"/>
            <a:ext cx="4572000" cy="3933749"/>
          </a:xfrm>
          <a:prstGeom prst="roundRect">
            <a:avLst>
              <a:gd name="adj" fmla="val 450"/>
            </a:avLst>
          </a:prstGeom>
          <a:solidFill>
            <a:srgbClr val="FFFFFF"/>
          </a:solidFill>
          <a:ln/>
          <a:effectLst>
            <a:outerShdw blurRad="76200" dist="25400" dir="16200000" algn="bl" rotWithShape="0">
              <a:srgbClr val="000000">
                <a:alpha val="8000"/>
              </a:srgbClr>
            </a:outerShdw>
          </a:effectLst>
        </p:spPr>
      </p:sp>
      <p:sp>
        <p:nvSpPr>
          <p:cNvPr id="26" name="Shape 20"/>
          <p:cNvSpPr/>
          <p:nvPr/>
        </p:nvSpPr>
        <p:spPr>
          <a:xfrm>
            <a:off x="476402" y="4398264"/>
            <a:ext cx="4572000" cy="28346"/>
          </a:xfrm>
          <a:prstGeom prst="roundRect">
            <a:avLst>
              <a:gd name="adj" fmla="val 62486"/>
            </a:avLst>
          </a:prstGeom>
          <a:solidFill>
            <a:srgbClr val="8B5CF6"/>
          </a:solidFill>
          <a:ln w="12700">
            <a:solidFill>
              <a:srgbClr val="8B5CF6">
                <a:alpha val="0"/>
              </a:srgbClr>
            </a:solidFill>
            <a:prstDash val="solid"/>
          </a:ln>
        </p:spPr>
      </p:sp>
      <p:sp>
        <p:nvSpPr>
          <p:cNvPr id="27" name="Text 21"/>
          <p:cNvSpPr txBox="1"/>
          <p:nvPr/>
        </p:nvSpPr>
        <p:spPr>
          <a:xfrm>
            <a:off x="933602" y="4597603"/>
            <a:ext cx="4134002" cy="21945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데이터 활용 기능</a:t>
            </a:r>
            <a:endParaRPr lang="en-US" sz="1100" dirty="0"/>
          </a:p>
        </p:txBody>
      </p:sp>
      <p:pic>
        <p:nvPicPr>
          <p:cNvPr id="28" name="Image 4" descr="preencoded.png"/>
          <p:cNvPicPr>
            <a:picLocks noChangeAspect="1"/>
          </p:cNvPicPr>
          <p:nvPr/>
        </p:nvPicPr>
        <p:blipFill>
          <a:blip r:embed="rId7"/>
          <a:srcRect/>
          <a:stretch/>
        </p:blipFill>
        <p:spPr>
          <a:xfrm>
            <a:off x="647395" y="4609490"/>
            <a:ext cx="190195" cy="190195"/>
          </a:xfrm>
          <a:prstGeom prst="rect">
            <a:avLst/>
          </a:prstGeom>
        </p:spPr>
      </p:pic>
      <p:pic>
        <p:nvPicPr>
          <p:cNvPr id="29" name="Image 5" descr="preencoded.png"/>
          <p:cNvPicPr>
            <a:picLocks noChangeAspect="1"/>
          </p:cNvPicPr>
          <p:nvPr/>
        </p:nvPicPr>
        <p:blipFill>
          <a:blip r:embed="rId8"/>
          <a:srcRect t="-12400" b="-12400"/>
          <a:stretch/>
        </p:blipFill>
        <p:spPr>
          <a:xfrm>
            <a:off x="647395" y="4955134"/>
            <a:ext cx="114300" cy="142646"/>
          </a:xfrm>
          <a:prstGeom prst="rect">
            <a:avLst/>
          </a:prstGeom>
        </p:spPr>
      </p:pic>
      <p:sp>
        <p:nvSpPr>
          <p:cNvPr id="30" name="Text 22"/>
          <p:cNvSpPr txBox="1"/>
          <p:nvPr/>
        </p:nvSpPr>
        <p:spPr>
          <a:xfrm>
            <a:off x="857707" y="4926787"/>
            <a:ext cx="303032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레이더 차트 내보내기</a:t>
            </a:r>
            <a:r>
              <a:rPr lang="en-US" sz="900" dirty="0">
                <a:solidFill>
                  <a:srgbClr val="475569"/>
                </a:solidFill>
                <a:latin typeface="Noto Sans KR" pitchFamily="34" charset="0"/>
                <a:ea typeface="Noto Sans KR" pitchFamily="34" charset="-122"/>
                <a:cs typeface="Noto Sans KR" pitchFamily="34" charset="-120"/>
              </a:rPr>
              <a:t>: PNG 고해상도 이미지로 저장</a:t>
            </a:r>
            <a:endParaRPr lang="en-US" sz="900" dirty="0"/>
          </a:p>
        </p:txBody>
      </p:sp>
      <p:pic>
        <p:nvPicPr>
          <p:cNvPr id="31" name="Image 6" descr="preencoded.png"/>
          <p:cNvPicPr>
            <a:picLocks noChangeAspect="1"/>
          </p:cNvPicPr>
          <p:nvPr/>
        </p:nvPicPr>
        <p:blipFill>
          <a:blip r:embed="rId8"/>
          <a:srcRect t="-12400" b="-12400"/>
          <a:stretch/>
        </p:blipFill>
        <p:spPr>
          <a:xfrm>
            <a:off x="647395" y="5202936"/>
            <a:ext cx="114300" cy="142646"/>
          </a:xfrm>
          <a:prstGeom prst="rect">
            <a:avLst/>
          </a:prstGeom>
        </p:spPr>
      </p:pic>
      <p:sp>
        <p:nvSpPr>
          <p:cNvPr id="32" name="Text 23"/>
          <p:cNvSpPr txBox="1"/>
          <p:nvPr/>
        </p:nvSpPr>
        <p:spPr>
          <a:xfrm>
            <a:off x="857707" y="5174590"/>
            <a:ext cx="4031590"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CSV 데이터 추출</a:t>
            </a:r>
            <a:r>
              <a:rPr lang="en-US" sz="900" dirty="0">
                <a:solidFill>
                  <a:srgbClr val="475569"/>
                </a:solidFill>
                <a:latin typeface="Noto Sans KR" pitchFamily="34" charset="0"/>
                <a:ea typeface="Noto Sans KR" pitchFamily="34" charset="-122"/>
                <a:cs typeface="Noto Sans KR" pitchFamily="34" charset="-120"/>
              </a:rPr>
              <a:t>: 13개 클러스터별 예측 확률을 표 형식으로 다운로드</a:t>
            </a:r>
            <a:endParaRPr lang="en-US" sz="900" dirty="0"/>
          </a:p>
        </p:txBody>
      </p:sp>
      <p:pic>
        <p:nvPicPr>
          <p:cNvPr id="33" name="Image 7" descr="preencoded.png"/>
          <p:cNvPicPr>
            <a:picLocks noChangeAspect="1"/>
          </p:cNvPicPr>
          <p:nvPr/>
        </p:nvPicPr>
        <p:blipFill>
          <a:blip r:embed="rId8"/>
          <a:srcRect t="-12400" b="-12400"/>
          <a:stretch/>
        </p:blipFill>
        <p:spPr>
          <a:xfrm>
            <a:off x="647395" y="5450738"/>
            <a:ext cx="114300" cy="142646"/>
          </a:xfrm>
          <a:prstGeom prst="rect">
            <a:avLst/>
          </a:prstGeom>
        </p:spPr>
      </p:pic>
      <p:sp>
        <p:nvSpPr>
          <p:cNvPr id="34" name="Text 24"/>
          <p:cNvSpPr txBox="1"/>
          <p:nvPr/>
        </p:nvSpPr>
        <p:spPr>
          <a:xfrm>
            <a:off x="857707" y="5421478"/>
            <a:ext cx="3524098"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툴팁 상세 정보</a:t>
            </a:r>
            <a:r>
              <a:rPr lang="en-US" sz="900" dirty="0">
                <a:solidFill>
                  <a:srgbClr val="475569"/>
                </a:solidFill>
                <a:latin typeface="Noto Sans KR" pitchFamily="34" charset="0"/>
                <a:ea typeface="Noto Sans KR" pitchFamily="34" charset="-122"/>
                <a:cs typeface="Noto Sans KR" pitchFamily="34" charset="-120"/>
              </a:rPr>
              <a:t>: 각 클러스터명 및 COG 기능 설명 즉시 확인</a:t>
            </a:r>
            <a:endParaRPr lang="en-US" sz="900" dirty="0"/>
          </a:p>
        </p:txBody>
      </p:sp>
      <p:pic>
        <p:nvPicPr>
          <p:cNvPr id="35" name="Image 8" descr="preencoded.png"/>
          <p:cNvPicPr>
            <a:picLocks noChangeAspect="1"/>
          </p:cNvPicPr>
          <p:nvPr/>
        </p:nvPicPr>
        <p:blipFill>
          <a:blip r:embed="rId8"/>
          <a:srcRect t="-12400" b="-12400"/>
          <a:stretch/>
        </p:blipFill>
        <p:spPr>
          <a:xfrm>
            <a:off x="647395" y="5697626"/>
            <a:ext cx="114300" cy="142646"/>
          </a:xfrm>
          <a:prstGeom prst="rect">
            <a:avLst/>
          </a:prstGeom>
        </p:spPr>
      </p:pic>
      <p:sp>
        <p:nvSpPr>
          <p:cNvPr id="36" name="Text 25"/>
          <p:cNvSpPr txBox="1"/>
          <p:nvPr/>
        </p:nvSpPr>
        <p:spPr>
          <a:xfrm>
            <a:off x="857707" y="5669280"/>
            <a:ext cx="3098902"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일괄 분석</a:t>
            </a:r>
            <a:r>
              <a:rPr lang="en-US" sz="900" dirty="0">
                <a:solidFill>
                  <a:srgbClr val="475569"/>
                </a:solidFill>
                <a:latin typeface="Noto Sans KR" pitchFamily="34" charset="0"/>
                <a:ea typeface="Noto Sans KR" pitchFamily="34" charset="-122"/>
                <a:cs typeface="Noto Sans KR" pitchFamily="34" charset="-120"/>
              </a:rPr>
              <a:t>: CSV 업로드로 다중 화합물 자동 스크리닝</a:t>
            </a:r>
            <a:endParaRPr lang="en-US" sz="900" dirty="0"/>
          </a:p>
        </p:txBody>
      </p:sp>
      <p:pic>
        <p:nvPicPr>
          <p:cNvPr id="37" name="Image 9" descr="preencoded.png"/>
          <p:cNvPicPr>
            <a:picLocks noChangeAspect="1"/>
          </p:cNvPicPr>
          <p:nvPr/>
        </p:nvPicPr>
        <p:blipFill>
          <a:blip r:embed="rId8"/>
          <a:srcRect t="-12400" b="-12400"/>
          <a:stretch/>
        </p:blipFill>
        <p:spPr>
          <a:xfrm>
            <a:off x="647395" y="5945429"/>
            <a:ext cx="114300" cy="142646"/>
          </a:xfrm>
          <a:prstGeom prst="rect">
            <a:avLst/>
          </a:prstGeom>
        </p:spPr>
      </p:pic>
      <p:sp>
        <p:nvSpPr>
          <p:cNvPr id="38" name="Text 26"/>
          <p:cNvSpPr txBox="1"/>
          <p:nvPr/>
        </p:nvSpPr>
        <p:spPr>
          <a:xfrm>
            <a:off x="857707" y="5917082"/>
            <a:ext cx="2457907" cy="171907"/>
          </a:xfrm>
          <a:prstGeom prst="rect">
            <a:avLst/>
          </a:prstGeom>
          <a:noFill/>
          <a:ln/>
        </p:spPr>
        <p:txBody>
          <a:bodyPr wrap="square" lIns="0" tIns="0" rIns="0" bIns="0" rtlCol="0" anchor="ctr"/>
          <a:lstStyle/>
          <a:p>
            <a:pPr marL="0" indent="0" algn="l">
              <a:buNone/>
            </a:pPr>
            <a:r>
              <a:rPr lang="en-US" sz="900" b="1" dirty="0">
                <a:solidFill>
                  <a:srgbClr val="1A355B"/>
                </a:solidFill>
                <a:latin typeface="Noto Sans KR" pitchFamily="34" charset="0"/>
                <a:ea typeface="Noto Sans KR" pitchFamily="34" charset="-122"/>
                <a:cs typeface="Noto Sans KR" pitchFamily="34" charset="-120"/>
              </a:rPr>
              <a:t>결과 공유</a:t>
            </a:r>
            <a:r>
              <a:rPr lang="en-US" sz="900" dirty="0">
                <a:solidFill>
                  <a:srgbClr val="475569"/>
                </a:solidFill>
                <a:latin typeface="Noto Sans KR" pitchFamily="34" charset="0"/>
                <a:ea typeface="Noto Sans KR" pitchFamily="34" charset="-122"/>
                <a:cs typeface="Noto Sans KR" pitchFamily="34" charset="-120"/>
              </a:rPr>
              <a:t>: 영구 링크 생성으로 협업 지원</a:t>
            </a:r>
            <a:endParaRPr lang="en-US" sz="900" dirty="0"/>
          </a:p>
        </p:txBody>
      </p:sp>
      <p:pic>
        <p:nvPicPr>
          <p:cNvPr id="39" name="Image 10" descr="preencoded.png"/>
          <p:cNvPicPr>
            <a:picLocks noChangeAspect="1"/>
          </p:cNvPicPr>
          <p:nvPr/>
        </p:nvPicPr>
        <p:blipFill>
          <a:blip r:embed="rId9"/>
          <a:stretch>
            <a:fillRect/>
          </a:stretch>
        </p:blipFill>
        <p:spPr>
          <a:xfrm>
            <a:off x="647395" y="6231636"/>
            <a:ext cx="571500" cy="219456"/>
          </a:xfrm>
          <a:prstGeom prst="rect">
            <a:avLst/>
          </a:prstGeom>
        </p:spPr>
      </p:pic>
      <p:sp>
        <p:nvSpPr>
          <p:cNvPr id="40" name="Text 27"/>
          <p:cNvSpPr/>
          <p:nvPr/>
        </p:nvSpPr>
        <p:spPr>
          <a:xfrm>
            <a:off x="647395" y="6231636"/>
            <a:ext cx="571500"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E40AF"/>
                </a:solidFill>
                <a:latin typeface="Noto Sans KR" pitchFamily="34" charset="0"/>
                <a:ea typeface="Noto Sans KR" pitchFamily="34" charset="-122"/>
                <a:cs typeface="Noto Sans KR" pitchFamily="34" charset="-120"/>
              </a:rPr>
              <a:t>Plotly.js</a:t>
            </a:r>
            <a:endParaRPr lang="en-US" sz="800" dirty="0"/>
          </a:p>
        </p:txBody>
      </p:sp>
      <p:sp>
        <p:nvSpPr>
          <p:cNvPr id="41" name="Text 28"/>
          <p:cNvSpPr txBox="1"/>
          <p:nvPr/>
        </p:nvSpPr>
        <p:spPr>
          <a:xfrm>
            <a:off x="743407" y="6269126"/>
            <a:ext cx="457200"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KR" pitchFamily="34" charset="0"/>
                <a:ea typeface="Noto Sans KR" pitchFamily="34" charset="-122"/>
                <a:cs typeface="Noto Sans KR" pitchFamily="34" charset="-120"/>
              </a:rPr>
              <a:t>Plotly.js</a:t>
            </a:r>
            <a:endParaRPr lang="en-US" sz="800" dirty="0"/>
          </a:p>
        </p:txBody>
      </p:sp>
      <p:pic>
        <p:nvPicPr>
          <p:cNvPr id="42" name="Image 11" descr="preencoded.png"/>
          <p:cNvPicPr>
            <a:picLocks noChangeAspect="1"/>
          </p:cNvPicPr>
          <p:nvPr/>
        </p:nvPicPr>
        <p:blipFill>
          <a:blip r:embed="rId10"/>
          <a:stretch>
            <a:fillRect/>
          </a:stretch>
        </p:blipFill>
        <p:spPr>
          <a:xfrm>
            <a:off x="1212494" y="6231636"/>
            <a:ext cx="666598" cy="219456"/>
          </a:xfrm>
          <a:prstGeom prst="rect">
            <a:avLst/>
          </a:prstGeom>
        </p:spPr>
      </p:pic>
      <p:sp>
        <p:nvSpPr>
          <p:cNvPr id="43" name="Text 29"/>
          <p:cNvSpPr/>
          <p:nvPr/>
        </p:nvSpPr>
        <p:spPr>
          <a:xfrm>
            <a:off x="1212494" y="6231636"/>
            <a:ext cx="667512"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6B21A8"/>
                </a:solidFill>
                <a:latin typeface="Noto Sans KR" pitchFamily="34" charset="0"/>
                <a:ea typeface="Noto Sans KR" pitchFamily="34" charset="-122"/>
                <a:cs typeface="Noto Sans KR" pitchFamily="34" charset="-120"/>
              </a:rPr>
              <a:t>13-Cluster</a:t>
            </a:r>
            <a:endParaRPr lang="en-US" sz="800" dirty="0"/>
          </a:p>
        </p:txBody>
      </p:sp>
      <p:sp>
        <p:nvSpPr>
          <p:cNvPr id="44" name="Text 30"/>
          <p:cNvSpPr txBox="1"/>
          <p:nvPr/>
        </p:nvSpPr>
        <p:spPr>
          <a:xfrm>
            <a:off x="1307592" y="6269126"/>
            <a:ext cx="566928" cy="143561"/>
          </a:xfrm>
          <a:prstGeom prst="rect">
            <a:avLst/>
          </a:prstGeom>
          <a:noFill/>
          <a:ln/>
        </p:spPr>
        <p:txBody>
          <a:bodyPr wrap="square" lIns="0" tIns="0" rIns="0" bIns="0" rtlCol="0" anchor="ctr"/>
          <a:lstStyle/>
          <a:p>
            <a:pPr marL="0" indent="0" algn="l">
              <a:buNone/>
            </a:pPr>
            <a:r>
              <a:rPr lang="en-US" sz="800" b="1" dirty="0">
                <a:solidFill>
                  <a:srgbClr val="6B21A8"/>
                </a:solidFill>
                <a:latin typeface="Noto Sans KR" pitchFamily="34" charset="0"/>
                <a:ea typeface="Noto Sans KR" pitchFamily="34" charset="-122"/>
                <a:cs typeface="Noto Sans KR" pitchFamily="34" charset="-120"/>
              </a:rPr>
              <a:t>13-Cluster</a:t>
            </a:r>
            <a:endParaRPr lang="en-US" sz="800" dirty="0"/>
          </a:p>
        </p:txBody>
      </p:sp>
      <p:pic>
        <p:nvPicPr>
          <p:cNvPr id="45" name="Image 12" descr="preencoded.png"/>
          <p:cNvPicPr>
            <a:picLocks noChangeAspect="1"/>
          </p:cNvPicPr>
          <p:nvPr/>
        </p:nvPicPr>
        <p:blipFill>
          <a:blip r:embed="rId11"/>
          <a:stretch>
            <a:fillRect/>
          </a:stretch>
        </p:blipFill>
        <p:spPr>
          <a:xfrm>
            <a:off x="1874520" y="6231636"/>
            <a:ext cx="743407" cy="219456"/>
          </a:xfrm>
          <a:prstGeom prst="rect">
            <a:avLst/>
          </a:prstGeom>
        </p:spPr>
      </p:pic>
      <p:sp>
        <p:nvSpPr>
          <p:cNvPr id="46" name="Text 31"/>
          <p:cNvSpPr/>
          <p:nvPr/>
        </p:nvSpPr>
        <p:spPr>
          <a:xfrm>
            <a:off x="1874520" y="6231636"/>
            <a:ext cx="743407" cy="219456"/>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800" b="1" dirty="0">
                <a:solidFill>
                  <a:srgbClr val="166534"/>
                </a:solidFill>
                <a:latin typeface="Noto Sans KR" pitchFamily="34" charset="0"/>
                <a:ea typeface="Noto Sans KR" pitchFamily="34" charset="-122"/>
                <a:cs typeface="Noto Sans KR" pitchFamily="34" charset="-120"/>
              </a:rPr>
              <a:t>실시간 시각화</a:t>
            </a:r>
            <a:endParaRPr lang="en-US" sz="800" dirty="0"/>
          </a:p>
        </p:txBody>
      </p:sp>
      <p:sp>
        <p:nvSpPr>
          <p:cNvPr id="47" name="Text 32"/>
          <p:cNvSpPr txBox="1"/>
          <p:nvPr/>
        </p:nvSpPr>
        <p:spPr>
          <a:xfrm>
            <a:off x="1969618" y="6269126"/>
            <a:ext cx="670255" cy="143561"/>
          </a:xfrm>
          <a:prstGeom prst="rect">
            <a:avLst/>
          </a:prstGeom>
          <a:noFill/>
          <a:ln/>
        </p:spPr>
        <p:txBody>
          <a:bodyPr wrap="square" lIns="0" tIns="0" rIns="0" bIns="0" rtlCol="0" anchor="ctr"/>
          <a:lstStyle/>
          <a:p>
            <a:pPr marL="0" indent="0" algn="l">
              <a:buNone/>
            </a:pPr>
            <a:r>
              <a:rPr lang="en-US" sz="800" b="1" dirty="0">
                <a:solidFill>
                  <a:srgbClr val="166534"/>
                </a:solidFill>
                <a:latin typeface="Noto Sans KR" pitchFamily="34" charset="0"/>
                <a:ea typeface="Noto Sans KR" pitchFamily="34" charset="-122"/>
                <a:cs typeface="Noto Sans KR" pitchFamily="34" charset="-120"/>
              </a:rPr>
              <a:t>실시간 시각화</a:t>
            </a:r>
            <a:endParaRPr lang="en-US" sz="800" dirty="0"/>
          </a:p>
        </p:txBody>
      </p:sp>
      <p:sp>
        <p:nvSpPr>
          <p:cNvPr id="48" name="Shape 33"/>
          <p:cNvSpPr/>
          <p:nvPr/>
        </p:nvSpPr>
        <p:spPr>
          <a:xfrm>
            <a:off x="5315407" y="1371600"/>
            <a:ext cx="6400800" cy="6953098"/>
          </a:xfrm>
          <a:prstGeom prst="roundRect">
            <a:avLst>
              <a:gd name="adj" fmla="val 170"/>
            </a:avLst>
          </a:prstGeom>
          <a:solidFill>
            <a:srgbClr val="FFFFFF"/>
          </a:solidFill>
          <a:ln w="12700">
            <a:solidFill>
              <a:srgbClr val="FFFFFF">
                <a:alpha val="0"/>
              </a:srgbClr>
            </a:solidFill>
            <a:prstDash val="solid"/>
          </a:ln>
          <a:effectLst>
            <a:outerShdw blurRad="114300" dist="38100" dir="16200000" algn="bl" rotWithShape="0">
              <a:srgbClr val="000000">
                <a:alpha val="12000"/>
              </a:srgbClr>
            </a:outerShdw>
          </a:effectLst>
        </p:spPr>
      </p:sp>
      <p:sp>
        <p:nvSpPr>
          <p:cNvPr id="49" name="Shape 34"/>
          <p:cNvSpPr/>
          <p:nvPr/>
        </p:nvSpPr>
        <p:spPr>
          <a:xfrm>
            <a:off x="5315407" y="1371600"/>
            <a:ext cx="6400800" cy="466344"/>
          </a:xfrm>
          <a:prstGeom prst="roundRect">
            <a:avLst>
              <a:gd name="adj" fmla="val 32013"/>
            </a:avLst>
          </a:prstGeom>
          <a:solidFill>
            <a:srgbClr val="1A355B"/>
          </a:solidFill>
          <a:ln w="12700">
            <a:solidFill>
              <a:srgbClr val="FFFFFF">
                <a:alpha val="0"/>
              </a:srgbClr>
            </a:solidFill>
            <a:prstDash val="solid"/>
          </a:ln>
        </p:spPr>
      </p:sp>
      <p:sp>
        <p:nvSpPr>
          <p:cNvPr id="50" name="Shape 35"/>
          <p:cNvSpPr/>
          <p:nvPr/>
        </p:nvSpPr>
        <p:spPr>
          <a:xfrm>
            <a:off x="5505602" y="1555394"/>
            <a:ext cx="95098" cy="95098"/>
          </a:xfrm>
          <a:prstGeom prst="ellipse">
            <a:avLst/>
          </a:prstGeom>
          <a:solidFill>
            <a:srgbClr val="EF4444"/>
          </a:solidFill>
          <a:ln w="12700">
            <a:solidFill>
              <a:srgbClr val="FFFFFF">
                <a:alpha val="0"/>
              </a:srgbClr>
            </a:solidFill>
            <a:prstDash val="solid"/>
          </a:ln>
        </p:spPr>
      </p:sp>
      <p:sp>
        <p:nvSpPr>
          <p:cNvPr id="51" name="Shape 36"/>
          <p:cNvSpPr/>
          <p:nvPr/>
        </p:nvSpPr>
        <p:spPr>
          <a:xfrm>
            <a:off x="5676595" y="1555394"/>
            <a:ext cx="95098" cy="95098"/>
          </a:xfrm>
          <a:prstGeom prst="ellipse">
            <a:avLst/>
          </a:prstGeom>
          <a:solidFill>
            <a:srgbClr val="F59E0B"/>
          </a:solidFill>
          <a:ln w="12700">
            <a:solidFill>
              <a:srgbClr val="FFFFFF">
                <a:alpha val="0"/>
              </a:srgbClr>
            </a:solidFill>
            <a:prstDash val="solid"/>
          </a:ln>
        </p:spPr>
      </p:sp>
      <p:sp>
        <p:nvSpPr>
          <p:cNvPr id="52" name="Shape 37"/>
          <p:cNvSpPr/>
          <p:nvPr/>
        </p:nvSpPr>
        <p:spPr>
          <a:xfrm>
            <a:off x="5848502" y="1555394"/>
            <a:ext cx="95098" cy="95098"/>
          </a:xfrm>
          <a:prstGeom prst="ellipse">
            <a:avLst/>
          </a:prstGeom>
          <a:solidFill>
            <a:srgbClr val="10B981"/>
          </a:solidFill>
          <a:ln w="12700">
            <a:solidFill>
              <a:srgbClr val="FFFFFF">
                <a:alpha val="0"/>
              </a:srgbClr>
            </a:solidFill>
            <a:prstDash val="solid"/>
          </a:ln>
        </p:spPr>
      </p:sp>
      <p:sp>
        <p:nvSpPr>
          <p:cNvPr id="53" name="Shape 38"/>
          <p:cNvSpPr/>
          <p:nvPr/>
        </p:nvSpPr>
        <p:spPr>
          <a:xfrm>
            <a:off x="6115507" y="1485900"/>
            <a:ext cx="5410505" cy="237744"/>
          </a:xfrm>
          <a:prstGeom prst="roundRect">
            <a:avLst>
              <a:gd name="adj" fmla="val 61538"/>
            </a:avLst>
          </a:prstGeom>
          <a:solidFill>
            <a:srgbClr val="FFFFFF">
              <a:alpha val="15000"/>
            </a:srgbClr>
          </a:solidFill>
          <a:ln w="12700">
            <a:solidFill>
              <a:srgbClr val="FFFFFF">
                <a:alpha val="0"/>
              </a:srgbClr>
            </a:solidFill>
            <a:prstDash val="solid"/>
          </a:ln>
        </p:spPr>
      </p:sp>
      <p:sp>
        <p:nvSpPr>
          <p:cNvPr id="54" name="Text 39"/>
          <p:cNvSpPr txBox="1"/>
          <p:nvPr/>
        </p:nvSpPr>
        <p:spPr>
          <a:xfrm>
            <a:off x="6229807" y="1524305"/>
            <a:ext cx="5296205" cy="162763"/>
          </a:xfrm>
          <a:prstGeom prst="rect">
            <a:avLst/>
          </a:prstGeom>
          <a:noFill/>
          <a:ln/>
        </p:spPr>
        <p:txBody>
          <a:bodyPr wrap="square" lIns="0" tIns="0" rIns="0" bIns="0" rtlCol="0" anchor="ctr"/>
          <a:lstStyle/>
          <a:p>
            <a:pPr marL="0" indent="0" algn="l">
              <a:buNone/>
            </a:pPr>
            <a:r>
              <a:rPr lang="en-US" sz="800" dirty="0">
                <a:solidFill>
                  <a:srgbClr val="FFFFFF">
                    <a:alpha val="90000"/>
                  </a:srgbClr>
                </a:solidFill>
                <a:latin typeface="Noto Sans KR" pitchFamily="34" charset="0"/>
                <a:ea typeface="Noto Sans KR" pitchFamily="34" charset="-122"/>
                <a:cs typeface="Noto Sans KR" pitchFamily="34" charset="-120"/>
              </a:rPr>
              <a:t>localhost:8000 | Prediction Results</a:t>
            </a:r>
            <a:endParaRPr lang="en-US" sz="800" dirty="0"/>
          </a:p>
        </p:txBody>
      </p:sp>
      <p:sp>
        <p:nvSpPr>
          <p:cNvPr id="55" name="Shape 40"/>
          <p:cNvSpPr/>
          <p:nvPr/>
        </p:nvSpPr>
        <p:spPr>
          <a:xfrm>
            <a:off x="5315407" y="1833372"/>
            <a:ext cx="6400800" cy="6495898"/>
          </a:xfrm>
          <a:prstGeom prst="roundRect">
            <a:avLst>
              <a:gd name="adj" fmla="val 170"/>
            </a:avLst>
          </a:prstGeom>
          <a:solidFill>
            <a:srgbClr val="F8FAFC"/>
          </a:solidFill>
          <a:ln w="12700">
            <a:solidFill>
              <a:srgbClr val="FFFFFF">
                <a:alpha val="0"/>
              </a:srgbClr>
            </a:solidFill>
            <a:prstDash val="solid"/>
          </a:ln>
        </p:spPr>
      </p:sp>
      <p:sp>
        <p:nvSpPr>
          <p:cNvPr id="56" name="Shape 41"/>
          <p:cNvSpPr/>
          <p:nvPr/>
        </p:nvSpPr>
        <p:spPr>
          <a:xfrm>
            <a:off x="5505602" y="2024482"/>
            <a:ext cx="3467405" cy="6115507"/>
          </a:xfrm>
          <a:prstGeom prst="roundRect">
            <a:avLst>
              <a:gd name="adj" fmla="val 435"/>
            </a:avLst>
          </a:prstGeom>
          <a:solidFill>
            <a:srgbClr val="FFFFFF"/>
          </a:solidFill>
          <a:ln w="25400">
            <a:solidFill>
              <a:srgbClr val="E2E8F0"/>
            </a:solidFill>
            <a:prstDash val="solid"/>
          </a:ln>
        </p:spPr>
      </p:sp>
      <p:sp>
        <p:nvSpPr>
          <p:cNvPr id="57" name="Text 42"/>
          <p:cNvSpPr txBox="1"/>
          <p:nvPr/>
        </p:nvSpPr>
        <p:spPr>
          <a:xfrm>
            <a:off x="5676595" y="2195474"/>
            <a:ext cx="1835201" cy="171907"/>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KR" pitchFamily="34" charset="0"/>
                <a:ea typeface="Noto Sans KR" pitchFamily="34" charset="-122"/>
                <a:cs typeface="Noto Sans KR" pitchFamily="34" charset="-120"/>
              </a:rPr>
              <a:t>13개 클러스터 활성도 프로파일</a:t>
            </a:r>
            <a:endParaRPr lang="en-US" sz="900" dirty="0"/>
          </a:p>
        </p:txBody>
      </p:sp>
      <p:sp>
        <p:nvSpPr>
          <p:cNvPr id="58" name="Shape 43"/>
          <p:cNvSpPr/>
          <p:nvPr/>
        </p:nvSpPr>
        <p:spPr>
          <a:xfrm>
            <a:off x="8609076" y="2243023"/>
            <a:ext cx="190195" cy="75895"/>
          </a:xfrm>
          <a:prstGeom prst="roundRect">
            <a:avLst>
              <a:gd name="adj" fmla="val 1204822"/>
            </a:avLst>
          </a:prstGeom>
          <a:solidFill>
            <a:srgbClr val="DBEAFE"/>
          </a:solidFill>
          <a:ln w="12700">
            <a:solidFill>
              <a:srgbClr val="FFFFFF">
                <a:alpha val="0"/>
              </a:srgbClr>
            </a:solidFill>
            <a:prstDash val="solid"/>
          </a:ln>
        </p:spPr>
      </p:sp>
      <p:sp>
        <p:nvSpPr>
          <p:cNvPr id="59" name="Text 44"/>
          <p:cNvSpPr txBox="1"/>
          <p:nvPr/>
        </p:nvSpPr>
        <p:spPr>
          <a:xfrm>
            <a:off x="5676595" y="2462479"/>
            <a:ext cx="3238805" cy="228600"/>
          </a:xfrm>
          <a:prstGeom prst="rect">
            <a:avLst/>
          </a:prstGeom>
          <a:noFill/>
          <a:ln/>
        </p:spPr>
        <p:txBody>
          <a:bodyPr wrap="square" lIns="0" tIns="0" rIns="0" bIns="0" rtlCol="0" anchor="ctr"/>
          <a:lstStyle/>
          <a:p>
            <a:pPr marL="0" indent="0" algn="l">
              <a:buNone/>
            </a:pPr>
            <a:r>
              <a:rPr lang="en-US" sz="1200" dirty="0">
                <a:solidFill>
                  <a:srgbClr val="000000"/>
                </a:solidFill>
                <a:latin typeface="Noto Sans KR" pitchFamily="34" charset="0"/>
                <a:ea typeface="Noto Sans KR" pitchFamily="34" charset="-122"/>
                <a:cs typeface="Noto Sans KR" pitchFamily="34" charset="-120"/>
              </a:rPr>
              <a:t>D-MPNN 예측</a:t>
            </a:r>
            <a:endParaRPr lang="en-US" sz="1200" dirty="0"/>
          </a:p>
        </p:txBody>
      </p:sp>
      <p:pic>
        <p:nvPicPr>
          <p:cNvPr id="60" name="Image 13" descr="preencoded.png"/>
          <p:cNvPicPr>
            <a:picLocks noChangeAspect="1"/>
          </p:cNvPicPr>
          <p:nvPr/>
        </p:nvPicPr>
        <p:blipFill>
          <a:blip r:embed="rId12"/>
          <a:srcRect/>
          <a:stretch/>
        </p:blipFill>
        <p:spPr>
          <a:xfrm>
            <a:off x="5676595" y="3544214"/>
            <a:ext cx="3124505" cy="3124505"/>
          </a:xfrm>
          <a:prstGeom prst="rect">
            <a:avLst/>
          </a:prstGeom>
        </p:spPr>
      </p:pic>
      <p:sp>
        <p:nvSpPr>
          <p:cNvPr id="61" name="Shape 45"/>
          <p:cNvSpPr/>
          <p:nvPr/>
        </p:nvSpPr>
        <p:spPr>
          <a:xfrm>
            <a:off x="5676595" y="7615123"/>
            <a:ext cx="990295" cy="352044"/>
          </a:xfrm>
          <a:prstGeom prst="roundRect">
            <a:avLst>
              <a:gd name="adj" fmla="val 42120"/>
            </a:avLst>
          </a:prstGeom>
          <a:solidFill>
            <a:srgbClr val="FFFFFF"/>
          </a:solidFill>
          <a:ln w="25400">
            <a:solidFill>
              <a:srgbClr val="E2E8F0"/>
            </a:solidFill>
            <a:prstDash val="solid"/>
          </a:ln>
        </p:spPr>
      </p:sp>
      <p:pic>
        <p:nvPicPr>
          <p:cNvPr id="62" name="Image 14" descr="preencoded.png"/>
          <p:cNvPicPr>
            <a:picLocks noChangeAspect="1"/>
          </p:cNvPicPr>
          <p:nvPr/>
        </p:nvPicPr>
        <p:blipFill>
          <a:blip r:embed="rId13"/>
          <a:srcRect/>
          <a:stretch/>
        </p:blipFill>
        <p:spPr>
          <a:xfrm>
            <a:off x="5867705" y="7736738"/>
            <a:ext cx="105156" cy="105156"/>
          </a:xfrm>
          <a:prstGeom prst="rect">
            <a:avLst/>
          </a:prstGeom>
        </p:spPr>
      </p:pic>
      <p:sp>
        <p:nvSpPr>
          <p:cNvPr id="63" name="Text 46"/>
          <p:cNvSpPr txBox="1"/>
          <p:nvPr/>
        </p:nvSpPr>
        <p:spPr>
          <a:xfrm>
            <a:off x="6001207" y="7615123"/>
            <a:ext cx="505663" cy="352958"/>
          </a:xfrm>
          <a:prstGeom prst="rect">
            <a:avLst/>
          </a:prstGeom>
          <a:noFill/>
          <a:ln/>
        </p:spPr>
        <p:txBody>
          <a:bodyPr wrap="square" lIns="0" tIns="0" rIns="0" bIns="0" rtlCol="0" anchor="ctr"/>
          <a:lstStyle/>
          <a:p>
            <a:pPr marL="0" indent="0" algn="ctr">
              <a:buNone/>
            </a:pPr>
            <a:r>
              <a:rPr lang="en-US" sz="800" b="1" dirty="0">
                <a:solidFill>
                  <a:srgbClr val="475569"/>
                </a:solidFill>
                <a:latin typeface="Noto Sans KR" pitchFamily="34" charset="0"/>
                <a:ea typeface="Noto Sans KR" pitchFamily="34" charset="-122"/>
                <a:cs typeface="Noto Sans KR" pitchFamily="34" charset="-120"/>
              </a:rPr>
              <a:t>PNG 저장</a:t>
            </a:r>
            <a:endParaRPr lang="en-US" sz="800" dirty="0"/>
          </a:p>
        </p:txBody>
      </p:sp>
      <p:sp>
        <p:nvSpPr>
          <p:cNvPr id="64" name="Shape 47"/>
          <p:cNvSpPr/>
          <p:nvPr/>
        </p:nvSpPr>
        <p:spPr>
          <a:xfrm>
            <a:off x="6742786" y="7615123"/>
            <a:ext cx="990295" cy="352044"/>
          </a:xfrm>
          <a:prstGeom prst="roundRect">
            <a:avLst>
              <a:gd name="adj" fmla="val 42120"/>
            </a:avLst>
          </a:prstGeom>
          <a:solidFill>
            <a:srgbClr val="FFFFFF"/>
          </a:solidFill>
          <a:ln w="25400">
            <a:solidFill>
              <a:srgbClr val="E2E8F0"/>
            </a:solidFill>
            <a:prstDash val="solid"/>
          </a:ln>
        </p:spPr>
      </p:sp>
      <p:pic>
        <p:nvPicPr>
          <p:cNvPr id="65" name="Image 15" descr="preencoded.png"/>
          <p:cNvPicPr>
            <a:picLocks noChangeAspect="1"/>
          </p:cNvPicPr>
          <p:nvPr/>
        </p:nvPicPr>
        <p:blipFill>
          <a:blip r:embed="rId14"/>
          <a:srcRect/>
          <a:stretch/>
        </p:blipFill>
        <p:spPr>
          <a:xfrm>
            <a:off x="6851599" y="7736738"/>
            <a:ext cx="105156" cy="105156"/>
          </a:xfrm>
          <a:prstGeom prst="rect">
            <a:avLst/>
          </a:prstGeom>
        </p:spPr>
      </p:pic>
      <p:sp>
        <p:nvSpPr>
          <p:cNvPr id="66" name="Text 48"/>
          <p:cNvSpPr txBox="1"/>
          <p:nvPr/>
        </p:nvSpPr>
        <p:spPr>
          <a:xfrm>
            <a:off x="6985102" y="7615123"/>
            <a:ext cx="676656" cy="352958"/>
          </a:xfrm>
          <a:prstGeom prst="rect">
            <a:avLst/>
          </a:prstGeom>
          <a:noFill/>
          <a:ln/>
        </p:spPr>
        <p:txBody>
          <a:bodyPr wrap="square" lIns="0" tIns="0" rIns="0" bIns="0" rtlCol="0" anchor="ctr"/>
          <a:lstStyle/>
          <a:p>
            <a:pPr marL="0" indent="0" algn="ctr">
              <a:buNone/>
            </a:pPr>
            <a:r>
              <a:rPr lang="en-US" sz="800" b="1" dirty="0">
                <a:solidFill>
                  <a:srgbClr val="475569"/>
                </a:solidFill>
                <a:latin typeface="Noto Sans KR" pitchFamily="34" charset="0"/>
                <a:ea typeface="Noto Sans KR" pitchFamily="34" charset="-122"/>
                <a:cs typeface="Noto Sans KR" pitchFamily="34" charset="-120"/>
              </a:rPr>
              <a:t>CSV 내보내기</a:t>
            </a:r>
            <a:endParaRPr lang="en-US" sz="800" dirty="0"/>
          </a:p>
        </p:txBody>
      </p:sp>
      <p:sp>
        <p:nvSpPr>
          <p:cNvPr id="67" name="Shape 49"/>
          <p:cNvSpPr/>
          <p:nvPr/>
        </p:nvSpPr>
        <p:spPr>
          <a:xfrm>
            <a:off x="7809890" y="7615123"/>
            <a:ext cx="990295" cy="352044"/>
          </a:xfrm>
          <a:prstGeom prst="roundRect">
            <a:avLst>
              <a:gd name="adj" fmla="val 42120"/>
            </a:avLst>
          </a:prstGeom>
          <a:solidFill>
            <a:srgbClr val="3B82F6"/>
          </a:solidFill>
          <a:ln w="25400">
            <a:solidFill>
              <a:srgbClr val="3B82F6"/>
            </a:solidFill>
            <a:prstDash val="solid"/>
          </a:ln>
        </p:spPr>
      </p:sp>
      <p:pic>
        <p:nvPicPr>
          <p:cNvPr id="68" name="Image 16" descr="preencoded.png"/>
          <p:cNvPicPr>
            <a:picLocks noChangeAspect="1"/>
          </p:cNvPicPr>
          <p:nvPr/>
        </p:nvPicPr>
        <p:blipFill>
          <a:blip r:embed="rId15"/>
          <a:srcRect l="-1677" r="-1677"/>
          <a:stretch/>
        </p:blipFill>
        <p:spPr>
          <a:xfrm>
            <a:off x="8021117" y="7736738"/>
            <a:ext cx="95098" cy="105156"/>
          </a:xfrm>
          <a:prstGeom prst="rect">
            <a:avLst/>
          </a:prstGeom>
        </p:spPr>
      </p:pic>
      <p:sp>
        <p:nvSpPr>
          <p:cNvPr id="69" name="Text 50"/>
          <p:cNvSpPr txBox="1"/>
          <p:nvPr/>
        </p:nvSpPr>
        <p:spPr>
          <a:xfrm>
            <a:off x="8144561" y="7615123"/>
            <a:ext cx="476402" cy="352958"/>
          </a:xfrm>
          <a:prstGeom prst="rect">
            <a:avLst/>
          </a:prstGeom>
          <a:noFill/>
          <a:ln/>
        </p:spPr>
        <p:txBody>
          <a:bodyPr wrap="square" lIns="0" tIns="0" rIns="0" bIns="0" rtlCol="0" anchor="ctr"/>
          <a:lstStyle/>
          <a:p>
            <a:pPr marL="0" indent="0" algn="ctr">
              <a:buNone/>
            </a:pPr>
            <a:r>
              <a:rPr lang="en-US" sz="800" b="1" dirty="0">
                <a:solidFill>
                  <a:srgbClr val="FFFFFF"/>
                </a:solidFill>
                <a:latin typeface="Noto Sans KR" pitchFamily="34" charset="0"/>
                <a:ea typeface="Noto Sans KR" pitchFamily="34" charset="-122"/>
                <a:cs typeface="Noto Sans KR" pitchFamily="34" charset="-120"/>
              </a:rPr>
              <a:t>결과 공유</a:t>
            </a:r>
            <a:endParaRPr lang="en-US" sz="800" dirty="0"/>
          </a:p>
        </p:txBody>
      </p:sp>
      <p:sp>
        <p:nvSpPr>
          <p:cNvPr id="70" name="Shape 51"/>
          <p:cNvSpPr/>
          <p:nvPr/>
        </p:nvSpPr>
        <p:spPr>
          <a:xfrm>
            <a:off x="9122969" y="2024482"/>
            <a:ext cx="2409444" cy="2143354"/>
          </a:xfrm>
          <a:prstGeom prst="roundRect">
            <a:avLst>
              <a:gd name="adj" fmla="val 1138"/>
            </a:avLst>
          </a:prstGeom>
          <a:solidFill>
            <a:srgbClr val="FFFFFF"/>
          </a:solidFill>
          <a:ln w="25400">
            <a:solidFill>
              <a:srgbClr val="E2E8F0"/>
            </a:solidFill>
            <a:prstDash val="solid"/>
          </a:ln>
        </p:spPr>
      </p:sp>
      <p:sp>
        <p:nvSpPr>
          <p:cNvPr id="71" name="Text 52"/>
          <p:cNvSpPr txBox="1"/>
          <p:nvPr/>
        </p:nvSpPr>
        <p:spPr>
          <a:xfrm>
            <a:off x="9275674" y="2176272"/>
            <a:ext cx="2274113"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약물성 지표</a:t>
            </a:r>
            <a:endParaRPr lang="en-US" sz="800" dirty="0"/>
          </a:p>
        </p:txBody>
      </p:sp>
      <p:sp>
        <p:nvSpPr>
          <p:cNvPr id="72" name="Shape 53"/>
          <p:cNvSpPr/>
          <p:nvPr/>
        </p:nvSpPr>
        <p:spPr>
          <a:xfrm>
            <a:off x="9275674" y="2428646"/>
            <a:ext cx="2104949" cy="276149"/>
          </a:xfrm>
          <a:prstGeom prst="roundRect">
            <a:avLst>
              <a:gd name="adj" fmla="val 45672"/>
            </a:avLst>
          </a:prstGeom>
          <a:solidFill>
            <a:srgbClr val="F8FAFC"/>
          </a:solidFill>
          <a:ln w="12700">
            <a:solidFill>
              <a:srgbClr val="FFFFFF">
                <a:alpha val="0"/>
              </a:srgbClr>
            </a:solidFill>
            <a:prstDash val="solid"/>
          </a:ln>
        </p:spPr>
      </p:sp>
      <p:sp>
        <p:nvSpPr>
          <p:cNvPr id="73" name="Text 54"/>
          <p:cNvSpPr txBox="1"/>
          <p:nvPr/>
        </p:nvSpPr>
        <p:spPr>
          <a:xfrm>
            <a:off x="9351569" y="2486254"/>
            <a:ext cx="660197"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분자량 (MW)</a:t>
            </a:r>
            <a:endParaRPr lang="en-US" sz="800" dirty="0"/>
          </a:p>
        </p:txBody>
      </p:sp>
      <p:sp>
        <p:nvSpPr>
          <p:cNvPr id="74" name="Text 55"/>
          <p:cNvSpPr txBox="1"/>
          <p:nvPr/>
        </p:nvSpPr>
        <p:spPr>
          <a:xfrm>
            <a:off x="10730484" y="2486254"/>
            <a:ext cx="648310"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383.50 Da</a:t>
            </a:r>
            <a:endParaRPr lang="en-US" sz="800" dirty="0"/>
          </a:p>
        </p:txBody>
      </p:sp>
      <p:sp>
        <p:nvSpPr>
          <p:cNvPr id="75" name="Shape 56"/>
          <p:cNvSpPr/>
          <p:nvPr/>
        </p:nvSpPr>
        <p:spPr>
          <a:xfrm>
            <a:off x="9275674" y="2757830"/>
            <a:ext cx="2104949" cy="276149"/>
          </a:xfrm>
          <a:prstGeom prst="roundRect">
            <a:avLst>
              <a:gd name="adj" fmla="val 45672"/>
            </a:avLst>
          </a:prstGeom>
          <a:solidFill>
            <a:srgbClr val="F8FAFC"/>
          </a:solidFill>
          <a:ln w="12700">
            <a:solidFill>
              <a:srgbClr val="FFFFFF">
                <a:alpha val="0"/>
              </a:srgbClr>
            </a:solidFill>
            <a:prstDash val="solid"/>
          </a:ln>
        </p:spPr>
      </p:sp>
      <p:sp>
        <p:nvSpPr>
          <p:cNvPr id="76" name="Text 57"/>
          <p:cNvSpPr txBox="1"/>
          <p:nvPr/>
        </p:nvSpPr>
        <p:spPr>
          <a:xfrm>
            <a:off x="9351569" y="2814523"/>
            <a:ext cx="333756"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LogP</a:t>
            </a:r>
            <a:endParaRPr lang="en-US" sz="800" dirty="0"/>
          </a:p>
        </p:txBody>
      </p:sp>
      <p:sp>
        <p:nvSpPr>
          <p:cNvPr id="77" name="Text 58"/>
          <p:cNvSpPr txBox="1"/>
          <p:nvPr/>
        </p:nvSpPr>
        <p:spPr>
          <a:xfrm>
            <a:off x="11045038" y="2814523"/>
            <a:ext cx="333756"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2.45</a:t>
            </a:r>
            <a:endParaRPr lang="en-US" sz="800" dirty="0"/>
          </a:p>
        </p:txBody>
      </p:sp>
      <p:sp>
        <p:nvSpPr>
          <p:cNvPr id="78" name="Shape 59"/>
          <p:cNvSpPr/>
          <p:nvPr/>
        </p:nvSpPr>
        <p:spPr>
          <a:xfrm>
            <a:off x="9275674" y="3086100"/>
            <a:ext cx="2104949" cy="276149"/>
          </a:xfrm>
          <a:prstGeom prst="roundRect">
            <a:avLst>
              <a:gd name="adj" fmla="val 45672"/>
            </a:avLst>
          </a:prstGeom>
          <a:solidFill>
            <a:srgbClr val="F8FAFC"/>
          </a:solidFill>
          <a:ln w="12700">
            <a:solidFill>
              <a:srgbClr val="FFFFFF">
                <a:alpha val="0"/>
              </a:srgbClr>
            </a:solidFill>
            <a:prstDash val="solid"/>
          </a:ln>
        </p:spPr>
      </p:sp>
      <p:sp>
        <p:nvSpPr>
          <p:cNvPr id="79" name="Text 60"/>
          <p:cNvSpPr txBox="1"/>
          <p:nvPr/>
        </p:nvSpPr>
        <p:spPr>
          <a:xfrm>
            <a:off x="9351569" y="3143707"/>
            <a:ext cx="305410"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HBD</a:t>
            </a:r>
            <a:endParaRPr lang="en-US" sz="800" dirty="0"/>
          </a:p>
        </p:txBody>
      </p:sp>
      <p:sp>
        <p:nvSpPr>
          <p:cNvPr id="80" name="Text 61"/>
          <p:cNvSpPr txBox="1"/>
          <p:nvPr/>
        </p:nvSpPr>
        <p:spPr>
          <a:xfrm>
            <a:off x="11233404" y="3143707"/>
            <a:ext cx="143561"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a:t>
            </a:r>
            <a:endParaRPr lang="en-US" sz="800" dirty="0"/>
          </a:p>
        </p:txBody>
      </p:sp>
      <p:sp>
        <p:nvSpPr>
          <p:cNvPr id="81" name="Shape 62"/>
          <p:cNvSpPr/>
          <p:nvPr/>
        </p:nvSpPr>
        <p:spPr>
          <a:xfrm>
            <a:off x="9275674" y="3414370"/>
            <a:ext cx="2104949" cy="276149"/>
          </a:xfrm>
          <a:prstGeom prst="roundRect">
            <a:avLst>
              <a:gd name="adj" fmla="val 45672"/>
            </a:avLst>
          </a:prstGeom>
          <a:solidFill>
            <a:srgbClr val="F8FAFC"/>
          </a:solidFill>
          <a:ln w="12700">
            <a:solidFill>
              <a:srgbClr val="FFFFFF">
                <a:alpha val="0"/>
              </a:srgbClr>
            </a:solidFill>
            <a:prstDash val="solid"/>
          </a:ln>
        </p:spPr>
      </p:sp>
      <p:sp>
        <p:nvSpPr>
          <p:cNvPr id="82" name="Text 63"/>
          <p:cNvSpPr txBox="1"/>
          <p:nvPr/>
        </p:nvSpPr>
        <p:spPr>
          <a:xfrm>
            <a:off x="9351569" y="3471977"/>
            <a:ext cx="295351"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HBA</a:t>
            </a:r>
            <a:endParaRPr lang="en-US" sz="800" dirty="0"/>
          </a:p>
        </p:txBody>
      </p:sp>
      <p:sp>
        <p:nvSpPr>
          <p:cNvPr id="83" name="Text 64"/>
          <p:cNvSpPr txBox="1"/>
          <p:nvPr/>
        </p:nvSpPr>
        <p:spPr>
          <a:xfrm>
            <a:off x="11233404" y="3471977"/>
            <a:ext cx="143561"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5</a:t>
            </a:r>
            <a:endParaRPr lang="en-US" sz="800" dirty="0"/>
          </a:p>
        </p:txBody>
      </p:sp>
      <p:sp>
        <p:nvSpPr>
          <p:cNvPr id="84" name="Shape 65"/>
          <p:cNvSpPr/>
          <p:nvPr/>
        </p:nvSpPr>
        <p:spPr>
          <a:xfrm>
            <a:off x="9275674" y="3743554"/>
            <a:ext cx="2104949" cy="276149"/>
          </a:xfrm>
          <a:prstGeom prst="roundRect">
            <a:avLst>
              <a:gd name="adj" fmla="val 45672"/>
            </a:avLst>
          </a:prstGeom>
          <a:solidFill>
            <a:srgbClr val="F8FAFC"/>
          </a:solidFill>
          <a:ln w="12700">
            <a:solidFill>
              <a:srgbClr val="FFFFFF">
                <a:alpha val="0"/>
              </a:srgbClr>
            </a:solidFill>
            <a:prstDash val="solid"/>
          </a:ln>
        </p:spPr>
      </p:sp>
      <p:sp>
        <p:nvSpPr>
          <p:cNvPr id="85" name="Text 66"/>
          <p:cNvSpPr txBox="1"/>
          <p:nvPr/>
        </p:nvSpPr>
        <p:spPr>
          <a:xfrm>
            <a:off x="9351569" y="3800246"/>
            <a:ext cx="342900"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TPSA</a:t>
            </a:r>
            <a:endParaRPr lang="en-US" sz="800" dirty="0"/>
          </a:p>
        </p:txBody>
      </p:sp>
      <p:sp>
        <p:nvSpPr>
          <p:cNvPr id="86" name="Text 67"/>
          <p:cNvSpPr txBox="1"/>
          <p:nvPr/>
        </p:nvSpPr>
        <p:spPr>
          <a:xfrm>
            <a:off x="10919765" y="3800246"/>
            <a:ext cx="457200" cy="162763"/>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58.2 Ų</a:t>
            </a:r>
            <a:endParaRPr lang="en-US" sz="800" dirty="0"/>
          </a:p>
        </p:txBody>
      </p:sp>
      <p:sp>
        <p:nvSpPr>
          <p:cNvPr id="87" name="Shape 68"/>
          <p:cNvSpPr/>
          <p:nvPr/>
        </p:nvSpPr>
        <p:spPr>
          <a:xfrm>
            <a:off x="9122969" y="4300423"/>
            <a:ext cx="2409444" cy="3838651"/>
          </a:xfrm>
          <a:prstGeom prst="roundRect">
            <a:avLst>
              <a:gd name="adj" fmla="val 900"/>
            </a:avLst>
          </a:prstGeom>
          <a:solidFill>
            <a:srgbClr val="FFFFFF"/>
          </a:solidFill>
          <a:ln w="25400">
            <a:solidFill>
              <a:srgbClr val="E2E8F0"/>
            </a:solidFill>
            <a:prstDash val="solid"/>
          </a:ln>
        </p:spPr>
      </p:sp>
      <p:sp>
        <p:nvSpPr>
          <p:cNvPr id="88" name="Text 69"/>
          <p:cNvSpPr txBox="1"/>
          <p:nvPr/>
        </p:nvSpPr>
        <p:spPr>
          <a:xfrm>
            <a:off x="9275674" y="4453128"/>
            <a:ext cx="2274113"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클러스터별 예측 확률</a:t>
            </a:r>
            <a:endParaRPr lang="en-US" sz="800" dirty="0"/>
          </a:p>
        </p:txBody>
      </p:sp>
      <p:sp>
        <p:nvSpPr>
          <p:cNvPr id="89" name="Shape 70"/>
          <p:cNvSpPr/>
          <p:nvPr/>
        </p:nvSpPr>
        <p:spPr>
          <a:xfrm>
            <a:off x="9275674" y="4705502"/>
            <a:ext cx="1028700" cy="418795"/>
          </a:xfrm>
          <a:prstGeom prst="roundRect">
            <a:avLst>
              <a:gd name="adj" fmla="val 19849"/>
            </a:avLst>
          </a:prstGeom>
          <a:solidFill>
            <a:srgbClr val="DBEAFE"/>
          </a:solidFill>
          <a:ln/>
        </p:spPr>
      </p:sp>
      <p:sp>
        <p:nvSpPr>
          <p:cNvPr id="90" name="Shape 71"/>
          <p:cNvSpPr/>
          <p:nvPr/>
        </p:nvSpPr>
        <p:spPr>
          <a:xfrm>
            <a:off x="9275674" y="4705502"/>
            <a:ext cx="28346" cy="418795"/>
          </a:xfrm>
          <a:prstGeom prst="roundRect">
            <a:avLst>
              <a:gd name="adj" fmla="val 293259"/>
            </a:avLst>
          </a:prstGeom>
          <a:solidFill>
            <a:srgbClr val="1E40AF"/>
          </a:solidFill>
          <a:ln w="12700">
            <a:solidFill>
              <a:srgbClr val="1E40AF">
                <a:alpha val="0"/>
              </a:srgbClr>
            </a:solidFill>
            <a:prstDash val="solid"/>
          </a:ln>
        </p:spPr>
      </p:sp>
      <p:sp>
        <p:nvSpPr>
          <p:cNvPr id="91" name="Text 72"/>
          <p:cNvSpPr txBox="1"/>
          <p:nvPr/>
        </p:nvSpPr>
        <p:spPr>
          <a:xfrm>
            <a:off x="9380830" y="4762195"/>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C1 (TCA)</a:t>
            </a:r>
            <a:endParaRPr lang="en-US" sz="800" dirty="0"/>
          </a:p>
        </p:txBody>
      </p:sp>
      <p:sp>
        <p:nvSpPr>
          <p:cNvPr id="92" name="Text 73"/>
          <p:cNvSpPr txBox="1"/>
          <p:nvPr/>
        </p:nvSpPr>
        <p:spPr>
          <a:xfrm>
            <a:off x="9380830" y="4924044"/>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0.78</a:t>
            </a:r>
            <a:endParaRPr lang="en-US" sz="800" dirty="0"/>
          </a:p>
        </p:txBody>
      </p:sp>
      <p:sp>
        <p:nvSpPr>
          <p:cNvPr id="93" name="Shape 74"/>
          <p:cNvSpPr/>
          <p:nvPr/>
        </p:nvSpPr>
        <p:spPr>
          <a:xfrm>
            <a:off x="10352837" y="4705502"/>
            <a:ext cx="1028700" cy="418795"/>
          </a:xfrm>
          <a:prstGeom prst="roundRect">
            <a:avLst>
              <a:gd name="adj" fmla="val 19849"/>
            </a:avLst>
          </a:prstGeom>
          <a:solidFill>
            <a:srgbClr val="F8FAFC"/>
          </a:solidFill>
          <a:ln/>
        </p:spPr>
      </p:sp>
      <p:sp>
        <p:nvSpPr>
          <p:cNvPr id="94" name="Shape 75"/>
          <p:cNvSpPr/>
          <p:nvPr/>
        </p:nvSpPr>
        <p:spPr>
          <a:xfrm>
            <a:off x="10352837" y="4705502"/>
            <a:ext cx="28346" cy="418795"/>
          </a:xfrm>
          <a:prstGeom prst="roundRect">
            <a:avLst>
              <a:gd name="adj" fmla="val 293259"/>
            </a:avLst>
          </a:prstGeom>
          <a:solidFill>
            <a:srgbClr val="3B82F6"/>
          </a:solidFill>
          <a:ln w="12700">
            <a:solidFill>
              <a:srgbClr val="3B82F6">
                <a:alpha val="0"/>
              </a:srgbClr>
            </a:solidFill>
            <a:prstDash val="solid"/>
          </a:ln>
        </p:spPr>
      </p:sp>
      <p:sp>
        <p:nvSpPr>
          <p:cNvPr id="95" name="Text 76"/>
          <p:cNvSpPr txBox="1"/>
          <p:nvPr/>
        </p:nvSpPr>
        <p:spPr>
          <a:xfrm>
            <a:off x="10457993" y="4762195"/>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C2 (tRNA)</a:t>
            </a:r>
            <a:endParaRPr lang="en-US" sz="800" dirty="0"/>
          </a:p>
        </p:txBody>
      </p:sp>
      <p:sp>
        <p:nvSpPr>
          <p:cNvPr id="96" name="Text 77"/>
          <p:cNvSpPr txBox="1"/>
          <p:nvPr/>
        </p:nvSpPr>
        <p:spPr>
          <a:xfrm>
            <a:off x="10457993" y="4924044"/>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0.23</a:t>
            </a:r>
            <a:endParaRPr lang="en-US" sz="800" dirty="0"/>
          </a:p>
        </p:txBody>
      </p:sp>
      <p:sp>
        <p:nvSpPr>
          <p:cNvPr id="97" name="Shape 78"/>
          <p:cNvSpPr/>
          <p:nvPr/>
        </p:nvSpPr>
        <p:spPr>
          <a:xfrm>
            <a:off x="9275674" y="5181905"/>
            <a:ext cx="1028700" cy="418795"/>
          </a:xfrm>
          <a:prstGeom prst="roundRect">
            <a:avLst>
              <a:gd name="adj" fmla="val 19849"/>
            </a:avLst>
          </a:prstGeom>
          <a:solidFill>
            <a:srgbClr val="F8FAFC"/>
          </a:solidFill>
          <a:ln/>
        </p:spPr>
      </p:sp>
      <p:sp>
        <p:nvSpPr>
          <p:cNvPr id="98" name="Shape 79"/>
          <p:cNvSpPr/>
          <p:nvPr/>
        </p:nvSpPr>
        <p:spPr>
          <a:xfrm>
            <a:off x="9275674" y="5181905"/>
            <a:ext cx="28346" cy="418795"/>
          </a:xfrm>
          <a:prstGeom prst="roundRect">
            <a:avLst>
              <a:gd name="adj" fmla="val 293259"/>
            </a:avLst>
          </a:prstGeom>
          <a:solidFill>
            <a:srgbClr val="3B82F6"/>
          </a:solidFill>
          <a:ln w="12700">
            <a:solidFill>
              <a:srgbClr val="3B82F6">
                <a:alpha val="0"/>
              </a:srgbClr>
            </a:solidFill>
            <a:prstDash val="solid"/>
          </a:ln>
        </p:spPr>
      </p:sp>
      <p:sp>
        <p:nvSpPr>
          <p:cNvPr id="99" name="Text 80"/>
          <p:cNvSpPr txBox="1"/>
          <p:nvPr/>
        </p:nvSpPr>
        <p:spPr>
          <a:xfrm>
            <a:off x="9380830" y="5238598"/>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C3 (AA)</a:t>
            </a:r>
            <a:endParaRPr lang="en-US" sz="800" dirty="0"/>
          </a:p>
        </p:txBody>
      </p:sp>
      <p:sp>
        <p:nvSpPr>
          <p:cNvPr id="100" name="Text 81"/>
          <p:cNvSpPr txBox="1"/>
          <p:nvPr/>
        </p:nvSpPr>
        <p:spPr>
          <a:xfrm>
            <a:off x="9380830" y="5400446"/>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0.15</a:t>
            </a:r>
            <a:endParaRPr lang="en-US" sz="800" dirty="0"/>
          </a:p>
        </p:txBody>
      </p:sp>
      <p:sp>
        <p:nvSpPr>
          <p:cNvPr id="101" name="Shape 82"/>
          <p:cNvSpPr/>
          <p:nvPr/>
        </p:nvSpPr>
        <p:spPr>
          <a:xfrm>
            <a:off x="10352837" y="5181905"/>
            <a:ext cx="1028700" cy="418795"/>
          </a:xfrm>
          <a:prstGeom prst="roundRect">
            <a:avLst>
              <a:gd name="adj" fmla="val 19849"/>
            </a:avLst>
          </a:prstGeom>
          <a:solidFill>
            <a:srgbClr val="F8FAFC"/>
          </a:solidFill>
          <a:ln/>
        </p:spPr>
      </p:sp>
      <p:sp>
        <p:nvSpPr>
          <p:cNvPr id="102" name="Shape 83"/>
          <p:cNvSpPr/>
          <p:nvPr/>
        </p:nvSpPr>
        <p:spPr>
          <a:xfrm>
            <a:off x="10352837" y="5181905"/>
            <a:ext cx="28346" cy="418795"/>
          </a:xfrm>
          <a:prstGeom prst="roundRect">
            <a:avLst>
              <a:gd name="adj" fmla="val 293259"/>
            </a:avLst>
          </a:prstGeom>
          <a:solidFill>
            <a:srgbClr val="3B82F6"/>
          </a:solidFill>
          <a:ln w="12700">
            <a:solidFill>
              <a:srgbClr val="3B82F6">
                <a:alpha val="0"/>
              </a:srgbClr>
            </a:solidFill>
            <a:prstDash val="solid"/>
          </a:ln>
        </p:spPr>
      </p:sp>
      <p:sp>
        <p:nvSpPr>
          <p:cNvPr id="103" name="Text 84"/>
          <p:cNvSpPr txBox="1"/>
          <p:nvPr/>
        </p:nvSpPr>
        <p:spPr>
          <a:xfrm>
            <a:off x="10457993" y="5238598"/>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C4 (Arom)</a:t>
            </a:r>
            <a:endParaRPr lang="en-US" sz="800" dirty="0"/>
          </a:p>
        </p:txBody>
      </p:sp>
      <p:sp>
        <p:nvSpPr>
          <p:cNvPr id="104" name="Text 85"/>
          <p:cNvSpPr txBox="1"/>
          <p:nvPr/>
        </p:nvSpPr>
        <p:spPr>
          <a:xfrm>
            <a:off x="10457993" y="5400446"/>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0.31</a:t>
            </a:r>
            <a:endParaRPr lang="en-US" sz="800" dirty="0"/>
          </a:p>
        </p:txBody>
      </p:sp>
      <p:sp>
        <p:nvSpPr>
          <p:cNvPr id="105" name="Shape 86"/>
          <p:cNvSpPr/>
          <p:nvPr/>
        </p:nvSpPr>
        <p:spPr>
          <a:xfrm>
            <a:off x="9275674" y="5658307"/>
            <a:ext cx="1028700" cy="418795"/>
          </a:xfrm>
          <a:prstGeom prst="roundRect">
            <a:avLst>
              <a:gd name="adj" fmla="val 19849"/>
            </a:avLst>
          </a:prstGeom>
          <a:solidFill>
            <a:srgbClr val="DBEAFE"/>
          </a:solidFill>
          <a:ln/>
        </p:spPr>
      </p:sp>
      <p:sp>
        <p:nvSpPr>
          <p:cNvPr id="106" name="Shape 87"/>
          <p:cNvSpPr/>
          <p:nvPr/>
        </p:nvSpPr>
        <p:spPr>
          <a:xfrm>
            <a:off x="9275674" y="5658307"/>
            <a:ext cx="28346" cy="418795"/>
          </a:xfrm>
          <a:prstGeom prst="roundRect">
            <a:avLst>
              <a:gd name="adj" fmla="val 293259"/>
            </a:avLst>
          </a:prstGeom>
          <a:solidFill>
            <a:srgbClr val="1E40AF"/>
          </a:solidFill>
          <a:ln w="12700">
            <a:solidFill>
              <a:srgbClr val="1E40AF">
                <a:alpha val="0"/>
              </a:srgbClr>
            </a:solidFill>
            <a:prstDash val="solid"/>
          </a:ln>
        </p:spPr>
      </p:sp>
      <p:sp>
        <p:nvSpPr>
          <p:cNvPr id="107" name="Text 88"/>
          <p:cNvSpPr txBox="1"/>
          <p:nvPr/>
        </p:nvSpPr>
        <p:spPr>
          <a:xfrm>
            <a:off x="9380830" y="5715000"/>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C5 (Stress)</a:t>
            </a:r>
            <a:endParaRPr lang="en-US" sz="800" dirty="0"/>
          </a:p>
        </p:txBody>
      </p:sp>
      <p:sp>
        <p:nvSpPr>
          <p:cNvPr id="108" name="Text 89"/>
          <p:cNvSpPr txBox="1"/>
          <p:nvPr/>
        </p:nvSpPr>
        <p:spPr>
          <a:xfrm>
            <a:off x="9380830" y="5876849"/>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0.69</a:t>
            </a:r>
            <a:endParaRPr lang="en-US" sz="800" dirty="0"/>
          </a:p>
        </p:txBody>
      </p:sp>
      <p:sp>
        <p:nvSpPr>
          <p:cNvPr id="109" name="Shape 90"/>
          <p:cNvSpPr/>
          <p:nvPr/>
        </p:nvSpPr>
        <p:spPr>
          <a:xfrm>
            <a:off x="10352837" y="5658307"/>
            <a:ext cx="1028700" cy="418795"/>
          </a:xfrm>
          <a:prstGeom prst="roundRect">
            <a:avLst>
              <a:gd name="adj" fmla="val 19849"/>
            </a:avLst>
          </a:prstGeom>
          <a:solidFill>
            <a:srgbClr val="F8FAFC"/>
          </a:solidFill>
          <a:ln/>
        </p:spPr>
      </p:sp>
      <p:sp>
        <p:nvSpPr>
          <p:cNvPr id="110" name="Shape 91"/>
          <p:cNvSpPr/>
          <p:nvPr/>
        </p:nvSpPr>
        <p:spPr>
          <a:xfrm>
            <a:off x="10352837" y="5658307"/>
            <a:ext cx="28346" cy="418795"/>
          </a:xfrm>
          <a:prstGeom prst="roundRect">
            <a:avLst>
              <a:gd name="adj" fmla="val 293259"/>
            </a:avLst>
          </a:prstGeom>
          <a:solidFill>
            <a:srgbClr val="3B82F6"/>
          </a:solidFill>
          <a:ln w="12700">
            <a:solidFill>
              <a:srgbClr val="3B82F6">
                <a:alpha val="0"/>
              </a:srgbClr>
            </a:solidFill>
            <a:prstDash val="solid"/>
          </a:ln>
        </p:spPr>
      </p:sp>
      <p:sp>
        <p:nvSpPr>
          <p:cNvPr id="111" name="Text 92"/>
          <p:cNvSpPr txBox="1"/>
          <p:nvPr/>
        </p:nvSpPr>
        <p:spPr>
          <a:xfrm>
            <a:off x="10457993" y="5715000"/>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C6 (Mod)</a:t>
            </a:r>
            <a:endParaRPr lang="en-US" sz="800" dirty="0"/>
          </a:p>
        </p:txBody>
      </p:sp>
      <p:sp>
        <p:nvSpPr>
          <p:cNvPr id="112" name="Text 93"/>
          <p:cNvSpPr txBox="1"/>
          <p:nvPr/>
        </p:nvSpPr>
        <p:spPr>
          <a:xfrm>
            <a:off x="10457993" y="5876849"/>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0.42</a:t>
            </a:r>
            <a:endParaRPr lang="en-US" sz="800" dirty="0"/>
          </a:p>
        </p:txBody>
      </p:sp>
      <p:sp>
        <p:nvSpPr>
          <p:cNvPr id="113" name="Shape 94"/>
          <p:cNvSpPr/>
          <p:nvPr/>
        </p:nvSpPr>
        <p:spPr>
          <a:xfrm>
            <a:off x="9275674" y="6133795"/>
            <a:ext cx="1028700" cy="418795"/>
          </a:xfrm>
          <a:prstGeom prst="roundRect">
            <a:avLst>
              <a:gd name="adj" fmla="val 19849"/>
            </a:avLst>
          </a:prstGeom>
          <a:solidFill>
            <a:srgbClr val="F8FAFC"/>
          </a:solidFill>
          <a:ln/>
        </p:spPr>
      </p:sp>
      <p:sp>
        <p:nvSpPr>
          <p:cNvPr id="114" name="Shape 95"/>
          <p:cNvSpPr/>
          <p:nvPr/>
        </p:nvSpPr>
        <p:spPr>
          <a:xfrm>
            <a:off x="9275674" y="6133795"/>
            <a:ext cx="28346" cy="418795"/>
          </a:xfrm>
          <a:prstGeom prst="roundRect">
            <a:avLst>
              <a:gd name="adj" fmla="val 293259"/>
            </a:avLst>
          </a:prstGeom>
          <a:solidFill>
            <a:srgbClr val="3B82F6"/>
          </a:solidFill>
          <a:ln w="12700">
            <a:solidFill>
              <a:srgbClr val="3B82F6">
                <a:alpha val="0"/>
              </a:srgbClr>
            </a:solidFill>
            <a:prstDash val="solid"/>
          </a:ln>
        </p:spPr>
      </p:sp>
      <p:sp>
        <p:nvSpPr>
          <p:cNvPr id="115" name="Text 96"/>
          <p:cNvSpPr txBox="1"/>
          <p:nvPr/>
        </p:nvSpPr>
        <p:spPr>
          <a:xfrm>
            <a:off x="9380830" y="6191402"/>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C7 (Folate)</a:t>
            </a:r>
            <a:endParaRPr lang="en-US" sz="800" dirty="0"/>
          </a:p>
        </p:txBody>
      </p:sp>
      <p:sp>
        <p:nvSpPr>
          <p:cNvPr id="116" name="Text 97"/>
          <p:cNvSpPr txBox="1"/>
          <p:nvPr/>
        </p:nvSpPr>
        <p:spPr>
          <a:xfrm>
            <a:off x="9380830" y="6353251"/>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0.38</a:t>
            </a:r>
            <a:endParaRPr lang="en-US" sz="800" dirty="0"/>
          </a:p>
        </p:txBody>
      </p:sp>
      <p:sp>
        <p:nvSpPr>
          <p:cNvPr id="117" name="Shape 98"/>
          <p:cNvSpPr/>
          <p:nvPr/>
        </p:nvSpPr>
        <p:spPr>
          <a:xfrm>
            <a:off x="10352837" y="6133795"/>
            <a:ext cx="1028700" cy="418795"/>
          </a:xfrm>
          <a:prstGeom prst="roundRect">
            <a:avLst>
              <a:gd name="adj" fmla="val 19849"/>
            </a:avLst>
          </a:prstGeom>
          <a:solidFill>
            <a:srgbClr val="DBEAFE"/>
          </a:solidFill>
          <a:ln/>
        </p:spPr>
      </p:sp>
      <p:sp>
        <p:nvSpPr>
          <p:cNvPr id="118" name="Shape 99"/>
          <p:cNvSpPr/>
          <p:nvPr/>
        </p:nvSpPr>
        <p:spPr>
          <a:xfrm>
            <a:off x="10352837" y="6133795"/>
            <a:ext cx="28346" cy="418795"/>
          </a:xfrm>
          <a:prstGeom prst="roundRect">
            <a:avLst>
              <a:gd name="adj" fmla="val 293259"/>
            </a:avLst>
          </a:prstGeom>
          <a:solidFill>
            <a:srgbClr val="1E40AF"/>
          </a:solidFill>
          <a:ln w="12700">
            <a:solidFill>
              <a:srgbClr val="1E40AF">
                <a:alpha val="0"/>
              </a:srgbClr>
            </a:solidFill>
            <a:prstDash val="solid"/>
          </a:ln>
        </p:spPr>
      </p:sp>
      <p:sp>
        <p:nvSpPr>
          <p:cNvPr id="119" name="Text 100"/>
          <p:cNvSpPr txBox="1"/>
          <p:nvPr/>
        </p:nvSpPr>
        <p:spPr>
          <a:xfrm>
            <a:off x="10457993" y="6191402"/>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C8 (DNA)</a:t>
            </a:r>
            <a:endParaRPr lang="en-US" sz="800" dirty="0"/>
          </a:p>
        </p:txBody>
      </p:sp>
      <p:sp>
        <p:nvSpPr>
          <p:cNvPr id="120" name="Text 101"/>
          <p:cNvSpPr txBox="1"/>
          <p:nvPr/>
        </p:nvSpPr>
        <p:spPr>
          <a:xfrm>
            <a:off x="10457993" y="6353251"/>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0.71</a:t>
            </a:r>
            <a:endParaRPr lang="en-US" sz="800" dirty="0"/>
          </a:p>
        </p:txBody>
      </p:sp>
      <p:sp>
        <p:nvSpPr>
          <p:cNvPr id="121" name="Shape 102"/>
          <p:cNvSpPr/>
          <p:nvPr/>
        </p:nvSpPr>
        <p:spPr>
          <a:xfrm>
            <a:off x="9275674" y="6610198"/>
            <a:ext cx="1028700" cy="418795"/>
          </a:xfrm>
          <a:prstGeom prst="roundRect">
            <a:avLst>
              <a:gd name="adj" fmla="val 19849"/>
            </a:avLst>
          </a:prstGeom>
          <a:solidFill>
            <a:srgbClr val="DBEAFE"/>
          </a:solidFill>
          <a:ln/>
        </p:spPr>
      </p:sp>
      <p:sp>
        <p:nvSpPr>
          <p:cNvPr id="122" name="Shape 103"/>
          <p:cNvSpPr/>
          <p:nvPr/>
        </p:nvSpPr>
        <p:spPr>
          <a:xfrm>
            <a:off x="9275674" y="6610198"/>
            <a:ext cx="28346" cy="418795"/>
          </a:xfrm>
          <a:prstGeom prst="roundRect">
            <a:avLst>
              <a:gd name="adj" fmla="val 293259"/>
            </a:avLst>
          </a:prstGeom>
          <a:solidFill>
            <a:srgbClr val="1E40AF"/>
          </a:solidFill>
          <a:ln w="12700">
            <a:solidFill>
              <a:srgbClr val="1E40AF">
                <a:alpha val="0"/>
              </a:srgbClr>
            </a:solidFill>
            <a:prstDash val="solid"/>
          </a:ln>
        </p:spPr>
      </p:sp>
      <p:sp>
        <p:nvSpPr>
          <p:cNvPr id="123" name="Text 104"/>
          <p:cNvSpPr txBox="1"/>
          <p:nvPr/>
        </p:nvSpPr>
        <p:spPr>
          <a:xfrm>
            <a:off x="9380830" y="6667805"/>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C9 (Lipid)</a:t>
            </a:r>
            <a:endParaRPr lang="en-US" sz="800" dirty="0"/>
          </a:p>
        </p:txBody>
      </p:sp>
      <p:sp>
        <p:nvSpPr>
          <p:cNvPr id="124" name="Text 105"/>
          <p:cNvSpPr txBox="1"/>
          <p:nvPr/>
        </p:nvSpPr>
        <p:spPr>
          <a:xfrm>
            <a:off x="9380830" y="6829654"/>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0.82</a:t>
            </a:r>
            <a:endParaRPr lang="en-US" sz="800" dirty="0"/>
          </a:p>
        </p:txBody>
      </p:sp>
      <p:sp>
        <p:nvSpPr>
          <p:cNvPr id="125" name="Shape 106"/>
          <p:cNvSpPr/>
          <p:nvPr/>
        </p:nvSpPr>
        <p:spPr>
          <a:xfrm>
            <a:off x="10352837" y="6610198"/>
            <a:ext cx="1028700" cy="418795"/>
          </a:xfrm>
          <a:prstGeom prst="roundRect">
            <a:avLst>
              <a:gd name="adj" fmla="val 19849"/>
            </a:avLst>
          </a:prstGeom>
          <a:solidFill>
            <a:srgbClr val="F8FAFC"/>
          </a:solidFill>
          <a:ln/>
        </p:spPr>
      </p:sp>
      <p:sp>
        <p:nvSpPr>
          <p:cNvPr id="126" name="Shape 107"/>
          <p:cNvSpPr/>
          <p:nvPr/>
        </p:nvSpPr>
        <p:spPr>
          <a:xfrm>
            <a:off x="10352837" y="6610198"/>
            <a:ext cx="28346" cy="418795"/>
          </a:xfrm>
          <a:prstGeom prst="roundRect">
            <a:avLst>
              <a:gd name="adj" fmla="val 293259"/>
            </a:avLst>
          </a:prstGeom>
          <a:solidFill>
            <a:srgbClr val="3B82F6"/>
          </a:solidFill>
          <a:ln w="12700">
            <a:solidFill>
              <a:srgbClr val="3B82F6">
                <a:alpha val="0"/>
              </a:srgbClr>
            </a:solidFill>
            <a:prstDash val="solid"/>
          </a:ln>
        </p:spPr>
      </p:sp>
      <p:sp>
        <p:nvSpPr>
          <p:cNvPr id="127" name="Text 108"/>
          <p:cNvSpPr txBox="1"/>
          <p:nvPr/>
        </p:nvSpPr>
        <p:spPr>
          <a:xfrm>
            <a:off x="10457993" y="6667805"/>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C10 (Glyco)</a:t>
            </a:r>
            <a:endParaRPr lang="en-US" sz="800" dirty="0"/>
          </a:p>
        </p:txBody>
      </p:sp>
      <p:sp>
        <p:nvSpPr>
          <p:cNvPr id="128" name="Text 109"/>
          <p:cNvSpPr txBox="1"/>
          <p:nvPr/>
        </p:nvSpPr>
        <p:spPr>
          <a:xfrm>
            <a:off x="10457993" y="6829654"/>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0.28</a:t>
            </a:r>
            <a:endParaRPr lang="en-US" sz="800" dirty="0"/>
          </a:p>
        </p:txBody>
      </p:sp>
      <p:sp>
        <p:nvSpPr>
          <p:cNvPr id="129" name="Shape 110"/>
          <p:cNvSpPr/>
          <p:nvPr/>
        </p:nvSpPr>
        <p:spPr>
          <a:xfrm>
            <a:off x="9275674" y="7086600"/>
            <a:ext cx="1028700" cy="418795"/>
          </a:xfrm>
          <a:prstGeom prst="roundRect">
            <a:avLst>
              <a:gd name="adj" fmla="val 19849"/>
            </a:avLst>
          </a:prstGeom>
          <a:solidFill>
            <a:srgbClr val="F8FAFC"/>
          </a:solidFill>
          <a:ln/>
        </p:spPr>
      </p:sp>
      <p:sp>
        <p:nvSpPr>
          <p:cNvPr id="130" name="Shape 111"/>
          <p:cNvSpPr/>
          <p:nvPr/>
        </p:nvSpPr>
        <p:spPr>
          <a:xfrm>
            <a:off x="9275674" y="7086600"/>
            <a:ext cx="28346" cy="418795"/>
          </a:xfrm>
          <a:prstGeom prst="roundRect">
            <a:avLst>
              <a:gd name="adj" fmla="val 293259"/>
            </a:avLst>
          </a:prstGeom>
          <a:solidFill>
            <a:srgbClr val="3B82F6"/>
          </a:solidFill>
          <a:ln w="12700">
            <a:solidFill>
              <a:srgbClr val="3B82F6">
                <a:alpha val="0"/>
              </a:srgbClr>
            </a:solidFill>
            <a:prstDash val="solid"/>
          </a:ln>
        </p:spPr>
      </p:sp>
      <p:sp>
        <p:nvSpPr>
          <p:cNvPr id="131" name="Text 112"/>
          <p:cNvSpPr txBox="1"/>
          <p:nvPr/>
        </p:nvSpPr>
        <p:spPr>
          <a:xfrm>
            <a:off x="9380830" y="7144207"/>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C11 (PG)</a:t>
            </a:r>
            <a:endParaRPr lang="en-US" sz="800" dirty="0"/>
          </a:p>
        </p:txBody>
      </p:sp>
      <p:sp>
        <p:nvSpPr>
          <p:cNvPr id="132" name="Text 113"/>
          <p:cNvSpPr txBox="1"/>
          <p:nvPr/>
        </p:nvSpPr>
        <p:spPr>
          <a:xfrm>
            <a:off x="9380830" y="7306056"/>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0.19</a:t>
            </a:r>
            <a:endParaRPr lang="en-US" sz="800" dirty="0"/>
          </a:p>
        </p:txBody>
      </p:sp>
      <p:sp>
        <p:nvSpPr>
          <p:cNvPr id="133" name="Shape 114"/>
          <p:cNvSpPr/>
          <p:nvPr/>
        </p:nvSpPr>
        <p:spPr>
          <a:xfrm>
            <a:off x="10352837" y="7086600"/>
            <a:ext cx="1028700" cy="418795"/>
          </a:xfrm>
          <a:prstGeom prst="roundRect">
            <a:avLst>
              <a:gd name="adj" fmla="val 19849"/>
            </a:avLst>
          </a:prstGeom>
          <a:solidFill>
            <a:srgbClr val="F8FAFC"/>
          </a:solidFill>
          <a:ln/>
        </p:spPr>
      </p:sp>
      <p:sp>
        <p:nvSpPr>
          <p:cNvPr id="134" name="Shape 115"/>
          <p:cNvSpPr/>
          <p:nvPr/>
        </p:nvSpPr>
        <p:spPr>
          <a:xfrm>
            <a:off x="10352837" y="7086600"/>
            <a:ext cx="28346" cy="418795"/>
          </a:xfrm>
          <a:prstGeom prst="roundRect">
            <a:avLst>
              <a:gd name="adj" fmla="val 293259"/>
            </a:avLst>
          </a:prstGeom>
          <a:solidFill>
            <a:srgbClr val="3B82F6"/>
          </a:solidFill>
          <a:ln w="12700">
            <a:solidFill>
              <a:srgbClr val="3B82F6">
                <a:alpha val="0"/>
              </a:srgbClr>
            </a:solidFill>
            <a:prstDash val="solid"/>
          </a:ln>
        </p:spPr>
      </p:sp>
      <p:sp>
        <p:nvSpPr>
          <p:cNvPr id="135" name="Text 116"/>
          <p:cNvSpPr txBox="1"/>
          <p:nvPr/>
        </p:nvSpPr>
        <p:spPr>
          <a:xfrm>
            <a:off x="10457993" y="7144207"/>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C12 (Pyr)</a:t>
            </a:r>
            <a:endParaRPr lang="en-US" sz="800" dirty="0"/>
          </a:p>
        </p:txBody>
      </p:sp>
      <p:sp>
        <p:nvSpPr>
          <p:cNvPr id="136" name="Text 117"/>
          <p:cNvSpPr txBox="1"/>
          <p:nvPr/>
        </p:nvSpPr>
        <p:spPr>
          <a:xfrm>
            <a:off x="10457993" y="7306056"/>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0.35</a:t>
            </a:r>
            <a:endParaRPr lang="en-US" sz="800" dirty="0"/>
          </a:p>
        </p:txBody>
      </p:sp>
      <p:sp>
        <p:nvSpPr>
          <p:cNvPr id="137" name="Shape 118"/>
          <p:cNvSpPr/>
          <p:nvPr/>
        </p:nvSpPr>
        <p:spPr>
          <a:xfrm>
            <a:off x="9275674" y="7563002"/>
            <a:ext cx="1028700" cy="418795"/>
          </a:xfrm>
          <a:prstGeom prst="roundRect">
            <a:avLst>
              <a:gd name="adj" fmla="val 19849"/>
            </a:avLst>
          </a:prstGeom>
          <a:solidFill>
            <a:srgbClr val="F8FAFC"/>
          </a:solidFill>
          <a:ln/>
        </p:spPr>
      </p:sp>
      <p:sp>
        <p:nvSpPr>
          <p:cNvPr id="138" name="Shape 119"/>
          <p:cNvSpPr/>
          <p:nvPr/>
        </p:nvSpPr>
        <p:spPr>
          <a:xfrm>
            <a:off x="9275674" y="7563002"/>
            <a:ext cx="28346" cy="418795"/>
          </a:xfrm>
          <a:prstGeom prst="roundRect">
            <a:avLst>
              <a:gd name="adj" fmla="val 293259"/>
            </a:avLst>
          </a:prstGeom>
          <a:solidFill>
            <a:srgbClr val="3B82F6"/>
          </a:solidFill>
          <a:ln w="12700">
            <a:solidFill>
              <a:srgbClr val="3B82F6">
                <a:alpha val="0"/>
              </a:srgbClr>
            </a:solidFill>
            <a:prstDash val="solid"/>
          </a:ln>
        </p:spPr>
      </p:sp>
      <p:sp>
        <p:nvSpPr>
          <p:cNvPr id="139" name="Text 120"/>
          <p:cNvSpPr txBox="1"/>
          <p:nvPr/>
        </p:nvSpPr>
        <p:spPr>
          <a:xfrm>
            <a:off x="9380830" y="7619695"/>
            <a:ext cx="924458"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KR" pitchFamily="34" charset="0"/>
                <a:ea typeface="Noto Sans KR" pitchFamily="34" charset="-122"/>
                <a:cs typeface="Noto Sans KR" pitchFamily="34" charset="-120"/>
              </a:rPr>
              <a:t>C13 (Porph)</a:t>
            </a:r>
            <a:endParaRPr lang="en-US" sz="800" dirty="0"/>
          </a:p>
        </p:txBody>
      </p:sp>
      <p:sp>
        <p:nvSpPr>
          <p:cNvPr id="140" name="Text 121"/>
          <p:cNvSpPr txBox="1"/>
          <p:nvPr/>
        </p:nvSpPr>
        <p:spPr>
          <a:xfrm>
            <a:off x="9380830" y="7781544"/>
            <a:ext cx="924458" cy="143561"/>
          </a:xfrm>
          <a:prstGeom prst="rect">
            <a:avLst/>
          </a:prstGeom>
          <a:noFill/>
          <a:ln/>
        </p:spPr>
        <p:txBody>
          <a:bodyPr wrap="square" lIns="0" tIns="0" rIns="0" bIns="0" rtlCol="0" anchor="ctr"/>
          <a:lstStyle/>
          <a:p>
            <a:pPr marL="0" indent="0" algn="l">
              <a:buNone/>
            </a:pPr>
            <a:r>
              <a:rPr lang="en-US" sz="800" b="1" dirty="0">
                <a:solidFill>
                  <a:srgbClr val="1E293B"/>
                </a:solidFill>
                <a:latin typeface="Courier New" pitchFamily="34" charset="0"/>
                <a:ea typeface="Courier New" pitchFamily="34" charset="-122"/>
                <a:cs typeface="Courier New" pitchFamily="34" charset="-120"/>
              </a:rPr>
              <a:t>0.44</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1104595"/>
          </a:xfrm>
          <a:prstGeom prst="rect">
            <a:avLst/>
          </a:prstGeom>
          <a:solidFill>
            <a:srgbClr val="1A355B"/>
          </a:solidFill>
          <a:ln w="12700">
            <a:solidFill>
              <a:srgbClr val="FFFFFF">
                <a:alpha val="0"/>
              </a:srgbClr>
            </a:solidFill>
            <a:prstDash val="solid"/>
          </a:ln>
        </p:spPr>
      </p:sp>
      <p:sp>
        <p:nvSpPr>
          <p:cNvPr id="4" name="Text 2"/>
          <p:cNvSpPr txBox="1"/>
          <p:nvPr/>
        </p:nvSpPr>
        <p:spPr>
          <a:xfrm>
            <a:off x="476402" y="190195"/>
            <a:ext cx="3129077" cy="457200"/>
          </a:xfrm>
          <a:prstGeom prst="rect">
            <a:avLst/>
          </a:prstGeom>
          <a:noFill/>
          <a:ln/>
        </p:spPr>
        <p:txBody>
          <a:bodyPr wrap="square" lIns="0" tIns="0" rIns="0" bIns="0" rtlCol="0" anchor="ctr"/>
          <a:lstStyle/>
          <a:p>
            <a:pPr marL="0" indent="0" algn="l">
              <a:buNone/>
            </a:pPr>
            <a:r>
              <a:rPr lang="en-US" sz="2400" b="1" kern="0" spc="-37" dirty="0" err="1" smtClean="0">
                <a:solidFill>
                  <a:srgbClr val="FFFFFF"/>
                </a:solidFill>
                <a:latin typeface="Noto Sans KR" pitchFamily="34" charset="0"/>
                <a:ea typeface="Noto Sans KR" pitchFamily="34" charset="-122"/>
                <a:cs typeface="Noto Sans KR" pitchFamily="34" charset="-120"/>
              </a:rPr>
              <a:t>코드</a:t>
            </a:r>
            <a:r>
              <a:rPr lang="en-US" sz="2400" b="1" kern="0" spc="-37" dirty="0" smtClean="0">
                <a:solidFill>
                  <a:srgbClr val="FFFFFF"/>
                </a:solidFill>
                <a:latin typeface="Noto Sans KR" pitchFamily="34" charset="0"/>
                <a:ea typeface="Noto Sans KR" pitchFamily="34" charset="-122"/>
                <a:cs typeface="Noto Sans KR" pitchFamily="34" charset="-120"/>
              </a:rPr>
              <a:t> </a:t>
            </a:r>
            <a:r>
              <a:rPr lang="en-US" sz="2400" b="1" kern="0" spc="-37" dirty="0" err="1" smtClean="0">
                <a:solidFill>
                  <a:srgbClr val="FFFFFF"/>
                </a:solidFill>
                <a:latin typeface="Noto Sans KR" pitchFamily="34" charset="0"/>
                <a:ea typeface="Noto Sans KR" pitchFamily="34" charset="-122"/>
                <a:cs typeface="Noto Sans KR" pitchFamily="34" charset="-120"/>
              </a:rPr>
              <a:t>리뷰·개발</a:t>
            </a:r>
            <a:r>
              <a:rPr lang="en-US" sz="2400" b="1" kern="0" spc="-37" dirty="0" smtClean="0">
                <a:solidFill>
                  <a:srgbClr val="FFFFFF"/>
                </a:solidFill>
                <a:latin typeface="Noto Sans KR" pitchFamily="34" charset="0"/>
                <a:ea typeface="Noto Sans KR" pitchFamily="34" charset="-122"/>
                <a:cs typeface="Noto Sans KR" pitchFamily="34" charset="-120"/>
              </a:rPr>
              <a:t> </a:t>
            </a:r>
            <a:r>
              <a:rPr lang="en-US" sz="2400" b="1" kern="0" spc="-37" dirty="0">
                <a:solidFill>
                  <a:srgbClr val="FFFFFF"/>
                </a:solidFill>
                <a:latin typeface="Noto Sans KR" pitchFamily="34" charset="0"/>
                <a:ea typeface="Noto Sans KR" pitchFamily="34" charset="-122"/>
                <a:cs typeface="Noto Sans KR" pitchFamily="34" charset="-120"/>
              </a:rPr>
              <a:t>환경</a:t>
            </a:r>
            <a:endParaRPr lang="en-US" sz="2400" dirty="0"/>
          </a:p>
        </p:txBody>
      </p:sp>
      <p:sp>
        <p:nvSpPr>
          <p:cNvPr id="5" name="Text 3"/>
          <p:cNvSpPr txBox="1"/>
          <p:nvPr/>
        </p:nvSpPr>
        <p:spPr>
          <a:xfrm>
            <a:off x="476402" y="685800"/>
            <a:ext cx="2734056" cy="228600"/>
          </a:xfrm>
          <a:prstGeom prst="rect">
            <a:avLst/>
          </a:prstGeom>
          <a:noFill/>
          <a:ln/>
        </p:spPr>
        <p:txBody>
          <a:bodyPr wrap="square" lIns="0" tIns="0" rIns="0" bIns="0" rtlCol="0" anchor="ctr"/>
          <a:lstStyle/>
          <a:p>
            <a:pPr marL="0" indent="0" algn="l">
              <a:buNone/>
            </a:pPr>
            <a:r>
              <a:rPr lang="en-US" sz="1200" dirty="0">
                <a:solidFill>
                  <a:srgbClr val="FFFFFF">
                    <a:alpha val="85000"/>
                  </a:srgbClr>
                </a:solidFill>
                <a:latin typeface="Noto Sans KR" pitchFamily="34" charset="0"/>
                <a:ea typeface="Noto Sans KR" pitchFamily="34" charset="-122"/>
                <a:cs typeface="Noto Sans KR" pitchFamily="34" charset="-120"/>
              </a:rPr>
              <a:t>기술 스택 및 재현성 확보 방법</a:t>
            </a:r>
            <a:endParaRPr lang="en-US" sz="1200" dirty="0"/>
          </a:p>
        </p:txBody>
      </p:sp>
      <p:pic>
        <p:nvPicPr>
          <p:cNvPr id="6" name="Image 0" descr="preencoded.png"/>
          <p:cNvPicPr>
            <a:picLocks noChangeAspect="1"/>
          </p:cNvPicPr>
          <p:nvPr/>
        </p:nvPicPr>
        <p:blipFill>
          <a:blip r:embed="rId3"/>
          <a:srcRect l="-90" r="-90"/>
          <a:stretch/>
        </p:blipFill>
        <p:spPr>
          <a:xfrm>
            <a:off x="11334902" y="418795"/>
            <a:ext cx="381305" cy="304495"/>
          </a:xfrm>
          <a:prstGeom prst="rect">
            <a:avLst/>
          </a:prstGeom>
        </p:spPr>
      </p:pic>
      <p:sp>
        <p:nvSpPr>
          <p:cNvPr id="7" name="Shape 4"/>
          <p:cNvSpPr/>
          <p:nvPr/>
        </p:nvSpPr>
        <p:spPr>
          <a:xfrm>
            <a:off x="476402" y="1371600"/>
            <a:ext cx="5486400" cy="1304849"/>
          </a:xfrm>
          <a:prstGeom prst="roundRect">
            <a:avLst>
              <a:gd name="adj" fmla="val 4092"/>
            </a:avLst>
          </a:prstGeom>
          <a:solidFill>
            <a:srgbClr val="FFFFFF"/>
          </a:solidFill>
          <a:ln/>
          <a:effectLst>
            <a:outerShdw blurRad="76200" dist="25400" dir="16200000" algn="bl" rotWithShape="0">
              <a:srgbClr val="000000">
                <a:alpha val="8000"/>
              </a:srgbClr>
            </a:outerShdw>
          </a:effectLst>
        </p:spPr>
      </p:sp>
      <p:sp>
        <p:nvSpPr>
          <p:cNvPr id="8" name="Shape 5"/>
          <p:cNvSpPr/>
          <p:nvPr/>
        </p:nvSpPr>
        <p:spPr>
          <a:xfrm>
            <a:off x="476402" y="1371600"/>
            <a:ext cx="38405" cy="1304849"/>
          </a:xfrm>
          <a:prstGeom prst="roundRect">
            <a:avLst>
              <a:gd name="adj" fmla="val 139033"/>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4"/>
          <a:srcRect/>
          <a:stretch/>
        </p:blipFill>
        <p:spPr>
          <a:xfrm>
            <a:off x="685800" y="1595628"/>
            <a:ext cx="190195" cy="190195"/>
          </a:xfrm>
          <a:prstGeom prst="rect">
            <a:avLst/>
          </a:prstGeom>
        </p:spPr>
      </p:pic>
      <p:sp>
        <p:nvSpPr>
          <p:cNvPr id="10" name="Text 6"/>
          <p:cNvSpPr txBox="1"/>
          <p:nvPr/>
        </p:nvSpPr>
        <p:spPr>
          <a:xfrm>
            <a:off x="972007" y="1585570"/>
            <a:ext cx="1221639" cy="210312"/>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프론트엔드</a:t>
            </a:r>
            <a:endParaRPr lang="en-US" sz="1400" dirty="0"/>
          </a:p>
        </p:txBody>
      </p:sp>
      <p:pic>
        <p:nvPicPr>
          <p:cNvPr id="11" name="Image 2" descr="preencoded.png"/>
          <p:cNvPicPr>
            <a:picLocks noChangeAspect="1"/>
          </p:cNvPicPr>
          <p:nvPr/>
        </p:nvPicPr>
        <p:blipFill>
          <a:blip r:embed="rId5"/>
          <a:stretch>
            <a:fillRect/>
          </a:stretch>
        </p:blipFill>
        <p:spPr>
          <a:xfrm>
            <a:off x="685800" y="1943100"/>
            <a:ext cx="580644" cy="256946"/>
          </a:xfrm>
          <a:prstGeom prst="rect">
            <a:avLst/>
          </a:prstGeom>
        </p:spPr>
      </p:pic>
      <p:sp>
        <p:nvSpPr>
          <p:cNvPr id="12" name="Text 7"/>
          <p:cNvSpPr/>
          <p:nvPr/>
        </p:nvSpPr>
        <p:spPr>
          <a:xfrm>
            <a:off x="685800" y="1943100"/>
            <a:ext cx="5815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HTML5</a:t>
            </a:r>
            <a:endParaRPr lang="en-US" sz="1100" dirty="0"/>
          </a:p>
        </p:txBody>
      </p:sp>
      <p:pic>
        <p:nvPicPr>
          <p:cNvPr id="14" name="Image 3" descr="preencoded.png"/>
          <p:cNvPicPr>
            <a:picLocks noChangeAspect="1"/>
          </p:cNvPicPr>
          <p:nvPr/>
        </p:nvPicPr>
        <p:blipFill>
          <a:blip r:embed="rId6"/>
          <a:stretch>
            <a:fillRect/>
          </a:stretch>
        </p:blipFill>
        <p:spPr>
          <a:xfrm>
            <a:off x="1323137" y="1943100"/>
            <a:ext cx="1123798" cy="256946"/>
          </a:xfrm>
          <a:prstGeom prst="rect">
            <a:avLst/>
          </a:prstGeom>
        </p:spPr>
      </p:pic>
      <p:sp>
        <p:nvSpPr>
          <p:cNvPr id="15" name="Text 9"/>
          <p:cNvSpPr/>
          <p:nvPr/>
        </p:nvSpPr>
        <p:spPr>
          <a:xfrm>
            <a:off x="1323137" y="1943100"/>
            <a:ext cx="11247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JavaScript (ES6+)</a:t>
            </a:r>
            <a:endParaRPr lang="en-US" sz="1100" dirty="0"/>
          </a:p>
        </p:txBody>
      </p:sp>
      <p:pic>
        <p:nvPicPr>
          <p:cNvPr id="17" name="Image 4" descr="preencoded.png"/>
          <p:cNvPicPr>
            <a:picLocks noChangeAspect="1"/>
          </p:cNvPicPr>
          <p:nvPr/>
        </p:nvPicPr>
        <p:blipFill>
          <a:blip r:embed="rId7"/>
          <a:stretch>
            <a:fillRect/>
          </a:stretch>
        </p:blipFill>
        <p:spPr>
          <a:xfrm>
            <a:off x="2502713" y="1943100"/>
            <a:ext cx="886054" cy="256946"/>
          </a:xfrm>
          <a:prstGeom prst="rect">
            <a:avLst/>
          </a:prstGeom>
        </p:spPr>
      </p:pic>
      <p:sp>
        <p:nvSpPr>
          <p:cNvPr id="18" name="Text 11"/>
          <p:cNvSpPr/>
          <p:nvPr/>
        </p:nvSpPr>
        <p:spPr>
          <a:xfrm>
            <a:off x="2502713" y="1943100"/>
            <a:ext cx="8860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Tailwind CSS</a:t>
            </a:r>
            <a:endParaRPr lang="en-US" sz="1100" dirty="0"/>
          </a:p>
        </p:txBody>
      </p:sp>
      <p:pic>
        <p:nvPicPr>
          <p:cNvPr id="20" name="Image 5" descr="preencoded.png"/>
          <p:cNvPicPr>
            <a:picLocks noChangeAspect="1"/>
          </p:cNvPicPr>
          <p:nvPr/>
        </p:nvPicPr>
        <p:blipFill>
          <a:blip r:embed="rId8"/>
          <a:stretch>
            <a:fillRect/>
          </a:stretch>
        </p:blipFill>
        <p:spPr>
          <a:xfrm>
            <a:off x="3441802" y="1943100"/>
            <a:ext cx="647395" cy="256946"/>
          </a:xfrm>
          <a:prstGeom prst="rect">
            <a:avLst/>
          </a:prstGeom>
        </p:spPr>
      </p:pic>
      <p:sp>
        <p:nvSpPr>
          <p:cNvPr id="21" name="Text 13"/>
          <p:cNvSpPr/>
          <p:nvPr/>
        </p:nvSpPr>
        <p:spPr>
          <a:xfrm>
            <a:off x="3441802" y="1943100"/>
            <a:ext cx="64831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Plotly.js</a:t>
            </a:r>
            <a:endParaRPr lang="en-US" sz="1100" dirty="0"/>
          </a:p>
        </p:txBody>
      </p:sp>
      <p:pic>
        <p:nvPicPr>
          <p:cNvPr id="23" name="Image 6" descr="preencoded.png"/>
          <p:cNvPicPr>
            <a:picLocks noChangeAspect="1"/>
          </p:cNvPicPr>
          <p:nvPr/>
        </p:nvPicPr>
        <p:blipFill>
          <a:blip r:embed="rId9"/>
          <a:stretch>
            <a:fillRect/>
          </a:stretch>
        </p:blipFill>
        <p:spPr>
          <a:xfrm>
            <a:off x="4139489" y="1943100"/>
            <a:ext cx="981151" cy="256946"/>
          </a:xfrm>
          <a:prstGeom prst="rect">
            <a:avLst/>
          </a:prstGeom>
        </p:spPr>
      </p:pic>
      <p:sp>
        <p:nvSpPr>
          <p:cNvPr id="24" name="Text 15"/>
          <p:cNvSpPr/>
          <p:nvPr/>
        </p:nvSpPr>
        <p:spPr>
          <a:xfrm>
            <a:off x="4139489" y="1943100"/>
            <a:ext cx="9811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Font Awesome</a:t>
            </a:r>
            <a:endParaRPr lang="en-US" sz="1100" dirty="0"/>
          </a:p>
        </p:txBody>
      </p:sp>
      <p:sp>
        <p:nvSpPr>
          <p:cNvPr id="29" name="Shape 19"/>
          <p:cNvSpPr/>
          <p:nvPr/>
        </p:nvSpPr>
        <p:spPr>
          <a:xfrm>
            <a:off x="476402" y="2829154"/>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30" name="Shape 20"/>
          <p:cNvSpPr/>
          <p:nvPr/>
        </p:nvSpPr>
        <p:spPr>
          <a:xfrm>
            <a:off x="476402" y="2829154"/>
            <a:ext cx="38405" cy="1000354"/>
          </a:xfrm>
          <a:prstGeom prst="roundRect">
            <a:avLst>
              <a:gd name="adj" fmla="val 181405"/>
            </a:avLst>
          </a:prstGeom>
          <a:solidFill>
            <a:srgbClr val="10B981"/>
          </a:solidFill>
          <a:ln w="12700">
            <a:solidFill>
              <a:srgbClr val="10B981">
                <a:alpha val="0"/>
              </a:srgbClr>
            </a:solidFill>
            <a:prstDash val="solid"/>
          </a:ln>
        </p:spPr>
      </p:sp>
      <p:pic>
        <p:nvPicPr>
          <p:cNvPr id="31" name="Image 8" descr="preencoded.png"/>
          <p:cNvPicPr>
            <a:picLocks noChangeAspect="1"/>
          </p:cNvPicPr>
          <p:nvPr/>
        </p:nvPicPr>
        <p:blipFill>
          <a:blip r:embed="rId10"/>
          <a:srcRect/>
          <a:stretch/>
        </p:blipFill>
        <p:spPr>
          <a:xfrm>
            <a:off x="685800" y="3053182"/>
            <a:ext cx="190195" cy="190195"/>
          </a:xfrm>
          <a:prstGeom prst="rect">
            <a:avLst/>
          </a:prstGeom>
        </p:spPr>
      </p:pic>
      <p:sp>
        <p:nvSpPr>
          <p:cNvPr id="32" name="Text 21"/>
          <p:cNvSpPr txBox="1"/>
          <p:nvPr/>
        </p:nvSpPr>
        <p:spPr>
          <a:xfrm>
            <a:off x="972007" y="3043123"/>
            <a:ext cx="809244" cy="210312"/>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백엔드</a:t>
            </a:r>
            <a:endParaRPr lang="en-US" sz="1400" dirty="0"/>
          </a:p>
        </p:txBody>
      </p:sp>
      <p:pic>
        <p:nvPicPr>
          <p:cNvPr id="33" name="Image 9" descr="preencoded.png"/>
          <p:cNvPicPr>
            <a:picLocks noChangeAspect="1"/>
          </p:cNvPicPr>
          <p:nvPr/>
        </p:nvPicPr>
        <p:blipFill>
          <a:blip r:embed="rId11"/>
          <a:stretch>
            <a:fillRect/>
          </a:stretch>
        </p:blipFill>
        <p:spPr>
          <a:xfrm>
            <a:off x="685800" y="3400654"/>
            <a:ext cx="847649" cy="256946"/>
          </a:xfrm>
          <a:prstGeom prst="rect">
            <a:avLst/>
          </a:prstGeom>
        </p:spPr>
      </p:pic>
      <p:sp>
        <p:nvSpPr>
          <p:cNvPr id="35" name="Text 23"/>
          <p:cNvSpPr txBox="1"/>
          <p:nvPr/>
        </p:nvSpPr>
        <p:spPr>
          <a:xfrm>
            <a:off x="800100" y="3448202"/>
            <a:ext cx="737006" cy="162763"/>
          </a:xfrm>
          <a:prstGeom prst="rect">
            <a:avLst/>
          </a:prstGeom>
          <a:noFill/>
          <a:ln/>
        </p:spPr>
        <p:txBody>
          <a:bodyPr wrap="square" lIns="0" tIns="0" rIns="0" bIns="0" rtlCol="0" anchor="ctr"/>
          <a:lstStyle/>
          <a:p>
            <a:pPr marL="0" indent="0" algn="l">
              <a:buNone/>
            </a:pPr>
            <a:r>
              <a:rPr lang="en-US" sz="1100" b="1" dirty="0">
                <a:solidFill>
                  <a:srgbClr val="065F46"/>
                </a:solidFill>
                <a:latin typeface="Noto Sans KR" pitchFamily="34" charset="0"/>
                <a:ea typeface="Noto Sans KR" pitchFamily="34" charset="-122"/>
                <a:cs typeface="Noto Sans KR" pitchFamily="34" charset="-120"/>
              </a:rPr>
              <a:t>Python 3.8+</a:t>
            </a:r>
            <a:endParaRPr lang="en-US" sz="1100" dirty="0"/>
          </a:p>
        </p:txBody>
      </p:sp>
      <p:pic>
        <p:nvPicPr>
          <p:cNvPr id="36" name="Image 10" descr="preencoded.png"/>
          <p:cNvPicPr>
            <a:picLocks noChangeAspect="1"/>
          </p:cNvPicPr>
          <p:nvPr/>
        </p:nvPicPr>
        <p:blipFill>
          <a:blip r:embed="rId12"/>
          <a:stretch>
            <a:fillRect/>
          </a:stretch>
        </p:blipFill>
        <p:spPr>
          <a:xfrm>
            <a:off x="1583741" y="3400654"/>
            <a:ext cx="609905" cy="256946"/>
          </a:xfrm>
          <a:prstGeom prst="rect">
            <a:avLst/>
          </a:prstGeom>
        </p:spPr>
      </p:pic>
      <p:sp>
        <p:nvSpPr>
          <p:cNvPr id="37" name="Text 24"/>
          <p:cNvSpPr/>
          <p:nvPr/>
        </p:nvSpPr>
        <p:spPr>
          <a:xfrm>
            <a:off x="1583741" y="3400654"/>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FastAPI</a:t>
            </a:r>
            <a:endParaRPr lang="en-US" sz="1100" dirty="0"/>
          </a:p>
        </p:txBody>
      </p:sp>
      <p:pic>
        <p:nvPicPr>
          <p:cNvPr id="39" name="Image 11" descr="preencoded.png"/>
          <p:cNvPicPr>
            <a:picLocks noChangeAspect="1"/>
          </p:cNvPicPr>
          <p:nvPr/>
        </p:nvPicPr>
        <p:blipFill>
          <a:blip r:embed="rId13"/>
          <a:stretch>
            <a:fillRect/>
          </a:stretch>
        </p:blipFill>
        <p:spPr>
          <a:xfrm>
            <a:off x="2245766" y="3400654"/>
            <a:ext cx="629107" cy="256946"/>
          </a:xfrm>
          <a:prstGeom prst="rect">
            <a:avLst/>
          </a:prstGeom>
        </p:spPr>
      </p:pic>
      <p:sp>
        <p:nvSpPr>
          <p:cNvPr id="40" name="Text 26"/>
          <p:cNvSpPr/>
          <p:nvPr/>
        </p:nvSpPr>
        <p:spPr>
          <a:xfrm>
            <a:off x="2245766" y="3400654"/>
            <a:ext cx="629107"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Uvicorn</a:t>
            </a:r>
            <a:endParaRPr lang="en-US" sz="1100" dirty="0"/>
          </a:p>
        </p:txBody>
      </p:sp>
      <p:pic>
        <p:nvPicPr>
          <p:cNvPr id="42" name="Image 12" descr="preencoded.png"/>
          <p:cNvPicPr>
            <a:picLocks noChangeAspect="1"/>
          </p:cNvPicPr>
          <p:nvPr/>
        </p:nvPicPr>
        <p:blipFill>
          <a:blip r:embed="rId14"/>
          <a:stretch>
            <a:fillRect/>
          </a:stretch>
        </p:blipFill>
        <p:spPr>
          <a:xfrm>
            <a:off x="2925166" y="3400654"/>
            <a:ext cx="685800" cy="256946"/>
          </a:xfrm>
          <a:prstGeom prst="rect">
            <a:avLst/>
          </a:prstGeom>
        </p:spPr>
      </p:pic>
      <p:sp>
        <p:nvSpPr>
          <p:cNvPr id="43" name="Text 28"/>
          <p:cNvSpPr/>
          <p:nvPr/>
        </p:nvSpPr>
        <p:spPr>
          <a:xfrm>
            <a:off x="2925166" y="3400654"/>
            <a:ext cx="685800"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Pydantic</a:t>
            </a:r>
            <a:endParaRPr lang="en-US" sz="1100" dirty="0"/>
          </a:p>
        </p:txBody>
      </p:sp>
      <p:pic>
        <p:nvPicPr>
          <p:cNvPr id="45" name="Image 13" descr="preencoded.png"/>
          <p:cNvPicPr>
            <a:picLocks noChangeAspect="1"/>
          </p:cNvPicPr>
          <p:nvPr/>
        </p:nvPicPr>
        <p:blipFill>
          <a:blip r:embed="rId15"/>
          <a:stretch>
            <a:fillRect/>
          </a:stretch>
        </p:blipFill>
        <p:spPr>
          <a:xfrm>
            <a:off x="3660343" y="3400654"/>
            <a:ext cx="1133856" cy="256946"/>
          </a:xfrm>
          <a:prstGeom prst="rect">
            <a:avLst/>
          </a:prstGeom>
        </p:spPr>
      </p:pic>
      <p:sp>
        <p:nvSpPr>
          <p:cNvPr id="46" name="Text 30"/>
          <p:cNvSpPr/>
          <p:nvPr/>
        </p:nvSpPr>
        <p:spPr>
          <a:xfrm>
            <a:off x="3660343" y="3400654"/>
            <a:ext cx="1133856"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065F46"/>
                </a:solidFill>
                <a:latin typeface="Noto Sans KR" pitchFamily="34" charset="0"/>
                <a:ea typeface="Noto Sans KR" pitchFamily="34" charset="-122"/>
                <a:cs typeface="Noto Sans KR" pitchFamily="34" charset="-120"/>
              </a:rPr>
              <a:t>CORS Middleware</a:t>
            </a:r>
            <a:endParaRPr lang="en-US" sz="1100" dirty="0"/>
          </a:p>
        </p:txBody>
      </p:sp>
      <p:sp>
        <p:nvSpPr>
          <p:cNvPr id="48" name="Shape 32"/>
          <p:cNvSpPr/>
          <p:nvPr/>
        </p:nvSpPr>
        <p:spPr>
          <a:xfrm>
            <a:off x="476402" y="3976726"/>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49" name="Shape 33"/>
          <p:cNvSpPr/>
          <p:nvPr/>
        </p:nvSpPr>
        <p:spPr>
          <a:xfrm>
            <a:off x="476402" y="3976726"/>
            <a:ext cx="38405" cy="1000354"/>
          </a:xfrm>
          <a:prstGeom prst="roundRect">
            <a:avLst>
              <a:gd name="adj" fmla="val 181405"/>
            </a:avLst>
          </a:prstGeom>
          <a:solidFill>
            <a:srgbClr val="8B5CF6"/>
          </a:solidFill>
          <a:ln w="12700">
            <a:solidFill>
              <a:srgbClr val="8B5CF6">
                <a:alpha val="0"/>
              </a:srgbClr>
            </a:solidFill>
            <a:prstDash val="solid"/>
          </a:ln>
        </p:spPr>
      </p:sp>
      <p:pic>
        <p:nvPicPr>
          <p:cNvPr id="50" name="Image 14" descr="preencoded.png"/>
          <p:cNvPicPr>
            <a:picLocks noChangeAspect="1"/>
          </p:cNvPicPr>
          <p:nvPr/>
        </p:nvPicPr>
        <p:blipFill>
          <a:blip r:embed="rId16"/>
          <a:srcRect/>
          <a:stretch/>
        </p:blipFill>
        <p:spPr>
          <a:xfrm>
            <a:off x="685800" y="4200754"/>
            <a:ext cx="190195" cy="190195"/>
          </a:xfrm>
          <a:prstGeom prst="rect">
            <a:avLst/>
          </a:prstGeom>
        </p:spPr>
      </p:pic>
      <p:sp>
        <p:nvSpPr>
          <p:cNvPr id="51" name="Text 34"/>
          <p:cNvSpPr txBox="1"/>
          <p:nvPr/>
        </p:nvSpPr>
        <p:spPr>
          <a:xfrm>
            <a:off x="972006" y="4190695"/>
            <a:ext cx="1523391" cy="234086"/>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딥러닝 / 머신러닝</a:t>
            </a:r>
            <a:endParaRPr lang="en-US" sz="1400" dirty="0"/>
          </a:p>
        </p:txBody>
      </p:sp>
      <p:pic>
        <p:nvPicPr>
          <p:cNvPr id="52" name="Image 15" descr="preencoded.png"/>
          <p:cNvPicPr>
            <a:picLocks noChangeAspect="1"/>
          </p:cNvPicPr>
          <p:nvPr/>
        </p:nvPicPr>
        <p:blipFill>
          <a:blip r:embed="rId17"/>
          <a:stretch>
            <a:fillRect/>
          </a:stretch>
        </p:blipFill>
        <p:spPr>
          <a:xfrm>
            <a:off x="685800" y="4548226"/>
            <a:ext cx="819302" cy="256946"/>
          </a:xfrm>
          <a:prstGeom prst="rect">
            <a:avLst/>
          </a:prstGeom>
        </p:spPr>
      </p:pic>
      <p:sp>
        <p:nvSpPr>
          <p:cNvPr id="54" name="Text 36"/>
          <p:cNvSpPr txBox="1"/>
          <p:nvPr/>
        </p:nvSpPr>
        <p:spPr>
          <a:xfrm>
            <a:off x="800100" y="4595774"/>
            <a:ext cx="703174" cy="162763"/>
          </a:xfrm>
          <a:prstGeom prst="rect">
            <a:avLst/>
          </a:prstGeom>
          <a:noFill/>
          <a:ln/>
        </p:spPr>
        <p:txBody>
          <a:bodyPr wrap="square" lIns="0" tIns="0" rIns="0" bIns="0" rtlCol="0" anchor="ctr"/>
          <a:lstStyle/>
          <a:p>
            <a:pPr marL="0" indent="0" algn="l">
              <a:buNone/>
            </a:pPr>
            <a:r>
              <a:rPr lang="en-US" sz="1100" b="1" dirty="0">
                <a:solidFill>
                  <a:srgbClr val="6B21A8"/>
                </a:solidFill>
                <a:latin typeface="Noto Sans KR" pitchFamily="34" charset="0"/>
                <a:ea typeface="Noto Sans KR" pitchFamily="34" charset="-122"/>
                <a:cs typeface="Noto Sans KR" pitchFamily="34" charset="-120"/>
              </a:rPr>
              <a:t>PyTorch 1.x</a:t>
            </a:r>
            <a:endParaRPr lang="en-US" sz="1100" dirty="0"/>
          </a:p>
        </p:txBody>
      </p:sp>
      <p:pic>
        <p:nvPicPr>
          <p:cNvPr id="55" name="Image 16" descr="preencoded.png"/>
          <p:cNvPicPr>
            <a:picLocks noChangeAspect="1"/>
          </p:cNvPicPr>
          <p:nvPr/>
        </p:nvPicPr>
        <p:blipFill>
          <a:blip r:embed="rId18"/>
          <a:stretch>
            <a:fillRect/>
          </a:stretch>
        </p:blipFill>
        <p:spPr>
          <a:xfrm>
            <a:off x="1559966" y="4548226"/>
            <a:ext cx="771754" cy="256946"/>
          </a:xfrm>
          <a:prstGeom prst="rect">
            <a:avLst/>
          </a:prstGeom>
        </p:spPr>
      </p:pic>
      <p:sp>
        <p:nvSpPr>
          <p:cNvPr id="56" name="Text 37"/>
          <p:cNvSpPr/>
          <p:nvPr/>
        </p:nvSpPr>
        <p:spPr>
          <a:xfrm>
            <a:off x="1559966" y="4548226"/>
            <a:ext cx="771754"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Chemprop</a:t>
            </a:r>
            <a:endParaRPr lang="en-US" sz="1100" dirty="0"/>
          </a:p>
        </p:txBody>
      </p:sp>
      <p:pic>
        <p:nvPicPr>
          <p:cNvPr id="58" name="Image 17" descr="preencoded.png"/>
          <p:cNvPicPr>
            <a:picLocks noChangeAspect="1"/>
          </p:cNvPicPr>
          <p:nvPr/>
        </p:nvPicPr>
        <p:blipFill>
          <a:blip r:embed="rId19"/>
          <a:stretch>
            <a:fillRect/>
          </a:stretch>
        </p:blipFill>
        <p:spPr>
          <a:xfrm>
            <a:off x="2381098" y="4548226"/>
            <a:ext cx="523951" cy="256946"/>
          </a:xfrm>
          <a:prstGeom prst="rect">
            <a:avLst/>
          </a:prstGeom>
        </p:spPr>
      </p:pic>
      <p:sp>
        <p:nvSpPr>
          <p:cNvPr id="59" name="Text 39"/>
          <p:cNvSpPr/>
          <p:nvPr/>
        </p:nvSpPr>
        <p:spPr>
          <a:xfrm>
            <a:off x="2381098" y="4548226"/>
            <a:ext cx="5239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RDKit</a:t>
            </a:r>
            <a:endParaRPr lang="en-US" sz="1100" dirty="0"/>
          </a:p>
        </p:txBody>
      </p:sp>
      <p:pic>
        <p:nvPicPr>
          <p:cNvPr id="61" name="Image 18" descr="preencoded.png"/>
          <p:cNvPicPr>
            <a:picLocks noChangeAspect="1"/>
          </p:cNvPicPr>
          <p:nvPr/>
        </p:nvPicPr>
        <p:blipFill>
          <a:blip r:embed="rId17"/>
          <a:stretch>
            <a:fillRect/>
          </a:stretch>
        </p:blipFill>
        <p:spPr>
          <a:xfrm>
            <a:off x="2956255" y="4548226"/>
            <a:ext cx="819302" cy="256946"/>
          </a:xfrm>
          <a:prstGeom prst="rect">
            <a:avLst/>
          </a:prstGeom>
        </p:spPr>
      </p:pic>
      <p:sp>
        <p:nvSpPr>
          <p:cNvPr id="62" name="Text 41"/>
          <p:cNvSpPr/>
          <p:nvPr/>
        </p:nvSpPr>
        <p:spPr>
          <a:xfrm>
            <a:off x="2956255" y="4548226"/>
            <a:ext cx="81930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Scikit-learn</a:t>
            </a:r>
            <a:endParaRPr lang="en-US" sz="1100" dirty="0"/>
          </a:p>
        </p:txBody>
      </p:sp>
      <p:pic>
        <p:nvPicPr>
          <p:cNvPr id="64" name="Image 19" descr="preencoded.png"/>
          <p:cNvPicPr>
            <a:picLocks noChangeAspect="1"/>
          </p:cNvPicPr>
          <p:nvPr/>
        </p:nvPicPr>
        <p:blipFill>
          <a:blip r:embed="rId20"/>
          <a:stretch>
            <a:fillRect/>
          </a:stretch>
        </p:blipFill>
        <p:spPr>
          <a:xfrm>
            <a:off x="3827678" y="4548226"/>
            <a:ext cx="599846" cy="256946"/>
          </a:xfrm>
          <a:prstGeom prst="rect">
            <a:avLst/>
          </a:prstGeom>
        </p:spPr>
      </p:pic>
      <p:sp>
        <p:nvSpPr>
          <p:cNvPr id="65" name="Text 43"/>
          <p:cNvSpPr/>
          <p:nvPr/>
        </p:nvSpPr>
        <p:spPr>
          <a:xfrm>
            <a:off x="382767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NumPy</a:t>
            </a:r>
            <a:endParaRPr lang="en-US" sz="1100" dirty="0"/>
          </a:p>
        </p:txBody>
      </p:sp>
      <p:pic>
        <p:nvPicPr>
          <p:cNvPr id="67" name="Image 20" descr="preencoded.png"/>
          <p:cNvPicPr>
            <a:picLocks noChangeAspect="1"/>
          </p:cNvPicPr>
          <p:nvPr/>
        </p:nvPicPr>
        <p:blipFill>
          <a:blip r:embed="rId20"/>
          <a:stretch>
            <a:fillRect/>
          </a:stretch>
        </p:blipFill>
        <p:spPr>
          <a:xfrm>
            <a:off x="4484218" y="4548226"/>
            <a:ext cx="599846" cy="256946"/>
          </a:xfrm>
          <a:prstGeom prst="rect">
            <a:avLst/>
          </a:prstGeom>
        </p:spPr>
      </p:pic>
      <p:sp>
        <p:nvSpPr>
          <p:cNvPr id="68" name="Text 45"/>
          <p:cNvSpPr/>
          <p:nvPr/>
        </p:nvSpPr>
        <p:spPr>
          <a:xfrm>
            <a:off x="4484218" y="4548226"/>
            <a:ext cx="60076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6B21A8"/>
                </a:solidFill>
                <a:latin typeface="Noto Sans KR" pitchFamily="34" charset="0"/>
                <a:ea typeface="Noto Sans KR" pitchFamily="34" charset="-122"/>
                <a:cs typeface="Noto Sans KR" pitchFamily="34" charset="-120"/>
              </a:rPr>
              <a:t>Pandas</a:t>
            </a:r>
            <a:endParaRPr lang="en-US" sz="1100" dirty="0"/>
          </a:p>
        </p:txBody>
      </p:sp>
      <p:sp>
        <p:nvSpPr>
          <p:cNvPr id="70" name="Shape 47"/>
          <p:cNvSpPr/>
          <p:nvPr/>
        </p:nvSpPr>
        <p:spPr>
          <a:xfrm>
            <a:off x="476402" y="5124298"/>
            <a:ext cx="5486400" cy="1000354"/>
          </a:xfrm>
          <a:prstGeom prst="roundRect">
            <a:avLst>
              <a:gd name="adj" fmla="val 6964"/>
            </a:avLst>
          </a:prstGeom>
          <a:solidFill>
            <a:srgbClr val="FFFFFF"/>
          </a:solidFill>
          <a:ln/>
          <a:effectLst>
            <a:outerShdw blurRad="76200" dist="25400" dir="16200000" algn="bl" rotWithShape="0">
              <a:srgbClr val="000000">
                <a:alpha val="8000"/>
              </a:srgbClr>
            </a:outerShdw>
          </a:effectLst>
        </p:spPr>
      </p:sp>
      <p:sp>
        <p:nvSpPr>
          <p:cNvPr id="71" name="Shape 48"/>
          <p:cNvSpPr/>
          <p:nvPr/>
        </p:nvSpPr>
        <p:spPr>
          <a:xfrm>
            <a:off x="476402" y="5124298"/>
            <a:ext cx="38405" cy="1000354"/>
          </a:xfrm>
          <a:prstGeom prst="roundRect">
            <a:avLst>
              <a:gd name="adj" fmla="val 181405"/>
            </a:avLst>
          </a:prstGeom>
          <a:solidFill>
            <a:srgbClr val="F59E0B"/>
          </a:solidFill>
          <a:ln w="12700">
            <a:solidFill>
              <a:srgbClr val="F59E0B">
                <a:alpha val="0"/>
              </a:srgbClr>
            </a:solidFill>
            <a:prstDash val="solid"/>
          </a:ln>
        </p:spPr>
      </p:sp>
      <p:pic>
        <p:nvPicPr>
          <p:cNvPr id="72" name="Image 21" descr="preencoded.png"/>
          <p:cNvPicPr>
            <a:picLocks noChangeAspect="1"/>
          </p:cNvPicPr>
          <p:nvPr/>
        </p:nvPicPr>
        <p:blipFill>
          <a:blip r:embed="rId21"/>
          <a:srcRect l="-1648" r="-1648"/>
          <a:stretch/>
        </p:blipFill>
        <p:spPr>
          <a:xfrm>
            <a:off x="685800" y="5348326"/>
            <a:ext cx="171907" cy="190195"/>
          </a:xfrm>
          <a:prstGeom prst="rect">
            <a:avLst/>
          </a:prstGeom>
        </p:spPr>
      </p:pic>
      <p:sp>
        <p:nvSpPr>
          <p:cNvPr id="73" name="Text 49"/>
          <p:cNvSpPr txBox="1"/>
          <p:nvPr/>
        </p:nvSpPr>
        <p:spPr>
          <a:xfrm>
            <a:off x="952804" y="5339182"/>
            <a:ext cx="1739189" cy="209398"/>
          </a:xfrm>
          <a:prstGeom prst="rect">
            <a:avLst/>
          </a:prstGeom>
          <a:noFill/>
          <a:ln/>
        </p:spPr>
        <p:txBody>
          <a:bodyPr wrap="square" lIns="0" tIns="0" rIns="0" bIns="0" rtlCol="0" anchor="ctr"/>
          <a:lstStyle/>
          <a:p>
            <a:pPr marL="0" indent="0" algn="l">
              <a:buNone/>
            </a:pPr>
            <a:r>
              <a:rPr lang="en-US" sz="1400" b="1" dirty="0">
                <a:solidFill>
                  <a:srgbClr val="1A355B"/>
                </a:solidFill>
                <a:latin typeface="Noto Sans KR" pitchFamily="34" charset="0"/>
                <a:ea typeface="Noto Sans KR" pitchFamily="34" charset="-122"/>
                <a:cs typeface="Noto Sans KR" pitchFamily="34" charset="-120"/>
              </a:rPr>
              <a:t>데이터 처리 및 분석</a:t>
            </a:r>
            <a:endParaRPr lang="en-US" sz="1400" dirty="0"/>
          </a:p>
        </p:txBody>
      </p:sp>
      <p:pic>
        <p:nvPicPr>
          <p:cNvPr id="74" name="Image 22" descr="preencoded.png"/>
          <p:cNvPicPr>
            <a:picLocks noChangeAspect="1"/>
          </p:cNvPicPr>
          <p:nvPr/>
        </p:nvPicPr>
        <p:blipFill>
          <a:blip r:embed="rId22"/>
          <a:stretch>
            <a:fillRect/>
          </a:stretch>
        </p:blipFill>
        <p:spPr>
          <a:xfrm>
            <a:off x="685800" y="5695798"/>
            <a:ext cx="1095451" cy="256946"/>
          </a:xfrm>
          <a:prstGeom prst="rect">
            <a:avLst/>
          </a:prstGeom>
        </p:spPr>
      </p:pic>
      <p:sp>
        <p:nvSpPr>
          <p:cNvPr id="75" name="Text 50"/>
          <p:cNvSpPr/>
          <p:nvPr/>
        </p:nvSpPr>
        <p:spPr>
          <a:xfrm>
            <a:off x="685800" y="5695798"/>
            <a:ext cx="109545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R (Bioconductor)</a:t>
            </a:r>
            <a:endParaRPr lang="en-US" sz="1100" dirty="0"/>
          </a:p>
        </p:txBody>
      </p:sp>
      <p:pic>
        <p:nvPicPr>
          <p:cNvPr id="77" name="Image 23" descr="preencoded.png"/>
          <p:cNvPicPr>
            <a:picLocks noChangeAspect="1"/>
          </p:cNvPicPr>
          <p:nvPr/>
        </p:nvPicPr>
        <p:blipFill>
          <a:blip r:embed="rId23"/>
          <a:stretch>
            <a:fillRect/>
          </a:stretch>
        </p:blipFill>
        <p:spPr>
          <a:xfrm>
            <a:off x="1832458" y="5695798"/>
            <a:ext cx="809244" cy="256946"/>
          </a:xfrm>
          <a:prstGeom prst="rect">
            <a:avLst/>
          </a:prstGeom>
        </p:spPr>
      </p:pic>
      <p:sp>
        <p:nvSpPr>
          <p:cNvPr id="78" name="Text 52"/>
          <p:cNvSpPr/>
          <p:nvPr/>
        </p:nvSpPr>
        <p:spPr>
          <a:xfrm>
            <a:off x="1832458" y="5695798"/>
            <a:ext cx="8101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GOSemSim</a:t>
            </a:r>
            <a:endParaRPr lang="en-US" sz="1100" dirty="0"/>
          </a:p>
        </p:txBody>
      </p:sp>
      <p:pic>
        <p:nvPicPr>
          <p:cNvPr id="80" name="Image 24" descr="preencoded.png"/>
          <p:cNvPicPr>
            <a:picLocks noChangeAspect="1"/>
          </p:cNvPicPr>
          <p:nvPr/>
        </p:nvPicPr>
        <p:blipFill>
          <a:blip r:embed="rId24"/>
          <a:stretch>
            <a:fillRect/>
          </a:stretch>
        </p:blipFill>
        <p:spPr>
          <a:xfrm>
            <a:off x="2691994" y="5695798"/>
            <a:ext cx="552298" cy="256946"/>
          </a:xfrm>
          <a:prstGeom prst="rect">
            <a:avLst/>
          </a:prstGeom>
        </p:spPr>
      </p:pic>
      <p:sp>
        <p:nvSpPr>
          <p:cNvPr id="81" name="Text 54"/>
          <p:cNvSpPr/>
          <p:nvPr/>
        </p:nvSpPr>
        <p:spPr>
          <a:xfrm>
            <a:off x="2691994" y="5695798"/>
            <a:ext cx="553212"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BLAST</a:t>
            </a:r>
            <a:endParaRPr lang="en-US" sz="1100" dirty="0"/>
          </a:p>
        </p:txBody>
      </p:sp>
      <p:pic>
        <p:nvPicPr>
          <p:cNvPr id="83" name="Image 25" descr="preencoded.png"/>
          <p:cNvPicPr>
            <a:picLocks noChangeAspect="1"/>
          </p:cNvPicPr>
          <p:nvPr/>
        </p:nvPicPr>
        <p:blipFill>
          <a:blip r:embed="rId25"/>
          <a:stretch>
            <a:fillRect/>
          </a:stretch>
        </p:blipFill>
        <p:spPr>
          <a:xfrm>
            <a:off x="3300070" y="5695798"/>
            <a:ext cx="609905" cy="256946"/>
          </a:xfrm>
          <a:prstGeom prst="rect">
            <a:avLst/>
          </a:prstGeom>
        </p:spPr>
      </p:pic>
      <p:sp>
        <p:nvSpPr>
          <p:cNvPr id="84" name="Text 56"/>
          <p:cNvSpPr/>
          <p:nvPr/>
        </p:nvSpPr>
        <p:spPr>
          <a:xfrm>
            <a:off x="3300070" y="5695798"/>
            <a:ext cx="609905"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WGCNA</a:t>
            </a:r>
            <a:endParaRPr lang="en-US" sz="1100" dirty="0"/>
          </a:p>
        </p:txBody>
      </p:sp>
      <p:pic>
        <p:nvPicPr>
          <p:cNvPr id="86" name="Image 26" descr="preencoded.png"/>
          <p:cNvPicPr>
            <a:picLocks noChangeAspect="1"/>
          </p:cNvPicPr>
          <p:nvPr/>
        </p:nvPicPr>
        <p:blipFill>
          <a:blip r:embed="rId26"/>
          <a:stretch>
            <a:fillRect/>
          </a:stretch>
        </p:blipFill>
        <p:spPr>
          <a:xfrm>
            <a:off x="3965753" y="5695798"/>
            <a:ext cx="1152144" cy="256946"/>
          </a:xfrm>
          <a:prstGeom prst="rect">
            <a:avLst/>
          </a:prstGeom>
        </p:spPr>
      </p:pic>
      <p:sp>
        <p:nvSpPr>
          <p:cNvPr id="87" name="Text 58"/>
          <p:cNvSpPr/>
          <p:nvPr/>
        </p:nvSpPr>
        <p:spPr>
          <a:xfrm>
            <a:off x="3965753" y="5695798"/>
            <a:ext cx="1153058"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92400E"/>
                </a:solidFill>
                <a:latin typeface="Noto Sans KR" pitchFamily="34" charset="0"/>
                <a:ea typeface="Noto Sans KR" pitchFamily="34" charset="-122"/>
                <a:cs typeface="Noto Sans KR" pitchFamily="34" charset="-120"/>
              </a:rPr>
              <a:t>Jupyter Notebook</a:t>
            </a:r>
            <a:endParaRPr lang="en-US" sz="1100" dirty="0"/>
          </a:p>
        </p:txBody>
      </p:sp>
      <p:sp>
        <p:nvSpPr>
          <p:cNvPr id="89" name="Shape 60"/>
          <p:cNvSpPr/>
          <p:nvPr/>
        </p:nvSpPr>
        <p:spPr>
          <a:xfrm>
            <a:off x="6229807" y="1371600"/>
            <a:ext cx="5486400" cy="3719298"/>
          </a:xfrm>
          <a:prstGeom prst="roundRect">
            <a:avLst>
              <a:gd name="adj" fmla="val 555"/>
            </a:avLst>
          </a:prstGeom>
          <a:solidFill>
            <a:srgbClr val="FFFFFF"/>
          </a:solidFill>
          <a:ln/>
          <a:effectLst>
            <a:outerShdw blurRad="76200" dist="25400" dir="16200000" algn="bl" rotWithShape="0">
              <a:srgbClr val="000000">
                <a:alpha val="8000"/>
              </a:srgbClr>
            </a:outerShdw>
          </a:effectLst>
        </p:spPr>
      </p:sp>
      <p:sp>
        <p:nvSpPr>
          <p:cNvPr id="90" name="Shape 61"/>
          <p:cNvSpPr/>
          <p:nvPr/>
        </p:nvSpPr>
        <p:spPr>
          <a:xfrm>
            <a:off x="6229807" y="1371600"/>
            <a:ext cx="5486400" cy="28346"/>
          </a:xfrm>
          <a:prstGeom prst="roundRect">
            <a:avLst>
              <a:gd name="adj" fmla="val 69373"/>
            </a:avLst>
          </a:prstGeom>
          <a:solidFill>
            <a:srgbClr val="1A355B"/>
          </a:solidFill>
          <a:ln w="12700">
            <a:solidFill>
              <a:srgbClr val="1A355B">
                <a:alpha val="0"/>
              </a:srgbClr>
            </a:solidFill>
            <a:prstDash val="solid"/>
          </a:ln>
        </p:spPr>
      </p:sp>
      <p:pic>
        <p:nvPicPr>
          <p:cNvPr id="91" name="Image 27" descr="preencoded.png"/>
          <p:cNvPicPr>
            <a:picLocks noChangeAspect="1"/>
          </p:cNvPicPr>
          <p:nvPr/>
        </p:nvPicPr>
        <p:blipFill>
          <a:blip r:embed="rId27"/>
          <a:srcRect/>
          <a:stretch/>
        </p:blipFill>
        <p:spPr>
          <a:xfrm>
            <a:off x="6420002" y="1655064"/>
            <a:ext cx="209398" cy="209398"/>
          </a:xfrm>
          <a:prstGeom prst="rect">
            <a:avLst/>
          </a:prstGeom>
        </p:spPr>
      </p:pic>
      <p:sp>
        <p:nvSpPr>
          <p:cNvPr id="92" name="Text 62"/>
          <p:cNvSpPr txBox="1"/>
          <p:nvPr/>
        </p:nvSpPr>
        <p:spPr>
          <a:xfrm>
            <a:off x="6724498" y="1640434"/>
            <a:ext cx="1919881" cy="239572"/>
          </a:xfrm>
          <a:prstGeom prst="rect">
            <a:avLst/>
          </a:prstGeom>
          <a:noFill/>
          <a:ln/>
        </p:spPr>
        <p:txBody>
          <a:bodyPr wrap="square" lIns="0" tIns="0" rIns="0" bIns="0" rtlCol="0" anchor="ctr"/>
          <a:lstStyle/>
          <a:p>
            <a:pPr marL="0" indent="0" algn="l">
              <a:buNone/>
            </a:pPr>
            <a:r>
              <a:rPr lang="en-US" b="1" dirty="0">
                <a:solidFill>
                  <a:srgbClr val="1A355B"/>
                </a:solidFill>
                <a:latin typeface="Noto Sans KR" pitchFamily="34" charset="0"/>
                <a:ea typeface="Noto Sans KR" pitchFamily="34" charset="-122"/>
                <a:cs typeface="Noto Sans KR" pitchFamily="34" charset="-120"/>
              </a:rPr>
              <a:t>재현성 확보 방법</a:t>
            </a:r>
            <a:endParaRPr lang="en-US" dirty="0"/>
          </a:p>
        </p:txBody>
      </p:sp>
      <p:sp>
        <p:nvSpPr>
          <p:cNvPr id="93" name="Shape 63"/>
          <p:cNvSpPr/>
          <p:nvPr/>
        </p:nvSpPr>
        <p:spPr>
          <a:xfrm>
            <a:off x="6420002" y="1991062"/>
            <a:ext cx="5105095" cy="638251"/>
          </a:xfrm>
          <a:prstGeom prst="roundRect">
            <a:avLst>
              <a:gd name="adj" fmla="val 16536"/>
            </a:avLst>
          </a:prstGeom>
          <a:solidFill>
            <a:srgbClr val="F8FAFC"/>
          </a:solidFill>
          <a:ln/>
        </p:spPr>
      </p:sp>
      <p:sp>
        <p:nvSpPr>
          <p:cNvPr id="94" name="Shape 64"/>
          <p:cNvSpPr/>
          <p:nvPr/>
        </p:nvSpPr>
        <p:spPr>
          <a:xfrm>
            <a:off x="6420002" y="1991062"/>
            <a:ext cx="28346" cy="638251"/>
          </a:xfrm>
          <a:prstGeom prst="roundRect">
            <a:avLst>
              <a:gd name="adj" fmla="val 328053"/>
            </a:avLst>
          </a:prstGeom>
          <a:solidFill>
            <a:srgbClr val="3B82F6"/>
          </a:solidFill>
          <a:ln w="12700">
            <a:solidFill>
              <a:srgbClr val="3B82F6">
                <a:alpha val="0"/>
              </a:srgbClr>
            </a:solidFill>
            <a:prstDash val="solid"/>
          </a:ln>
        </p:spPr>
      </p:sp>
      <p:sp>
        <p:nvSpPr>
          <p:cNvPr id="95" name="Text 65"/>
          <p:cNvSpPr txBox="1"/>
          <p:nvPr/>
        </p:nvSpPr>
        <p:spPr>
          <a:xfrm>
            <a:off x="6562649" y="2086160"/>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데이터 분할 전략</a:t>
            </a:r>
            <a:endParaRPr lang="en-US" sz="1200" dirty="0"/>
          </a:p>
        </p:txBody>
      </p:sp>
      <p:sp>
        <p:nvSpPr>
          <p:cNvPr id="96" name="Text 66"/>
          <p:cNvSpPr txBox="1"/>
          <p:nvPr/>
        </p:nvSpPr>
        <p:spPr>
          <a:xfrm>
            <a:off x="6562649" y="2281842"/>
            <a:ext cx="4572711" cy="303581"/>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Scaffold Split (80:10:10)</a:t>
            </a:r>
            <a:r>
              <a:rPr lang="en-US" sz="1100" dirty="0">
                <a:solidFill>
                  <a:srgbClr val="1E293B"/>
                </a:solidFill>
                <a:latin typeface="Noto Sans KR" pitchFamily="34" charset="0"/>
                <a:ea typeface="Noto Sans KR" pitchFamily="34" charset="-122"/>
                <a:cs typeface="Noto Sans KR" pitchFamily="34" charset="-120"/>
              </a:rPr>
              <a:t>: 분자 골격 기반 분할로 훈련/검증/테스트 세트 간 구조적 다양성 확보</a:t>
            </a:r>
            <a:endParaRPr lang="en-US" sz="1100" dirty="0"/>
          </a:p>
        </p:txBody>
      </p:sp>
      <p:sp>
        <p:nvSpPr>
          <p:cNvPr id="97" name="Shape 67"/>
          <p:cNvSpPr/>
          <p:nvPr/>
        </p:nvSpPr>
        <p:spPr>
          <a:xfrm>
            <a:off x="6420002" y="2709932"/>
            <a:ext cx="5105095" cy="667511"/>
          </a:xfrm>
          <a:prstGeom prst="roundRect">
            <a:avLst>
              <a:gd name="adj" fmla="val 16536"/>
            </a:avLst>
          </a:prstGeom>
          <a:solidFill>
            <a:srgbClr val="F8FAFC"/>
          </a:solidFill>
          <a:ln/>
        </p:spPr>
      </p:sp>
      <p:sp>
        <p:nvSpPr>
          <p:cNvPr id="98" name="Shape 68"/>
          <p:cNvSpPr/>
          <p:nvPr/>
        </p:nvSpPr>
        <p:spPr>
          <a:xfrm>
            <a:off x="6420002" y="2709932"/>
            <a:ext cx="28346" cy="667511"/>
          </a:xfrm>
          <a:prstGeom prst="roundRect">
            <a:avLst>
              <a:gd name="adj" fmla="val 328053"/>
            </a:avLst>
          </a:prstGeom>
          <a:solidFill>
            <a:srgbClr val="3B82F6"/>
          </a:solidFill>
          <a:ln w="12700">
            <a:solidFill>
              <a:srgbClr val="3B82F6">
                <a:alpha val="0"/>
              </a:srgbClr>
            </a:solidFill>
            <a:prstDash val="solid"/>
          </a:ln>
        </p:spPr>
      </p:sp>
      <p:sp>
        <p:nvSpPr>
          <p:cNvPr id="99" name="Text 69"/>
          <p:cNvSpPr txBox="1"/>
          <p:nvPr/>
        </p:nvSpPr>
        <p:spPr>
          <a:xfrm>
            <a:off x="6562649" y="2805031"/>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임계값 최적화</a:t>
            </a:r>
            <a:endParaRPr lang="en-US" sz="1200" dirty="0"/>
          </a:p>
        </p:txBody>
      </p:sp>
      <p:sp>
        <p:nvSpPr>
          <p:cNvPr id="100" name="Text 70"/>
          <p:cNvSpPr txBox="1"/>
          <p:nvPr/>
        </p:nvSpPr>
        <p:spPr>
          <a:xfrm>
            <a:off x="6562649" y="2999798"/>
            <a:ext cx="4278110" cy="304496"/>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Youden's J Statistic</a:t>
            </a:r>
            <a:r>
              <a:rPr lang="en-US" sz="1100" dirty="0">
                <a:solidFill>
                  <a:srgbClr val="1E293B"/>
                </a:solidFill>
                <a:latin typeface="Noto Sans KR" pitchFamily="34" charset="0"/>
                <a:ea typeface="Noto Sans KR" pitchFamily="34" charset="-122"/>
                <a:cs typeface="Noto Sans KR" pitchFamily="34" charset="-120"/>
              </a:rPr>
              <a:t>: ROC 곡선 기반 최적 분류 임계값 </a:t>
            </a:r>
            <a:r>
              <a:rPr lang="en-US" sz="1100" dirty="0" err="1">
                <a:solidFill>
                  <a:srgbClr val="1E293B"/>
                </a:solidFill>
                <a:latin typeface="Noto Sans KR" pitchFamily="34" charset="0"/>
                <a:ea typeface="Noto Sans KR" pitchFamily="34" charset="-122"/>
                <a:cs typeface="Noto Sans KR" pitchFamily="34" charset="-120"/>
              </a:rPr>
              <a:t>자동</a:t>
            </a:r>
            <a:r>
              <a:rPr lang="en-US" sz="1100" dirty="0">
                <a:solidFill>
                  <a:srgbClr val="1E293B"/>
                </a:solidFill>
                <a:latin typeface="Noto Sans KR" pitchFamily="34" charset="0"/>
                <a:ea typeface="Noto Sans KR" pitchFamily="34" charset="-122"/>
                <a:cs typeface="Noto Sans KR" pitchFamily="34" charset="-120"/>
              </a:rPr>
              <a:t> </a:t>
            </a:r>
            <a:r>
              <a:rPr lang="en-US" sz="1100" dirty="0" err="1" smtClean="0">
                <a:solidFill>
                  <a:srgbClr val="1E293B"/>
                </a:solidFill>
                <a:latin typeface="Noto Sans KR" pitchFamily="34" charset="0"/>
                <a:ea typeface="Noto Sans KR" pitchFamily="34" charset="-122"/>
                <a:cs typeface="Noto Sans KR" pitchFamily="34" charset="-120"/>
              </a:rPr>
              <a:t>결정</a:t>
            </a:r>
            <a:endParaRPr lang="en-US" sz="1100" dirty="0" smtClean="0">
              <a:solidFill>
                <a:srgbClr val="1E293B"/>
              </a:solidFill>
              <a:latin typeface="Noto Sans KR" pitchFamily="34" charset="0"/>
              <a:ea typeface="Noto Sans KR" pitchFamily="34" charset="-122"/>
              <a:cs typeface="Noto Sans KR" pitchFamily="34" charset="-120"/>
            </a:endParaRPr>
          </a:p>
          <a:p>
            <a:pPr marL="0" indent="0" algn="l">
              <a:buNone/>
            </a:pPr>
            <a:r>
              <a:rPr lang="en-US" sz="1100" dirty="0" smtClean="0">
                <a:solidFill>
                  <a:srgbClr val="1E293B"/>
                </a:solidFill>
                <a:latin typeface="Noto Sans KR" pitchFamily="34" charset="0"/>
                <a:ea typeface="Noto Sans KR" pitchFamily="34" charset="-122"/>
                <a:cs typeface="Noto Sans KR" pitchFamily="34" charset="-120"/>
              </a:rPr>
              <a:t>(</a:t>
            </a:r>
            <a:r>
              <a:rPr lang="en-US" sz="1100" dirty="0">
                <a:solidFill>
                  <a:srgbClr val="1E293B"/>
                </a:solidFill>
                <a:latin typeface="Noto Sans KR" pitchFamily="34" charset="0"/>
                <a:ea typeface="Noto Sans KR" pitchFamily="34" charset="-122"/>
                <a:cs typeface="Noto Sans KR" pitchFamily="34" charset="-120"/>
              </a:rPr>
              <a:t>민감도 + 특이도 - 1 최대화)</a:t>
            </a:r>
            <a:endParaRPr lang="en-US" sz="1100" dirty="0"/>
          </a:p>
        </p:txBody>
      </p:sp>
      <p:sp>
        <p:nvSpPr>
          <p:cNvPr id="101" name="Shape 71"/>
          <p:cNvSpPr/>
          <p:nvPr/>
        </p:nvSpPr>
        <p:spPr>
          <a:xfrm>
            <a:off x="6420002" y="3448833"/>
            <a:ext cx="5105095" cy="648417"/>
          </a:xfrm>
          <a:prstGeom prst="roundRect">
            <a:avLst>
              <a:gd name="adj" fmla="val 16536"/>
            </a:avLst>
          </a:prstGeom>
          <a:solidFill>
            <a:srgbClr val="F8FAFC"/>
          </a:solidFill>
          <a:ln/>
        </p:spPr>
      </p:sp>
      <p:sp>
        <p:nvSpPr>
          <p:cNvPr id="102" name="Shape 72"/>
          <p:cNvSpPr/>
          <p:nvPr/>
        </p:nvSpPr>
        <p:spPr>
          <a:xfrm>
            <a:off x="6420002" y="3448833"/>
            <a:ext cx="28346" cy="648417"/>
          </a:xfrm>
          <a:prstGeom prst="roundRect">
            <a:avLst>
              <a:gd name="adj" fmla="val 328053"/>
            </a:avLst>
          </a:prstGeom>
          <a:solidFill>
            <a:srgbClr val="3B82F6"/>
          </a:solidFill>
          <a:ln w="12700">
            <a:solidFill>
              <a:srgbClr val="3B82F6">
                <a:alpha val="0"/>
              </a:srgbClr>
            </a:solidFill>
            <a:prstDash val="solid"/>
          </a:ln>
        </p:spPr>
      </p:sp>
      <p:sp>
        <p:nvSpPr>
          <p:cNvPr id="103" name="Text 73"/>
          <p:cNvSpPr txBox="1"/>
          <p:nvPr/>
        </p:nvSpPr>
        <p:spPr>
          <a:xfrm>
            <a:off x="6562649" y="3543932"/>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모델 앙상블</a:t>
            </a:r>
            <a:endParaRPr lang="en-US" sz="1200" dirty="0"/>
          </a:p>
        </p:txBody>
      </p:sp>
      <p:sp>
        <p:nvSpPr>
          <p:cNvPr id="104" name="Text 74"/>
          <p:cNvSpPr txBox="1"/>
          <p:nvPr/>
        </p:nvSpPr>
        <p:spPr>
          <a:xfrm>
            <a:off x="6562649" y="3739614"/>
            <a:ext cx="4572711" cy="304494"/>
          </a:xfrm>
          <a:prstGeom prst="rect">
            <a:avLst/>
          </a:prstGeom>
          <a:noFill/>
          <a:ln/>
        </p:spPr>
        <p:txBody>
          <a:bodyPr wrap="square" lIns="0" tIns="0" rIns="0" bIns="0" rtlCol="0" anchor="ctr"/>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5-Fold Ensemble</a:t>
            </a:r>
            <a:r>
              <a:rPr lang="en-US" sz="1100" dirty="0">
                <a:solidFill>
                  <a:srgbClr val="1E293B"/>
                </a:solidFill>
                <a:latin typeface="Noto Sans KR" pitchFamily="34" charset="0"/>
                <a:ea typeface="Noto Sans KR" pitchFamily="34" charset="-122"/>
                <a:cs typeface="Noto Sans KR" pitchFamily="34" charset="-120"/>
              </a:rPr>
              <a:t>: 서로 다른 초기 가중치로 학습한 5개 모델의 예측 평균으로 강건성 향상</a:t>
            </a:r>
            <a:endParaRPr lang="en-US" sz="1100" dirty="0"/>
          </a:p>
        </p:txBody>
      </p:sp>
      <p:sp>
        <p:nvSpPr>
          <p:cNvPr id="105" name="Shape 75"/>
          <p:cNvSpPr/>
          <p:nvPr/>
        </p:nvSpPr>
        <p:spPr>
          <a:xfrm>
            <a:off x="6420002" y="4185798"/>
            <a:ext cx="5105095" cy="733349"/>
          </a:xfrm>
          <a:prstGeom prst="roundRect">
            <a:avLst>
              <a:gd name="adj" fmla="val 9716"/>
            </a:avLst>
          </a:prstGeom>
          <a:solidFill>
            <a:srgbClr val="F8FAFC"/>
          </a:solidFill>
          <a:ln/>
        </p:spPr>
      </p:sp>
      <p:sp>
        <p:nvSpPr>
          <p:cNvPr id="106" name="Shape 76"/>
          <p:cNvSpPr/>
          <p:nvPr/>
        </p:nvSpPr>
        <p:spPr>
          <a:xfrm>
            <a:off x="6420002" y="4185798"/>
            <a:ext cx="28346" cy="733349"/>
          </a:xfrm>
          <a:prstGeom prst="roundRect">
            <a:avLst>
              <a:gd name="adj" fmla="val 251365"/>
            </a:avLst>
          </a:prstGeom>
          <a:solidFill>
            <a:srgbClr val="3B82F6"/>
          </a:solidFill>
          <a:ln w="12700">
            <a:solidFill>
              <a:srgbClr val="3B82F6">
                <a:alpha val="0"/>
              </a:srgbClr>
            </a:solidFill>
            <a:prstDash val="solid"/>
          </a:ln>
        </p:spPr>
      </p:sp>
      <p:sp>
        <p:nvSpPr>
          <p:cNvPr id="107" name="Text 77"/>
          <p:cNvSpPr txBox="1"/>
          <p:nvPr/>
        </p:nvSpPr>
        <p:spPr>
          <a:xfrm>
            <a:off x="6562649" y="4280896"/>
            <a:ext cx="5039258" cy="162763"/>
          </a:xfrm>
          <a:prstGeom prst="rect">
            <a:avLst/>
          </a:prstGeom>
          <a:noFill/>
          <a:ln/>
        </p:spPr>
        <p:txBody>
          <a:bodyPr wrap="square" lIns="0" tIns="0" rIns="0" bIns="0" rtlCol="0" anchor="ctr"/>
          <a:lstStyle/>
          <a:p>
            <a:pPr marL="0" indent="0" algn="l">
              <a:buNone/>
            </a:pPr>
            <a:r>
              <a:rPr lang="en-US" sz="1200" b="1" dirty="0">
                <a:solidFill>
                  <a:srgbClr val="64748B"/>
                </a:solidFill>
                <a:latin typeface="Noto Sans KR" pitchFamily="34" charset="0"/>
                <a:ea typeface="Noto Sans KR" pitchFamily="34" charset="-122"/>
                <a:cs typeface="Noto Sans KR" pitchFamily="34" charset="-120"/>
              </a:rPr>
              <a:t>하이퍼파라미터 최적화</a:t>
            </a:r>
            <a:endParaRPr lang="en-US" sz="1200" dirty="0"/>
          </a:p>
        </p:txBody>
      </p:sp>
      <p:sp>
        <p:nvSpPr>
          <p:cNvPr id="108" name="Text 78"/>
          <p:cNvSpPr txBox="1"/>
          <p:nvPr/>
        </p:nvSpPr>
        <p:spPr>
          <a:xfrm>
            <a:off x="6562649" y="4476577"/>
            <a:ext cx="4572711" cy="342900"/>
          </a:xfrm>
          <a:prstGeom prst="rect">
            <a:avLst/>
          </a:prstGeom>
          <a:noFill/>
          <a:ln/>
        </p:spPr>
        <p:txBody>
          <a:bodyPr wrap="square" lIns="0" tIns="0" rIns="0" bIns="0" rtlCol="0" anchor="t"/>
          <a:lstStyle/>
          <a:p>
            <a:pPr marL="0" indent="0" algn="l">
              <a:buNone/>
            </a:pPr>
            <a:r>
              <a:rPr lang="en-US" sz="1100" b="1" dirty="0">
                <a:solidFill>
                  <a:srgbClr val="1A355B"/>
                </a:solidFill>
                <a:latin typeface="Noto Sans KR" pitchFamily="34" charset="0"/>
                <a:ea typeface="Noto Sans KR" pitchFamily="34" charset="-122"/>
                <a:cs typeface="Noto Sans KR" pitchFamily="34" charset="-120"/>
              </a:rPr>
              <a:t>Bayesian Optimization</a:t>
            </a:r>
            <a:r>
              <a:rPr lang="en-US" sz="1100" dirty="0">
                <a:solidFill>
                  <a:srgbClr val="1E293B"/>
                </a:solidFill>
                <a:latin typeface="Noto Sans KR" pitchFamily="34" charset="0"/>
                <a:ea typeface="Noto Sans KR" pitchFamily="34" charset="-122"/>
                <a:cs typeface="Noto Sans KR" pitchFamily="34" charset="-120"/>
              </a:rPr>
              <a:t>: Hyperopt 라이브러리로 드롭아웃, hidden size, 메시지 전달 횟수 등 자동 튜닝</a:t>
            </a:r>
            <a:endParaRPr lang="en-US" sz="1100" dirty="0"/>
          </a:p>
        </p:txBody>
      </p:sp>
      <p:sp>
        <p:nvSpPr>
          <p:cNvPr id="132" name="Shape 97"/>
          <p:cNvSpPr/>
          <p:nvPr/>
        </p:nvSpPr>
        <p:spPr>
          <a:xfrm>
            <a:off x="6229807" y="5170018"/>
            <a:ext cx="5486400" cy="1155368"/>
          </a:xfrm>
          <a:prstGeom prst="roundRect">
            <a:avLst>
              <a:gd name="adj" fmla="val 5327"/>
            </a:avLst>
          </a:prstGeom>
          <a:solidFill>
            <a:srgbClr val="EFF6FF"/>
          </a:solidFill>
          <a:ln w="25400">
            <a:solidFill>
              <a:srgbClr val="BFDBFE"/>
            </a:solidFill>
            <a:prstDash val="solid"/>
          </a:ln>
        </p:spPr>
      </p:sp>
      <p:sp>
        <p:nvSpPr>
          <p:cNvPr id="133" name="Text 98"/>
          <p:cNvSpPr txBox="1"/>
          <p:nvPr/>
        </p:nvSpPr>
        <p:spPr>
          <a:xfrm>
            <a:off x="6381598" y="5322723"/>
            <a:ext cx="5372100" cy="162763"/>
          </a:xfrm>
          <a:prstGeom prst="rect">
            <a:avLst/>
          </a:prstGeom>
          <a:noFill/>
          <a:ln/>
        </p:spPr>
        <p:txBody>
          <a:bodyPr wrap="square" lIns="0" tIns="0" rIns="0" bIns="0" rtlCol="0" anchor="ctr"/>
          <a:lstStyle/>
          <a:p>
            <a:pPr marL="0" indent="0" algn="l">
              <a:buNone/>
            </a:pPr>
            <a:r>
              <a:rPr lang="en-US" sz="1100" b="1" dirty="0">
                <a:solidFill>
                  <a:srgbClr val="1E40AF"/>
                </a:solidFill>
                <a:latin typeface="Noto Sans KR" pitchFamily="34" charset="0"/>
                <a:ea typeface="Noto Sans KR" pitchFamily="34" charset="-122"/>
                <a:cs typeface="Noto Sans KR" pitchFamily="34" charset="-120"/>
              </a:rPr>
              <a:t>프로젝트 재현성 요약</a:t>
            </a:r>
            <a:endParaRPr lang="en-US" sz="1100" dirty="0"/>
          </a:p>
        </p:txBody>
      </p:sp>
      <p:sp>
        <p:nvSpPr>
          <p:cNvPr id="134" name="Text 99"/>
          <p:cNvSpPr txBox="1"/>
          <p:nvPr/>
        </p:nvSpPr>
        <p:spPr>
          <a:xfrm>
            <a:off x="6381598" y="5536691"/>
            <a:ext cx="5220309" cy="709575"/>
          </a:xfrm>
          <a:prstGeom prst="rect">
            <a:avLst/>
          </a:prstGeom>
          <a:noFill/>
          <a:ln/>
        </p:spPr>
        <p:txBody>
          <a:bodyPr wrap="square" lIns="0" tIns="0" rIns="0" bIns="0" rtlCol="0" anchor="t"/>
          <a:lstStyle/>
          <a:p>
            <a:pPr marL="0" indent="0" algn="l">
              <a:buNone/>
            </a:pPr>
            <a:r>
              <a:rPr lang="en-US" sz="1100" dirty="0">
                <a:solidFill>
                  <a:srgbClr val="1E3A8A"/>
                </a:solidFill>
                <a:latin typeface="Noto Sans KR" pitchFamily="34" charset="0"/>
                <a:ea typeface="Noto Sans KR" pitchFamily="34" charset="-122"/>
                <a:cs typeface="Noto Sans KR" pitchFamily="34" charset="-120"/>
              </a:rPr>
              <a:t>고정된 랜덤 시드, Scaffold 기반 데이터 분할, Bayesian 최적화로 결정된 하이퍼파라미터, 그리고 5개 모델 앙상블 전략을 통해 실험의 완전한 재현성을 </a:t>
            </a:r>
            <a:r>
              <a:rPr lang="en-US" sz="1100" dirty="0" err="1">
                <a:solidFill>
                  <a:srgbClr val="1E3A8A"/>
                </a:solidFill>
                <a:latin typeface="Noto Sans KR" pitchFamily="34" charset="0"/>
                <a:ea typeface="Noto Sans KR" pitchFamily="34" charset="-122"/>
                <a:cs typeface="Noto Sans KR" pitchFamily="34" charset="-120"/>
              </a:rPr>
              <a:t>확보했습니다</a:t>
            </a:r>
            <a:r>
              <a:rPr lang="en-US" sz="1100" dirty="0">
                <a:solidFill>
                  <a:srgbClr val="1E3A8A"/>
                </a:solidFill>
                <a:latin typeface="Noto Sans KR" pitchFamily="34" charset="0"/>
                <a:ea typeface="Noto Sans KR" pitchFamily="34" charset="-122"/>
                <a:cs typeface="Noto Sans KR" pitchFamily="34" charset="-120"/>
              </a:rPr>
              <a:t>.</a:t>
            </a:r>
          </a:p>
          <a:p>
            <a:pPr marL="0" indent="0" algn="l">
              <a:buNone/>
            </a:pPr>
            <a:r>
              <a:rPr lang="en-US" sz="1100" dirty="0" err="1">
                <a:solidFill>
                  <a:srgbClr val="1E3A8A"/>
                </a:solidFill>
                <a:latin typeface="Noto Sans KR" pitchFamily="34" charset="0"/>
                <a:ea typeface="Noto Sans KR" pitchFamily="34" charset="-122"/>
                <a:cs typeface="Noto Sans KR" pitchFamily="34" charset="-120"/>
              </a:rPr>
              <a:t>모든</a:t>
            </a:r>
            <a:r>
              <a:rPr lang="en-US" sz="1100" dirty="0">
                <a:solidFill>
                  <a:srgbClr val="1E3A8A"/>
                </a:solidFill>
                <a:latin typeface="Noto Sans KR" pitchFamily="34" charset="0"/>
                <a:ea typeface="Noto Sans KR" pitchFamily="34" charset="-122"/>
                <a:cs typeface="Noto Sans KR" pitchFamily="34" charset="-120"/>
              </a:rPr>
              <a:t> </a:t>
            </a:r>
            <a:r>
              <a:rPr lang="en-US" sz="1100" dirty="0" err="1">
                <a:solidFill>
                  <a:srgbClr val="1E3A8A"/>
                </a:solidFill>
                <a:latin typeface="Noto Sans KR" pitchFamily="34" charset="0"/>
                <a:ea typeface="Noto Sans KR" pitchFamily="34" charset="-122"/>
                <a:cs typeface="Noto Sans KR" pitchFamily="34" charset="-120"/>
              </a:rPr>
              <a:t>코드와</a:t>
            </a:r>
            <a:r>
              <a:rPr lang="en-US" sz="1100" dirty="0">
                <a:solidFill>
                  <a:srgbClr val="1E3A8A"/>
                </a:solidFill>
                <a:latin typeface="Noto Sans KR" pitchFamily="34" charset="0"/>
                <a:ea typeface="Noto Sans KR" pitchFamily="34" charset="-122"/>
                <a:cs typeface="Noto Sans KR" pitchFamily="34" charset="-120"/>
              </a:rPr>
              <a:t> </a:t>
            </a:r>
            <a:r>
              <a:rPr lang="en-US" sz="1100" dirty="0" err="1">
                <a:solidFill>
                  <a:srgbClr val="1E3A8A"/>
                </a:solidFill>
                <a:latin typeface="Noto Sans KR" pitchFamily="34" charset="0"/>
                <a:ea typeface="Noto Sans KR" pitchFamily="34" charset="-122"/>
                <a:cs typeface="Noto Sans KR" pitchFamily="34" charset="-120"/>
              </a:rPr>
              <a:t>데이터는</a:t>
            </a:r>
            <a:r>
              <a:rPr lang="en-US" sz="1100" dirty="0">
                <a:solidFill>
                  <a:srgbClr val="1E3A8A"/>
                </a:solidFill>
                <a:latin typeface="Noto Sans KR" pitchFamily="34" charset="0"/>
                <a:ea typeface="Noto Sans KR" pitchFamily="34" charset="-122"/>
                <a:cs typeface="Noto Sans KR" pitchFamily="34" charset="-120"/>
              </a:rPr>
              <a:t> 버전 관리되며, 학습된 모델 체크포인트(.pt)와 스케일러 파라미터가 배포 환경에 포함됩니다.</a:t>
            </a:r>
            <a:endParaRPr lang="en-US" sz="1100" dirty="0"/>
          </a:p>
        </p:txBody>
      </p:sp>
      <p:pic>
        <p:nvPicPr>
          <p:cNvPr id="135" name="Image 7" descr="preencoded.png">
            <a:extLst>
              <a:ext uri="{FF2B5EF4-FFF2-40B4-BE49-F238E27FC236}">
                <a16:creationId xmlns:a16="http://schemas.microsoft.com/office/drawing/2014/main" id="{0E51FA92-4C00-47E2-B0A1-6591D3E83902}"/>
              </a:ext>
            </a:extLst>
          </p:cNvPr>
          <p:cNvPicPr>
            <a:picLocks noChangeAspect="1"/>
          </p:cNvPicPr>
          <p:nvPr/>
        </p:nvPicPr>
        <p:blipFill>
          <a:blip r:embed="rId28"/>
          <a:stretch>
            <a:fillRect/>
          </a:stretch>
        </p:blipFill>
        <p:spPr>
          <a:xfrm>
            <a:off x="685800" y="2253082"/>
            <a:ext cx="705002" cy="256946"/>
          </a:xfrm>
          <a:prstGeom prst="rect">
            <a:avLst/>
          </a:prstGeom>
        </p:spPr>
      </p:pic>
      <p:sp>
        <p:nvSpPr>
          <p:cNvPr id="136" name="Text 17">
            <a:extLst>
              <a:ext uri="{FF2B5EF4-FFF2-40B4-BE49-F238E27FC236}">
                <a16:creationId xmlns:a16="http://schemas.microsoft.com/office/drawing/2014/main" id="{8C2E366E-3DB4-439B-AED0-528D2D96BE2E}"/>
              </a:ext>
            </a:extLst>
          </p:cNvPr>
          <p:cNvSpPr/>
          <p:nvPr/>
        </p:nvSpPr>
        <p:spPr>
          <a:xfrm>
            <a:off x="685799" y="2253082"/>
            <a:ext cx="713231" cy="257861"/>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100" b="1" dirty="0">
                <a:solidFill>
                  <a:srgbClr val="1E40AF"/>
                </a:solidFill>
                <a:latin typeface="Noto Sans KR" pitchFamily="34" charset="0"/>
                <a:ea typeface="Noto Sans KR" pitchFamily="34" charset="-122"/>
                <a:cs typeface="Noto Sans KR" pitchFamily="34" charset="-120"/>
              </a:rPr>
              <a:t>Fetch API</a:t>
            </a:r>
            <a:endParaRPr lang="en-US" sz="1100" dirty="0"/>
          </a:p>
        </p:txBody>
      </p:sp>
    </p:spTree>
    <p:extLst>
      <p:ext uri="{BB962C8B-B14F-4D97-AF65-F5344CB8AC3E}">
        <p14:creationId xmlns:p14="http://schemas.microsoft.com/office/powerpoint/2010/main" val="39343980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5149</Words>
  <Application>Microsoft Office PowerPoint</Application>
  <PresentationFormat>와이드스크린</PresentationFormat>
  <Paragraphs>917</Paragraphs>
  <Slides>30</Slides>
  <Notes>29</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Noto Sans KR</vt: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asia</cp:lastModifiedBy>
  <cp:revision>13</cp:revision>
  <dcterms:created xsi:type="dcterms:W3CDTF">2026-02-19T09:44:35Z</dcterms:created>
  <dcterms:modified xsi:type="dcterms:W3CDTF">2026-02-20T05:48:50Z</dcterms:modified>
</cp:coreProperties>
</file>