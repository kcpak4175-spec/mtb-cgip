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4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62C3F-772E-4CBF-8005-5C6F7505D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8066B6D-6466-4282-930E-96CEB0A90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547BD-9F9B-41B3-A56F-A7809B01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9085D-D1B3-41F1-B45F-B00F37F57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50A1A3-0E0C-4F93-AF52-F3FBD19D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92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30306-4FE1-4AC9-92EA-25A5D3573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898F33-BF3A-4AB9-9230-CBBF094A6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D93623-9DE9-445E-808B-09F363BE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1F3687-4B7C-4DE2-8ADF-48B4A5586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5D1D09-F7B1-45FE-8938-177163BA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711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59BE4-137D-47B2-8A6F-265E5C69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15A93D-06BD-4003-B1EC-AF461ABF7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32800-E77B-4B00-B46D-0189CD74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1F5055-4B7A-4EA2-AD32-C1114263A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019E6-9159-477B-8E12-79E394DD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82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FE1FEE-AA5B-441B-9294-B1057314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EBB3D0-5966-4170-B2BB-DADDA5396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57BA319-15F1-4E84-A75C-5FED148A5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6891B0-52DE-489D-9984-459DB9DD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DF13E3-AB33-4578-8C16-424353D03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016E54-1346-4985-8449-E9CA477A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95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818FD-6935-4FD1-83FD-E0AA834DC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4B3CEC-36CA-402C-88FF-7FC081FC5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F7A615-587A-4B48-A98C-649AFB91E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658BD3-7138-41EF-BFB1-9B050E18A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7387EA-E652-4D13-ACD2-9D0B14755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7BAC6A-1AB9-44ED-ABC5-5F31A7F8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336348-2DAB-460C-A6F0-BDD2ACB72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D0A330-0B6D-467B-A8AA-F7FF8B726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81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25B45-6C68-4240-A9B0-5A2A8E91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B853B5-3CA9-4D93-A24C-672DB317F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089C06-FAF0-4079-BEB1-16A0D76C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AD506A-C1F0-448A-A126-830A65B6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074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393CAD-FC66-47F7-BC6A-F70C0553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7C684F6-0AD2-4824-A7F9-BE1DEC57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D6A0E9-5861-4C5D-BFF6-53E05846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039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665A3A-3F24-418C-AB12-349760A6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41E80-892B-4E44-AEB1-131C69969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C5308A-38BB-4C0B-9B9C-CF3EE2DFA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1DF464-237E-4E5D-8714-BCFC92D0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68890C-D849-4AC8-AB75-CB6DEC3D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360700-106C-4FA6-AA3A-F7E0EF7E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06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622A67-9971-4B44-82AF-8751109B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C2366C-F1CE-4C46-94DE-A85661DF9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4D013A-5154-4DD9-90F4-936903425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174C56-C133-41BB-924F-6EAD3832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52E013-320F-49F3-A6DA-72F6D797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BAA7C1-196B-4F31-8F95-7FF28AE5A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843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EBE63-C633-4597-9000-54000EB1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8D145D-F9DE-4645-8B37-92105F9A1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0E827-D0FA-42AD-AD26-A7A551C41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49FCB1-E4EF-4A20-A0DA-9EA5AE77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B2E5E2-708C-4F53-9837-F972849B3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186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D0F47A-B894-4CC2-B937-80EB3D26E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7D1C77-5952-4A6B-8B87-34A73EB3AC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83D7A-E5C0-42E6-AF44-4E38C861A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DE4066-5B17-4517-8088-A7C1C482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7AC18-BA2C-4DF4-890D-320C2ABA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71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EC35A7-0876-449B-8589-3BC2DA14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343155-1C66-434C-96DC-C23183344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EB8718-2952-491D-98A0-DD92768A9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8FD57-4023-424F-8179-09C3AA15AA47}" type="datetimeFigureOut">
              <a:rPr lang="ko-KR" altLang="en-US" smtClean="0"/>
              <a:t>2026-02-18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3E150-236B-4291-A277-F99A881BD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8B821B-5EC8-41AD-88AB-E63B3CBAB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38D47-2722-4CD9-ACFE-1843D09B50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273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F6B08D-8937-466B-8ADA-7BB54EDA4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624" y="3429000"/>
            <a:ext cx="4275813" cy="2782423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7A2BB7-C070-4AEC-AF8B-83A77B834CA5}"/>
              </a:ext>
            </a:extLst>
          </p:cNvPr>
          <p:cNvCxnSpPr>
            <a:cxnSpLocks/>
          </p:cNvCxnSpPr>
          <p:nvPr/>
        </p:nvCxnSpPr>
        <p:spPr>
          <a:xfrm>
            <a:off x="3625327" y="311971"/>
            <a:ext cx="0" cy="63443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CDE9E75-E8A4-44D1-A762-BA5DDBA2AD0C}"/>
              </a:ext>
            </a:extLst>
          </p:cNvPr>
          <p:cNvSpPr txBox="1"/>
          <p:nvPr/>
        </p:nvSpPr>
        <p:spPr>
          <a:xfrm>
            <a:off x="229904" y="311971"/>
            <a:ext cx="31440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i="0" dirty="0" err="1">
                <a:effectLst/>
                <a:latin typeface="Google Sans Flex"/>
              </a:rPr>
              <a:t>Mtb</a:t>
            </a:r>
            <a:r>
              <a:rPr lang="en-US" altLang="ko-KR" sz="2400" b="1" i="0" dirty="0">
                <a:effectLst/>
                <a:latin typeface="Google Sans Flex"/>
              </a:rPr>
              <a:t>-Inhibitor Finder AI</a:t>
            </a:r>
            <a:br>
              <a:rPr lang="en-US" altLang="ko-KR" sz="2400" b="1" i="0" dirty="0">
                <a:effectLst/>
                <a:latin typeface="Google Sans Flex"/>
              </a:rPr>
            </a:br>
            <a:r>
              <a:rPr lang="en-US" altLang="ko-KR" sz="2400" b="1" i="0" dirty="0">
                <a:effectLst/>
                <a:latin typeface="Google Sans Flex"/>
              </a:rPr>
              <a:t>(</a:t>
            </a:r>
            <a:r>
              <a:rPr lang="en-US" altLang="ko-KR" sz="2400" b="1" i="0" dirty="0" err="1">
                <a:effectLst/>
                <a:latin typeface="Google Sans Flex"/>
              </a:rPr>
              <a:t>Mtb</a:t>
            </a:r>
            <a:r>
              <a:rPr lang="en-US" altLang="ko-KR" sz="2400" b="1" i="0" dirty="0">
                <a:effectLst/>
                <a:latin typeface="Google Sans Flex"/>
              </a:rPr>
              <a:t> </a:t>
            </a:r>
            <a:r>
              <a:rPr lang="ko-KR" altLang="en-US" sz="2400" b="1" dirty="0" err="1">
                <a:latin typeface="Google Sans Flex"/>
              </a:rPr>
              <a:t>저해</a:t>
            </a:r>
            <a:r>
              <a:rPr lang="ko-KR" altLang="en-US" sz="2400" b="1" i="0" dirty="0" err="1">
                <a:effectLst/>
                <a:latin typeface="Google Sans Flex"/>
              </a:rPr>
              <a:t>제</a:t>
            </a:r>
            <a:r>
              <a:rPr lang="ko-KR" altLang="en-US" sz="2400" b="1" i="0" dirty="0">
                <a:effectLst/>
                <a:latin typeface="Google Sans Flex"/>
              </a:rPr>
              <a:t> 발굴 </a:t>
            </a:r>
            <a:r>
              <a:rPr lang="en-US" altLang="ko-KR" sz="2400" b="1" i="0" dirty="0">
                <a:effectLst/>
                <a:latin typeface="Google Sans Flex"/>
              </a:rPr>
              <a:t>AI)</a:t>
            </a:r>
            <a:endParaRPr lang="ko-KR" altLang="en-US" sz="2400" b="1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1B4F2C6-DE24-4823-BBC7-7423BD70AEC8}"/>
              </a:ext>
            </a:extLst>
          </p:cNvPr>
          <p:cNvCxnSpPr/>
          <p:nvPr/>
        </p:nvCxnSpPr>
        <p:spPr>
          <a:xfrm>
            <a:off x="313968" y="1237129"/>
            <a:ext cx="2975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ECA6C0-3125-4A97-9390-93EB3DE0A4B5}"/>
              </a:ext>
            </a:extLst>
          </p:cNvPr>
          <p:cNvSpPr txBox="1"/>
          <p:nvPr/>
        </p:nvSpPr>
        <p:spPr>
          <a:xfrm>
            <a:off x="229904" y="1441526"/>
            <a:ext cx="1556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데이터 입력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29937B-1C50-4238-A81C-EE75B422AD0F}"/>
              </a:ext>
            </a:extLst>
          </p:cNvPr>
          <p:cNvSpPr/>
          <p:nvPr/>
        </p:nvSpPr>
        <p:spPr>
          <a:xfrm>
            <a:off x="298805" y="1873910"/>
            <a:ext cx="2078632" cy="400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Import…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79BEBA-3373-4E04-BC5D-F7E0F9DC7758}"/>
              </a:ext>
            </a:extLst>
          </p:cNvPr>
          <p:cNvSpPr/>
          <p:nvPr/>
        </p:nvSpPr>
        <p:spPr>
          <a:xfrm>
            <a:off x="2495158" y="1873910"/>
            <a:ext cx="979560" cy="400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초기화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56E652A-9A2E-4098-8C27-4E4B518678F6}"/>
              </a:ext>
            </a:extLst>
          </p:cNvPr>
          <p:cNvCxnSpPr/>
          <p:nvPr/>
        </p:nvCxnSpPr>
        <p:spPr>
          <a:xfrm>
            <a:off x="298803" y="2465294"/>
            <a:ext cx="2975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FC8F6DC-C878-483F-9FBB-06345296B30C}"/>
              </a:ext>
            </a:extLst>
          </p:cNvPr>
          <p:cNvSpPr txBox="1"/>
          <p:nvPr/>
        </p:nvSpPr>
        <p:spPr>
          <a:xfrm>
            <a:off x="229904" y="2656569"/>
            <a:ext cx="28809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SMILES </a:t>
            </a:r>
            <a:r>
              <a:rPr lang="ko-KR" altLang="en-US" sz="2000" b="1" dirty="0"/>
              <a:t>코드 검색 링크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5230F9-2006-4255-9116-050405E80DAF}"/>
              </a:ext>
            </a:extLst>
          </p:cNvPr>
          <p:cNvSpPr txBox="1"/>
          <p:nvPr/>
        </p:nvSpPr>
        <p:spPr>
          <a:xfrm>
            <a:off x="229904" y="307952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Link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9520170-D0B9-4FEC-8F39-0DBFEB13D41F}"/>
              </a:ext>
            </a:extLst>
          </p:cNvPr>
          <p:cNvCxnSpPr/>
          <p:nvPr/>
        </p:nvCxnSpPr>
        <p:spPr>
          <a:xfrm>
            <a:off x="298802" y="3661186"/>
            <a:ext cx="2975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9332A3C-24AF-4451-B429-1CB2CE664636}"/>
              </a:ext>
            </a:extLst>
          </p:cNvPr>
          <p:cNvSpPr txBox="1"/>
          <p:nvPr/>
        </p:nvSpPr>
        <p:spPr>
          <a:xfrm>
            <a:off x="229903" y="3801322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화합물 정보 검색 링크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156B64-3A5C-4F53-BCEB-3372B2841ABE}"/>
              </a:ext>
            </a:extLst>
          </p:cNvPr>
          <p:cNvSpPr txBox="1"/>
          <p:nvPr/>
        </p:nvSpPr>
        <p:spPr>
          <a:xfrm>
            <a:off x="245070" y="4224170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Link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41F5CA3-FB8D-4E6B-91B7-378A400EA068}"/>
              </a:ext>
            </a:extLst>
          </p:cNvPr>
          <p:cNvCxnSpPr/>
          <p:nvPr/>
        </p:nvCxnSpPr>
        <p:spPr>
          <a:xfrm>
            <a:off x="313968" y="4805834"/>
            <a:ext cx="2975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C54171E-7408-49BA-A489-FC16488A0FED}"/>
              </a:ext>
            </a:extLst>
          </p:cNvPr>
          <p:cNvSpPr txBox="1"/>
          <p:nvPr/>
        </p:nvSpPr>
        <p:spPr>
          <a:xfrm>
            <a:off x="229903" y="4981829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예측 결과 보고서 출력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8A8919-1352-4B3F-886F-8C6E65CF859E}"/>
              </a:ext>
            </a:extLst>
          </p:cNvPr>
          <p:cNvSpPr/>
          <p:nvPr/>
        </p:nvSpPr>
        <p:spPr>
          <a:xfrm>
            <a:off x="298805" y="5514978"/>
            <a:ext cx="1400901" cy="400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Excel </a:t>
            </a:r>
            <a:r>
              <a:rPr lang="ko-KR" altLang="en-US" dirty="0">
                <a:solidFill>
                  <a:schemeClr val="tx1"/>
                </a:solidFill>
              </a:rPr>
              <a:t>파일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151805C-7A5C-473E-950A-5D74C50A0683}"/>
              </a:ext>
            </a:extLst>
          </p:cNvPr>
          <p:cNvSpPr/>
          <p:nvPr/>
        </p:nvSpPr>
        <p:spPr>
          <a:xfrm>
            <a:off x="1871828" y="5514978"/>
            <a:ext cx="1400902" cy="4001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PDF </a:t>
            </a:r>
            <a:r>
              <a:rPr lang="ko-KR" altLang="en-US" dirty="0">
                <a:solidFill>
                  <a:schemeClr val="tx1"/>
                </a:solidFill>
              </a:rPr>
              <a:t>파일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E710EF-9B11-4FF1-AB2C-4C445D3A1EC1}"/>
              </a:ext>
            </a:extLst>
          </p:cNvPr>
          <p:cNvSpPr txBox="1"/>
          <p:nvPr/>
        </p:nvSpPr>
        <p:spPr>
          <a:xfrm>
            <a:off x="3825367" y="3019723"/>
            <a:ext cx="8201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2. </a:t>
            </a:r>
            <a:r>
              <a:rPr lang="ko-KR" altLang="en-US" sz="2000" b="1" dirty="0"/>
              <a:t>후보 화합물 구조 이미지 </a:t>
            </a:r>
            <a:r>
              <a:rPr lang="en-US" altLang="ko-KR" sz="2000" b="1" dirty="0"/>
              <a:t>&amp; </a:t>
            </a:r>
            <a:r>
              <a:rPr lang="ko-KR" altLang="en-US" sz="2000" b="1" dirty="0"/>
              <a:t>클러스터 별 저해 효과 방사형 그래프</a:t>
            </a:r>
          </a:p>
        </p:txBody>
      </p:sp>
      <p:graphicFrame>
        <p:nvGraphicFramePr>
          <p:cNvPr id="30" name="표 27">
            <a:extLst>
              <a:ext uri="{FF2B5EF4-FFF2-40B4-BE49-F238E27FC236}">
                <a16:creationId xmlns:a16="http://schemas.microsoft.com/office/drawing/2014/main" id="{8A12B6FE-BEDF-429E-9BB7-6F89F0B3B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502794"/>
              </p:ext>
            </p:extLst>
          </p:nvPr>
        </p:nvGraphicFramePr>
        <p:xfrm>
          <a:off x="3825367" y="721618"/>
          <a:ext cx="8201317" cy="18338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395219">
                  <a:extLst>
                    <a:ext uri="{9D8B030D-6E8A-4147-A177-3AD203B41FA5}">
                      <a16:colId xmlns:a16="http://schemas.microsoft.com/office/drawing/2014/main" val="95637426"/>
                    </a:ext>
                  </a:extLst>
                </a:gridCol>
                <a:gridCol w="1095154">
                  <a:extLst>
                    <a:ext uri="{9D8B030D-6E8A-4147-A177-3AD203B41FA5}">
                      <a16:colId xmlns:a16="http://schemas.microsoft.com/office/drawing/2014/main" val="3243659483"/>
                    </a:ext>
                  </a:extLst>
                </a:gridCol>
                <a:gridCol w="1233376">
                  <a:extLst>
                    <a:ext uri="{9D8B030D-6E8A-4147-A177-3AD203B41FA5}">
                      <a16:colId xmlns:a16="http://schemas.microsoft.com/office/drawing/2014/main" val="1408748842"/>
                    </a:ext>
                  </a:extLst>
                </a:gridCol>
                <a:gridCol w="2360428">
                  <a:extLst>
                    <a:ext uri="{9D8B030D-6E8A-4147-A177-3AD203B41FA5}">
                      <a16:colId xmlns:a16="http://schemas.microsoft.com/office/drawing/2014/main" val="486859080"/>
                    </a:ext>
                  </a:extLst>
                </a:gridCol>
                <a:gridCol w="2117140">
                  <a:extLst>
                    <a:ext uri="{9D8B030D-6E8A-4147-A177-3AD203B41FA5}">
                      <a16:colId xmlns:a16="http://schemas.microsoft.com/office/drawing/2014/main" val="7271553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화합물 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SMILES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Hit_Count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Mechanism_Profile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Expert_Summary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420139"/>
                  </a:ext>
                </a:extLst>
              </a:tr>
              <a:tr h="4751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CM001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OB1OCc2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C1: TCA 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회로 및 중심 탄소 대사</a:t>
                      </a:r>
                      <a:endParaRPr lang="en-US" altLang="ko-KR" sz="14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latinLnBrk="1"/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C2: 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번역 및 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tRNA 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합성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화합물은 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개의 필수 클러스터를 저해할 것으로 예상됩니다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844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CM002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CC(=O)O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1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C1: TCA 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회로 및 중심 탄소 대사</a:t>
                      </a:r>
                      <a:endParaRPr lang="ko-KR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화합물은 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개의 필수 클러스터를 저해할 것으로 예상됩니다</a:t>
                      </a:r>
                      <a:r>
                        <a:rPr lang="en-US" altLang="ko-KR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208228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CE232F11-63C3-4784-9B68-5B288502940D}"/>
              </a:ext>
            </a:extLst>
          </p:cNvPr>
          <p:cNvGrpSpPr/>
          <p:nvPr/>
        </p:nvGrpSpPr>
        <p:grpSpPr>
          <a:xfrm>
            <a:off x="6565845" y="2615844"/>
            <a:ext cx="1817687" cy="310981"/>
            <a:chOff x="6565845" y="2615844"/>
            <a:chExt cx="1817687" cy="310981"/>
          </a:xfrm>
        </p:grpSpPr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2E756552-79B0-4BDC-B99F-E635564EEB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6448" y="2615844"/>
              <a:ext cx="106325" cy="31098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C2BBFE9-1149-4EFC-B433-48ED9DAC00B4}"/>
                </a:ext>
              </a:extLst>
            </p:cNvPr>
            <p:cNvSpPr/>
            <p:nvPr/>
          </p:nvSpPr>
          <p:spPr>
            <a:xfrm>
              <a:off x="7655135" y="2624619"/>
              <a:ext cx="425298" cy="2750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10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5E9F66CD-6BC1-4D37-9279-4BAE925F0A88}"/>
                </a:ext>
              </a:extLst>
            </p:cNvPr>
            <p:cNvSpPr/>
            <p:nvPr/>
          </p:nvSpPr>
          <p:spPr>
            <a:xfrm rot="5400000">
              <a:off x="8164345" y="2689698"/>
              <a:ext cx="275101" cy="163272"/>
            </a:xfrm>
            <a:prstGeom prst="triangl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58F6E246-67A3-4CAA-86EE-034317102CD3}"/>
                </a:ext>
              </a:extLst>
            </p:cNvPr>
            <p:cNvSpPr/>
            <p:nvPr/>
          </p:nvSpPr>
          <p:spPr>
            <a:xfrm rot="16200000">
              <a:off x="6509930" y="2682713"/>
              <a:ext cx="275101" cy="163272"/>
            </a:xfrm>
            <a:prstGeom prst="triangl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2" name="그림 51">
            <a:extLst>
              <a:ext uri="{FF2B5EF4-FFF2-40B4-BE49-F238E27FC236}">
                <a16:creationId xmlns:a16="http://schemas.microsoft.com/office/drawing/2014/main" id="{FE5AB954-3449-482B-920E-D54444408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053" y="3963749"/>
            <a:ext cx="1707560" cy="168416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B1366FE-CF56-46C0-9DA6-87EB0B55D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009" y="3414621"/>
            <a:ext cx="2154594" cy="278242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76A9A5E6-2CC6-4C08-8D7F-34CB950BA622}"/>
              </a:ext>
            </a:extLst>
          </p:cNvPr>
          <p:cNvGrpSpPr/>
          <p:nvPr/>
        </p:nvGrpSpPr>
        <p:grpSpPr>
          <a:xfrm>
            <a:off x="6565845" y="6459286"/>
            <a:ext cx="1817687" cy="310981"/>
            <a:chOff x="6565845" y="6459286"/>
            <a:chExt cx="1817687" cy="310981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9F909AF-FAC9-4FCD-9F33-2737480013B7}"/>
                </a:ext>
              </a:extLst>
            </p:cNvPr>
            <p:cNvSpPr/>
            <p:nvPr/>
          </p:nvSpPr>
          <p:spPr>
            <a:xfrm>
              <a:off x="6884820" y="6468061"/>
              <a:ext cx="425298" cy="30220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1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5B8B8A5D-19DC-4AA1-BF38-81CD48F3B8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6448" y="6459286"/>
              <a:ext cx="106325" cy="31098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3D9DAF71-AC99-4D1E-B56F-4C8ED344EC07}"/>
                </a:ext>
              </a:extLst>
            </p:cNvPr>
            <p:cNvSpPr/>
            <p:nvPr/>
          </p:nvSpPr>
          <p:spPr>
            <a:xfrm>
              <a:off x="7655135" y="6468061"/>
              <a:ext cx="425298" cy="2750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</a:rPr>
                <a:t>10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D7302FC7-9B5A-4386-B004-00662AB579C7}"/>
                </a:ext>
              </a:extLst>
            </p:cNvPr>
            <p:cNvSpPr/>
            <p:nvPr/>
          </p:nvSpPr>
          <p:spPr>
            <a:xfrm rot="5400000">
              <a:off x="8164345" y="6533140"/>
              <a:ext cx="275101" cy="163272"/>
            </a:xfrm>
            <a:prstGeom prst="triangl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이등변 삼각형 50">
              <a:extLst>
                <a:ext uri="{FF2B5EF4-FFF2-40B4-BE49-F238E27FC236}">
                  <a16:creationId xmlns:a16="http://schemas.microsoft.com/office/drawing/2014/main" id="{E69314C1-1599-4B6D-95AD-627C71B10A67}"/>
                </a:ext>
              </a:extLst>
            </p:cNvPr>
            <p:cNvSpPr/>
            <p:nvPr/>
          </p:nvSpPr>
          <p:spPr>
            <a:xfrm rot="16200000">
              <a:off x="6509930" y="6526155"/>
              <a:ext cx="275101" cy="163272"/>
            </a:xfrm>
            <a:prstGeom prst="triangle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AE8204E-69F0-4E0E-895D-14B1E4D9204B}"/>
              </a:ext>
            </a:extLst>
          </p:cNvPr>
          <p:cNvSpPr txBox="1"/>
          <p:nvPr/>
        </p:nvSpPr>
        <p:spPr>
          <a:xfrm>
            <a:off x="3766555" y="321508"/>
            <a:ext cx="8201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1. </a:t>
            </a:r>
            <a:r>
              <a:rPr lang="ko-KR" altLang="en-US" sz="2000" b="1" dirty="0" err="1"/>
              <a:t>스크리닝</a:t>
            </a:r>
            <a:r>
              <a:rPr lang="ko-KR" altLang="en-US" sz="2000" b="1" dirty="0"/>
              <a:t> 요약 리포트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76BF1A5-F614-4153-B8CC-D3A4DD222743}"/>
              </a:ext>
            </a:extLst>
          </p:cNvPr>
          <p:cNvSpPr/>
          <p:nvPr/>
        </p:nvSpPr>
        <p:spPr>
          <a:xfrm>
            <a:off x="6884820" y="2633786"/>
            <a:ext cx="425298" cy="2750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222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</Words>
  <Application>Microsoft Office PowerPoint</Application>
  <PresentationFormat>와이드스크린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Google Sans Flex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KWANCHEOL PAK</dc:creator>
  <cp:lastModifiedBy>KWANCHEOL PAK</cp:lastModifiedBy>
  <cp:revision>1</cp:revision>
  <dcterms:created xsi:type="dcterms:W3CDTF">2026-02-18T05:26:00Z</dcterms:created>
  <dcterms:modified xsi:type="dcterms:W3CDTF">2026-02-18T05:27:54Z</dcterms:modified>
</cp:coreProperties>
</file>